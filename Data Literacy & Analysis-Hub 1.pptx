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tags/tag13.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4.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15.xml" ContentType="application/vnd.openxmlformats-officedocument.presentationml.tags+xml"/>
  <Override PartName="/ppt/notesSlides/notesSlide25.xml" ContentType="application/vnd.openxmlformats-officedocument.presentationml.notesSlide+xml"/>
  <Override PartName="/ppt/tags/tag16.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7.xml" ContentType="application/vnd.openxmlformats-officedocument.presentationml.tags+xml"/>
  <Override PartName="/ppt/notesSlides/notesSlide28.xml" ContentType="application/vnd.openxmlformats-officedocument.presentationml.notesSlide+xml"/>
  <Override PartName="/ppt/tags/tag18.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9.xml" ContentType="application/vnd.openxmlformats-officedocument.presentationml.tags+xml"/>
  <Override PartName="/ppt/notesSlides/notesSlide32.xml" ContentType="application/vnd.openxmlformats-officedocument.presentationml.notesSlide+xml"/>
  <Override PartName="/ppt/tags/tag20.xml" ContentType="application/vnd.openxmlformats-officedocument.presentationml.tags+xml"/>
  <Override PartName="/ppt/notesSlides/notesSlide33.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23.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2"/>
  </p:sldMasterIdLst>
  <p:notesMasterIdLst>
    <p:notesMasterId r:id="rId48"/>
  </p:notesMasterIdLst>
  <p:sldIdLst>
    <p:sldId id="275" r:id="rId3"/>
    <p:sldId id="273" r:id="rId4"/>
    <p:sldId id="260" r:id="rId5"/>
    <p:sldId id="261" r:id="rId6"/>
    <p:sldId id="262" r:id="rId7"/>
    <p:sldId id="268" r:id="rId8"/>
    <p:sldId id="257" r:id="rId9"/>
    <p:sldId id="353" r:id="rId10"/>
    <p:sldId id="354" r:id="rId11"/>
    <p:sldId id="315" r:id="rId12"/>
    <p:sldId id="352" r:id="rId13"/>
    <p:sldId id="1262" r:id="rId14"/>
    <p:sldId id="320" r:id="rId15"/>
    <p:sldId id="355" r:id="rId16"/>
    <p:sldId id="356" r:id="rId17"/>
    <p:sldId id="357" r:id="rId18"/>
    <p:sldId id="443" r:id="rId19"/>
    <p:sldId id="444" r:id="rId20"/>
    <p:sldId id="445" r:id="rId21"/>
    <p:sldId id="446" r:id="rId22"/>
    <p:sldId id="447" r:id="rId23"/>
    <p:sldId id="1268" r:id="rId24"/>
    <p:sldId id="1269" r:id="rId25"/>
    <p:sldId id="1251" r:id="rId26"/>
    <p:sldId id="1252" r:id="rId27"/>
    <p:sldId id="1253" r:id="rId28"/>
    <p:sldId id="1267" r:id="rId29"/>
    <p:sldId id="272" r:id="rId30"/>
    <p:sldId id="1265" r:id="rId31"/>
    <p:sldId id="1266" r:id="rId32"/>
    <p:sldId id="274" r:id="rId33"/>
    <p:sldId id="1263" r:id="rId34"/>
    <p:sldId id="1264" r:id="rId35"/>
    <p:sldId id="1259" r:id="rId36"/>
    <p:sldId id="1260" r:id="rId37"/>
    <p:sldId id="270" r:id="rId38"/>
    <p:sldId id="264" r:id="rId39"/>
    <p:sldId id="263" r:id="rId40"/>
    <p:sldId id="265" r:id="rId41"/>
    <p:sldId id="286" r:id="rId42"/>
    <p:sldId id="287" r:id="rId43"/>
    <p:sldId id="288" r:id="rId44"/>
    <p:sldId id="289" r:id="rId45"/>
    <p:sldId id="290" r:id="rId46"/>
    <p:sldId id="267" r:id="rId47"/>
  </p:sldIdLst>
  <p:sldSz cx="12192000" cy="6858000"/>
  <p:notesSz cx="6858000" cy="9144000"/>
  <p:embeddedFontLst>
    <p:embeddedFont>
      <p:font typeface="Arial Nova" panose="020B0504020202020204" pitchFamily="34" charset="0"/>
      <p:regular r:id="rId49"/>
      <p:bold r:id="rId50"/>
      <p:italic r:id="rId51"/>
      <p:boldItalic r:id="rId52"/>
    </p:embeddedFont>
    <p:embeddedFont>
      <p:font typeface="Jumbox" pitchFamily="2" charset="0"/>
      <p:regular r:id="rId53"/>
      <p:bold r:id="rId54"/>
    </p:embeddedFont>
  </p:embeddedFontLst>
  <p:custDataLst>
    <p:tags r:id="rId5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20" userDrawn="1">
          <p15:clr>
            <a:srgbClr val="A4A3A4"/>
          </p15:clr>
        </p15:guide>
        <p15:guide id="3" orient="horz" pos="1008" userDrawn="1">
          <p15:clr>
            <a:srgbClr val="A4A3A4"/>
          </p15:clr>
        </p15:guide>
        <p15:guide id="5" pos="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FD7"/>
    <a:srgbClr val="FBC9BB"/>
    <a:srgbClr val="FFEDB3"/>
    <a:srgbClr val="F25022"/>
    <a:srgbClr val="CDF0FF"/>
    <a:srgbClr val="0000FF"/>
    <a:srgbClr val="FFB900"/>
    <a:srgbClr val="00A4EF"/>
    <a:srgbClr val="BFDAFD"/>
    <a:srgbClr val="032A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2944" autoAdjust="0"/>
  </p:normalViewPr>
  <p:slideViewPr>
    <p:cSldViewPr>
      <p:cViewPr varScale="1">
        <p:scale>
          <a:sx n="80" d="100"/>
          <a:sy n="80" d="100"/>
        </p:scale>
        <p:origin x="480" y="58"/>
      </p:cViewPr>
      <p:guideLst>
        <p:guide orient="horz" pos="720"/>
        <p:guide orient="horz" pos="1008"/>
        <p:guide pos="288"/>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font" Target="fonts/font2.fntdata"/><Relationship Id="rId55" Type="http://schemas.openxmlformats.org/officeDocument/2006/relationships/tags" Target="tags/tag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5.fntdata"/><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4.fntdata"/></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B328D0-C03C-4FBB-9D02-06478F3F0CC4}" type="doc">
      <dgm:prSet loTypeId="urn:microsoft.com/office/officeart/2005/8/layout/hProcess11" loCatId="process" qsTypeId="urn:microsoft.com/office/officeart/2005/8/quickstyle/simple5" qsCatId="simple" csTypeId="urn:microsoft.com/office/officeart/2005/8/colors/accent5_4" csCatId="accent5" phldr="1"/>
      <dgm:spPr/>
    </dgm:pt>
    <dgm:pt modelId="{0BC46805-8F0C-4E1B-8A9F-0BB87D426C34}">
      <dgm:prSet phldrT="[Text]" phldr="0" custT="1"/>
      <dgm:spPr/>
      <dgm:t>
        <a:bodyPr/>
        <a:lstStyle/>
        <a:p>
          <a:pPr rtl="0"/>
          <a:r>
            <a:rPr lang="en-US" sz="1800" b="0" dirty="0">
              <a:latin typeface="Arial" panose="020B0604020202020204" pitchFamily="34" charset="0"/>
              <a:cs typeface="Arial" panose="020B0604020202020204" pitchFamily="34" charset="0"/>
            </a:rPr>
            <a:t>Understand the Audience</a:t>
          </a:r>
        </a:p>
      </dgm:t>
    </dgm:pt>
    <dgm:pt modelId="{27FA79EF-574A-4105-9118-204309D86881}" type="parTrans" cxnId="{11CEE88C-3809-45D9-9C61-563C82F0D400}">
      <dgm:prSet/>
      <dgm:spPr/>
      <dgm:t>
        <a:bodyPr/>
        <a:lstStyle/>
        <a:p>
          <a:endParaRPr lang="en-US" sz="1800" b="0">
            <a:latin typeface="Arial" panose="020B0604020202020204" pitchFamily="34" charset="0"/>
            <a:cs typeface="Arial" panose="020B0604020202020204" pitchFamily="34" charset="0"/>
          </a:endParaRPr>
        </a:p>
      </dgm:t>
    </dgm:pt>
    <dgm:pt modelId="{40EE9914-5A89-4A74-99DF-74149B27AC1D}" type="sibTrans" cxnId="{11CEE88C-3809-45D9-9C61-563C82F0D400}">
      <dgm:prSet/>
      <dgm:spPr/>
      <dgm:t>
        <a:bodyPr/>
        <a:lstStyle/>
        <a:p>
          <a:endParaRPr lang="en-US" sz="1800" b="0">
            <a:latin typeface="Arial" panose="020B0604020202020204" pitchFamily="34" charset="0"/>
            <a:cs typeface="Arial" panose="020B0604020202020204" pitchFamily="34" charset="0"/>
          </a:endParaRPr>
        </a:p>
      </dgm:t>
    </dgm:pt>
    <dgm:pt modelId="{B9E9429F-F2ED-4F66-A1A9-8A6C5E3E182B}">
      <dgm:prSet phldrT="[Text]" phldr="0" custT="1"/>
      <dgm:spPr/>
      <dgm:t>
        <a:bodyPr/>
        <a:lstStyle/>
        <a:p>
          <a:pPr rtl="0"/>
          <a:r>
            <a:rPr lang="en-US" sz="1800" b="0" dirty="0">
              <a:latin typeface="Arial" panose="020B0604020202020204" pitchFamily="34" charset="0"/>
              <a:cs typeface="Arial" panose="020B0604020202020204" pitchFamily="34" charset="0"/>
            </a:rPr>
            <a:t>Identify Key Messages</a:t>
          </a:r>
        </a:p>
      </dgm:t>
    </dgm:pt>
    <dgm:pt modelId="{19E1BD8B-8545-4351-AB61-4ADC9487DAD6}" type="parTrans" cxnId="{6AFD2CCA-37B4-47BB-89F9-D6D79BD0B668}">
      <dgm:prSet/>
      <dgm:spPr/>
      <dgm:t>
        <a:bodyPr/>
        <a:lstStyle/>
        <a:p>
          <a:endParaRPr lang="en-US" sz="1800" b="0">
            <a:latin typeface="Arial" panose="020B0604020202020204" pitchFamily="34" charset="0"/>
            <a:cs typeface="Arial" panose="020B0604020202020204" pitchFamily="34" charset="0"/>
          </a:endParaRPr>
        </a:p>
      </dgm:t>
    </dgm:pt>
    <dgm:pt modelId="{C5536648-6385-4FE3-97F8-59B9C57AFEE4}" type="sibTrans" cxnId="{6AFD2CCA-37B4-47BB-89F9-D6D79BD0B668}">
      <dgm:prSet/>
      <dgm:spPr/>
      <dgm:t>
        <a:bodyPr/>
        <a:lstStyle/>
        <a:p>
          <a:endParaRPr lang="en-US" sz="1800" b="0">
            <a:latin typeface="Arial" panose="020B0604020202020204" pitchFamily="34" charset="0"/>
            <a:cs typeface="Arial" panose="020B0604020202020204" pitchFamily="34" charset="0"/>
          </a:endParaRPr>
        </a:p>
      </dgm:t>
    </dgm:pt>
    <dgm:pt modelId="{5FA3C840-7FFD-41E2-A500-885798D0CAEB}">
      <dgm:prSet phldrT="[Text]" phldr="0" custT="1"/>
      <dgm:spPr/>
      <dgm:t>
        <a:bodyPr/>
        <a:lstStyle/>
        <a:p>
          <a:pPr rtl="0"/>
          <a:r>
            <a:rPr lang="en-US" sz="1800" b="0" dirty="0">
              <a:latin typeface="Arial" panose="020B0604020202020204" pitchFamily="34" charset="0"/>
              <a:cs typeface="Arial" panose="020B0604020202020204" pitchFamily="34" charset="0"/>
            </a:rPr>
            <a:t>Collect and Analyze Data</a:t>
          </a:r>
        </a:p>
      </dgm:t>
    </dgm:pt>
    <dgm:pt modelId="{7AFF8296-698E-4BAF-91D9-9126F833054E}" type="parTrans" cxnId="{E3B891ED-26F6-4C14-B73C-434A5D60029E}">
      <dgm:prSet/>
      <dgm:spPr/>
      <dgm:t>
        <a:bodyPr/>
        <a:lstStyle/>
        <a:p>
          <a:endParaRPr lang="en-US" sz="1800" b="0">
            <a:latin typeface="Arial" panose="020B0604020202020204" pitchFamily="34" charset="0"/>
            <a:cs typeface="Arial" panose="020B0604020202020204" pitchFamily="34" charset="0"/>
          </a:endParaRPr>
        </a:p>
      </dgm:t>
    </dgm:pt>
    <dgm:pt modelId="{2263C5B1-72C6-460A-8980-CD770A955D5D}" type="sibTrans" cxnId="{E3B891ED-26F6-4C14-B73C-434A5D60029E}">
      <dgm:prSet/>
      <dgm:spPr/>
      <dgm:t>
        <a:bodyPr/>
        <a:lstStyle/>
        <a:p>
          <a:endParaRPr lang="en-US" sz="1800" b="0">
            <a:latin typeface="Arial" panose="020B0604020202020204" pitchFamily="34" charset="0"/>
            <a:cs typeface="Arial" panose="020B0604020202020204" pitchFamily="34" charset="0"/>
          </a:endParaRPr>
        </a:p>
      </dgm:t>
    </dgm:pt>
    <dgm:pt modelId="{78031DF5-E55C-4759-A20B-2828F7835A60}">
      <dgm:prSet phldr="0" custT="1"/>
      <dgm:spPr/>
      <dgm:t>
        <a:bodyPr/>
        <a:lstStyle/>
        <a:p>
          <a:pPr rtl="0"/>
          <a:r>
            <a:rPr lang="en-US" sz="1800" b="0" dirty="0">
              <a:latin typeface="Arial" panose="020B0604020202020204" pitchFamily="34" charset="0"/>
              <a:cs typeface="Arial" panose="020B0604020202020204" pitchFamily="34" charset="0"/>
            </a:rPr>
            <a:t>Create a Narrative</a:t>
          </a:r>
        </a:p>
      </dgm:t>
    </dgm:pt>
    <dgm:pt modelId="{29F3F18D-94CC-4628-907D-96AB44CB0F41}" type="parTrans" cxnId="{D6FEBCB8-369F-411A-9A52-03F95D767B99}">
      <dgm:prSet/>
      <dgm:spPr/>
      <dgm:t>
        <a:bodyPr/>
        <a:lstStyle/>
        <a:p>
          <a:endParaRPr lang="en-US" sz="1800" b="0">
            <a:latin typeface="Arial" panose="020B0604020202020204" pitchFamily="34" charset="0"/>
            <a:cs typeface="Arial" panose="020B0604020202020204" pitchFamily="34" charset="0"/>
          </a:endParaRPr>
        </a:p>
      </dgm:t>
    </dgm:pt>
    <dgm:pt modelId="{CB6277AB-2014-4936-81EC-91155BD3BF3A}" type="sibTrans" cxnId="{D6FEBCB8-369F-411A-9A52-03F95D767B99}">
      <dgm:prSet/>
      <dgm:spPr/>
      <dgm:t>
        <a:bodyPr/>
        <a:lstStyle/>
        <a:p>
          <a:endParaRPr lang="en-US" sz="1800" b="0">
            <a:latin typeface="Arial" panose="020B0604020202020204" pitchFamily="34" charset="0"/>
            <a:cs typeface="Arial" panose="020B0604020202020204" pitchFamily="34" charset="0"/>
          </a:endParaRPr>
        </a:p>
      </dgm:t>
    </dgm:pt>
    <dgm:pt modelId="{5475A834-BA5A-430B-9065-5AD3E0F90954}">
      <dgm:prSet phldr="0" custT="1"/>
      <dgm:spPr/>
      <dgm:t>
        <a:bodyPr/>
        <a:lstStyle/>
        <a:p>
          <a:pPr rtl="0"/>
          <a:r>
            <a:rPr lang="en-US" sz="1800" b="0" dirty="0">
              <a:latin typeface="Arial" panose="020B0604020202020204" pitchFamily="34" charset="0"/>
              <a:cs typeface="Arial" panose="020B0604020202020204" pitchFamily="34" charset="0"/>
            </a:rPr>
            <a:t>Design Visuals</a:t>
          </a:r>
        </a:p>
      </dgm:t>
    </dgm:pt>
    <dgm:pt modelId="{96E55274-FC23-4B4C-938B-42690A7515A8}" type="parTrans" cxnId="{9ABFF34A-F525-4EC7-994F-2C0B709B6AC3}">
      <dgm:prSet/>
      <dgm:spPr/>
      <dgm:t>
        <a:bodyPr/>
        <a:lstStyle/>
        <a:p>
          <a:endParaRPr lang="en-US" sz="1800" b="0">
            <a:latin typeface="Arial" panose="020B0604020202020204" pitchFamily="34" charset="0"/>
            <a:cs typeface="Arial" panose="020B0604020202020204" pitchFamily="34" charset="0"/>
          </a:endParaRPr>
        </a:p>
      </dgm:t>
    </dgm:pt>
    <dgm:pt modelId="{ECD3AFD0-DA52-46B9-8718-C949C2C93176}" type="sibTrans" cxnId="{9ABFF34A-F525-4EC7-994F-2C0B709B6AC3}">
      <dgm:prSet/>
      <dgm:spPr/>
      <dgm:t>
        <a:bodyPr/>
        <a:lstStyle/>
        <a:p>
          <a:endParaRPr lang="en-US" sz="1800" b="0">
            <a:latin typeface="Arial" panose="020B0604020202020204" pitchFamily="34" charset="0"/>
            <a:cs typeface="Arial" panose="020B0604020202020204" pitchFamily="34" charset="0"/>
          </a:endParaRPr>
        </a:p>
      </dgm:t>
    </dgm:pt>
    <dgm:pt modelId="{6FD1C666-482B-441E-94CD-432271218DBA}">
      <dgm:prSet phldr="0" custT="1"/>
      <dgm:spPr/>
      <dgm:t>
        <a:bodyPr/>
        <a:lstStyle/>
        <a:p>
          <a:pPr rtl="0"/>
          <a:r>
            <a:rPr lang="en-US" sz="1800" b="0" dirty="0">
              <a:latin typeface="Arial" panose="020B0604020202020204" pitchFamily="34" charset="0"/>
              <a:cs typeface="Arial" panose="020B0604020202020204" pitchFamily="34" charset="0"/>
            </a:rPr>
            <a:t>Refine and Practice</a:t>
          </a:r>
        </a:p>
      </dgm:t>
    </dgm:pt>
    <dgm:pt modelId="{F2DDF00E-EAF1-48DA-B974-2D3865E1FB36}" type="parTrans" cxnId="{CA4C44A8-D1E4-4E23-AFD4-EC6D7B7EFA68}">
      <dgm:prSet/>
      <dgm:spPr/>
      <dgm:t>
        <a:bodyPr/>
        <a:lstStyle/>
        <a:p>
          <a:endParaRPr lang="en-US" sz="1800" b="0">
            <a:latin typeface="Arial" panose="020B0604020202020204" pitchFamily="34" charset="0"/>
            <a:cs typeface="Arial" panose="020B0604020202020204" pitchFamily="34" charset="0"/>
          </a:endParaRPr>
        </a:p>
      </dgm:t>
    </dgm:pt>
    <dgm:pt modelId="{12074E3C-3CCF-49EF-B55E-9606AD02290F}" type="sibTrans" cxnId="{CA4C44A8-D1E4-4E23-AFD4-EC6D7B7EFA68}">
      <dgm:prSet/>
      <dgm:spPr/>
      <dgm:t>
        <a:bodyPr/>
        <a:lstStyle/>
        <a:p>
          <a:endParaRPr lang="en-US" sz="1800" b="0">
            <a:latin typeface="Arial" panose="020B0604020202020204" pitchFamily="34" charset="0"/>
            <a:cs typeface="Arial" panose="020B0604020202020204" pitchFamily="34" charset="0"/>
          </a:endParaRPr>
        </a:p>
      </dgm:t>
    </dgm:pt>
    <dgm:pt modelId="{789C74F8-84F4-45FD-8763-ECA6364631FD}" type="pres">
      <dgm:prSet presAssocID="{9DB328D0-C03C-4FBB-9D02-06478F3F0CC4}" presName="Name0" presStyleCnt="0">
        <dgm:presLayoutVars>
          <dgm:dir/>
          <dgm:resizeHandles val="exact"/>
        </dgm:presLayoutVars>
      </dgm:prSet>
      <dgm:spPr/>
    </dgm:pt>
    <dgm:pt modelId="{0439642C-BCD1-4651-9E31-19925A21FAE1}" type="pres">
      <dgm:prSet presAssocID="{9DB328D0-C03C-4FBB-9D02-06478F3F0CC4}" presName="arrow" presStyleLbl="bgShp" presStyleIdx="0" presStyleCnt="1"/>
      <dgm:spPr>
        <a:solidFill>
          <a:srgbClr val="FBC9BB"/>
        </a:solidFill>
      </dgm:spPr>
    </dgm:pt>
    <dgm:pt modelId="{4111D730-A399-41C9-9A20-6EB9BEA83B4B}" type="pres">
      <dgm:prSet presAssocID="{9DB328D0-C03C-4FBB-9D02-06478F3F0CC4}" presName="points" presStyleCnt="0"/>
      <dgm:spPr/>
    </dgm:pt>
    <dgm:pt modelId="{AD40F405-F240-40AB-8D35-F61076F4A844}" type="pres">
      <dgm:prSet presAssocID="{0BC46805-8F0C-4E1B-8A9F-0BB87D426C34}" presName="compositeA" presStyleCnt="0"/>
      <dgm:spPr/>
    </dgm:pt>
    <dgm:pt modelId="{16AC9E05-0D24-498E-9447-F34EB54FFF08}" type="pres">
      <dgm:prSet presAssocID="{0BC46805-8F0C-4E1B-8A9F-0BB87D426C34}" presName="textA" presStyleLbl="revTx" presStyleIdx="0" presStyleCnt="6">
        <dgm:presLayoutVars>
          <dgm:bulletEnabled val="1"/>
        </dgm:presLayoutVars>
      </dgm:prSet>
      <dgm:spPr/>
    </dgm:pt>
    <dgm:pt modelId="{DEDE1B6A-2B43-4457-8167-1114F0A34F99}" type="pres">
      <dgm:prSet presAssocID="{0BC46805-8F0C-4E1B-8A9F-0BB87D426C34}" presName="circleA" presStyleLbl="node1" presStyleIdx="0" presStyleCnt="6"/>
      <dgm:spPr>
        <a:solidFill>
          <a:srgbClr val="FFC000"/>
        </a:solidFill>
        <a:ln>
          <a:solidFill>
            <a:schemeClr val="bg1"/>
          </a:solidFill>
        </a:ln>
        <a:effectLst/>
        <a:scene3d>
          <a:camera prst="orthographicFront">
            <a:rot lat="0" lon="0" rev="0"/>
          </a:camera>
          <a:lightRig rig="threePt" dir="t">
            <a:rot lat="0" lon="0" rev="1200000"/>
          </a:lightRig>
        </a:scene3d>
        <a:sp3d/>
      </dgm:spPr>
    </dgm:pt>
    <dgm:pt modelId="{1E3EE6E9-EB96-44F2-AABF-53A7A8FBE1D2}" type="pres">
      <dgm:prSet presAssocID="{0BC46805-8F0C-4E1B-8A9F-0BB87D426C34}" presName="spaceA" presStyleCnt="0"/>
      <dgm:spPr/>
    </dgm:pt>
    <dgm:pt modelId="{2591828E-E1F8-482C-8F96-09234032A499}" type="pres">
      <dgm:prSet presAssocID="{40EE9914-5A89-4A74-99DF-74149B27AC1D}" presName="space" presStyleCnt="0"/>
      <dgm:spPr/>
    </dgm:pt>
    <dgm:pt modelId="{FDE51258-7D20-4AEE-B817-BB23D22D545A}" type="pres">
      <dgm:prSet presAssocID="{B9E9429F-F2ED-4F66-A1A9-8A6C5E3E182B}" presName="compositeB" presStyleCnt="0"/>
      <dgm:spPr/>
    </dgm:pt>
    <dgm:pt modelId="{B01160AE-6761-44EC-AA1D-9CD5804C3972}" type="pres">
      <dgm:prSet presAssocID="{B9E9429F-F2ED-4F66-A1A9-8A6C5E3E182B}" presName="textB" presStyleLbl="revTx" presStyleIdx="1" presStyleCnt="6">
        <dgm:presLayoutVars>
          <dgm:bulletEnabled val="1"/>
        </dgm:presLayoutVars>
      </dgm:prSet>
      <dgm:spPr/>
    </dgm:pt>
    <dgm:pt modelId="{630F076E-CECC-4DAB-9019-056166D5E218}" type="pres">
      <dgm:prSet presAssocID="{B9E9429F-F2ED-4F66-A1A9-8A6C5E3E182B}" presName="circleB" presStyleLbl="node1" presStyleIdx="1" presStyleCnt="6"/>
      <dgm:spPr>
        <a:solidFill>
          <a:srgbClr val="FFC000"/>
        </a:solidFill>
        <a:ln>
          <a:solidFill>
            <a:schemeClr val="bg1"/>
          </a:solidFill>
        </a:ln>
        <a:effectLst/>
        <a:scene3d>
          <a:camera prst="orthographicFront">
            <a:rot lat="0" lon="0" rev="0"/>
          </a:camera>
          <a:lightRig rig="threePt" dir="t">
            <a:rot lat="0" lon="0" rev="1200000"/>
          </a:lightRig>
        </a:scene3d>
        <a:sp3d/>
      </dgm:spPr>
    </dgm:pt>
    <dgm:pt modelId="{5D37D1D7-753A-42F7-894F-6F66D3DA48B3}" type="pres">
      <dgm:prSet presAssocID="{B9E9429F-F2ED-4F66-A1A9-8A6C5E3E182B}" presName="spaceB" presStyleCnt="0"/>
      <dgm:spPr/>
    </dgm:pt>
    <dgm:pt modelId="{551ECC9A-9645-4EEB-944B-C633338B51D7}" type="pres">
      <dgm:prSet presAssocID="{C5536648-6385-4FE3-97F8-59B9C57AFEE4}" presName="space" presStyleCnt="0"/>
      <dgm:spPr/>
    </dgm:pt>
    <dgm:pt modelId="{9381AD3B-8EA5-4165-ABA3-2699CD8ADB6E}" type="pres">
      <dgm:prSet presAssocID="{5FA3C840-7FFD-41E2-A500-885798D0CAEB}" presName="compositeA" presStyleCnt="0"/>
      <dgm:spPr/>
    </dgm:pt>
    <dgm:pt modelId="{8FAF99A3-F7D8-4401-A1E1-9C36EEAC9872}" type="pres">
      <dgm:prSet presAssocID="{5FA3C840-7FFD-41E2-A500-885798D0CAEB}" presName="textA" presStyleLbl="revTx" presStyleIdx="2" presStyleCnt="6">
        <dgm:presLayoutVars>
          <dgm:bulletEnabled val="1"/>
        </dgm:presLayoutVars>
      </dgm:prSet>
      <dgm:spPr/>
    </dgm:pt>
    <dgm:pt modelId="{E548A937-06D2-4720-BA17-26B546AC8560}" type="pres">
      <dgm:prSet presAssocID="{5FA3C840-7FFD-41E2-A500-885798D0CAEB}" presName="circleA" presStyleLbl="node1" presStyleIdx="2" presStyleCnt="6"/>
      <dgm:spPr>
        <a:solidFill>
          <a:srgbClr val="FFC000"/>
        </a:solidFill>
        <a:ln>
          <a:solidFill>
            <a:schemeClr val="bg1"/>
          </a:solidFill>
        </a:ln>
        <a:effectLst/>
        <a:scene3d>
          <a:camera prst="orthographicFront">
            <a:rot lat="0" lon="0" rev="0"/>
          </a:camera>
          <a:lightRig rig="threePt" dir="t">
            <a:rot lat="0" lon="0" rev="1200000"/>
          </a:lightRig>
        </a:scene3d>
        <a:sp3d/>
      </dgm:spPr>
    </dgm:pt>
    <dgm:pt modelId="{F957BC90-C64B-4599-93D8-E004B9F18847}" type="pres">
      <dgm:prSet presAssocID="{5FA3C840-7FFD-41E2-A500-885798D0CAEB}" presName="spaceA" presStyleCnt="0"/>
      <dgm:spPr/>
    </dgm:pt>
    <dgm:pt modelId="{306BF4AF-D649-4023-92F8-1F10485CD309}" type="pres">
      <dgm:prSet presAssocID="{2263C5B1-72C6-460A-8980-CD770A955D5D}" presName="space" presStyleCnt="0"/>
      <dgm:spPr/>
    </dgm:pt>
    <dgm:pt modelId="{77C2B243-EE30-4B3A-AE4F-EBCC5FBCF121}" type="pres">
      <dgm:prSet presAssocID="{78031DF5-E55C-4759-A20B-2828F7835A60}" presName="compositeB" presStyleCnt="0"/>
      <dgm:spPr/>
    </dgm:pt>
    <dgm:pt modelId="{8F39FA3A-F725-491E-BF12-1B7E057A6BC0}" type="pres">
      <dgm:prSet presAssocID="{78031DF5-E55C-4759-A20B-2828F7835A60}" presName="textB" presStyleLbl="revTx" presStyleIdx="3" presStyleCnt="6">
        <dgm:presLayoutVars>
          <dgm:bulletEnabled val="1"/>
        </dgm:presLayoutVars>
      </dgm:prSet>
      <dgm:spPr/>
    </dgm:pt>
    <dgm:pt modelId="{31D9EB2A-ACCC-4C50-B456-D4FF931B86A5}" type="pres">
      <dgm:prSet presAssocID="{78031DF5-E55C-4759-A20B-2828F7835A60}" presName="circleB" presStyleLbl="node1" presStyleIdx="3" presStyleCnt="6"/>
      <dgm:spPr>
        <a:solidFill>
          <a:srgbClr val="FFC000"/>
        </a:solidFill>
        <a:ln>
          <a:solidFill>
            <a:schemeClr val="bg1"/>
          </a:solidFill>
        </a:ln>
        <a:effectLst/>
        <a:scene3d>
          <a:camera prst="orthographicFront">
            <a:rot lat="0" lon="0" rev="0"/>
          </a:camera>
          <a:lightRig rig="threePt" dir="t">
            <a:rot lat="0" lon="0" rev="1200000"/>
          </a:lightRig>
        </a:scene3d>
        <a:sp3d/>
      </dgm:spPr>
    </dgm:pt>
    <dgm:pt modelId="{EBE0C480-5698-4700-A3BC-634DA060303B}" type="pres">
      <dgm:prSet presAssocID="{78031DF5-E55C-4759-A20B-2828F7835A60}" presName="spaceB" presStyleCnt="0"/>
      <dgm:spPr/>
    </dgm:pt>
    <dgm:pt modelId="{99C2FF27-7390-4E53-BBC8-2AC13DCE7539}" type="pres">
      <dgm:prSet presAssocID="{CB6277AB-2014-4936-81EC-91155BD3BF3A}" presName="space" presStyleCnt="0"/>
      <dgm:spPr/>
    </dgm:pt>
    <dgm:pt modelId="{A7016F3D-60FA-4AA5-948E-2B82DECD61E2}" type="pres">
      <dgm:prSet presAssocID="{5475A834-BA5A-430B-9065-5AD3E0F90954}" presName="compositeA" presStyleCnt="0"/>
      <dgm:spPr/>
    </dgm:pt>
    <dgm:pt modelId="{CAD1DFDA-AC3E-4BC8-9E4F-D32B56382917}" type="pres">
      <dgm:prSet presAssocID="{5475A834-BA5A-430B-9065-5AD3E0F90954}" presName="textA" presStyleLbl="revTx" presStyleIdx="4" presStyleCnt="6">
        <dgm:presLayoutVars>
          <dgm:bulletEnabled val="1"/>
        </dgm:presLayoutVars>
      </dgm:prSet>
      <dgm:spPr/>
    </dgm:pt>
    <dgm:pt modelId="{ABEE87AE-EFAF-4BEC-B702-A1EC28794620}" type="pres">
      <dgm:prSet presAssocID="{5475A834-BA5A-430B-9065-5AD3E0F90954}" presName="circleA" presStyleLbl="node1" presStyleIdx="4" presStyleCnt="6"/>
      <dgm:spPr>
        <a:solidFill>
          <a:srgbClr val="FFC000"/>
        </a:solidFill>
        <a:ln>
          <a:solidFill>
            <a:schemeClr val="bg1"/>
          </a:solidFill>
        </a:ln>
        <a:effectLst/>
        <a:scene3d>
          <a:camera prst="orthographicFront">
            <a:rot lat="0" lon="0" rev="0"/>
          </a:camera>
          <a:lightRig rig="threePt" dir="t">
            <a:rot lat="0" lon="0" rev="1200000"/>
          </a:lightRig>
        </a:scene3d>
        <a:sp3d/>
      </dgm:spPr>
    </dgm:pt>
    <dgm:pt modelId="{6DC611E1-ECCD-4224-9812-1348677C8D50}" type="pres">
      <dgm:prSet presAssocID="{5475A834-BA5A-430B-9065-5AD3E0F90954}" presName="spaceA" presStyleCnt="0"/>
      <dgm:spPr/>
    </dgm:pt>
    <dgm:pt modelId="{C14EF3A0-EEAD-465E-A72C-3FDE2DD5568C}" type="pres">
      <dgm:prSet presAssocID="{ECD3AFD0-DA52-46B9-8718-C949C2C93176}" presName="space" presStyleCnt="0"/>
      <dgm:spPr/>
    </dgm:pt>
    <dgm:pt modelId="{0F156FEE-B7C9-4EE5-B361-568C5BA57EA3}" type="pres">
      <dgm:prSet presAssocID="{6FD1C666-482B-441E-94CD-432271218DBA}" presName="compositeB" presStyleCnt="0"/>
      <dgm:spPr/>
    </dgm:pt>
    <dgm:pt modelId="{0608DB35-7206-429C-AE57-D656007530D1}" type="pres">
      <dgm:prSet presAssocID="{6FD1C666-482B-441E-94CD-432271218DBA}" presName="textB" presStyleLbl="revTx" presStyleIdx="5" presStyleCnt="6">
        <dgm:presLayoutVars>
          <dgm:bulletEnabled val="1"/>
        </dgm:presLayoutVars>
      </dgm:prSet>
      <dgm:spPr/>
    </dgm:pt>
    <dgm:pt modelId="{6F61C659-9BDF-46C9-9647-ADEAE99B0378}" type="pres">
      <dgm:prSet presAssocID="{6FD1C666-482B-441E-94CD-432271218DBA}" presName="circleB" presStyleLbl="node1" presStyleIdx="5" presStyleCnt="6"/>
      <dgm:spPr>
        <a:solidFill>
          <a:srgbClr val="FFC000"/>
        </a:solidFill>
        <a:ln>
          <a:solidFill>
            <a:schemeClr val="bg1"/>
          </a:solidFill>
        </a:ln>
        <a:effectLst/>
        <a:scene3d>
          <a:camera prst="orthographicFront">
            <a:rot lat="0" lon="0" rev="0"/>
          </a:camera>
          <a:lightRig rig="threePt" dir="t">
            <a:rot lat="0" lon="0" rev="1200000"/>
          </a:lightRig>
        </a:scene3d>
        <a:sp3d/>
      </dgm:spPr>
    </dgm:pt>
    <dgm:pt modelId="{78780050-D818-4C6D-BDBD-6351AD9920E0}" type="pres">
      <dgm:prSet presAssocID="{6FD1C666-482B-441E-94CD-432271218DBA}" presName="spaceB" presStyleCnt="0"/>
      <dgm:spPr/>
    </dgm:pt>
  </dgm:ptLst>
  <dgm:cxnLst>
    <dgm:cxn modelId="{9FE93B07-6FA7-4703-BD9F-24B8029F3E26}" type="presOf" srcId="{6FD1C666-482B-441E-94CD-432271218DBA}" destId="{0608DB35-7206-429C-AE57-D656007530D1}" srcOrd="0" destOrd="0" presId="urn:microsoft.com/office/officeart/2005/8/layout/hProcess11"/>
    <dgm:cxn modelId="{9839B826-0C4B-4A2A-8959-8855FDF9A31B}" type="presOf" srcId="{78031DF5-E55C-4759-A20B-2828F7835A60}" destId="{8F39FA3A-F725-491E-BF12-1B7E057A6BC0}" srcOrd="0" destOrd="0" presId="urn:microsoft.com/office/officeart/2005/8/layout/hProcess11"/>
    <dgm:cxn modelId="{51CEA82D-C84E-493C-9D47-884193C448AC}" type="presOf" srcId="{0BC46805-8F0C-4E1B-8A9F-0BB87D426C34}" destId="{16AC9E05-0D24-498E-9447-F34EB54FFF08}" srcOrd="0" destOrd="0" presId="urn:microsoft.com/office/officeart/2005/8/layout/hProcess11"/>
    <dgm:cxn modelId="{9ABFF34A-F525-4EC7-994F-2C0B709B6AC3}" srcId="{9DB328D0-C03C-4FBB-9D02-06478F3F0CC4}" destId="{5475A834-BA5A-430B-9065-5AD3E0F90954}" srcOrd="4" destOrd="0" parTransId="{96E55274-FC23-4B4C-938B-42690A7515A8}" sibTransId="{ECD3AFD0-DA52-46B9-8718-C949C2C93176}"/>
    <dgm:cxn modelId="{11CEE88C-3809-45D9-9C61-563C82F0D400}" srcId="{9DB328D0-C03C-4FBB-9D02-06478F3F0CC4}" destId="{0BC46805-8F0C-4E1B-8A9F-0BB87D426C34}" srcOrd="0" destOrd="0" parTransId="{27FA79EF-574A-4105-9118-204309D86881}" sibTransId="{40EE9914-5A89-4A74-99DF-74149B27AC1D}"/>
    <dgm:cxn modelId="{A5924391-5996-4C25-AE7E-44723006D6A8}" type="presOf" srcId="{9DB328D0-C03C-4FBB-9D02-06478F3F0CC4}" destId="{789C74F8-84F4-45FD-8763-ECA6364631FD}" srcOrd="0" destOrd="0" presId="urn:microsoft.com/office/officeart/2005/8/layout/hProcess11"/>
    <dgm:cxn modelId="{CA4C44A8-D1E4-4E23-AFD4-EC6D7B7EFA68}" srcId="{9DB328D0-C03C-4FBB-9D02-06478F3F0CC4}" destId="{6FD1C666-482B-441E-94CD-432271218DBA}" srcOrd="5" destOrd="0" parTransId="{F2DDF00E-EAF1-48DA-B974-2D3865E1FB36}" sibTransId="{12074E3C-3CCF-49EF-B55E-9606AD02290F}"/>
    <dgm:cxn modelId="{D6FEBCB8-369F-411A-9A52-03F95D767B99}" srcId="{9DB328D0-C03C-4FBB-9D02-06478F3F0CC4}" destId="{78031DF5-E55C-4759-A20B-2828F7835A60}" srcOrd="3" destOrd="0" parTransId="{29F3F18D-94CC-4628-907D-96AB44CB0F41}" sibTransId="{CB6277AB-2014-4936-81EC-91155BD3BF3A}"/>
    <dgm:cxn modelId="{BC1DAEC5-B117-4EF1-933B-D526BDA962A4}" type="presOf" srcId="{B9E9429F-F2ED-4F66-A1A9-8A6C5E3E182B}" destId="{B01160AE-6761-44EC-AA1D-9CD5804C3972}" srcOrd="0" destOrd="0" presId="urn:microsoft.com/office/officeart/2005/8/layout/hProcess11"/>
    <dgm:cxn modelId="{6AFD2CCA-37B4-47BB-89F9-D6D79BD0B668}" srcId="{9DB328D0-C03C-4FBB-9D02-06478F3F0CC4}" destId="{B9E9429F-F2ED-4F66-A1A9-8A6C5E3E182B}" srcOrd="1" destOrd="0" parTransId="{19E1BD8B-8545-4351-AB61-4ADC9487DAD6}" sibTransId="{C5536648-6385-4FE3-97F8-59B9C57AFEE4}"/>
    <dgm:cxn modelId="{E3B891ED-26F6-4C14-B73C-434A5D60029E}" srcId="{9DB328D0-C03C-4FBB-9D02-06478F3F0CC4}" destId="{5FA3C840-7FFD-41E2-A500-885798D0CAEB}" srcOrd="2" destOrd="0" parTransId="{7AFF8296-698E-4BAF-91D9-9126F833054E}" sibTransId="{2263C5B1-72C6-460A-8980-CD770A955D5D}"/>
    <dgm:cxn modelId="{A75164F8-25EB-4E54-A78E-34ED5E4624FB}" type="presOf" srcId="{5475A834-BA5A-430B-9065-5AD3E0F90954}" destId="{CAD1DFDA-AC3E-4BC8-9E4F-D32B56382917}" srcOrd="0" destOrd="0" presId="urn:microsoft.com/office/officeart/2005/8/layout/hProcess11"/>
    <dgm:cxn modelId="{31A0BAFC-B557-4040-8798-A723BAD903B0}" type="presOf" srcId="{5FA3C840-7FFD-41E2-A500-885798D0CAEB}" destId="{8FAF99A3-F7D8-4401-A1E1-9C36EEAC9872}" srcOrd="0" destOrd="0" presId="urn:microsoft.com/office/officeart/2005/8/layout/hProcess11"/>
    <dgm:cxn modelId="{E798EC1B-5718-491D-9F7E-D2DB115B2F55}" type="presParOf" srcId="{789C74F8-84F4-45FD-8763-ECA6364631FD}" destId="{0439642C-BCD1-4651-9E31-19925A21FAE1}" srcOrd="0" destOrd="0" presId="urn:microsoft.com/office/officeart/2005/8/layout/hProcess11"/>
    <dgm:cxn modelId="{067BD529-0A17-44D8-BDFB-E18B6B6846C0}" type="presParOf" srcId="{789C74F8-84F4-45FD-8763-ECA6364631FD}" destId="{4111D730-A399-41C9-9A20-6EB9BEA83B4B}" srcOrd="1" destOrd="0" presId="urn:microsoft.com/office/officeart/2005/8/layout/hProcess11"/>
    <dgm:cxn modelId="{C53902B3-E622-42BC-8D83-60C462D2DDA8}" type="presParOf" srcId="{4111D730-A399-41C9-9A20-6EB9BEA83B4B}" destId="{AD40F405-F240-40AB-8D35-F61076F4A844}" srcOrd="0" destOrd="0" presId="urn:microsoft.com/office/officeart/2005/8/layout/hProcess11"/>
    <dgm:cxn modelId="{A08C09A3-340C-463A-9B50-D0A2E963D225}" type="presParOf" srcId="{AD40F405-F240-40AB-8D35-F61076F4A844}" destId="{16AC9E05-0D24-498E-9447-F34EB54FFF08}" srcOrd="0" destOrd="0" presId="urn:microsoft.com/office/officeart/2005/8/layout/hProcess11"/>
    <dgm:cxn modelId="{7ED219BE-BF7E-4355-9ED8-0A6193407D4A}" type="presParOf" srcId="{AD40F405-F240-40AB-8D35-F61076F4A844}" destId="{DEDE1B6A-2B43-4457-8167-1114F0A34F99}" srcOrd="1" destOrd="0" presId="urn:microsoft.com/office/officeart/2005/8/layout/hProcess11"/>
    <dgm:cxn modelId="{77C52434-ADFC-4995-9E89-D3D3FBF14904}" type="presParOf" srcId="{AD40F405-F240-40AB-8D35-F61076F4A844}" destId="{1E3EE6E9-EB96-44F2-AABF-53A7A8FBE1D2}" srcOrd="2" destOrd="0" presId="urn:microsoft.com/office/officeart/2005/8/layout/hProcess11"/>
    <dgm:cxn modelId="{4412B4BB-2854-4C1E-A313-C224D2024E8E}" type="presParOf" srcId="{4111D730-A399-41C9-9A20-6EB9BEA83B4B}" destId="{2591828E-E1F8-482C-8F96-09234032A499}" srcOrd="1" destOrd="0" presId="urn:microsoft.com/office/officeart/2005/8/layout/hProcess11"/>
    <dgm:cxn modelId="{3462741E-4A8E-4481-83F1-223D85E7FD0F}" type="presParOf" srcId="{4111D730-A399-41C9-9A20-6EB9BEA83B4B}" destId="{FDE51258-7D20-4AEE-B817-BB23D22D545A}" srcOrd="2" destOrd="0" presId="urn:microsoft.com/office/officeart/2005/8/layout/hProcess11"/>
    <dgm:cxn modelId="{8D7198BA-3DE5-471C-B882-818F92ED332B}" type="presParOf" srcId="{FDE51258-7D20-4AEE-B817-BB23D22D545A}" destId="{B01160AE-6761-44EC-AA1D-9CD5804C3972}" srcOrd="0" destOrd="0" presId="urn:microsoft.com/office/officeart/2005/8/layout/hProcess11"/>
    <dgm:cxn modelId="{2BF2673D-F864-4250-B8FF-09F57D6AAEE2}" type="presParOf" srcId="{FDE51258-7D20-4AEE-B817-BB23D22D545A}" destId="{630F076E-CECC-4DAB-9019-056166D5E218}" srcOrd="1" destOrd="0" presId="urn:microsoft.com/office/officeart/2005/8/layout/hProcess11"/>
    <dgm:cxn modelId="{AB5B886C-BD45-4C16-81EC-EB48DF5E0EB5}" type="presParOf" srcId="{FDE51258-7D20-4AEE-B817-BB23D22D545A}" destId="{5D37D1D7-753A-42F7-894F-6F66D3DA48B3}" srcOrd="2" destOrd="0" presId="urn:microsoft.com/office/officeart/2005/8/layout/hProcess11"/>
    <dgm:cxn modelId="{E77D0C4F-429B-431F-A343-5E1708E3C73B}" type="presParOf" srcId="{4111D730-A399-41C9-9A20-6EB9BEA83B4B}" destId="{551ECC9A-9645-4EEB-944B-C633338B51D7}" srcOrd="3" destOrd="0" presId="urn:microsoft.com/office/officeart/2005/8/layout/hProcess11"/>
    <dgm:cxn modelId="{CDE74A97-11A5-46CF-9303-C311D730BC6E}" type="presParOf" srcId="{4111D730-A399-41C9-9A20-6EB9BEA83B4B}" destId="{9381AD3B-8EA5-4165-ABA3-2699CD8ADB6E}" srcOrd="4" destOrd="0" presId="urn:microsoft.com/office/officeart/2005/8/layout/hProcess11"/>
    <dgm:cxn modelId="{C52EA811-5D11-439F-B2FC-BCE96B4659BB}" type="presParOf" srcId="{9381AD3B-8EA5-4165-ABA3-2699CD8ADB6E}" destId="{8FAF99A3-F7D8-4401-A1E1-9C36EEAC9872}" srcOrd="0" destOrd="0" presId="urn:microsoft.com/office/officeart/2005/8/layout/hProcess11"/>
    <dgm:cxn modelId="{6F04BE97-F950-4B2E-8FF2-EB7925078800}" type="presParOf" srcId="{9381AD3B-8EA5-4165-ABA3-2699CD8ADB6E}" destId="{E548A937-06D2-4720-BA17-26B546AC8560}" srcOrd="1" destOrd="0" presId="urn:microsoft.com/office/officeart/2005/8/layout/hProcess11"/>
    <dgm:cxn modelId="{76BD1A36-A620-4041-922A-3C7783953847}" type="presParOf" srcId="{9381AD3B-8EA5-4165-ABA3-2699CD8ADB6E}" destId="{F957BC90-C64B-4599-93D8-E004B9F18847}" srcOrd="2" destOrd="0" presId="urn:microsoft.com/office/officeart/2005/8/layout/hProcess11"/>
    <dgm:cxn modelId="{A26B0B95-BCD8-47A1-ACC2-0AE3A10C5A70}" type="presParOf" srcId="{4111D730-A399-41C9-9A20-6EB9BEA83B4B}" destId="{306BF4AF-D649-4023-92F8-1F10485CD309}" srcOrd="5" destOrd="0" presId="urn:microsoft.com/office/officeart/2005/8/layout/hProcess11"/>
    <dgm:cxn modelId="{0590638C-9771-4963-B5BF-21FC7D3B7D37}" type="presParOf" srcId="{4111D730-A399-41C9-9A20-6EB9BEA83B4B}" destId="{77C2B243-EE30-4B3A-AE4F-EBCC5FBCF121}" srcOrd="6" destOrd="0" presId="urn:microsoft.com/office/officeart/2005/8/layout/hProcess11"/>
    <dgm:cxn modelId="{E2016BCD-8C87-4821-ACFB-BE174230D583}" type="presParOf" srcId="{77C2B243-EE30-4B3A-AE4F-EBCC5FBCF121}" destId="{8F39FA3A-F725-491E-BF12-1B7E057A6BC0}" srcOrd="0" destOrd="0" presId="urn:microsoft.com/office/officeart/2005/8/layout/hProcess11"/>
    <dgm:cxn modelId="{7805EF26-A29D-4156-8C62-83051C6579C8}" type="presParOf" srcId="{77C2B243-EE30-4B3A-AE4F-EBCC5FBCF121}" destId="{31D9EB2A-ACCC-4C50-B456-D4FF931B86A5}" srcOrd="1" destOrd="0" presId="urn:microsoft.com/office/officeart/2005/8/layout/hProcess11"/>
    <dgm:cxn modelId="{7671858D-7E42-4827-BC08-20BBEFD89C99}" type="presParOf" srcId="{77C2B243-EE30-4B3A-AE4F-EBCC5FBCF121}" destId="{EBE0C480-5698-4700-A3BC-634DA060303B}" srcOrd="2" destOrd="0" presId="urn:microsoft.com/office/officeart/2005/8/layout/hProcess11"/>
    <dgm:cxn modelId="{C0E33BAE-50DF-48BE-8A70-6FA6834C25C0}" type="presParOf" srcId="{4111D730-A399-41C9-9A20-6EB9BEA83B4B}" destId="{99C2FF27-7390-4E53-BBC8-2AC13DCE7539}" srcOrd="7" destOrd="0" presId="urn:microsoft.com/office/officeart/2005/8/layout/hProcess11"/>
    <dgm:cxn modelId="{2BFA6BBF-7846-45DF-A951-AA79F4E8CE83}" type="presParOf" srcId="{4111D730-A399-41C9-9A20-6EB9BEA83B4B}" destId="{A7016F3D-60FA-4AA5-948E-2B82DECD61E2}" srcOrd="8" destOrd="0" presId="urn:microsoft.com/office/officeart/2005/8/layout/hProcess11"/>
    <dgm:cxn modelId="{48028ED0-A344-41BA-97FF-05DB2B62DB50}" type="presParOf" srcId="{A7016F3D-60FA-4AA5-948E-2B82DECD61E2}" destId="{CAD1DFDA-AC3E-4BC8-9E4F-D32B56382917}" srcOrd="0" destOrd="0" presId="urn:microsoft.com/office/officeart/2005/8/layout/hProcess11"/>
    <dgm:cxn modelId="{4173D6A5-EB19-42F9-B9F7-048DFC5B2153}" type="presParOf" srcId="{A7016F3D-60FA-4AA5-948E-2B82DECD61E2}" destId="{ABEE87AE-EFAF-4BEC-B702-A1EC28794620}" srcOrd="1" destOrd="0" presId="urn:microsoft.com/office/officeart/2005/8/layout/hProcess11"/>
    <dgm:cxn modelId="{6B66C18C-AF99-4E87-929B-384F5C22CEF6}" type="presParOf" srcId="{A7016F3D-60FA-4AA5-948E-2B82DECD61E2}" destId="{6DC611E1-ECCD-4224-9812-1348677C8D50}" srcOrd="2" destOrd="0" presId="urn:microsoft.com/office/officeart/2005/8/layout/hProcess11"/>
    <dgm:cxn modelId="{579C9D4F-82E9-4065-B1CC-63F7E6E54F12}" type="presParOf" srcId="{4111D730-A399-41C9-9A20-6EB9BEA83B4B}" destId="{C14EF3A0-EEAD-465E-A72C-3FDE2DD5568C}" srcOrd="9" destOrd="0" presId="urn:microsoft.com/office/officeart/2005/8/layout/hProcess11"/>
    <dgm:cxn modelId="{04B7C746-1B53-42DE-8191-A49843444711}" type="presParOf" srcId="{4111D730-A399-41C9-9A20-6EB9BEA83B4B}" destId="{0F156FEE-B7C9-4EE5-B361-568C5BA57EA3}" srcOrd="10" destOrd="0" presId="urn:microsoft.com/office/officeart/2005/8/layout/hProcess11"/>
    <dgm:cxn modelId="{509BE492-0AD0-43BB-A9C4-744E8353B93A}" type="presParOf" srcId="{0F156FEE-B7C9-4EE5-B361-568C5BA57EA3}" destId="{0608DB35-7206-429C-AE57-D656007530D1}" srcOrd="0" destOrd="0" presId="urn:microsoft.com/office/officeart/2005/8/layout/hProcess11"/>
    <dgm:cxn modelId="{CEAD1AA8-318C-483F-89FC-686A0C8E70AF}" type="presParOf" srcId="{0F156FEE-B7C9-4EE5-B361-568C5BA57EA3}" destId="{6F61C659-9BDF-46C9-9647-ADEAE99B0378}" srcOrd="1" destOrd="0" presId="urn:microsoft.com/office/officeart/2005/8/layout/hProcess11"/>
    <dgm:cxn modelId="{5EB8303C-978C-41F2-B2C3-9207E9C192F5}" type="presParOf" srcId="{0F156FEE-B7C9-4EE5-B361-568C5BA57EA3}" destId="{78780050-D818-4C6D-BDBD-6351AD9920E0}"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39642C-BCD1-4651-9E31-19925A21FAE1}">
      <dsp:nvSpPr>
        <dsp:cNvPr id="0" name=""/>
        <dsp:cNvSpPr/>
      </dsp:nvSpPr>
      <dsp:spPr>
        <a:xfrm>
          <a:off x="0" y="1371599"/>
          <a:ext cx="11734797" cy="1828799"/>
        </a:xfrm>
        <a:prstGeom prst="notchedRightArrow">
          <a:avLst/>
        </a:prstGeom>
        <a:solidFill>
          <a:srgbClr val="FBC9BB"/>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sp>
    <dsp:sp modelId="{16AC9E05-0D24-498E-9447-F34EB54FFF08}">
      <dsp:nvSpPr>
        <dsp:cNvPr id="0" name=""/>
        <dsp:cNvSpPr/>
      </dsp:nvSpPr>
      <dsp:spPr>
        <a:xfrm>
          <a:off x="2900" y="0"/>
          <a:ext cx="1688882" cy="182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Understand the Audience</a:t>
          </a:r>
        </a:p>
      </dsp:txBody>
      <dsp:txXfrm>
        <a:off x="2900" y="0"/>
        <a:ext cx="1688882" cy="1828799"/>
      </dsp:txXfrm>
    </dsp:sp>
    <dsp:sp modelId="{DEDE1B6A-2B43-4457-8167-1114F0A34F99}">
      <dsp:nvSpPr>
        <dsp:cNvPr id="0" name=""/>
        <dsp:cNvSpPr/>
      </dsp:nvSpPr>
      <dsp:spPr>
        <a:xfrm>
          <a:off x="618742" y="2057399"/>
          <a:ext cx="457199" cy="457199"/>
        </a:xfrm>
        <a:prstGeom prst="ellipse">
          <a:avLst/>
        </a:prstGeom>
        <a:solidFill>
          <a:srgbClr val="FFC000"/>
        </a:solidFill>
        <a:ln>
          <a:solidFill>
            <a:schemeClr val="bg1"/>
          </a:solidFill>
        </a:ln>
        <a:effectLst/>
        <a:scene3d>
          <a:camera prst="orthographicFront">
            <a:rot lat="0" lon="0" rev="0"/>
          </a:camera>
          <a:lightRig rig="threePt" dir="t">
            <a:rot lat="0" lon="0" rev="1200000"/>
          </a:lightRig>
        </a:scene3d>
        <a:sp3d/>
      </dsp:spPr>
      <dsp:style>
        <a:lnRef idx="0">
          <a:scrgbClr r="0" g="0" b="0"/>
        </a:lnRef>
        <a:fillRef idx="3">
          <a:scrgbClr r="0" g="0" b="0"/>
        </a:fillRef>
        <a:effectRef idx="3">
          <a:scrgbClr r="0" g="0" b="0"/>
        </a:effectRef>
        <a:fontRef idx="minor">
          <a:schemeClr val="lt1"/>
        </a:fontRef>
      </dsp:style>
    </dsp:sp>
    <dsp:sp modelId="{B01160AE-6761-44EC-AA1D-9CD5804C3972}">
      <dsp:nvSpPr>
        <dsp:cNvPr id="0" name=""/>
        <dsp:cNvSpPr/>
      </dsp:nvSpPr>
      <dsp:spPr>
        <a:xfrm>
          <a:off x="1776227" y="2743199"/>
          <a:ext cx="1688882" cy="182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rtl="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Identify Key Messages</a:t>
          </a:r>
        </a:p>
      </dsp:txBody>
      <dsp:txXfrm>
        <a:off x="1776227" y="2743199"/>
        <a:ext cx="1688882" cy="1828799"/>
      </dsp:txXfrm>
    </dsp:sp>
    <dsp:sp modelId="{630F076E-CECC-4DAB-9019-056166D5E218}">
      <dsp:nvSpPr>
        <dsp:cNvPr id="0" name=""/>
        <dsp:cNvSpPr/>
      </dsp:nvSpPr>
      <dsp:spPr>
        <a:xfrm>
          <a:off x="2392068" y="2057399"/>
          <a:ext cx="457199" cy="457199"/>
        </a:xfrm>
        <a:prstGeom prst="ellipse">
          <a:avLst/>
        </a:prstGeom>
        <a:solidFill>
          <a:srgbClr val="FFC000"/>
        </a:solidFill>
        <a:ln>
          <a:solidFill>
            <a:schemeClr val="bg1"/>
          </a:solidFill>
        </a:ln>
        <a:effectLst/>
        <a:scene3d>
          <a:camera prst="orthographicFront">
            <a:rot lat="0" lon="0" rev="0"/>
          </a:camera>
          <a:lightRig rig="threePt" dir="t">
            <a:rot lat="0" lon="0" rev="1200000"/>
          </a:lightRig>
        </a:scene3d>
        <a:sp3d/>
      </dsp:spPr>
      <dsp:style>
        <a:lnRef idx="0">
          <a:scrgbClr r="0" g="0" b="0"/>
        </a:lnRef>
        <a:fillRef idx="3">
          <a:scrgbClr r="0" g="0" b="0"/>
        </a:fillRef>
        <a:effectRef idx="3">
          <a:scrgbClr r="0" g="0" b="0"/>
        </a:effectRef>
        <a:fontRef idx="minor">
          <a:schemeClr val="lt1"/>
        </a:fontRef>
      </dsp:style>
    </dsp:sp>
    <dsp:sp modelId="{8FAF99A3-F7D8-4401-A1E1-9C36EEAC9872}">
      <dsp:nvSpPr>
        <dsp:cNvPr id="0" name=""/>
        <dsp:cNvSpPr/>
      </dsp:nvSpPr>
      <dsp:spPr>
        <a:xfrm>
          <a:off x="3549554" y="0"/>
          <a:ext cx="1688882" cy="182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Collect and Analyze Data</a:t>
          </a:r>
        </a:p>
      </dsp:txBody>
      <dsp:txXfrm>
        <a:off x="3549554" y="0"/>
        <a:ext cx="1688882" cy="1828799"/>
      </dsp:txXfrm>
    </dsp:sp>
    <dsp:sp modelId="{E548A937-06D2-4720-BA17-26B546AC8560}">
      <dsp:nvSpPr>
        <dsp:cNvPr id="0" name=""/>
        <dsp:cNvSpPr/>
      </dsp:nvSpPr>
      <dsp:spPr>
        <a:xfrm>
          <a:off x="4165395" y="2057399"/>
          <a:ext cx="457199" cy="457199"/>
        </a:xfrm>
        <a:prstGeom prst="ellipse">
          <a:avLst/>
        </a:prstGeom>
        <a:solidFill>
          <a:srgbClr val="FFC000"/>
        </a:solidFill>
        <a:ln>
          <a:solidFill>
            <a:schemeClr val="bg1"/>
          </a:solidFill>
        </a:ln>
        <a:effectLst/>
        <a:scene3d>
          <a:camera prst="orthographicFront">
            <a:rot lat="0" lon="0" rev="0"/>
          </a:camera>
          <a:lightRig rig="threePt" dir="t">
            <a:rot lat="0" lon="0" rev="1200000"/>
          </a:lightRig>
        </a:scene3d>
        <a:sp3d/>
      </dsp:spPr>
      <dsp:style>
        <a:lnRef idx="0">
          <a:scrgbClr r="0" g="0" b="0"/>
        </a:lnRef>
        <a:fillRef idx="3">
          <a:scrgbClr r="0" g="0" b="0"/>
        </a:fillRef>
        <a:effectRef idx="3">
          <a:scrgbClr r="0" g="0" b="0"/>
        </a:effectRef>
        <a:fontRef idx="minor">
          <a:schemeClr val="lt1"/>
        </a:fontRef>
      </dsp:style>
    </dsp:sp>
    <dsp:sp modelId="{8F39FA3A-F725-491E-BF12-1B7E057A6BC0}">
      <dsp:nvSpPr>
        <dsp:cNvPr id="0" name=""/>
        <dsp:cNvSpPr/>
      </dsp:nvSpPr>
      <dsp:spPr>
        <a:xfrm>
          <a:off x="5322880" y="2743199"/>
          <a:ext cx="1688882" cy="182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rtl="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Create a Narrative</a:t>
          </a:r>
        </a:p>
      </dsp:txBody>
      <dsp:txXfrm>
        <a:off x="5322880" y="2743199"/>
        <a:ext cx="1688882" cy="1828799"/>
      </dsp:txXfrm>
    </dsp:sp>
    <dsp:sp modelId="{31D9EB2A-ACCC-4C50-B456-D4FF931B86A5}">
      <dsp:nvSpPr>
        <dsp:cNvPr id="0" name=""/>
        <dsp:cNvSpPr/>
      </dsp:nvSpPr>
      <dsp:spPr>
        <a:xfrm>
          <a:off x="5938722" y="2057399"/>
          <a:ext cx="457199" cy="457199"/>
        </a:xfrm>
        <a:prstGeom prst="ellipse">
          <a:avLst/>
        </a:prstGeom>
        <a:solidFill>
          <a:srgbClr val="FFC000"/>
        </a:solidFill>
        <a:ln>
          <a:solidFill>
            <a:schemeClr val="bg1"/>
          </a:solidFill>
        </a:ln>
        <a:effectLst/>
        <a:scene3d>
          <a:camera prst="orthographicFront">
            <a:rot lat="0" lon="0" rev="0"/>
          </a:camera>
          <a:lightRig rig="threePt" dir="t">
            <a:rot lat="0" lon="0" rev="1200000"/>
          </a:lightRig>
        </a:scene3d>
        <a:sp3d/>
      </dsp:spPr>
      <dsp:style>
        <a:lnRef idx="0">
          <a:scrgbClr r="0" g="0" b="0"/>
        </a:lnRef>
        <a:fillRef idx="3">
          <a:scrgbClr r="0" g="0" b="0"/>
        </a:fillRef>
        <a:effectRef idx="3">
          <a:scrgbClr r="0" g="0" b="0"/>
        </a:effectRef>
        <a:fontRef idx="minor">
          <a:schemeClr val="lt1"/>
        </a:fontRef>
      </dsp:style>
    </dsp:sp>
    <dsp:sp modelId="{CAD1DFDA-AC3E-4BC8-9E4F-D32B56382917}">
      <dsp:nvSpPr>
        <dsp:cNvPr id="0" name=""/>
        <dsp:cNvSpPr/>
      </dsp:nvSpPr>
      <dsp:spPr>
        <a:xfrm>
          <a:off x="7096207" y="0"/>
          <a:ext cx="1688882" cy="182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rtl="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Design Visuals</a:t>
          </a:r>
        </a:p>
      </dsp:txBody>
      <dsp:txXfrm>
        <a:off x="7096207" y="0"/>
        <a:ext cx="1688882" cy="1828799"/>
      </dsp:txXfrm>
    </dsp:sp>
    <dsp:sp modelId="{ABEE87AE-EFAF-4BEC-B702-A1EC28794620}">
      <dsp:nvSpPr>
        <dsp:cNvPr id="0" name=""/>
        <dsp:cNvSpPr/>
      </dsp:nvSpPr>
      <dsp:spPr>
        <a:xfrm>
          <a:off x="7712048" y="2057399"/>
          <a:ext cx="457199" cy="457199"/>
        </a:xfrm>
        <a:prstGeom prst="ellipse">
          <a:avLst/>
        </a:prstGeom>
        <a:solidFill>
          <a:srgbClr val="FFC000"/>
        </a:solidFill>
        <a:ln>
          <a:solidFill>
            <a:schemeClr val="bg1"/>
          </a:solidFill>
        </a:ln>
        <a:effectLst/>
        <a:scene3d>
          <a:camera prst="orthographicFront">
            <a:rot lat="0" lon="0" rev="0"/>
          </a:camera>
          <a:lightRig rig="threePt" dir="t">
            <a:rot lat="0" lon="0" rev="1200000"/>
          </a:lightRig>
        </a:scene3d>
        <a:sp3d/>
      </dsp:spPr>
      <dsp:style>
        <a:lnRef idx="0">
          <a:scrgbClr r="0" g="0" b="0"/>
        </a:lnRef>
        <a:fillRef idx="3">
          <a:scrgbClr r="0" g="0" b="0"/>
        </a:fillRef>
        <a:effectRef idx="3">
          <a:scrgbClr r="0" g="0" b="0"/>
        </a:effectRef>
        <a:fontRef idx="minor">
          <a:schemeClr val="lt1"/>
        </a:fontRef>
      </dsp:style>
    </dsp:sp>
    <dsp:sp modelId="{0608DB35-7206-429C-AE57-D656007530D1}">
      <dsp:nvSpPr>
        <dsp:cNvPr id="0" name=""/>
        <dsp:cNvSpPr/>
      </dsp:nvSpPr>
      <dsp:spPr>
        <a:xfrm>
          <a:off x="8869534" y="2743199"/>
          <a:ext cx="1688882" cy="18287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rtl="0">
            <a:lnSpc>
              <a:spcPct val="90000"/>
            </a:lnSpc>
            <a:spcBef>
              <a:spcPct val="0"/>
            </a:spcBef>
            <a:spcAft>
              <a:spcPct val="35000"/>
            </a:spcAft>
            <a:buNone/>
          </a:pPr>
          <a:r>
            <a:rPr lang="en-US" sz="1800" b="0" kern="1200" dirty="0">
              <a:latin typeface="Arial" panose="020B0604020202020204" pitchFamily="34" charset="0"/>
              <a:cs typeface="Arial" panose="020B0604020202020204" pitchFamily="34" charset="0"/>
            </a:rPr>
            <a:t>Refine and Practice</a:t>
          </a:r>
        </a:p>
      </dsp:txBody>
      <dsp:txXfrm>
        <a:off x="8869534" y="2743199"/>
        <a:ext cx="1688882" cy="1828799"/>
      </dsp:txXfrm>
    </dsp:sp>
    <dsp:sp modelId="{6F61C659-9BDF-46C9-9647-ADEAE99B0378}">
      <dsp:nvSpPr>
        <dsp:cNvPr id="0" name=""/>
        <dsp:cNvSpPr/>
      </dsp:nvSpPr>
      <dsp:spPr>
        <a:xfrm>
          <a:off x="9485375" y="2057399"/>
          <a:ext cx="457199" cy="457199"/>
        </a:xfrm>
        <a:prstGeom prst="ellipse">
          <a:avLst/>
        </a:prstGeom>
        <a:solidFill>
          <a:srgbClr val="FFC000"/>
        </a:solidFill>
        <a:ln>
          <a:solidFill>
            <a:schemeClr val="bg1"/>
          </a:solidFill>
        </a:ln>
        <a:effectLst/>
        <a:scene3d>
          <a:camera prst="orthographicFront">
            <a:rot lat="0" lon="0" rev="0"/>
          </a:camera>
          <a:lightRig rig="threePt" dir="t">
            <a:rot lat="0" lon="0" rev="1200000"/>
          </a:lightRig>
        </a:scene3d>
        <a:sp3d/>
      </dsp:spPr>
      <dsp:style>
        <a:lnRef idx="0">
          <a:scrgbClr r="0" g="0" b="0"/>
        </a:lnRef>
        <a:fillRef idx="3">
          <a:scrgbClr r="0" g="0" b="0"/>
        </a:fillRef>
        <a:effectRef idx="3">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29T13:32:22.834"/>
    </inkml:context>
    <inkml:brush xml:id="br0">
      <inkml:brushProperty name="width" value="0.1" units="cm"/>
      <inkml:brushProperty name="height" value="0.1" units="cm"/>
      <inkml:brushProperty name="color" value="#E71224"/>
    </inkml:brush>
  </inkml:definitions>
  <inkml:trace contextRef="#ctx0" brushRef="#br0">10065 9721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1-29T13:32:22.834"/>
    </inkml:context>
    <inkml:brush xml:id="br0">
      <inkml:brushProperty name="width" value="0.1" units="cm"/>
      <inkml:brushProperty name="height" value="0.1" units="cm"/>
      <inkml:brushProperty name="color" value="#E71224"/>
    </inkml:brush>
  </inkml:definitions>
  <inkml:trace contextRef="#ctx0" brushRef="#br0">10065 9721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078528-D345-4D44-8863-B883B1331B71}" type="datetimeFigureOut">
              <a:rPr lang="en-IN" smtClean="0"/>
              <a:t>05-08-2025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DC4813-6191-4AA2-8E60-78DD42F28E4E}" type="slidenum">
              <a:rPr lang="en-IN" smtClean="0"/>
              <a:t>‹#›</a:t>
            </a:fld>
            <a:endParaRPr lang="en-IN"/>
          </a:p>
        </p:txBody>
      </p:sp>
    </p:spTree>
    <p:extLst>
      <p:ext uri="{BB962C8B-B14F-4D97-AF65-F5344CB8AC3E}">
        <p14:creationId xmlns:p14="http://schemas.microsoft.com/office/powerpoint/2010/main" val="2480431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s://github.com/Techsaksham/TSP4.0-AI-SDP-LAB-Repo/tree/main/Unit%20II:%20Applied%20Data%20Analytics%20with%20Python%20Programming,%20and%20PowerBI"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DC4813-6191-4AA2-8E60-78DD42F28E4E}" type="slidenum">
              <a:rPr lang="en-IN" smtClean="0"/>
              <a:t>1</a:t>
            </a:fld>
            <a:endParaRPr lang="en-IN"/>
          </a:p>
        </p:txBody>
      </p:sp>
    </p:spTree>
    <p:extLst>
      <p:ext uri="{BB962C8B-B14F-4D97-AF65-F5344CB8AC3E}">
        <p14:creationId xmlns:p14="http://schemas.microsoft.com/office/powerpoint/2010/main" val="27805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6</a:t>
            </a:fld>
            <a:endParaRPr lang="en-IN"/>
          </a:p>
        </p:txBody>
      </p:sp>
    </p:spTree>
    <p:extLst>
      <p:ext uri="{BB962C8B-B14F-4D97-AF65-F5344CB8AC3E}">
        <p14:creationId xmlns:p14="http://schemas.microsoft.com/office/powerpoint/2010/main" val="19956556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latin typeface="Calibri"/>
                <a:cs typeface="Calibri"/>
              </a:rPr>
              <a:t>Let's try to understand the importance of data analysis from this video.</a:t>
            </a:r>
          </a:p>
        </p:txBody>
      </p:sp>
    </p:spTree>
    <p:extLst>
      <p:ext uri="{BB962C8B-B14F-4D97-AF65-F5344CB8AC3E}">
        <p14:creationId xmlns:p14="http://schemas.microsoft.com/office/powerpoint/2010/main" val="18535499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58750" indent="0" algn="ctr">
              <a:buNone/>
            </a:pPr>
            <a:r>
              <a:rPr lang="en-US" b="1" dirty="0"/>
              <a:t>For understanding the what is Data Analytics ? </a:t>
            </a:r>
          </a:p>
          <a:p>
            <a:pPr marL="158750" indent="0" algn="ctr">
              <a:buNone/>
            </a:pPr>
            <a:r>
              <a:rPr lang="en-US" b="0" dirty="0"/>
              <a:t>Here given the Inventory management example below</a:t>
            </a:r>
          </a:p>
          <a:p>
            <a:pPr marL="158750" indent="0" algn="ctr">
              <a:buNone/>
            </a:pPr>
            <a:r>
              <a:rPr lang="en-US" b="0" dirty="0"/>
              <a:t>---------------------------------------------------------------------------</a:t>
            </a:r>
          </a:p>
          <a:p>
            <a:pPr marL="158750" indent="0">
              <a:buNone/>
            </a:pPr>
            <a:r>
              <a:rPr lang="en-US" b="1" dirty="0"/>
              <a:t>Business Problem</a:t>
            </a:r>
          </a:p>
          <a:p>
            <a:pPr marL="158750" indent="0">
              <a:buNone/>
            </a:pPr>
            <a:r>
              <a:rPr lang="en-US" dirty="0"/>
              <a:t>A large retail chain is struggling with inventory management across its stores. They face issues such as overstocking, leading to increased holding costs, and stockouts, causing lost sales and dissatisfied customers. The management wants to optimize inventory levels to ensure that each store has the right amount of stock, reducing costs while meeting customer demand. </a:t>
            </a:r>
          </a:p>
          <a:p>
            <a:pPr marL="158750" indent="0">
              <a:buNone/>
            </a:pPr>
            <a:endParaRPr lang="en-US" dirty="0"/>
          </a:p>
          <a:p>
            <a:pPr marL="158750" indent="0">
              <a:buNone/>
            </a:pPr>
            <a:r>
              <a:rPr lang="en-US" b="1" dirty="0"/>
              <a:t>Objectives</a:t>
            </a:r>
          </a:p>
          <a:p>
            <a:pPr>
              <a:buFont typeface="+mj-lt"/>
              <a:buAutoNum type="arabicPeriod"/>
            </a:pPr>
            <a:r>
              <a:rPr lang="en-US" dirty="0"/>
              <a:t>Reduce inventory holding costs.</a:t>
            </a:r>
          </a:p>
          <a:p>
            <a:pPr>
              <a:buFont typeface="+mj-lt"/>
              <a:buAutoNum type="arabicPeriod"/>
            </a:pPr>
            <a:r>
              <a:rPr lang="en-US" dirty="0"/>
              <a:t>Minimize stockouts and lost sales.</a:t>
            </a:r>
          </a:p>
          <a:p>
            <a:pPr>
              <a:buFont typeface="+mj-lt"/>
              <a:buAutoNum type="arabicPeriod"/>
            </a:pPr>
            <a:r>
              <a:rPr lang="en-US" dirty="0"/>
              <a:t>Improve overall customer satisfaction by ensuring product availability.</a:t>
            </a:r>
          </a:p>
          <a:p>
            <a:pPr marL="158750" indent="0">
              <a:buNone/>
            </a:pPr>
            <a:endParaRPr lang="en-US" b="0" dirty="0"/>
          </a:p>
          <a:p>
            <a:pPr marL="158750" indent="0">
              <a:buNone/>
            </a:pPr>
            <a:r>
              <a:rPr lang="en-US" b="1" dirty="0"/>
              <a:t>DA Process: </a:t>
            </a:r>
          </a:p>
          <a:p>
            <a:pPr marL="615950" lvl="1" indent="0">
              <a:buNone/>
            </a:pPr>
            <a:r>
              <a:rPr lang="en-US" b="0" dirty="0"/>
              <a:t>Data Collection</a:t>
            </a:r>
          </a:p>
          <a:p>
            <a:pPr marL="615950" lvl="1" indent="0">
              <a:buNone/>
            </a:pPr>
            <a:r>
              <a:rPr lang="en-US" b="0" dirty="0"/>
              <a:t>Data Cleaning and Transformation</a:t>
            </a:r>
          </a:p>
          <a:p>
            <a:pPr marL="615950" lvl="1" indent="0">
              <a:buNone/>
            </a:pPr>
            <a:r>
              <a:rPr lang="en-US" b="0" dirty="0"/>
              <a:t>Data Analysis</a:t>
            </a:r>
          </a:p>
          <a:p>
            <a:pPr marL="615950" lvl="1" indent="0">
              <a:buNone/>
            </a:pPr>
            <a:r>
              <a:rPr lang="en-US" b="0" dirty="0"/>
              <a:t>Data Visualization</a:t>
            </a:r>
          </a:p>
          <a:p>
            <a:pPr marL="615950" lvl="1" indent="0">
              <a:buNone/>
            </a:pPr>
            <a:r>
              <a:rPr lang="en-US" b="0" dirty="0"/>
              <a:t>Implementation and Monitoring</a:t>
            </a:r>
          </a:p>
          <a:p>
            <a:pPr marL="158750" indent="0">
              <a:buNone/>
            </a:pPr>
            <a:endParaRPr lang="en-US" b="0" dirty="0"/>
          </a:p>
          <a:p>
            <a:pPr marL="158750" indent="0">
              <a:buNone/>
            </a:pPr>
            <a:r>
              <a:rPr lang="en-US" b="1" dirty="0"/>
              <a:t>Outcome and Benefits</a:t>
            </a:r>
          </a:p>
          <a:p>
            <a:pPr marL="615950" lvl="1" indent="0">
              <a:buNone/>
            </a:pPr>
            <a:r>
              <a:rPr lang="en-US" b="1" dirty="0"/>
              <a:t>Cost Reduction</a:t>
            </a:r>
            <a:r>
              <a:rPr lang="en-US" dirty="0"/>
              <a:t>: Significant reduction in inventory holding costs due to optimized stock levels.</a:t>
            </a:r>
          </a:p>
          <a:p>
            <a:pPr marL="615950" lvl="1" indent="0">
              <a:buNone/>
            </a:pPr>
            <a:r>
              <a:rPr lang="en-US" b="1" dirty="0"/>
              <a:t>Sales Increase</a:t>
            </a:r>
            <a:r>
              <a:rPr lang="en-US" dirty="0"/>
              <a:t>: Decrease in lost sales due to fewer stockouts, leading to higher revenue.</a:t>
            </a:r>
          </a:p>
          <a:p>
            <a:pPr marL="615950" lvl="1" indent="0">
              <a:buNone/>
            </a:pPr>
            <a:r>
              <a:rPr lang="en-US" b="1" dirty="0"/>
              <a:t>Improved Supplier Relationships</a:t>
            </a:r>
            <a:r>
              <a:rPr lang="en-US" dirty="0"/>
              <a:t>: Better management of supplier performance and more reliable restocking processes.</a:t>
            </a:r>
          </a:p>
          <a:p>
            <a:pPr marL="615950" lvl="1" indent="0">
              <a:buNone/>
            </a:pPr>
            <a:r>
              <a:rPr lang="en-US" b="1" dirty="0"/>
              <a:t>Customer Satisfaction</a:t>
            </a:r>
            <a:r>
              <a:rPr lang="en-US" dirty="0"/>
              <a:t>: Enhanced customer experience due to better product availability and reduced instances of stockouts.</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US" dirty="0"/>
              <a:t>By leveraging data analytics, the retail chain can effectively address its inventory management challenges. The data-driven approach enables the company to optimize stock levels, reduce costs, improve sales, and enhance customer satisfaction, ultimately leading to a more efficient and profitable business operation.</a:t>
            </a:r>
            <a:endParaRPr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9094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5fab984687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lgn="just">
              <a:spcBef>
                <a:spcPts val="600"/>
              </a:spcBef>
              <a:buClr>
                <a:srgbClr val="213163"/>
              </a:buClr>
              <a:buFont typeface="Arial" panose="020B0604020202020204" pitchFamily="34" charset="0"/>
              <a:buNone/>
            </a:pPr>
            <a:r>
              <a:rPr lang="en-IN" sz="1100" b="1" dirty="0">
                <a:solidFill>
                  <a:srgbClr val="213163"/>
                </a:solidFill>
                <a:latin typeface="Arial" panose="020B0604020202020204" pitchFamily="34" charset="0"/>
                <a:cs typeface="Arial" panose="020B0604020202020204" pitchFamily="34" charset="0"/>
              </a:rPr>
              <a:t>Descriptive Analytics </a:t>
            </a:r>
            <a:endParaRPr lang="en-IN" sz="1100" b="0" i="0" dirty="0">
              <a:solidFill>
                <a:srgbClr val="213163"/>
              </a:solidFill>
              <a:effectLst/>
              <a:latin typeface="Arial" panose="020B0604020202020204" pitchFamily="34" charset="0"/>
              <a:cs typeface="Arial" panose="020B0604020202020204" pitchFamily="34" charset="0"/>
            </a:endParaRPr>
          </a:p>
          <a:p>
            <a:pPr marL="635000" lvl="1" indent="-177800" algn="just">
              <a:spcBef>
                <a:spcPts val="600"/>
              </a:spcBef>
              <a:buClr>
                <a:srgbClr val="213163"/>
              </a:buClr>
              <a:buFont typeface="Arial" panose="020B0604020202020204" pitchFamily="34" charset="0"/>
              <a:buChar char="•"/>
            </a:pPr>
            <a:r>
              <a:rPr lang="en-IN" dirty="0">
                <a:solidFill>
                  <a:schemeClr val="tx1"/>
                </a:solidFill>
              </a:rPr>
              <a:t>The simplest type of analytics is descriptive analytics, which serves as the base for all other types. </a:t>
            </a:r>
            <a:endParaRPr lang="en-US" dirty="0"/>
          </a:p>
          <a:p>
            <a:pPr marL="635000" lvl="1" indent="-177800" algn="just">
              <a:spcBef>
                <a:spcPts val="600"/>
              </a:spcBef>
              <a:buClr>
                <a:srgbClr val="213163"/>
              </a:buClr>
              <a:buFont typeface="Arial" panose="020B0604020202020204" pitchFamily="34" charset="0"/>
              <a:buChar char="•"/>
            </a:pPr>
            <a:r>
              <a:rPr lang="en-IN" dirty="0">
                <a:solidFill>
                  <a:schemeClr val="tx1"/>
                </a:solidFill>
              </a:rPr>
              <a:t>It enables you to quickly summarise what occurred or is happening by drawing trends from the raw data.</a:t>
            </a:r>
          </a:p>
          <a:p>
            <a:pPr marL="635000" lvl="1" indent="-177800" algn="just">
              <a:spcBef>
                <a:spcPts val="600"/>
              </a:spcBef>
              <a:buClr>
                <a:srgbClr val="213163"/>
              </a:buClr>
              <a:buFont typeface="Arial" panose="020B0604020202020204" pitchFamily="34" charset="0"/>
              <a:buChar char="•"/>
            </a:pPr>
            <a:r>
              <a:rPr lang="en-US" dirty="0">
                <a:solidFill>
                  <a:schemeClr val="tx1"/>
                </a:solidFill>
              </a:rPr>
              <a:t>When used in business, it gives the analyst a view of important metrics and measurements used by the company.</a:t>
            </a:r>
            <a:endParaRPr lang="en-IN" dirty="0">
              <a:solidFill>
                <a:schemeClr val="tx1"/>
              </a:solidFill>
            </a:endParaRPr>
          </a:p>
          <a:p>
            <a:pPr marL="0" lvl="0" indent="0" algn="l" rtl="0">
              <a:lnSpc>
                <a:spcPct val="100000"/>
              </a:lnSpc>
              <a:spcBef>
                <a:spcPts val="0"/>
              </a:spcBef>
              <a:spcAft>
                <a:spcPts val="0"/>
              </a:spcAft>
              <a:buSzPts val="1100"/>
              <a:buNone/>
            </a:pPr>
            <a:endParaRPr lang="en-US" dirty="0"/>
          </a:p>
          <a:p>
            <a:pPr marL="0" indent="0">
              <a:spcBef>
                <a:spcPts val="600"/>
              </a:spcBef>
              <a:buClr>
                <a:srgbClr val="213163"/>
              </a:buClr>
              <a:buFont typeface="Arial" panose="020B0604020202020204" pitchFamily="34" charset="0"/>
              <a:buNone/>
            </a:pPr>
            <a:r>
              <a:rPr lang="en-IN" sz="1100" b="1" dirty="0">
                <a:solidFill>
                  <a:srgbClr val="213163"/>
                </a:solidFill>
                <a:latin typeface="Arial" panose="020B0604020202020204" pitchFamily="34" charset="0"/>
                <a:cs typeface="Arial" panose="020B0604020202020204" pitchFamily="34" charset="0"/>
              </a:rPr>
              <a:t>Diagnostic Analytics</a:t>
            </a:r>
          </a:p>
          <a:p>
            <a:pPr marL="635000" lvl="1" indent="-177800">
              <a:spcBef>
                <a:spcPts val="600"/>
              </a:spcBef>
              <a:buClr>
                <a:srgbClr val="213163"/>
              </a:buClr>
              <a:buFont typeface="Arial" panose="020B0604020202020204" pitchFamily="34" charset="0"/>
              <a:buChar char="•"/>
            </a:pPr>
            <a:r>
              <a:rPr lang="en-IN" dirty="0"/>
              <a:t>This type compares concurrent trends or movements, reveals correlations between variables, and, when possible, establishes causal relationships.</a:t>
            </a:r>
          </a:p>
          <a:p>
            <a:pPr marL="635000" lvl="1" indent="-177800">
              <a:spcBef>
                <a:spcPts val="600"/>
              </a:spcBef>
              <a:buClr>
                <a:srgbClr val="213163"/>
              </a:buClr>
              <a:buFont typeface="Arial" panose="020B0604020202020204" pitchFamily="34" charset="0"/>
              <a:buChar char="•"/>
            </a:pPr>
            <a:r>
              <a:rPr lang="en-US" dirty="0"/>
              <a:t>The question of why something happened can now be answered by comparing historical data to other data.</a:t>
            </a:r>
          </a:p>
          <a:p>
            <a:pPr marL="635000" lvl="1" indent="-177800">
              <a:spcBef>
                <a:spcPts val="600"/>
              </a:spcBef>
              <a:buClr>
                <a:srgbClr val="213163"/>
              </a:buClr>
              <a:buFont typeface="Arial" panose="020B0604020202020204" pitchFamily="34" charset="0"/>
              <a:buChar char="•"/>
            </a:pPr>
            <a:r>
              <a:rPr lang="en-US" dirty="0"/>
              <a:t>Diagnostic analytics offers in-depth perceptions into a specific issue.</a:t>
            </a:r>
          </a:p>
          <a:p>
            <a:pPr marL="0" lvl="0" indent="0" algn="l" rtl="0">
              <a:lnSpc>
                <a:spcPct val="100000"/>
              </a:lnSpc>
              <a:spcBef>
                <a:spcPts val="0"/>
              </a:spcBef>
              <a:spcAft>
                <a:spcPts val="0"/>
              </a:spcAft>
              <a:buSzPts val="1100"/>
              <a:buNone/>
            </a:pPr>
            <a:endParaRPr lang="en-US" dirty="0"/>
          </a:p>
          <a:p>
            <a:pPr marL="0" lvl="0" indent="0" algn="l" rtl="0">
              <a:lnSpc>
                <a:spcPct val="100000"/>
              </a:lnSpc>
              <a:spcBef>
                <a:spcPts val="0"/>
              </a:spcBef>
              <a:spcAft>
                <a:spcPts val="0"/>
              </a:spcAft>
              <a:buSzPts val="1100"/>
              <a:buNone/>
            </a:pPr>
            <a:r>
              <a:rPr lang="en-IN" sz="1100" b="1" dirty="0">
                <a:solidFill>
                  <a:srgbClr val="213163"/>
                </a:solidFill>
                <a:latin typeface="Arial" panose="020B0604020202020204" pitchFamily="34" charset="0"/>
                <a:cs typeface="Arial" panose="020B0604020202020204" pitchFamily="34" charset="0"/>
              </a:rPr>
              <a:t>Predictive Analytics</a:t>
            </a:r>
            <a:endParaRPr lang="en-US" sz="1100" b="1" dirty="0">
              <a:solidFill>
                <a:srgbClr val="213163"/>
              </a:solidFill>
              <a:latin typeface="Arial" panose="020B0604020202020204" pitchFamily="34" charset="0"/>
              <a:cs typeface="Arial" panose="020B0604020202020204" pitchFamily="34" charset="0"/>
            </a:endParaRPr>
          </a:p>
          <a:p>
            <a:pPr marL="635000" lvl="1" indent="-177800">
              <a:spcBef>
                <a:spcPts val="600"/>
              </a:spcBef>
              <a:buFont typeface="Arial" panose="020B0604020202020204" pitchFamily="34" charset="0"/>
              <a:buChar char="•"/>
            </a:pPr>
            <a:r>
              <a:rPr lang="en-IN" dirty="0"/>
              <a:t>The use of predictive analytics provides an answer to the question, "What might happen in the future?" by making predictions about present trends or events.</a:t>
            </a:r>
          </a:p>
          <a:p>
            <a:pPr marL="635000" lvl="1" indent="-177800">
              <a:spcBef>
                <a:spcPts val="600"/>
              </a:spcBef>
              <a:buFont typeface="Arial" panose="020B0604020202020204" pitchFamily="34" charset="0"/>
              <a:buChar char="•"/>
            </a:pPr>
            <a:r>
              <a:rPr lang="en-US" dirty="0"/>
              <a:t>It makes use of the outcomes of descriptive and diagnostic analytics to find clusters and exceptions as well as make predictions about future trends.</a:t>
            </a:r>
            <a:endParaRPr lang="en-IN" dirty="0"/>
          </a:p>
          <a:p>
            <a:pPr marL="0" lvl="0" indent="0" algn="l" rtl="0">
              <a:lnSpc>
                <a:spcPct val="100000"/>
              </a:lnSpc>
              <a:spcBef>
                <a:spcPts val="0"/>
              </a:spcBef>
              <a:spcAft>
                <a:spcPts val="0"/>
              </a:spcAft>
              <a:buSzPts val="1100"/>
              <a:buNone/>
            </a:pPr>
            <a:r>
              <a:rPr lang="en-IN" sz="1100" b="1" dirty="0">
                <a:solidFill>
                  <a:srgbClr val="213163"/>
                </a:solidFill>
                <a:latin typeface="Arial" panose="020B0604020202020204" pitchFamily="34" charset="0"/>
                <a:cs typeface="Arial" panose="020B0604020202020204" pitchFamily="34" charset="0"/>
              </a:rPr>
              <a:t>Prescriptive Analytics</a:t>
            </a:r>
          </a:p>
          <a:p>
            <a:pPr marL="635000" lvl="1" indent="-177800" algn="just">
              <a:spcBef>
                <a:spcPts val="600"/>
              </a:spcBef>
              <a:buFont typeface="Arial" panose="020B0604020202020204" pitchFamily="34" charset="0"/>
              <a:buChar char="•"/>
            </a:pPr>
            <a:r>
              <a:rPr lang="en-IN" dirty="0"/>
              <a:t>Prescriptive analytics assists in providing recommendations for action. </a:t>
            </a:r>
            <a:endParaRPr lang="en-US" dirty="0"/>
          </a:p>
          <a:p>
            <a:pPr marL="635000" lvl="1" indent="-177800" algn="just">
              <a:spcBef>
                <a:spcPts val="600"/>
              </a:spcBef>
              <a:buFont typeface="Arial" panose="020B0604020202020204" pitchFamily="34" charset="0"/>
              <a:buChar char="•"/>
            </a:pPr>
            <a:r>
              <a:rPr lang="en-IN" dirty="0"/>
              <a:t>Prescriptive analytics helps by making suggestions for taking action.</a:t>
            </a:r>
          </a:p>
          <a:p>
            <a:pPr marL="635000" lvl="1" indent="-177800" algn="just">
              <a:spcBef>
                <a:spcPts val="600"/>
              </a:spcBef>
              <a:buFont typeface="Arial" panose="020B0604020202020204" pitchFamily="34" charset="0"/>
              <a:buChar char="•"/>
            </a:pPr>
            <a:r>
              <a:rPr lang="en-US" dirty="0"/>
              <a:t>Prescriptive analytics is a type of advanced analytics that offers many benefits, such as sophisticated analysis based on deep learning or machine learning.</a:t>
            </a:r>
          </a:p>
          <a:p>
            <a:pPr marL="0" lvl="0" indent="0" algn="l" rtl="0">
              <a:lnSpc>
                <a:spcPct val="100000"/>
              </a:lnSpc>
              <a:spcBef>
                <a:spcPts val="0"/>
              </a:spcBef>
              <a:spcAft>
                <a:spcPts val="0"/>
              </a:spcAft>
              <a:buSzPts val="1100"/>
              <a:buNone/>
            </a:pPr>
            <a:r>
              <a:rPr lang="en-US" dirty="0"/>
              <a:t> </a:t>
            </a:r>
          </a:p>
          <a:p>
            <a:pPr marL="0" lvl="0" indent="0" algn="l" rtl="0">
              <a:lnSpc>
                <a:spcPct val="100000"/>
              </a:lnSpc>
              <a:spcBef>
                <a:spcPts val="0"/>
              </a:spcBef>
              <a:spcAft>
                <a:spcPts val="0"/>
              </a:spcAft>
              <a:buSzPts val="1100"/>
              <a:buNone/>
            </a:pPr>
            <a:endParaRPr lang="en-US" dirty="0"/>
          </a:p>
        </p:txBody>
      </p:sp>
      <p:sp>
        <p:nvSpPr>
          <p:cNvPr id="59" name="Google Shape;59;g5fab984687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67158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1" dirty="0">
                <a:solidFill>
                  <a:srgbClr val="223366"/>
                </a:solidFill>
                <a:ea typeface="+mj-ea"/>
              </a:rPr>
              <a:t>Types of Data: </a:t>
            </a:r>
            <a:endParaRPr lang="en-IN" sz="1100" b="1" dirty="0">
              <a:solidFill>
                <a:srgbClr val="223366"/>
              </a:solidFill>
              <a:ea typeface="+mj-ea"/>
            </a:endParaRPr>
          </a:p>
          <a:p>
            <a:pPr marL="0" indent="0">
              <a:buNone/>
              <a:defRPr/>
            </a:pPr>
            <a:endParaRPr lang="en-US" b="0" dirty="0">
              <a:solidFill>
                <a:srgbClr val="223366"/>
              </a:solidFill>
              <a:ea typeface="+mj-ea"/>
            </a:endParaRPr>
          </a:p>
          <a:p>
            <a:pPr marL="0" indent="0">
              <a:buNone/>
              <a:defRPr/>
            </a:pPr>
            <a:r>
              <a:rPr lang="en-US" b="0" dirty="0">
                <a:solidFill>
                  <a:srgbClr val="223366"/>
                </a:solidFill>
                <a:ea typeface="+mj-ea"/>
              </a:rPr>
              <a:t>Now let's have a look at the types of data which are required to do these machine learning algorithms. </a:t>
            </a:r>
            <a:endParaRPr lang="en-US" b="0" dirty="0"/>
          </a:p>
          <a:p>
            <a:pPr marL="0" indent="0">
              <a:buNone/>
              <a:defRPr/>
            </a:pPr>
            <a:endParaRPr lang="en-US" b="0" dirty="0">
              <a:solidFill>
                <a:srgbClr val="223366"/>
              </a:solidFill>
              <a:ea typeface="+mj-ea"/>
            </a:endParaRPr>
          </a:p>
          <a:p>
            <a:pPr marL="0" indent="0">
              <a:buNone/>
              <a:defRPr/>
            </a:pPr>
            <a:r>
              <a:rPr lang="en-US" b="0" dirty="0">
                <a:solidFill>
                  <a:srgbClr val="223366"/>
                </a:solidFill>
                <a:ea typeface="+mj-ea"/>
              </a:rPr>
              <a:t>… Actually why do we need these data? Anybody. I need an answer from you...</a:t>
            </a:r>
            <a:endParaRPr lang="en-US" b="0" dirty="0">
              <a:ea typeface="+mj-ea"/>
            </a:endParaRPr>
          </a:p>
          <a:p>
            <a:pPr marL="0" indent="0">
              <a:buNone/>
              <a:defRPr/>
            </a:pPr>
            <a:endParaRPr lang="en-US" b="0" dirty="0">
              <a:solidFill>
                <a:srgbClr val="223366"/>
              </a:solidFill>
              <a:ea typeface="+mj-ea"/>
            </a:endParaRPr>
          </a:p>
          <a:p>
            <a:pPr marL="0" indent="0">
              <a:buNone/>
              <a:defRPr/>
            </a:pPr>
            <a:r>
              <a:rPr lang="en-US" b="0" dirty="0">
                <a:solidFill>
                  <a:srgbClr val="223366"/>
                </a:solidFill>
                <a:ea typeface="+mj-ea"/>
              </a:rPr>
              <a:t>OK the data is something that, a kind of experience that we are providing to the machine or computer. I hope you have seen that in the machine learning definition. The machine is going to be trained or learned by using the experience right, that experience is nothing but a data. So this data can be in  many forms. </a:t>
            </a:r>
          </a:p>
          <a:p>
            <a:pPr marL="0" indent="0">
              <a:buNone/>
              <a:defRPr/>
            </a:pPr>
            <a:endParaRPr lang="en-US" b="0" dirty="0">
              <a:solidFill>
                <a:srgbClr val="223366"/>
              </a:solidFill>
              <a:ea typeface="+mj-ea"/>
            </a:endParaRPr>
          </a:p>
          <a:p>
            <a:pPr marL="0" indent="0">
              <a:buNone/>
              <a:defRPr/>
            </a:pPr>
            <a:r>
              <a:rPr lang="en-US" b="0" dirty="0">
                <a:solidFill>
                  <a:srgbClr val="223366"/>
                </a:solidFill>
                <a:ea typeface="+mj-ea"/>
              </a:rPr>
              <a:t>That you can see in the slide that, the data can be a numerical data, categorical data, image data, text data,  time series data,  and it can be audio and  the sensor data also. </a:t>
            </a:r>
            <a:endParaRPr lang="en-US" b="0" dirty="0">
              <a:ea typeface="+mj-ea"/>
            </a:endParaRPr>
          </a:p>
          <a:p>
            <a:pPr marL="0" indent="0">
              <a:buFont typeface="Arial"/>
              <a:buNone/>
              <a:defRPr/>
            </a:pPr>
            <a:endParaRPr lang="en-US" b="0" dirty="0">
              <a:solidFill>
                <a:srgbClr val="223366"/>
              </a:solidFill>
              <a:ea typeface="+mj-ea"/>
            </a:endParaRPr>
          </a:p>
          <a:p>
            <a:pPr marL="0" indent="0">
              <a:buNone/>
              <a:defRPr/>
            </a:pPr>
            <a:r>
              <a:rPr lang="en-US" b="0" dirty="0">
                <a:solidFill>
                  <a:srgbClr val="223366"/>
                </a:solidFill>
                <a:ea typeface="+mj-ea"/>
              </a:rPr>
              <a:t>We can use all these kind of data in artificial intelligence and it depends upon the specific task. That means every data is having its own importance for the respective machine learning or artificial intelligence application. </a:t>
            </a:r>
          </a:p>
          <a:p>
            <a:pPr marL="0" indent="0">
              <a:buFont typeface="Arial"/>
              <a:buNone/>
              <a:defRPr/>
            </a:pPr>
            <a:endParaRPr lang="en-US" b="0" dirty="0">
              <a:solidFill>
                <a:srgbClr val="223366"/>
              </a:solidFill>
              <a:ea typeface="+mj-ea"/>
            </a:endParaRPr>
          </a:p>
          <a:p>
            <a:pPr marL="0" indent="0">
              <a:buNone/>
              <a:defRPr/>
            </a:pPr>
            <a:r>
              <a:rPr lang="en-US" b="0" dirty="0">
                <a:solidFill>
                  <a:srgbClr val="223366"/>
                </a:solidFill>
                <a:ea typeface="+mj-ea"/>
              </a:rPr>
              <a:t>In the coming slides,  I will be briefing you about some of these data how we are using in the AI applications.</a:t>
            </a:r>
          </a:p>
          <a:p>
            <a:pPr marL="0" marR="0" lvl="0" indent="0" algn="l" defTabSz="914400">
              <a:lnSpc>
                <a:spcPct val="100000"/>
              </a:lnSpc>
              <a:spcBef>
                <a:spcPts val="0"/>
              </a:spcBef>
              <a:spcAft>
                <a:spcPts val="0"/>
              </a:spcAft>
              <a:buSzPts val="1100"/>
              <a:buFont typeface="Arial" panose="020B0604020202020204" pitchFamily="34" charset="0"/>
              <a:buNone/>
              <a:tabLst/>
              <a:defRPr/>
            </a:pPr>
            <a:endParaRPr lang="en-US" b="0" dirty="0"/>
          </a:p>
        </p:txBody>
      </p:sp>
      <p:sp>
        <p:nvSpPr>
          <p:cNvPr id="4" name="Slide Number Placeholder 3"/>
          <p:cNvSpPr>
            <a:spLocks noGrp="1"/>
          </p:cNvSpPr>
          <p:nvPr>
            <p:ph type="sldNum" sz="quarter" idx="5"/>
          </p:nvPr>
        </p:nvSpPr>
        <p:spPr/>
        <p:txBody>
          <a:bodyPr/>
          <a:lstStyle/>
          <a:p>
            <a:fld id="{18B2EF1D-8832-4C4B-A608-443CB070DE69}" type="slidenum">
              <a:rPr lang="en-US" smtClean="0"/>
              <a:t>10</a:t>
            </a:fld>
            <a:endParaRPr lang="en-US"/>
          </a:p>
        </p:txBody>
      </p:sp>
    </p:spTree>
    <p:extLst>
      <p:ext uri="{BB962C8B-B14F-4D97-AF65-F5344CB8AC3E}">
        <p14:creationId xmlns:p14="http://schemas.microsoft.com/office/powerpoint/2010/main" val="506573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a:buNone/>
              <a:defRPr/>
            </a:pPr>
            <a:r>
              <a:rPr lang="en-US" b="1" dirty="0"/>
              <a:t>Now let's have a look at the tabular data,  it's the most common data that we are looking every time. and these data is very important for us to perform the machine learning applications.</a:t>
            </a:r>
          </a:p>
          <a:p>
            <a:pPr>
              <a:buNone/>
              <a:defRPr/>
            </a:pPr>
            <a:endParaRPr lang="en-US" b="1" dirty="0"/>
          </a:p>
          <a:p>
            <a:pPr marL="0">
              <a:buNone/>
              <a:defRPr/>
            </a:pPr>
            <a:r>
              <a:rPr lang="en-US" b="1" dirty="0"/>
              <a:t>Tabular Data</a:t>
            </a:r>
            <a:endParaRPr lang="en-IN" sz="1100" b="1" dirty="0">
              <a:solidFill>
                <a:srgbClr val="223366"/>
              </a:solidFill>
              <a:ea typeface="+mj-ea"/>
            </a:endParaRPr>
          </a:p>
          <a:p>
            <a:pPr marL="158750" indent="0" algn="just" fontAlgn="base">
              <a:lnSpc>
                <a:spcPct val="150000"/>
              </a:lnSpc>
              <a:buNone/>
            </a:pPr>
            <a:endParaRPr lang="en-IN" sz="1100" dirty="0">
              <a:latin typeface="Times New Roman" panose="02020603050405020304" pitchFamily="18" charset="0"/>
              <a:ea typeface="Times New Roman" panose="02020603050405020304" pitchFamily="18" charset="0"/>
            </a:endParaRPr>
          </a:p>
          <a:p>
            <a:pPr marL="173355" indent="-173355" algn="just" fontAlgn="base">
              <a:lnSpc>
                <a:spcPct val="150000"/>
              </a:lnSpc>
              <a:buFont typeface="Arial" panose="020B0604020202020204" pitchFamily="34" charset="0"/>
              <a:buChar char="•"/>
            </a:pPr>
            <a:r>
              <a:rPr lang="en-IN" sz="1100" dirty="0">
                <a:latin typeface="Times New Roman"/>
                <a:ea typeface="Times New Roman" panose="02020603050405020304" pitchFamily="18" charset="0"/>
                <a:cs typeface="Times New Roman"/>
              </a:rPr>
              <a:t>Structured data that is organized in rows and columns, similar to a table. It is commonly represented in formats such as CSV (Comma-Separated Values) files, Excel spreadsheets, or relational databases.</a:t>
            </a:r>
          </a:p>
          <a:p>
            <a:pPr marL="173355" indent="-173355" algn="just" fontAlgn="base">
              <a:lnSpc>
                <a:spcPct val="150000"/>
              </a:lnSpc>
              <a:buFont typeface="Arial" panose="020B0604020202020204" pitchFamily="34" charset="0"/>
              <a:buChar char="•"/>
            </a:pPr>
            <a:r>
              <a:rPr lang="en-IN" sz="1100" dirty="0">
                <a:latin typeface="Times New Roman"/>
                <a:ea typeface="Times New Roman" panose="02020603050405020304" pitchFamily="18" charset="0"/>
                <a:cs typeface="Times New Roman"/>
              </a:rPr>
              <a:t>Each row in the table represents an individual instance or observation, while each column corresponds to a specific attribute or feature.</a:t>
            </a:r>
          </a:p>
          <a:p>
            <a:pPr marL="173355" indent="-173355" algn="just" fontAlgn="base">
              <a:lnSpc>
                <a:spcPct val="150000"/>
              </a:lnSpc>
              <a:buFont typeface="Arial" panose="020B0604020202020204" pitchFamily="34" charset="0"/>
              <a:buChar char="•"/>
            </a:pPr>
            <a:endParaRPr lang="en-IN" sz="1100" dirty="0">
              <a:latin typeface="Times New Roman"/>
              <a:ea typeface="Times New Roman" panose="02020603050405020304" pitchFamily="18" charset="0"/>
              <a:cs typeface="Times New Roman"/>
            </a:endParaRPr>
          </a:p>
          <a:p>
            <a:pPr marL="0" indent="0" algn="just" fontAlgn="base">
              <a:lnSpc>
                <a:spcPct val="150000"/>
              </a:lnSpc>
              <a:buFont typeface="Arial" panose="020B0604020202020204" pitchFamily="34" charset="0"/>
              <a:buNone/>
            </a:pPr>
            <a:r>
              <a:rPr lang="en-IN" sz="1100" dirty="0">
                <a:latin typeface="Times New Roman"/>
                <a:ea typeface="Times New Roman" panose="02020603050405020304" pitchFamily="18" charset="0"/>
                <a:cs typeface="Times New Roman"/>
              </a:rPr>
              <a:t>Example:</a:t>
            </a:r>
          </a:p>
          <a:p>
            <a:pPr marL="173355" indent="-173355" algn="just" fontAlgn="base">
              <a:lnSpc>
                <a:spcPct val="150000"/>
              </a:lnSpc>
              <a:buFont typeface="Arial" panose="020B0604020202020204" pitchFamily="34" charset="0"/>
              <a:buChar char="•"/>
            </a:pPr>
            <a:r>
              <a:rPr lang="en-IN" sz="1100" dirty="0">
                <a:latin typeface="Times New Roman"/>
                <a:ea typeface="Times New Roman" panose="02020603050405020304" pitchFamily="18" charset="0"/>
                <a:cs typeface="Times New Roman"/>
              </a:rPr>
              <a:t>At school, several data tables would have been familiar to you on a daily basis. Your timetable, multiplication tables, and vocabulary lists are all examples of what we call tabular data.</a:t>
            </a:r>
          </a:p>
          <a:p>
            <a:endParaRPr lang="en-US" dirty="0"/>
          </a:p>
        </p:txBody>
      </p:sp>
      <p:sp>
        <p:nvSpPr>
          <p:cNvPr id="4" name="Slide Number Placeholder 3"/>
          <p:cNvSpPr>
            <a:spLocks noGrp="1"/>
          </p:cNvSpPr>
          <p:nvPr>
            <p:ph type="sldNum" sz="quarter" idx="5"/>
          </p:nvPr>
        </p:nvSpPr>
        <p:spPr/>
        <p:txBody>
          <a:bodyPr/>
          <a:lstStyle/>
          <a:p>
            <a:fld id="{18B2EF1D-8832-4C4B-A608-443CB070DE69}" type="slidenum">
              <a:rPr lang="en-US" smtClean="0"/>
              <a:t>11</a:t>
            </a:fld>
            <a:endParaRPr lang="en-US"/>
          </a:p>
        </p:txBody>
      </p:sp>
    </p:spTree>
    <p:extLst>
      <p:ext uri="{BB962C8B-B14F-4D97-AF65-F5344CB8AC3E}">
        <p14:creationId xmlns:p14="http://schemas.microsoft.com/office/powerpoint/2010/main" val="2234917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a:buNone/>
              <a:defRPr/>
            </a:pPr>
            <a:r>
              <a:rPr lang="en-US" b="1" dirty="0"/>
              <a:t>Text data is a kind of unstructured data that is very important for us to work on the natural language applications.</a:t>
            </a:r>
          </a:p>
          <a:p>
            <a:pPr>
              <a:buNone/>
              <a:defRPr/>
            </a:pPr>
            <a:endParaRPr lang="en-US" b="1" dirty="0"/>
          </a:p>
          <a:p>
            <a:pPr marL="0">
              <a:buNone/>
              <a:defRPr/>
            </a:pPr>
            <a:r>
              <a:rPr lang="en-US" b="1" dirty="0"/>
              <a:t>Text Data</a:t>
            </a:r>
          </a:p>
          <a:p>
            <a:pPr marL="0">
              <a:buNone/>
              <a:defRPr/>
            </a:pPr>
            <a:endParaRPr lang="en-US" dirty="0"/>
          </a:p>
          <a:p>
            <a:pPr marL="173355" indent="-173355" algn="just" fontAlgn="base">
              <a:lnSpc>
                <a:spcPct val="150000"/>
              </a:lnSpc>
              <a:buFont typeface="Arial" panose="020B0604020202020204" pitchFamily="34" charset="0"/>
              <a:buChar char="•"/>
            </a:pPr>
            <a:r>
              <a:rPr lang="en-IN" dirty="0">
                <a:latin typeface="Times New Roman"/>
                <a:cs typeface="Times New Roman"/>
              </a:rPr>
              <a:t>Another very common form off data used in AI is text data.</a:t>
            </a:r>
          </a:p>
          <a:p>
            <a:pPr marL="173355" indent="-173355" algn="just" fontAlgn="base">
              <a:lnSpc>
                <a:spcPct val="150000"/>
              </a:lnSpc>
              <a:buFont typeface="Arial" panose="020B0604020202020204" pitchFamily="34" charset="0"/>
              <a:buChar char="•"/>
            </a:pPr>
            <a:r>
              <a:rPr lang="en-IN" dirty="0">
                <a:latin typeface="Times New Roman"/>
                <a:cs typeface="Times New Roman"/>
              </a:rPr>
              <a:t>Text data can we define as data made up of words and sentences. Nowadays text data is used for tasks such as sentiment analysis and text classification. </a:t>
            </a:r>
          </a:p>
          <a:p>
            <a:pPr marL="173736" indent="-173736" algn="just" fontAlgn="base">
              <a:lnSpc>
                <a:spcPct val="150000"/>
              </a:lnSpc>
              <a:buFont typeface="Arial" panose="020B0604020202020204" pitchFamily="34" charset="0"/>
              <a:buChar char="•"/>
            </a:pPr>
            <a:r>
              <a:rPr lang="en-IN" dirty="0">
                <a:latin typeface="Times New Roman"/>
                <a:cs typeface="Times New Roman"/>
              </a:rPr>
              <a:t>The text data also Include speech transcripts, emails, articles, social media posts, customer reviews, and other forms of unstructured text. </a:t>
            </a:r>
            <a:endParaRPr lang="en-IN" dirty="0">
              <a:latin typeface="Times New Roman" panose="02020603050405020304" pitchFamily="18" charset="0"/>
              <a:cs typeface="Times New Roman"/>
            </a:endParaRPr>
          </a:p>
          <a:p>
            <a:pPr marL="173355" indent="-173355" algn="just" fontAlgn="base">
              <a:lnSpc>
                <a:spcPct val="150000"/>
              </a:lnSpc>
              <a:buFont typeface="Arial" panose="020B0604020202020204" pitchFamily="34" charset="0"/>
              <a:buChar char="•"/>
            </a:pPr>
            <a:r>
              <a:rPr lang="en-IN" dirty="0">
                <a:latin typeface="Times New Roman"/>
                <a:cs typeface="Times New Roman"/>
              </a:rPr>
              <a:t>AI models are trained using natural language processing (NLP) algorithms to analyse text and extract relevant information from it. </a:t>
            </a:r>
            <a:endParaRPr lang="en-IN" dirty="0">
              <a:latin typeface="Times New Roman" panose="02020603050405020304" pitchFamily="18" charset="0"/>
              <a:cs typeface="Times New Roman"/>
            </a:endParaRPr>
          </a:p>
          <a:p>
            <a:pPr marL="173355" indent="-173355" algn="just" fontAlgn="base">
              <a:lnSpc>
                <a:spcPct val="150000"/>
              </a:lnSpc>
              <a:buFont typeface="Arial" panose="020B0604020202020204" pitchFamily="34" charset="0"/>
              <a:buChar char="•"/>
            </a:pPr>
            <a:r>
              <a:rPr lang="en-IN" dirty="0">
                <a:latin typeface="Times New Roman"/>
                <a:cs typeface="Times New Roman"/>
              </a:rPr>
              <a:t>For Example, Any organization wants to recognise reviews of any product whether users review are positive or negative for that product or service</a:t>
            </a:r>
          </a:p>
          <a:p>
            <a:pPr marL="173355" indent="-173355" algn="just" fontAlgn="base">
              <a:lnSpc>
                <a:spcPct val="150000"/>
              </a:lnSpc>
              <a:buFont typeface="Arial" panose="020B0604020202020204" pitchFamily="34" charset="0"/>
              <a:buChar char="•"/>
            </a:pPr>
            <a:r>
              <a:rPr lang="en-IN" dirty="0">
                <a:latin typeface="Times New Roman"/>
                <a:cs typeface="Times New Roman"/>
              </a:rPr>
              <a:t>AI can be used to classify emails into categories, detect sentiment in customer reviews, or generate content from a given set of keywords. </a:t>
            </a:r>
            <a:endParaRPr lang="en-IN" dirty="0">
              <a:latin typeface="Times New Roman" panose="02020603050405020304" pitchFamily="18" charset="0"/>
              <a:cs typeface="Times New Roman"/>
            </a:endParaRPr>
          </a:p>
          <a:p>
            <a:pPr marL="173355" indent="-173355" algn="just" fontAlgn="base">
              <a:lnSpc>
                <a:spcPct val="150000"/>
              </a:lnSpc>
              <a:buFont typeface="Arial" panose="020B0604020202020204" pitchFamily="34" charset="0"/>
              <a:buChar char="•"/>
            </a:pPr>
            <a:r>
              <a:rPr lang="en-IN" dirty="0">
                <a:latin typeface="Times New Roman"/>
                <a:cs typeface="Times New Roman"/>
              </a:rPr>
              <a:t>Unlike tabular data, text is an unstructured way of recording information</a:t>
            </a:r>
            <a:endParaRPr lang="en-US" dirty="0">
              <a:latin typeface="Times New Roman"/>
              <a:cs typeface="Times New Roman"/>
            </a:endParaRPr>
          </a:p>
        </p:txBody>
      </p:sp>
      <p:sp>
        <p:nvSpPr>
          <p:cNvPr id="4" name="Slide Number Placeholder 3"/>
          <p:cNvSpPr>
            <a:spLocks noGrp="1"/>
          </p:cNvSpPr>
          <p:nvPr>
            <p:ph type="sldNum" sz="quarter" idx="5"/>
          </p:nvPr>
        </p:nvSpPr>
        <p:spPr/>
        <p:txBody>
          <a:bodyPr/>
          <a:lstStyle/>
          <a:p>
            <a:fld id="{18B2EF1D-8832-4C4B-A608-443CB070DE69}" type="slidenum">
              <a:rPr lang="en-US" smtClean="0"/>
              <a:t>12</a:t>
            </a:fld>
            <a:endParaRPr lang="en-US"/>
          </a:p>
        </p:txBody>
      </p:sp>
    </p:spTree>
    <p:extLst>
      <p:ext uri="{BB962C8B-B14F-4D97-AF65-F5344CB8AC3E}">
        <p14:creationId xmlns:p14="http://schemas.microsoft.com/office/powerpoint/2010/main" val="1828628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a:buNone/>
              <a:defRPr/>
            </a:pPr>
            <a:r>
              <a:rPr lang="en-US" b="1" dirty="0"/>
              <a:t>Most of the computer vision applications and deep learning applications work on the image data only.</a:t>
            </a:r>
          </a:p>
          <a:p>
            <a:pPr>
              <a:buNone/>
              <a:defRPr/>
            </a:pPr>
            <a:endParaRPr lang="en-US" b="1" dirty="0"/>
          </a:p>
          <a:p>
            <a:pPr marL="0">
              <a:buNone/>
              <a:defRPr/>
            </a:pPr>
            <a:r>
              <a:rPr lang="en-US" b="1" dirty="0"/>
              <a:t>Visual Data</a:t>
            </a:r>
            <a:endParaRPr lang="en-US" dirty="0"/>
          </a:p>
          <a:p>
            <a:pPr marL="0" marR="0" lvl="0" indent="0" algn="l" defTabSz="914400">
              <a:lnSpc>
                <a:spcPct val="150000"/>
              </a:lnSpc>
              <a:spcBef>
                <a:spcPts val="0"/>
              </a:spcBef>
              <a:spcAft>
                <a:spcPts val="0"/>
              </a:spcAft>
              <a:buSzPts val="1100"/>
              <a:buFont typeface="Arial,Sans-Serif"/>
              <a:buNone/>
              <a:tabLst/>
              <a:defRPr/>
            </a:pPr>
            <a:endParaRPr lang="en-US" sz="1100" b="1" dirty="0">
              <a:solidFill>
                <a:srgbClr val="223366"/>
              </a:solidFill>
              <a:ea typeface="+mj-ea"/>
            </a:endParaRPr>
          </a:p>
          <a:p>
            <a:pPr marL="173355" indent="-173355" algn="l">
              <a:lnSpc>
                <a:spcPct val="150000"/>
              </a:lnSpc>
              <a:buFont typeface="Arial,Sans-Serif"/>
              <a:buChar char="•"/>
            </a:pPr>
            <a:r>
              <a:rPr lang="en-IN" dirty="0"/>
              <a:t>Visual data can be defined as any form of data that is represented visually, such as images, videos, or graphical representations. </a:t>
            </a:r>
            <a:endParaRPr lang="en-US" dirty="0"/>
          </a:p>
          <a:p>
            <a:pPr marL="173355" indent="-173355" algn="l">
              <a:lnSpc>
                <a:spcPct val="150000"/>
              </a:lnSpc>
              <a:buFont typeface="Arial,Sans-Serif"/>
              <a:buChar char="•"/>
            </a:pPr>
            <a:r>
              <a:rPr lang="en-IN" dirty="0"/>
              <a:t>visual data used in computer vision, image recognition, object detection, video analysis, and other related applications.</a:t>
            </a:r>
            <a:endParaRPr lang="en-US" dirty="0"/>
          </a:p>
          <a:p>
            <a:pPr marL="173355" indent="-173355" algn="l">
              <a:lnSpc>
                <a:spcPct val="150000"/>
              </a:lnSpc>
              <a:buFont typeface="Arial,Sans-Serif"/>
              <a:buChar char="•"/>
            </a:pPr>
            <a:r>
              <a:rPr lang="en-IN" dirty="0"/>
              <a:t>Data for image and video moderation is also essential to make these platforms safe environments, free from abusive contents.</a:t>
            </a:r>
            <a:endParaRPr lang="en-US" dirty="0"/>
          </a:p>
          <a:p>
            <a:pPr marL="173355" indent="-173355" algn="l">
              <a:lnSpc>
                <a:spcPct val="150000"/>
              </a:lnSpc>
              <a:buFont typeface="Arial,Sans-Serif"/>
              <a:buChar char="•"/>
            </a:pPr>
            <a:r>
              <a:rPr lang="en-IN" dirty="0"/>
              <a:t>Image moderation utilizes object detection by analysing the media for items that may be unsuitable or harmful, such as weapons, drug paraphernalia and excessive/gratuitous nudity, etc. </a:t>
            </a:r>
            <a:endParaRPr lang="en-US" dirty="0"/>
          </a:p>
          <a:p>
            <a:pPr marL="173355" indent="-173355" algn="l">
              <a:lnSpc>
                <a:spcPct val="150000"/>
              </a:lnSpc>
              <a:buFont typeface="Arial,Sans-Serif"/>
              <a:buChar char="•"/>
            </a:pPr>
            <a:r>
              <a:rPr lang="en-IN" dirty="0"/>
              <a:t>Video moderation uses the same technologies, analysing the video frame by frame for offending visuals. </a:t>
            </a:r>
            <a:endParaRPr lang="en-US" dirty="0"/>
          </a:p>
          <a:p>
            <a:pPr algn="l"/>
            <a:endParaRPr lang="en-US" dirty="0"/>
          </a:p>
        </p:txBody>
      </p:sp>
      <p:sp>
        <p:nvSpPr>
          <p:cNvPr id="4" name="Slide Number Placeholder 3"/>
          <p:cNvSpPr>
            <a:spLocks noGrp="1"/>
          </p:cNvSpPr>
          <p:nvPr>
            <p:ph type="sldNum" sz="quarter" idx="5"/>
          </p:nvPr>
        </p:nvSpPr>
        <p:spPr/>
        <p:txBody>
          <a:bodyPr/>
          <a:lstStyle/>
          <a:p>
            <a:fld id="{18B2EF1D-8832-4C4B-A608-443CB070DE69}" type="slidenum">
              <a:rPr lang="en-US" smtClean="0"/>
              <a:t>13</a:t>
            </a:fld>
            <a:endParaRPr lang="en-US"/>
          </a:p>
        </p:txBody>
      </p:sp>
    </p:spTree>
    <p:extLst>
      <p:ext uri="{BB962C8B-B14F-4D97-AF65-F5344CB8AC3E}">
        <p14:creationId xmlns:p14="http://schemas.microsoft.com/office/powerpoint/2010/main" val="3117898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Hello everyone, today we're going to dive into the concept of Exploratory Data Analysis, or EDA for short. EDA is a crucial step in the data analysis process, allowing us to understand the underlying patterns and characteristics of our data before we move on to more complex modeling and analysis.</a:t>
            </a:r>
          </a:p>
          <a:p>
            <a:pPr>
              <a:buNone/>
            </a:pPr>
            <a:r>
              <a:rPr lang="en-US"/>
              <a:t> </a:t>
            </a:r>
          </a:p>
          <a:p>
            <a:pPr>
              <a:buNone/>
            </a:pPr>
            <a:r>
              <a:rPr lang="en-US"/>
              <a:t>Technically, the primary motive of EDA is multifaceted. First and foremost, it helps us to examine the data distribution. By understanding how our data is spread out, we can make more informed decisions about the types of analyses that are appropriate.</a:t>
            </a:r>
          </a:p>
          <a:p>
            <a:pPr>
              <a:buNone/>
            </a:pPr>
            <a:r>
              <a:rPr lang="en-US"/>
              <a:t> </a:t>
            </a:r>
          </a:p>
          <a:p>
            <a:pPr>
              <a:buNone/>
            </a:pPr>
            <a:r>
              <a:rPr lang="en-US"/>
              <a:t>Next, EDA involves handling missing values in the dataset. Missing data can skew our results, so it's important to identify and address any gaps we find.</a:t>
            </a:r>
          </a:p>
          <a:p>
            <a:pPr>
              <a:buNone/>
            </a:pPr>
            <a:r>
              <a:rPr lang="en-US"/>
              <a:t> </a:t>
            </a:r>
          </a:p>
          <a:p>
            <a:pPr>
              <a:buNone/>
            </a:pPr>
            <a:r>
              <a:rPr lang="en-US"/>
              <a:t>Another critical aspect of EDA is handling outliers. Outliers are data points that differ significantly from other observations and can have a disproportionate impact on our analysis. Identifying and deciding how to handle these outliers is a key step in ensuring the accuracy of our results.</a:t>
            </a:r>
          </a:p>
          <a:p>
            <a:pPr>
              <a:buNone/>
            </a:pPr>
            <a:r>
              <a:rPr lang="en-US"/>
              <a:t> </a:t>
            </a:r>
          </a:p>
          <a:p>
            <a:pPr>
              <a:buNone/>
            </a:pPr>
            <a:r>
              <a:rPr lang="en-US"/>
              <a:t>We also need to consider duplicate data. Removing duplicates is essential because repeated data points can bias our analysis and lead to incorrect conclusions.</a:t>
            </a:r>
          </a:p>
          <a:p>
            <a:pPr>
              <a:buNone/>
            </a:pPr>
            <a:r>
              <a:rPr lang="en-US"/>
              <a:t> </a:t>
            </a:r>
          </a:p>
          <a:p>
            <a:pPr>
              <a:buNone/>
            </a:pPr>
            <a:r>
              <a:rPr lang="en-US"/>
              <a:t>Additionally, encoding categorical variables is a necessary step in EDA. Many machine learning algorithms require numerical input, so we need to convert categorical data into a format that can be processed.</a:t>
            </a:r>
          </a:p>
          <a:p>
            <a:pPr>
              <a:buNone/>
            </a:pPr>
            <a:r>
              <a:rPr lang="en-US"/>
              <a:t> </a:t>
            </a:r>
          </a:p>
          <a:p>
            <a:pPr>
              <a:buNone/>
            </a:pPr>
            <a:r>
              <a:rPr lang="en-US"/>
              <a:t>Finally, normalizing and scaling our data is important. This step ensures that our data is on a similar scale, which can improve the performance of many algorithms.</a:t>
            </a:r>
          </a:p>
          <a:p>
            <a:pPr>
              <a:buNone/>
            </a:pPr>
            <a:r>
              <a:rPr lang="en-US"/>
              <a:t> </a:t>
            </a:r>
          </a:p>
          <a:p>
            <a:pPr>
              <a:buNone/>
            </a:pPr>
            <a:r>
              <a:rPr lang="en-US"/>
              <a:t>By systematically addressing these tasks, EDA helps us to clean and prepare our data, making it ready for more advanced analysis and modeling."</a:t>
            </a:r>
          </a:p>
          <a:p>
            <a:pPr>
              <a:buNone/>
            </a:pPr>
            <a:r>
              <a:rPr lang="en-US"/>
              <a:t> </a:t>
            </a:r>
          </a:p>
          <a:p>
            <a:pPr>
              <a:buNone/>
            </a:pPr>
            <a:endParaRPr lang="en-US"/>
          </a:p>
        </p:txBody>
      </p:sp>
    </p:spTree>
    <p:extLst>
      <p:ext uri="{BB962C8B-B14F-4D97-AF65-F5344CB8AC3E}">
        <p14:creationId xmlns:p14="http://schemas.microsoft.com/office/powerpoint/2010/main" val="18717529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EDA serves as the foundation for any data analysis project. By exploring and understanding the data upfront, we can uncover initial insights that guide the entire analytical process. </a:t>
            </a:r>
          </a:p>
          <a:p>
            <a:pPr>
              <a:buNone/>
            </a:pPr>
            <a:endParaRPr lang="en-US"/>
          </a:p>
          <a:p>
            <a:pPr>
              <a:buNone/>
            </a:pPr>
            <a:r>
              <a:rPr lang="en-US"/>
              <a:t>let's explore some of its practical applications across various domains.</a:t>
            </a:r>
          </a:p>
          <a:p>
            <a:pPr marL="171450" indent="-171450"/>
            <a:r>
              <a:rPr lang="en-US" b="1"/>
              <a:t>Business Intelligence and Decision-Making</a:t>
            </a:r>
            <a:r>
              <a:rPr lang="en-US"/>
              <a:t>: EDA helps businesses analyze sales data, customer feedback, and market trends. By understanding these data patterns, companies can make informed decisions about product development, marketing strategies, and customer service improvements.</a:t>
            </a:r>
          </a:p>
          <a:p>
            <a:pPr marL="171450" indent="-171450"/>
            <a:r>
              <a:rPr lang="en-US" b="1"/>
              <a:t>Healthcare Analytics</a:t>
            </a:r>
            <a:r>
              <a:rPr lang="en-US"/>
              <a:t>: In healthcare, EDA is used to analyze patient data, identify trends in disease prevalence, and evaluate the effectiveness of treatments. This analysis can lead to improved patient outcomes and more efficient healthcare delivery.</a:t>
            </a:r>
          </a:p>
          <a:p>
            <a:pPr marL="171450" indent="-171450"/>
            <a:r>
              <a:rPr lang="en-US" b="1"/>
              <a:t>Finance and Risk Management</a:t>
            </a:r>
            <a:r>
              <a:rPr lang="en-US"/>
              <a:t>: Financial institutions use EDA to assess risk, detect fraud, and optimize investment strategies. By exploring historical financial data, analysts can identify patterns that indicate potential risks or opportunities.</a:t>
            </a:r>
          </a:p>
          <a:p>
            <a:pPr marL="171450" indent="-171450"/>
            <a:r>
              <a:rPr lang="en-US" b="1"/>
              <a:t>Marketing Analysis</a:t>
            </a:r>
            <a:r>
              <a:rPr lang="en-US"/>
              <a:t>: EDA allows marketers to analyze campaign performance, understand customer behavior, and segment target audiences. This insight helps in designing more effective marketing campaigns and improving customer engagement.</a:t>
            </a:r>
          </a:p>
          <a:p>
            <a:pPr marL="171450" indent="-171450"/>
            <a:r>
              <a:rPr lang="en-US" b="1"/>
              <a:t>Retail and E-commerce</a:t>
            </a:r>
            <a:r>
              <a:rPr lang="en-US"/>
              <a:t>: In retail, EDA is used to analyze sales data, inventory levels, and customer purchase patterns. This helps retailers optimize inventory management, pricing strategies, and promotional activities.</a:t>
            </a:r>
          </a:p>
          <a:p>
            <a:pPr marL="171450" indent="-171450"/>
            <a:r>
              <a:rPr lang="en-US" b="1"/>
              <a:t>Social Media Analysis</a:t>
            </a:r>
            <a:r>
              <a:rPr lang="en-US"/>
              <a:t>: EDA helps in analyzing social media data to understand user engagement, sentiment, and trends. Businesses and researchers can use these insights to enhance their social media strategies and monitor brand reputation.</a:t>
            </a:r>
          </a:p>
          <a:p>
            <a:pPr marL="171450" indent="-171450"/>
            <a:r>
              <a:rPr lang="en-US" b="1"/>
              <a:t>Manufacturing and Quality Control</a:t>
            </a:r>
            <a:r>
              <a:rPr lang="en-US"/>
              <a:t>: In manufacturing, EDA is used to analyze production data, monitor equipment performance, and detect defects. This helps improve product quality, reduce downtime, and enhance operational efficiency.</a:t>
            </a:r>
          </a:p>
          <a:p>
            <a:pPr marL="171450" indent="-171450"/>
            <a:r>
              <a:rPr lang="en-US" b="1"/>
              <a:t>Sports Analytics</a:t>
            </a:r>
            <a:r>
              <a:rPr lang="en-US"/>
              <a:t>: EDA is applied in sports to analyze player performance, game statistics, and injury patterns. Teams and coaches use these insights to develop strategies, enhance training programs, and make data-driven decisions.</a:t>
            </a:r>
          </a:p>
          <a:p>
            <a:pPr marL="171450" indent="-171450"/>
            <a:r>
              <a:rPr lang="en-US" b="1"/>
              <a:t>Environmental Studies</a:t>
            </a:r>
            <a:r>
              <a:rPr lang="en-US"/>
              <a:t>: Researchers use EDA to analyze environmental data, such as climate patterns, pollution levels, and biodiversity metrics. This helps in understanding ecological changes and developing strategies for conservation and sustainability.</a:t>
            </a:r>
          </a:p>
          <a:p>
            <a:pPr marL="171450" indent="-171450"/>
            <a:r>
              <a:rPr lang="en-US" b="1"/>
              <a:t>Education Analytics</a:t>
            </a:r>
            <a:r>
              <a:rPr lang="en-US"/>
              <a:t>: In education, EDA is used to analyze student performance data, identify factors affecting learning outcomes, and develop personalized learning plans. This helps in improving educational strategies and student success rates.</a:t>
            </a:r>
          </a:p>
          <a:p>
            <a:pPr indent="0">
              <a:buNone/>
            </a:pPr>
            <a:r>
              <a:rPr lang="en-US"/>
              <a:t>In summary, EDA is a versatile tool that can be applied in numerous fields to uncover valuable insights, inform decision-making, and drive improvements. Its ability to provide a comprehensive understanding of data makes it indispensable in today's data-driven world."</a:t>
            </a:r>
          </a:p>
          <a:p>
            <a:pPr>
              <a:buNone/>
            </a:pPr>
            <a:endParaRPr lang="en-US"/>
          </a:p>
        </p:txBody>
      </p:sp>
    </p:spTree>
    <p:extLst>
      <p:ext uri="{BB962C8B-B14F-4D97-AF65-F5344CB8AC3E}">
        <p14:creationId xmlns:p14="http://schemas.microsoft.com/office/powerpoint/2010/main" val="8114222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Let's walk through a typical Exploratory Data Analysis (EDA) process. Understanding the steps involved will help us systematically explore and prepare our data for further analysis.</a:t>
            </a:r>
          </a:p>
          <a:p>
            <a:pPr>
              <a:buNone/>
            </a:pPr>
            <a:endParaRPr lang="en-US"/>
          </a:p>
          <a:p>
            <a:pPr marL="171450" indent="-171450"/>
            <a:r>
              <a:rPr lang="en-US" b="1"/>
              <a:t>Data Collection and Loading</a:t>
            </a:r>
            <a:r>
              <a:rPr lang="en-US"/>
              <a:t>: The first step is to collect and load the data. This could involve importing data from various sources such as databases, spreadsheets, or web APIs. Ensuring the data is in a usable format is crucial at this stage.</a:t>
            </a:r>
          </a:p>
          <a:p>
            <a:pPr marL="171450" indent="-171450"/>
            <a:r>
              <a:rPr lang="en-US" b="1"/>
              <a:t>Initial Data Inspection</a:t>
            </a:r>
            <a:r>
              <a:rPr lang="en-US"/>
              <a:t>: Once the data is loaded, we perform an initial inspection to understand its structure. This involves looking at the data types, number of rows and columns, and getting a general sense of the content. Common commands in programming languages like Python include head(), info(), and describe().</a:t>
            </a:r>
          </a:p>
          <a:p>
            <a:pPr marL="171450" indent="-171450"/>
            <a:r>
              <a:rPr lang="en-US" b="1"/>
              <a:t>Data Cleaning</a:t>
            </a:r>
            <a:r>
              <a:rPr lang="en-US"/>
              <a:t>: The next step is data cleaning. This involves handling missing values, removing duplicate records, and correcting any inconsistencies. Techniques such as imputation, deletion, or substitution can be used to manage missing data.</a:t>
            </a:r>
          </a:p>
          <a:p>
            <a:pPr marL="171450" indent="-171450"/>
            <a:r>
              <a:rPr lang="en-US" b="1"/>
              <a:t>Data Transformation</a:t>
            </a:r>
            <a:r>
              <a:rPr lang="en-US"/>
              <a:t>: After cleaning, we transform the data as needed. This might include encoding categorical variables into numerical values, normalizing or scaling features, and creating new variables through feature engineering. These transformations help prepare the data for analysis and modeling.</a:t>
            </a:r>
          </a:p>
          <a:p>
            <a:pPr marL="171450" indent="-171450"/>
            <a:r>
              <a:rPr lang="en-US" b="1"/>
              <a:t>Exploratory Visualization</a:t>
            </a:r>
            <a:r>
              <a:rPr lang="en-US"/>
              <a:t>: Visualization is a powerful tool in EDA. We create various plots such as histograms, box plots, scatter plots, and correlation matrices to visualize the data distribution, identify patterns, and detect outliers. Libraries like Matplotlib, Seaborn, and </a:t>
            </a:r>
            <a:r>
              <a:rPr lang="en-US" err="1"/>
              <a:t>Plotly</a:t>
            </a:r>
            <a:r>
              <a:rPr lang="en-US"/>
              <a:t> are commonly used for this purpose.</a:t>
            </a:r>
          </a:p>
          <a:p>
            <a:pPr marL="171450" indent="-171450"/>
            <a:r>
              <a:rPr lang="en-US" b="1"/>
              <a:t>Summary Statistics</a:t>
            </a:r>
            <a:r>
              <a:rPr lang="en-US"/>
              <a:t>: Calculating summary statistics helps us understand the central tendency, dispersion, and shape of the data distribution. Key metrics include mean, median, mode, standard deviation, and percentiles. These statistics provide a numerical summary of the data.</a:t>
            </a:r>
          </a:p>
          <a:p>
            <a:pPr marL="171450" indent="-171450"/>
            <a:r>
              <a:rPr lang="en-US" b="1"/>
              <a:t>Outlier Detection and Handling</a:t>
            </a:r>
            <a:r>
              <a:rPr lang="en-US"/>
              <a:t>: Identifying and handling outliers is crucial as they can significantly affect our analysis. Outliers can be visualized using box plots or scatter plots, and handled through techniques such as capping, transformation, or removal.</a:t>
            </a:r>
          </a:p>
          <a:p>
            <a:pPr marL="171450" indent="-171450"/>
            <a:r>
              <a:rPr lang="en-US" b="1"/>
              <a:t>Bivariate and Multivariate Analysis</a:t>
            </a:r>
            <a:r>
              <a:rPr lang="en-US"/>
              <a:t>: In this step, we explore the relationships between variables. Bivariate analysis examines the relationship between two variables using techniques like correlation analysis and scatter plots. Multivariate analysis looks at interactions between multiple variables using techniques like pair plots and heatmaps.</a:t>
            </a:r>
          </a:p>
          <a:p>
            <a:pPr marL="171450" indent="-171450"/>
            <a:r>
              <a:rPr lang="en-US" b="1"/>
              <a:t>Hypothesis Generation</a:t>
            </a:r>
            <a:r>
              <a:rPr lang="en-US"/>
              <a:t>: Based on the insights gained from the exploratory analysis, we generate hypotheses about the data. These hypotheses guide further analysis and modeling efforts. For example, we might hypothesize that a certain feature significantly impacts the target variable.</a:t>
            </a:r>
          </a:p>
          <a:p>
            <a:pPr marL="171450" indent="-171450"/>
            <a:r>
              <a:rPr lang="en-US" b="1"/>
              <a:t>Documentation and Reporting</a:t>
            </a:r>
            <a:r>
              <a:rPr lang="en-US"/>
              <a:t>: Finally, we document our findings and create reports or dashboards to communicate the insights. Clear documentation and visualizations help stakeholders understand the data and the conclusions drawn from the analysis.</a:t>
            </a:r>
          </a:p>
          <a:p>
            <a:pPr indent="0">
              <a:buNone/>
            </a:pPr>
            <a:r>
              <a:rPr lang="en-US"/>
              <a:t>In summary, a typical EDA process involves a series of systematic steps aimed at thoroughly understanding and preparing the data. This process ensures that we have a clean, well-understood dataset ready for more advanced analysis and modeling."</a:t>
            </a:r>
          </a:p>
          <a:p>
            <a:pPr>
              <a:buNone/>
            </a:pPr>
            <a:endParaRPr lang="en-US">
              <a:latin typeface="Calibri"/>
              <a:cs typeface="Calibri"/>
            </a:endParaRPr>
          </a:p>
        </p:txBody>
      </p:sp>
    </p:spTree>
    <p:extLst>
      <p:ext uri="{BB962C8B-B14F-4D97-AF65-F5344CB8AC3E}">
        <p14:creationId xmlns:p14="http://schemas.microsoft.com/office/powerpoint/2010/main" val="14729358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Solution: Employee Data Analysis</a:t>
            </a:r>
          </a:p>
          <a:p>
            <a:pPr>
              <a:buNone/>
            </a:pPr>
            <a:r>
              <a:rPr lang="en-US"/>
              <a:t>Step 1: Understanding the Data</a:t>
            </a:r>
          </a:p>
          <a:p>
            <a:pPr marL="285750" indent="-285750">
              <a:buChar char="•"/>
            </a:pPr>
            <a:r>
              <a:rPr lang="en-US" b="1"/>
              <a:t>Familiarize with the Dataset</a:t>
            </a:r>
            <a:r>
              <a:rPr lang="en-US"/>
              <a:t>: Begin by examining the structure of the dataset, understanding the meaning of each column (</a:t>
            </a:r>
            <a:r>
              <a:rPr lang="en-US" err="1"/>
              <a:t>EmployeeID</a:t>
            </a:r>
            <a:r>
              <a:rPr lang="en-US"/>
              <a:t>, Department, Salary, </a:t>
            </a:r>
            <a:r>
              <a:rPr lang="en-US" err="1"/>
              <a:t>YearsAtCompany</a:t>
            </a:r>
            <a:r>
              <a:rPr lang="en-US"/>
              <a:t>), and identifying the data types (e.g., numerical, categorical).</a:t>
            </a:r>
          </a:p>
          <a:p>
            <a:pPr marL="285750" indent="-285750">
              <a:buChar char="•"/>
            </a:pPr>
            <a:endParaRPr lang="en-US"/>
          </a:p>
          <a:p>
            <a:pPr marL="158750" indent="0">
              <a:buNone/>
            </a:pPr>
            <a:r>
              <a:rPr lang="en-US"/>
              <a:t>Step 2: Data Cleaning</a:t>
            </a:r>
          </a:p>
          <a:p>
            <a:r>
              <a:rPr lang="en-US" b="1"/>
              <a:t>Identify and Handle Missing Values</a:t>
            </a:r>
            <a:r>
              <a:rPr lang="en-US"/>
              <a:t>: Check for missing values in the dataset. For Salary and </a:t>
            </a:r>
            <a:r>
              <a:rPr lang="en-US" err="1"/>
              <a:t>YearsAtCompany</a:t>
            </a:r>
            <a:r>
              <a:rPr lang="en-US"/>
              <a:t>, consider using imputation methods such as filling with the mean or median values. For Department, missing values could be imputed using the mode (most frequent value) or domain knowledge.</a:t>
            </a:r>
          </a:p>
          <a:p>
            <a:r>
              <a:rPr lang="en-US" b="1"/>
              <a:t>Remove Duplicates</a:t>
            </a:r>
            <a:r>
              <a:rPr lang="en-US"/>
              <a:t>: Ensure there are no duplicate rows in the dataset, especially for unique identifiers like </a:t>
            </a:r>
            <a:r>
              <a:rPr lang="en-US" err="1"/>
              <a:t>EmployeeID</a:t>
            </a:r>
            <a:r>
              <a:rPr lang="en-US"/>
              <a:t>.</a:t>
            </a:r>
          </a:p>
          <a:p>
            <a:pPr marL="285750" indent="-285750">
              <a:buChar char="•"/>
            </a:pPr>
            <a:endParaRPr lang="en-US"/>
          </a:p>
          <a:p>
            <a:pPr>
              <a:buNone/>
            </a:pPr>
            <a:r>
              <a:rPr lang="en-US"/>
              <a:t>Step 3: Descriptive Statistics</a:t>
            </a:r>
          </a:p>
          <a:p>
            <a:pPr marL="171450" indent="-171450"/>
            <a:r>
              <a:rPr lang="en-US" b="1"/>
              <a:t>Calculate Basic Statistics</a:t>
            </a:r>
            <a:r>
              <a:rPr lang="en-US"/>
              <a:t>: Compute summary statistics such as mean, median, minimum, maximum, and standard deviation for Salary and </a:t>
            </a:r>
            <a:r>
              <a:rPr lang="en-US" err="1"/>
              <a:t>YearsAtCompany</a:t>
            </a:r>
            <a:r>
              <a:rPr lang="en-US"/>
              <a:t>. This provides a basic understanding of the central tendency and spread of the data.</a:t>
            </a:r>
          </a:p>
          <a:p>
            <a:pPr marL="171450" indent="-171450"/>
            <a:endParaRPr lang="en-US"/>
          </a:p>
          <a:p>
            <a:pPr>
              <a:buNone/>
            </a:pPr>
            <a:r>
              <a:rPr lang="en-US"/>
              <a:t>Step 4: Data Visualization</a:t>
            </a:r>
          </a:p>
          <a:p>
            <a:pPr marL="171450" indent="-171450"/>
            <a:r>
              <a:rPr lang="en-US" b="1"/>
              <a:t>Salary Distribution</a:t>
            </a:r>
            <a:r>
              <a:rPr lang="en-US"/>
              <a:t>: Create histograms or box plots to visualize the distribution of salaries across the entire dataset. This helps in identifying the spread and any potential outliers.</a:t>
            </a:r>
          </a:p>
          <a:p>
            <a:pPr marL="171450" indent="-171450"/>
            <a:r>
              <a:rPr lang="en-US" b="1"/>
              <a:t>Department-wise Salary Distribution</a:t>
            </a:r>
            <a:r>
              <a:rPr lang="en-US"/>
              <a:t>: Use box plots to compare salary distributions across different departments. This can highlight disparities or variances in salaries among departments.</a:t>
            </a:r>
          </a:p>
          <a:p>
            <a:pPr marL="171450" indent="-171450"/>
            <a:r>
              <a:rPr lang="en-US" b="1"/>
              <a:t>Years at Company</a:t>
            </a:r>
            <a:r>
              <a:rPr lang="en-US"/>
              <a:t>: Plot histograms or bar charts to visualize the distribution of years employees have been at the company. This can reveal trends in employee retention and tenure.</a:t>
            </a:r>
          </a:p>
          <a:p>
            <a:pPr marL="171450" indent="-171450"/>
            <a:r>
              <a:rPr lang="en-US" b="1"/>
              <a:t>Correlation Analysis</a:t>
            </a:r>
            <a:r>
              <a:rPr lang="en-US"/>
              <a:t>: Generate scatter plots to explore the relationship between Salary and </a:t>
            </a:r>
            <a:r>
              <a:rPr lang="en-US" err="1"/>
              <a:t>YearsAtCompany</a:t>
            </a:r>
            <a:r>
              <a:rPr lang="en-US"/>
              <a:t>. Calculate the correlation coefficient to quantify the strength of this relationship.</a:t>
            </a:r>
          </a:p>
          <a:p>
            <a:pPr marL="0" indent="0">
              <a:buNone/>
            </a:pPr>
            <a:endParaRPr lang="en-US"/>
          </a:p>
          <a:p>
            <a:pPr>
              <a:buNone/>
            </a:pPr>
            <a:r>
              <a:rPr lang="en-US"/>
              <a:t>Step 5: Insights and Reporting</a:t>
            </a:r>
          </a:p>
          <a:p>
            <a:pPr marL="171450" indent="-171450"/>
            <a:r>
              <a:rPr lang="en-US" b="1"/>
              <a:t>Interpret Findings</a:t>
            </a:r>
            <a:r>
              <a:rPr lang="en-US"/>
              <a:t>: Summarize the insights gained from the descriptive statistics and visualizations. For example, identify which departments have higher average salaries, detect any patterns related to employee tenure and salary, and note any significant outliers.</a:t>
            </a:r>
          </a:p>
          <a:p>
            <a:pPr marL="171450" indent="-171450"/>
            <a:r>
              <a:rPr lang="en-US" b="1"/>
              <a:t>Prepare a Report</a:t>
            </a:r>
            <a:r>
              <a:rPr lang="en-US"/>
              <a:t>: Compile the findings into a comprehensive report. Include visualizations and key statistics, and provide interpretations and recommendations based on the analysis. For instance, suggest addressing any detected salary disparities or developing strategies for improving employee retention.</a:t>
            </a:r>
          </a:p>
          <a:p>
            <a:pPr marL="0" indent="0">
              <a:buNone/>
            </a:pPr>
            <a:endParaRPr lang="en-US"/>
          </a:p>
          <a:p>
            <a:pPr marL="0" indent="0">
              <a:buNone/>
            </a:pPr>
            <a:endParaRPr lang="en-US"/>
          </a:p>
          <a:p>
            <a:pPr>
              <a:buNone/>
            </a:pPr>
            <a:endParaRPr lang="en-US">
              <a:latin typeface="Calibri"/>
              <a:cs typeface="Calibri"/>
            </a:endParaRPr>
          </a:p>
        </p:txBody>
      </p:sp>
    </p:spTree>
    <p:extLst>
      <p:ext uri="{BB962C8B-B14F-4D97-AF65-F5344CB8AC3E}">
        <p14:creationId xmlns:p14="http://schemas.microsoft.com/office/powerpoint/2010/main" val="11299247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Now, let's explore the two main categories of techniques used in Exploratory Data Analysis (EDA): Quantitative and Graphical techniques. Each plays a crucial role in understanding and interpreting our data.</a:t>
            </a:r>
          </a:p>
          <a:p>
            <a:pPr>
              <a:buNone/>
            </a:pPr>
            <a:endParaRPr lang="en-US"/>
          </a:p>
          <a:p>
            <a:pPr>
              <a:buNone/>
            </a:pPr>
            <a:endParaRPr lang="en-US"/>
          </a:p>
          <a:p>
            <a:pPr>
              <a:buNone/>
            </a:pPr>
            <a:endParaRPr lang="en-US"/>
          </a:p>
          <a:p>
            <a:pPr>
              <a:buNone/>
            </a:pPr>
            <a:endParaRPr lang="en-US">
              <a:latin typeface="Calibri"/>
              <a:cs typeface="Calibri"/>
            </a:endParaRPr>
          </a:p>
        </p:txBody>
      </p:sp>
    </p:spTree>
    <p:extLst>
      <p:ext uri="{BB962C8B-B14F-4D97-AF65-F5344CB8AC3E}">
        <p14:creationId xmlns:p14="http://schemas.microsoft.com/office/powerpoint/2010/main" val="4082838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endParaRPr lang="en-US"/>
          </a:p>
          <a:p>
            <a:pPr>
              <a:buNone/>
            </a:pPr>
            <a:r>
              <a:rPr lang="en-US" b="1"/>
              <a:t>Quantitative Techniques</a:t>
            </a:r>
            <a:r>
              <a:rPr lang="en-US"/>
              <a:t>:</a:t>
            </a:r>
          </a:p>
          <a:p>
            <a:pPr>
              <a:buNone/>
            </a:pPr>
            <a:r>
              <a:rPr lang="en-US"/>
              <a:t>Quantitative techniques involve numerical and statistical methods to summarize and describe the main features of a dataset.</a:t>
            </a:r>
          </a:p>
          <a:p>
            <a:pPr marL="285750" indent="-285750">
              <a:buFont typeface="Arial,Sans-Serif"/>
              <a:buChar char="•"/>
            </a:pPr>
            <a:r>
              <a:rPr lang="en-US" b="1"/>
              <a:t>Summary Statistics</a:t>
            </a:r>
            <a:r>
              <a:rPr lang="en-US"/>
              <a:t>: Summary statistics provide a quick overview of the dataset's key characteristics. Common metrics include:</a:t>
            </a:r>
          </a:p>
          <a:p>
            <a:pPr marL="285750" lvl="1" indent="-285750">
              <a:buFont typeface="Arial,Sans-Serif"/>
              <a:buChar char="•"/>
            </a:pPr>
            <a:r>
              <a:rPr lang="en-US" b="1"/>
              <a:t>Mean</a:t>
            </a:r>
            <a:r>
              <a:rPr lang="en-US"/>
              <a:t>: The average value of the data.</a:t>
            </a:r>
          </a:p>
          <a:p>
            <a:pPr marL="285750" lvl="1" indent="-285750">
              <a:buFont typeface="Arial,Sans-Serif"/>
              <a:buChar char="•"/>
            </a:pPr>
            <a:r>
              <a:rPr lang="en-US" b="1"/>
              <a:t>Median</a:t>
            </a:r>
            <a:r>
              <a:rPr lang="en-US"/>
              <a:t>: The middle value when the data is ordered.</a:t>
            </a:r>
          </a:p>
          <a:p>
            <a:pPr marL="285750" lvl="1" indent="-285750">
              <a:buFont typeface="Arial,Sans-Serif"/>
              <a:buChar char="•"/>
            </a:pPr>
            <a:r>
              <a:rPr lang="en-US" b="1"/>
              <a:t>Mode</a:t>
            </a:r>
            <a:r>
              <a:rPr lang="en-US"/>
              <a:t>: The most frequently occurring value.</a:t>
            </a:r>
          </a:p>
          <a:p>
            <a:pPr marL="285750" lvl="1" indent="-285750">
              <a:buFont typeface="Arial,Sans-Serif"/>
              <a:buChar char="•"/>
            </a:pPr>
            <a:r>
              <a:rPr lang="en-US" b="1"/>
              <a:t>Standard Deviation</a:t>
            </a:r>
            <a:r>
              <a:rPr lang="en-US"/>
              <a:t>: Measures the dispersion or spread of the data.</a:t>
            </a:r>
          </a:p>
          <a:p>
            <a:pPr marL="285750" lvl="1" indent="-285750">
              <a:buFont typeface="Arial,Sans-Serif"/>
              <a:buChar char="•"/>
            </a:pPr>
            <a:r>
              <a:rPr lang="en-US" b="1"/>
              <a:t>Variance</a:t>
            </a:r>
            <a:r>
              <a:rPr lang="en-US"/>
              <a:t>: The average squared deviation from the mean.</a:t>
            </a:r>
          </a:p>
          <a:p>
            <a:pPr marL="285750" lvl="1" indent="-285750">
              <a:buFont typeface="Arial,Sans-Serif"/>
              <a:buChar char="•"/>
            </a:pPr>
            <a:r>
              <a:rPr lang="en-US" b="1"/>
              <a:t>Percentiles</a:t>
            </a:r>
            <a:r>
              <a:rPr lang="en-US"/>
              <a:t>: Values below which a certain percentage of the data falls.</a:t>
            </a:r>
          </a:p>
          <a:p>
            <a:pPr marL="285750" indent="-285750">
              <a:buFont typeface="Arial,Sans-Serif"/>
              <a:buChar char="•"/>
            </a:pPr>
            <a:r>
              <a:rPr lang="en-US" b="1"/>
              <a:t>Correlation Analysis</a:t>
            </a:r>
            <a:r>
              <a:rPr lang="en-US"/>
              <a:t>: This technique measures the relationship between two numerical variables. The Pearson correlation coefficient is often used to quantify linear relationships, with values ranging from -1 (perfect negative correlation) to +1 (perfect positive correlation).</a:t>
            </a:r>
          </a:p>
          <a:p>
            <a:pPr marL="285750" indent="-285750">
              <a:buFont typeface="Arial,Sans-Serif"/>
              <a:buChar char="•"/>
            </a:pPr>
            <a:r>
              <a:rPr lang="en-US" b="1"/>
              <a:t>Hypothesis Testing</a:t>
            </a:r>
            <a:r>
              <a:rPr lang="en-US"/>
              <a:t>: Statistical tests such as the t-test, chi-square test, and ANOVA help determine if there are significant differences between groups or relationships between variables.</a:t>
            </a:r>
          </a:p>
          <a:p>
            <a:pPr marL="285750" indent="-285750">
              <a:buFont typeface="Arial,Sans-Serif"/>
              <a:buChar char="•"/>
            </a:pPr>
            <a:r>
              <a:rPr lang="en-US" b="1"/>
              <a:t>Distribution Analysis</a:t>
            </a:r>
            <a:r>
              <a:rPr lang="en-US"/>
              <a:t>: Analyzing the distribution of data points helps understand the data's shape, spread, and central tendency. Quantitative measures include skewness and kurtosis, which describe the asymmetry and </a:t>
            </a:r>
            <a:r>
              <a:rPr lang="en-US" err="1"/>
              <a:t>peakedness</a:t>
            </a:r>
            <a:r>
              <a:rPr lang="en-US"/>
              <a:t> of the distribution, respectively.</a:t>
            </a:r>
          </a:p>
          <a:p>
            <a:pPr marL="285750" indent="-285750">
              <a:buFont typeface="Arial,Sans-Serif"/>
              <a:buChar char="•"/>
            </a:pPr>
            <a:r>
              <a:rPr lang="en-US" b="1"/>
              <a:t>Outlier Detection</a:t>
            </a:r>
            <a:r>
              <a:rPr lang="en-US"/>
              <a:t>: Identifying outliers is critical as they can heavily influence the results. Techniques include calculating Z-scores, where values beyond a certain threshold (e.g., ±3) are considered outliers, and the Interquartile Range (IQR) method, where outliers are values lying beyond 1.5 times the IQR from the quartiles.</a:t>
            </a:r>
          </a:p>
          <a:p>
            <a:pPr indent="0">
              <a:buNone/>
            </a:pPr>
            <a:endParaRPr lang="en-US"/>
          </a:p>
          <a:p>
            <a:pPr>
              <a:buNone/>
            </a:pPr>
            <a:endParaRPr lang="en-US"/>
          </a:p>
        </p:txBody>
      </p:sp>
    </p:spTree>
    <p:extLst>
      <p:ext uri="{BB962C8B-B14F-4D97-AF65-F5344CB8AC3E}">
        <p14:creationId xmlns:p14="http://schemas.microsoft.com/office/powerpoint/2010/main" val="3368138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a:t>Graphical Techniques</a:t>
            </a:r>
            <a:r>
              <a:rPr lang="en-US"/>
              <a:t>:</a:t>
            </a:r>
          </a:p>
          <a:p>
            <a:pPr>
              <a:buNone/>
            </a:pPr>
            <a:r>
              <a:rPr lang="en-US"/>
              <a:t>Graphical techniques involve visual representations of the data, making it easier to detect patterns, trends, and outliers.</a:t>
            </a:r>
          </a:p>
          <a:p>
            <a:pPr marL="285750" indent="-285750">
              <a:buFont typeface="Arial,Sans-Serif"/>
              <a:buChar char="•"/>
            </a:pPr>
            <a:r>
              <a:rPr lang="en-US" b="1"/>
              <a:t>Histograms</a:t>
            </a:r>
            <a:r>
              <a:rPr lang="en-US"/>
              <a:t>: Histograms display the frequency distribution of a single numerical variable. They help us understand the shape and spread of the data.</a:t>
            </a:r>
          </a:p>
          <a:p>
            <a:pPr marL="285750" indent="-285750">
              <a:buFont typeface="Arial,Sans-Serif"/>
              <a:buChar char="•"/>
            </a:pPr>
            <a:r>
              <a:rPr lang="en-US" b="1"/>
              <a:t>Box Plots</a:t>
            </a:r>
            <a:r>
              <a:rPr lang="en-US"/>
              <a:t>: Box plots summarize the distribution of a variable and highlight outliers. They show the median, quartiles, and potential outliers in the data.</a:t>
            </a:r>
          </a:p>
          <a:p>
            <a:pPr marL="285750" indent="-285750">
              <a:buFont typeface="Arial,Sans-Serif"/>
              <a:buChar char="•"/>
            </a:pPr>
            <a:r>
              <a:rPr lang="en-US" b="1"/>
              <a:t>Scatter Plots</a:t>
            </a:r>
            <a:r>
              <a:rPr lang="en-US"/>
              <a:t>: Scatter plots visualize the relationship between two numerical variables. They are useful for detecting correlations, clusters, and outliers.</a:t>
            </a:r>
          </a:p>
          <a:p>
            <a:pPr marL="285750" indent="-285750">
              <a:buFont typeface="Arial,Sans-Serif"/>
              <a:buChar char="•"/>
            </a:pPr>
            <a:r>
              <a:rPr lang="en-US" b="1"/>
              <a:t>Bar Charts</a:t>
            </a:r>
            <a:r>
              <a:rPr lang="en-US"/>
              <a:t>: Bar charts are used to compare the frequency or count of categorical data. They provide a clear visual comparison between different categories.</a:t>
            </a:r>
          </a:p>
          <a:p>
            <a:pPr marL="285750" indent="-285750">
              <a:buFont typeface="Arial,Sans-Serif"/>
              <a:buChar char="•"/>
            </a:pPr>
            <a:r>
              <a:rPr lang="en-US" b="1"/>
              <a:t>Heatmaps</a:t>
            </a:r>
            <a:r>
              <a:rPr lang="en-US"/>
              <a:t>: Heatmaps visualize the correlation matrix or other metrics across variables using color gradients. They are effective for showing relationships and patterns between multiple variables.</a:t>
            </a:r>
          </a:p>
          <a:p>
            <a:pPr marL="285750" indent="-285750">
              <a:buFont typeface="Arial,Sans-Serif"/>
              <a:buChar char="•"/>
            </a:pPr>
            <a:r>
              <a:rPr lang="en-US" b="1"/>
              <a:t>Pair Plots</a:t>
            </a:r>
            <a:r>
              <a:rPr lang="en-US"/>
              <a:t>: Pair plots (or scatterplot matrices) display scatter plots for all pairs of numerical variables in a dataset. They help visualize relationships and interactions between variables.</a:t>
            </a:r>
          </a:p>
          <a:p>
            <a:pPr marL="285750" indent="-285750">
              <a:buFont typeface="Arial,Sans-Serif"/>
              <a:buChar char="•"/>
            </a:pPr>
            <a:r>
              <a:rPr lang="en-US" b="1"/>
              <a:t>Line Graphs</a:t>
            </a:r>
            <a:r>
              <a:rPr lang="en-US"/>
              <a:t>: Line graphs are used to visualize trends over time or ordered data points. They are particularly useful for time series analysis.</a:t>
            </a:r>
          </a:p>
          <a:p>
            <a:pPr marL="285750" indent="-285750">
              <a:buFont typeface="Arial,Sans-Serif"/>
              <a:buChar char="•"/>
            </a:pPr>
            <a:r>
              <a:rPr lang="en-US" b="1"/>
              <a:t>Violin Plots</a:t>
            </a:r>
            <a:r>
              <a:rPr lang="en-US"/>
              <a:t>: Violin plots combine the features of box plots and density plots, showing the distribution and probability density of the data across different categories.</a:t>
            </a:r>
          </a:p>
          <a:p>
            <a:pPr marL="285750" indent="-285750">
              <a:buFont typeface="Arial,Sans-Serif"/>
              <a:buChar char="•"/>
            </a:pPr>
            <a:r>
              <a:rPr lang="en-US" b="1"/>
              <a:t>Density Plots</a:t>
            </a:r>
            <a:r>
              <a:rPr lang="en-US"/>
              <a:t>: Density plots smooth the data distribution using a kernel density estimate, providing a continuous probability distribution visualization.</a:t>
            </a:r>
          </a:p>
          <a:p>
            <a:pPr marL="285750" indent="-285750">
              <a:buFont typeface="Arial,Sans-Serif"/>
              <a:buChar char="•"/>
            </a:pPr>
            <a:r>
              <a:rPr lang="en-US" b="1"/>
              <a:t>Q-Q Plots</a:t>
            </a:r>
            <a:r>
              <a:rPr lang="en-US"/>
              <a:t>: Quantile-Quantile (Q-Q) plots compare the quantiles of the data distribution to a theoretical distribution (e.g., normal distribution) to assess whether the data follows the expected distribution.</a:t>
            </a:r>
          </a:p>
          <a:p>
            <a:endParaRPr lang="en-US"/>
          </a:p>
          <a:p>
            <a:endParaRPr lang="en-US"/>
          </a:p>
          <a:p>
            <a:r>
              <a:rPr lang="en-US" b="1"/>
              <a:t>Conclusion</a:t>
            </a:r>
            <a:r>
              <a:rPr lang="en-US"/>
              <a:t>:</a:t>
            </a:r>
          </a:p>
          <a:p>
            <a:r>
              <a:rPr lang="en-US"/>
              <a:t>Both quantitative and graphical techniques are essential components of EDA. Quantitative techniques provide precise numerical summaries and statistical tests, while graphical techniques offer intuitive visual insights into the data. Together, they form a comprehensive approach to exploring and understanding data, setting the stage for more advanced analysis and modeling.</a:t>
            </a:r>
          </a:p>
          <a:p>
            <a:pPr marL="285750" indent="-285750">
              <a:buFont typeface="Arial,Sans-Serif"/>
              <a:buChar char="•"/>
            </a:pPr>
            <a:endParaRPr lang="en-US"/>
          </a:p>
          <a:p>
            <a:pPr>
              <a:buNone/>
            </a:pPr>
            <a:endParaRPr lang="en-US">
              <a:latin typeface="Calibri"/>
              <a:cs typeface="Calibri"/>
            </a:endParaRPr>
          </a:p>
        </p:txBody>
      </p:sp>
    </p:spTree>
    <p:extLst>
      <p:ext uri="{BB962C8B-B14F-4D97-AF65-F5344CB8AC3E}">
        <p14:creationId xmlns:p14="http://schemas.microsoft.com/office/powerpoint/2010/main" val="4136796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"Now, let's talk about NumPy, an essential tool for data analysis and scientific computing in Python.</a:t>
            </a:r>
          </a:p>
          <a:p>
            <a:pPr>
              <a:buNone/>
            </a:pPr>
            <a:endParaRPr lang="en-US"/>
          </a:p>
          <a:p>
            <a:pPr marL="171450" indent="-171450"/>
            <a:r>
              <a:rPr lang="en-US" b="1"/>
              <a:t>Introduction to NumPy</a:t>
            </a:r>
            <a:r>
              <a:rPr lang="en-US"/>
              <a:t>: NumPy is an open-source Python library widely used for working with arrays. It is a fundamental package for numerical computing in Python, providing support for large, multi-dimensional arrays and matrices, along with a collection of mathematical functions to operate on these arrays efficiently.</a:t>
            </a:r>
          </a:p>
          <a:p>
            <a:pPr marL="171450" indent="-171450"/>
            <a:r>
              <a:rPr lang="en-US" b="1"/>
              <a:t>What NumPy Stands For</a:t>
            </a:r>
            <a:r>
              <a:rPr lang="en-US"/>
              <a:t>: NumPy stands for 'Numerical Python'. It is designed to handle numerical data efficiently and is a cornerstone of the scientific Python ecosystem.</a:t>
            </a:r>
          </a:p>
          <a:p>
            <a:pPr marL="171450" indent="-171450"/>
            <a:r>
              <a:rPr lang="en-US" b="1"/>
              <a:t>NumPy Arrays</a:t>
            </a:r>
            <a:r>
              <a:rPr lang="en-US"/>
              <a:t>: The core of NumPy is the array object, known as </a:t>
            </a:r>
            <a:r>
              <a:rPr lang="en-US" err="1"/>
              <a:t>ndarray</a:t>
            </a:r>
            <a:r>
              <a:rPr lang="en-US"/>
              <a:t>. The NumPy array is a powerful data structure that efficiently stores and accesses multidimensional arrays. Unlike Python's built-in lists, NumPy arrays are more compact, faster, and can handle large datasets more efficiently.</a:t>
            </a:r>
          </a:p>
          <a:p>
            <a:pPr marL="171450" indent="-171450"/>
            <a:r>
              <a:rPr lang="en-US" b="1"/>
              <a:t>Efficiency of NumPy</a:t>
            </a:r>
            <a:r>
              <a:rPr lang="en-US"/>
              <a:t>: NumPy achieves its high performance through several mechanisms:</a:t>
            </a:r>
          </a:p>
          <a:p>
            <a:pPr marL="1085850" lvl="1" indent="-171450"/>
            <a:r>
              <a:rPr lang="en-US" b="1"/>
              <a:t>Optimized C and C++ Code</a:t>
            </a:r>
            <a:r>
              <a:rPr lang="en-US"/>
              <a:t>: Although NumPy is a Python library, it is written partially in Python, but most of the parts that require fast computation are written in C or C++. This allows NumPy to perform operations much faster than pure Python.</a:t>
            </a:r>
          </a:p>
          <a:p>
            <a:pPr marL="1085850" lvl="1" indent="-171450"/>
            <a:r>
              <a:rPr lang="en-US" b="1"/>
              <a:t>Vectorization</a:t>
            </a:r>
            <a:r>
              <a:rPr lang="en-US"/>
              <a:t>: NumPy takes advantage of vectorized operations, which apply a function to an entire array, element-wise, without the need for explicit loops. This not only makes the code more concise and readable but also significantly speeds up computation.</a:t>
            </a:r>
          </a:p>
          <a:p>
            <a:pPr lvl="1" indent="0">
              <a:buNone/>
            </a:pPr>
            <a:endParaRPr lang="en-US"/>
          </a:p>
          <a:p>
            <a:pPr lvl="1">
              <a:buNone/>
            </a:pPr>
            <a:endParaRPr lang="en-US"/>
          </a:p>
          <a:p>
            <a:pPr lvl="1">
              <a:buNone/>
            </a:pPr>
            <a:r>
              <a:rPr lang="en-US" b="1"/>
              <a:t>Conclusion</a:t>
            </a:r>
            <a:r>
              <a:rPr lang="en-US"/>
              <a:t>:</a:t>
            </a:r>
          </a:p>
          <a:p>
            <a:pPr lvl="1">
              <a:buNone/>
            </a:pPr>
            <a:r>
              <a:rPr lang="en-US"/>
              <a:t>In summary, NumPy is an indispensable tool for anyone working with numerical data in Python. Its ability to handle large datasets efficiently, combined with its powerful array operations, makes it a go-to library for data scientists, engineers, and researchers. Understanding and utilizing NumPy is a crucial skill in the field of data analysis and scientific computing.</a:t>
            </a:r>
          </a:p>
          <a:p>
            <a:pPr>
              <a:buNone/>
            </a:pPr>
            <a:endParaRPr lang="en-US"/>
          </a:p>
        </p:txBody>
      </p:sp>
    </p:spTree>
    <p:extLst>
      <p:ext uri="{BB962C8B-B14F-4D97-AF65-F5344CB8AC3E}">
        <p14:creationId xmlns:p14="http://schemas.microsoft.com/office/powerpoint/2010/main" val="33565808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Lab16:   Implementing </a:t>
            </a:r>
            <a:r>
              <a:rPr lang="en-US" b="1" dirty="0" err="1"/>
              <a:t>Numpy</a:t>
            </a:r>
            <a:r>
              <a:rPr lang="en-US" b="1" dirty="0"/>
              <a:t> Concepts in Python</a:t>
            </a:r>
            <a:endParaRPr lang="en-US" dirty="0"/>
          </a:p>
          <a:p>
            <a:pPr>
              <a:buNone/>
            </a:pPr>
            <a:r>
              <a:rPr lang="en-US" b="1" dirty="0"/>
              <a:t>Solution: </a:t>
            </a:r>
            <a:r>
              <a:rPr lang="en-US" b="1" dirty="0">
                <a:hlinkClick r:id="rId3">
                  <a:extLst>
                    <a:ext uri="{A12FA001-AC4F-418D-AE19-62706E023703}">
                      <ahyp:hlinkClr xmlns:ahyp="http://schemas.microsoft.com/office/drawing/2018/hyperlinkcolor" val="tx"/>
                    </a:ext>
                  </a:extLst>
                </a:hlinkClick>
              </a:rPr>
              <a:t>GitHub Link</a:t>
            </a:r>
            <a:endParaRPr lang="en-US" dirty="0"/>
          </a:p>
          <a:p>
            <a:pPr marL="158750" indent="0" algn="ctr">
              <a:buNone/>
            </a:pPr>
            <a:endParaRPr lang="en-US"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22</a:t>
            </a:fld>
            <a:endParaRPr lang="en-IN"/>
          </a:p>
        </p:txBody>
      </p:sp>
    </p:spTree>
    <p:extLst>
      <p:ext uri="{BB962C8B-B14F-4D97-AF65-F5344CB8AC3E}">
        <p14:creationId xmlns:p14="http://schemas.microsoft.com/office/powerpoint/2010/main" val="40663889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Self Practice 7: </a:t>
            </a:r>
            <a:r>
              <a:rPr lang="en-US" b="1" dirty="0" err="1"/>
              <a:t>Numpy</a:t>
            </a:r>
            <a:r>
              <a:rPr lang="en-US" b="1" dirty="0"/>
              <a:t> Self-practice</a:t>
            </a:r>
            <a:endParaRPr lang="en-US" dirty="0"/>
          </a:p>
          <a:p>
            <a:pPr>
              <a:buNone/>
            </a:pPr>
            <a:r>
              <a:rPr lang="en-US" b="1" dirty="0"/>
              <a:t>Solution: </a:t>
            </a:r>
            <a:r>
              <a:rPr lang="en-US" b="1" dirty="0">
                <a:hlinkClick r:id="rId3">
                  <a:extLst>
                    <a:ext uri="{A12FA001-AC4F-418D-AE19-62706E023703}">
                      <ahyp:hlinkClr xmlns:ahyp="http://schemas.microsoft.com/office/drawing/2018/hyperlinkcolor" val="tx"/>
                    </a:ext>
                  </a:extLst>
                </a:hlinkClick>
              </a:rPr>
              <a:t>GitHub Link</a:t>
            </a:r>
            <a:endParaRPr lang="en-US" dirty="0"/>
          </a:p>
          <a:p>
            <a:pPr>
              <a:buNone/>
            </a:pPr>
            <a:endParaRPr lang="en-US"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23</a:t>
            </a:fld>
            <a:endParaRPr lang="en-IN"/>
          </a:p>
        </p:txBody>
      </p:sp>
    </p:spTree>
    <p:extLst>
      <p:ext uri="{BB962C8B-B14F-4D97-AF65-F5344CB8AC3E}">
        <p14:creationId xmlns:p14="http://schemas.microsoft.com/office/powerpoint/2010/main" val="2138412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Today, we're diving into the crucial realm of data visualization—a powerful tool in data analysis that transforms complex datasets into clear, understandable visuals.</a:t>
            </a:r>
          </a:p>
          <a:p>
            <a:pPr>
              <a:buNone/>
            </a:pPr>
            <a:endParaRPr lang="en-US"/>
          </a:p>
          <a:p>
            <a:pPr>
              <a:buNone/>
            </a:pPr>
            <a:endParaRPr lang="en-US"/>
          </a:p>
          <a:p>
            <a:pPr marL="285750" indent="-285750">
              <a:buChar char="•"/>
            </a:pPr>
            <a:r>
              <a:rPr lang="en-US" b="1"/>
              <a:t>Definition and Purpose</a:t>
            </a:r>
            <a:r>
              <a:rPr lang="en-US"/>
              <a:t>: Data visualization involves the visual representation of data, translating numbers and statistics into charts, graphs, and other visual components. Its primary purpose is to make data more accessible, understandable, and actionable. By presenting data visually, patterns, trends, and relationships can be quickly identified, enabling more informed decision-making.</a:t>
            </a:r>
          </a:p>
          <a:p>
            <a:pPr marL="285750" indent="-285750">
              <a:buChar char="•"/>
            </a:pPr>
            <a:r>
              <a:rPr lang="en-US" b="1"/>
              <a:t>Types of Visualizations</a:t>
            </a:r>
            <a:r>
              <a:rPr lang="en-US"/>
              <a:t>: There are various types of visualizations suited for different data and insights:</a:t>
            </a:r>
          </a:p>
          <a:p>
            <a:pPr marL="285750" lvl="1" indent="-285750">
              <a:buChar char="•"/>
            </a:pPr>
            <a:r>
              <a:rPr lang="en-US" b="1"/>
              <a:t>Charts</a:t>
            </a:r>
            <a:r>
              <a:rPr lang="en-US"/>
              <a:t>: Such as bar charts, line charts, pie charts, and histograms, which represent data points and their relationships.</a:t>
            </a:r>
          </a:p>
          <a:p>
            <a:pPr marL="285750" lvl="1" indent="-285750">
              <a:buChar char="•"/>
            </a:pPr>
            <a:r>
              <a:rPr lang="en-US" b="1"/>
              <a:t>Graphs</a:t>
            </a:r>
            <a:r>
              <a:rPr lang="en-US"/>
              <a:t>: Like scatter plots, network graphs, and tree diagrams, which show connections and dependencies.</a:t>
            </a:r>
          </a:p>
          <a:p>
            <a:pPr marL="285750" lvl="1" indent="-285750">
              <a:buChar char="•"/>
            </a:pPr>
            <a:r>
              <a:rPr lang="en-US" b="1"/>
              <a:t>Maps</a:t>
            </a:r>
            <a:r>
              <a:rPr lang="en-US"/>
              <a:t>: Geographical representations that visualize data spatially, such as heatmaps or choropleth maps.</a:t>
            </a:r>
          </a:p>
          <a:p>
            <a:pPr marL="285750" lvl="1" indent="-285750">
              <a:buChar char="•"/>
            </a:pPr>
            <a:r>
              <a:rPr lang="en-US" b="1"/>
              <a:t>Dashboards</a:t>
            </a:r>
            <a:r>
              <a:rPr lang="en-US"/>
              <a:t>: Interactive displays that combine multiple visualizations to provide a comprehensive view of data trends and metrics.</a:t>
            </a:r>
          </a:p>
          <a:p>
            <a:pPr>
              <a:buNone/>
            </a:pPr>
            <a:endParaRPr lang="en-US">
              <a:latin typeface="Calibri"/>
              <a:cs typeface="Calibri"/>
            </a:endParaRPr>
          </a:p>
        </p:txBody>
      </p:sp>
    </p:spTree>
    <p:extLst>
      <p:ext uri="{BB962C8B-B14F-4D97-AF65-F5344CB8AC3E}">
        <p14:creationId xmlns:p14="http://schemas.microsoft.com/office/powerpoint/2010/main" val="4917445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Today, we will discuss the significance of plotting and visualization in data analysis. Data visualization packages and tools are essential for transforming large datasets into comprehensible visual formats, making it easier to identify trends, patterns, and insights.</a:t>
            </a:r>
          </a:p>
          <a:p>
            <a:pPr>
              <a:buNone/>
            </a:pPr>
            <a:endParaRPr lang="en-US"/>
          </a:p>
          <a:p>
            <a:pPr marL="171450" indent="-171450"/>
            <a:r>
              <a:rPr lang="en-US" b="1"/>
              <a:t>Importance of Data Visualization</a:t>
            </a:r>
            <a:r>
              <a:rPr lang="en-US"/>
              <a:t>: Data visualization tools and packages play a crucial role in making data analysis accessible. They allow us to handle and interpret massive amounts of information efficiently. By converting raw data into visual elements like charts, graphs, and maps, we can quickly grasp complex concepts and identify underlying trends and patterns that might not be evident from raw data alone.</a:t>
            </a:r>
          </a:p>
          <a:p>
            <a:pPr marL="171450" indent="-171450"/>
            <a:r>
              <a:rPr lang="en-US" b="1"/>
              <a:t>Enhancing Understanding and Insight</a:t>
            </a:r>
            <a:r>
              <a:rPr lang="en-US"/>
              <a:t>: Visualizations help in summarizing data concisely and clearly. They provide a visual context that enhances our understanding of the data. For instance, a line chart can reveal trends over time, a bar chart can compare different categories, and a heatmap can show data density. These visuals facilitate quicker and more effective decision-making by highlighting key insights and relationships within the data.</a:t>
            </a:r>
          </a:p>
          <a:p>
            <a:pPr marL="171450" indent="-171450"/>
            <a:r>
              <a:rPr lang="en-US" b="1"/>
              <a:t>Types of Visualizations</a:t>
            </a:r>
            <a:r>
              <a:rPr lang="en-US"/>
              <a:t>: Different types of visualizations serve various purposes, depending on the nature of the data and the insights we seek:</a:t>
            </a:r>
          </a:p>
          <a:p>
            <a:pPr marL="171450" indent="-171450"/>
            <a:r>
              <a:rPr lang="en-US" b="1"/>
              <a:t>Charts</a:t>
            </a:r>
            <a:r>
              <a:rPr lang="en-US"/>
              <a:t>: Bar charts, line charts, and pie charts are excellent for showing numerical comparisons and trends.</a:t>
            </a:r>
          </a:p>
          <a:p>
            <a:pPr marL="171450" indent="-171450"/>
            <a:r>
              <a:rPr lang="en-US" b="1"/>
              <a:t>Graphs</a:t>
            </a:r>
            <a:r>
              <a:rPr lang="en-US"/>
              <a:t>: Scatter plots and network graphs are useful for visualizing relationships and correlations between variables.</a:t>
            </a:r>
          </a:p>
          <a:p>
            <a:pPr marL="171450" indent="-171450"/>
            <a:r>
              <a:rPr lang="en-US" b="1"/>
              <a:t>Maps</a:t>
            </a:r>
            <a:r>
              <a:rPr lang="en-US"/>
              <a:t>: Geographic visualizations such as heatmaps and choropleth maps are ideal for spatial data analysis.</a:t>
            </a:r>
          </a:p>
          <a:p>
            <a:pPr marL="171450" indent="-171450"/>
            <a:r>
              <a:rPr lang="en-US" b="1"/>
              <a:t>Dashboards</a:t>
            </a:r>
            <a:r>
              <a:rPr lang="en-US"/>
              <a:t>: Combining multiple visualizations into interactive dashboards provides a comprehensive view of key metrics and trends.</a:t>
            </a:r>
          </a:p>
          <a:p>
            <a:pPr>
              <a:buNone/>
            </a:pPr>
            <a:endParaRPr lang="en-US"/>
          </a:p>
        </p:txBody>
      </p:sp>
    </p:spTree>
    <p:extLst>
      <p:ext uri="{BB962C8B-B14F-4D97-AF65-F5344CB8AC3E}">
        <p14:creationId xmlns:p14="http://schemas.microsoft.com/office/powerpoint/2010/main" val="31189966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Now, let's focus on one of the most popular Python packages for data visualization: Matplotlib.</a:t>
            </a:r>
          </a:p>
          <a:p>
            <a:pPr>
              <a:buNone/>
            </a:pPr>
            <a:endParaRPr lang="en-US"/>
          </a:p>
          <a:p>
            <a:pPr>
              <a:buNone/>
            </a:pPr>
            <a:endParaRPr lang="en-US"/>
          </a:p>
          <a:p>
            <a:pPr marL="0" indent="0">
              <a:buNone/>
            </a:pPr>
            <a:r>
              <a:rPr lang="en-US" b="1"/>
              <a:t>Introduction to Matplotlib</a:t>
            </a:r>
            <a:r>
              <a:rPr lang="en-US"/>
              <a:t>: Matplotlib is a widely-used Python library for creating static, animated, and interactive visualizations. It is particularly known for its ability to produce high-quality 2D plots and is a foundational tool in the data science and scientific computing community.</a:t>
            </a:r>
          </a:p>
          <a:p>
            <a:pPr marL="0" indent="0">
              <a:buNone/>
            </a:pPr>
            <a:r>
              <a:rPr lang="en-US" b="1"/>
              <a:t>Cross-Platform Library</a:t>
            </a:r>
            <a:r>
              <a:rPr lang="en-US"/>
              <a:t>: One of the key strengths of Matplotlib is its cross-platform compatibility. This means that it can be used on various operating systems such as Windows, macOS, and Linux, making it a versatile tool for developers and data scientists working in different environments.</a:t>
            </a:r>
          </a:p>
          <a:p>
            <a:pPr marL="0" indent="0">
              <a:buNone/>
            </a:pPr>
            <a:r>
              <a:rPr lang="en-US" b="1"/>
              <a:t>2D Plotting Capabilities</a:t>
            </a:r>
            <a:r>
              <a:rPr lang="en-US"/>
              <a:t>: Matplotlib excels at creating 2D plots from data stored in arrays. Some common types of plots you can create with Matplotlib include:</a:t>
            </a:r>
          </a:p>
          <a:p>
            <a:pPr marL="285750" lvl="1" indent="-285750">
              <a:buChar char="•"/>
            </a:pPr>
            <a:r>
              <a:rPr lang="en-US" b="1"/>
              <a:t>Line Plots</a:t>
            </a:r>
            <a:r>
              <a:rPr lang="en-US"/>
              <a:t>: Useful for visualizing trends over time or continuous data.</a:t>
            </a:r>
          </a:p>
          <a:p>
            <a:pPr marL="285750" lvl="1" indent="-285750">
              <a:buChar char="•"/>
            </a:pPr>
            <a:r>
              <a:rPr lang="en-US" b="1"/>
              <a:t>Bar Charts</a:t>
            </a:r>
            <a:r>
              <a:rPr lang="en-US"/>
              <a:t>: Ideal for comparing different categories or groups.</a:t>
            </a:r>
          </a:p>
          <a:p>
            <a:pPr marL="285750" lvl="1" indent="-285750">
              <a:buChar char="•"/>
            </a:pPr>
            <a:r>
              <a:rPr lang="en-US" b="1"/>
              <a:t>Histograms</a:t>
            </a:r>
            <a:r>
              <a:rPr lang="en-US"/>
              <a:t>: Great for showing the distribution of a dataset.</a:t>
            </a:r>
          </a:p>
          <a:p>
            <a:pPr marL="285750" lvl="1" indent="-285750">
              <a:buChar char="•"/>
            </a:pPr>
            <a:r>
              <a:rPr lang="en-US" b="1"/>
              <a:t>Scatter Plots</a:t>
            </a:r>
            <a:r>
              <a:rPr lang="en-US"/>
              <a:t>: Used to identify relationships and correlations between two variables.</a:t>
            </a:r>
          </a:p>
          <a:p>
            <a:pPr marL="285750" lvl="1" indent="-285750">
              <a:buChar char="•"/>
            </a:pPr>
            <a:r>
              <a:rPr lang="en-US" b="1"/>
              <a:t>Pie Charts</a:t>
            </a:r>
            <a:r>
              <a:rPr lang="en-US"/>
              <a:t>: Effective for showing proportions and percentages of a whole.</a:t>
            </a:r>
          </a:p>
          <a:p>
            <a:pPr marL="285750" lvl="1" indent="-285750">
              <a:buChar char="•"/>
            </a:pPr>
            <a:r>
              <a:rPr lang="en-US" b="1"/>
              <a:t>Heatmaps</a:t>
            </a:r>
            <a:r>
              <a:rPr lang="en-US"/>
              <a:t>: Useful for visualizing data density and correlations in matrix form.</a:t>
            </a:r>
          </a:p>
          <a:p>
            <a:pPr marL="0" indent="0">
              <a:buNone/>
            </a:pPr>
            <a:endParaRPr lang="en-US" b="1"/>
          </a:p>
          <a:p>
            <a:pPr marL="0" indent="0">
              <a:buNone/>
            </a:pPr>
            <a:r>
              <a:rPr lang="en-US" b="1"/>
              <a:t>Customization and Flexibility</a:t>
            </a:r>
            <a:r>
              <a:rPr lang="en-US"/>
              <a:t>: Matplotlib offers extensive customization options, allowing users to fine-tune every aspect of their plots, including colors, labels, line styles, and more. This flexibility ensures that the visualizations can be tailored to specific needs and presentation styles.</a:t>
            </a:r>
          </a:p>
          <a:p>
            <a:pPr marL="0" indent="0">
              <a:buNone/>
            </a:pPr>
            <a:r>
              <a:rPr lang="en-US" b="1"/>
              <a:t>Integration with Other Libraries</a:t>
            </a:r>
            <a:r>
              <a:rPr lang="en-US"/>
              <a:t>: Matplotlib integrates seamlessly with other Python libraries such as NumPy, Pandas, and Seaborn, enhancing its functionality and enabling more sophisticated data analysis and visualization workflows. For example, you can use Pandas to manage your data, NumPy for numerical operations, and Matplotlib to visualize the results.</a:t>
            </a:r>
          </a:p>
          <a:p>
            <a:pPr marL="0" indent="0">
              <a:buNone/>
            </a:pPr>
            <a:r>
              <a:rPr lang="en-US" b="1"/>
              <a:t>Ease of Use</a:t>
            </a:r>
            <a:r>
              <a:rPr lang="en-US"/>
              <a:t>: Despite its powerful capabilities, Matplotlib is relatively easy to learn and use. It provides a simple interface for creating basic plots, making it accessible for beginners, while also offering advanced features for more experienced users.</a:t>
            </a:r>
          </a:p>
          <a:p>
            <a:pPr indent="0">
              <a:buNone/>
            </a:pPr>
            <a:endParaRPr lang="en-US"/>
          </a:p>
          <a:p>
            <a:pPr>
              <a:buNone/>
            </a:pPr>
            <a:endParaRPr lang="en-US"/>
          </a:p>
          <a:p>
            <a:pPr>
              <a:buNone/>
            </a:pPr>
            <a:r>
              <a:rPr lang="en-US" b="1"/>
              <a:t>Conclusion</a:t>
            </a:r>
            <a:r>
              <a:rPr lang="en-US"/>
              <a:t>:</a:t>
            </a:r>
          </a:p>
          <a:p>
            <a:pPr>
              <a:buNone/>
            </a:pPr>
            <a:r>
              <a:rPr lang="en-US"/>
              <a:t>In summary, Matplotlib is a cornerstone of data visualization in Python. Its ability to create high-quality 2D plots, combined with extensive customization options and cross-platform compatibility, makes it an indispensable tool for anyone looking to visualize data effectively. By mastering Matplotlib, you can create compelling visual narratives that help uncover insights and communicate your findings clearly."</a:t>
            </a:r>
          </a:p>
          <a:p>
            <a:pPr>
              <a:buNone/>
            </a:pPr>
            <a:endParaRPr lang="en-US">
              <a:latin typeface="Calibri"/>
              <a:cs typeface="Calibri"/>
            </a:endParaRPr>
          </a:p>
        </p:txBody>
      </p:sp>
    </p:spTree>
    <p:extLst>
      <p:ext uri="{BB962C8B-B14F-4D97-AF65-F5344CB8AC3E}">
        <p14:creationId xmlns:p14="http://schemas.microsoft.com/office/powerpoint/2010/main" val="1003102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Arial" panose="020B0604020202020204" pitchFamily="34" charset="0"/>
                <a:cs typeface="Arial" panose="020B0604020202020204" pitchFamily="34" charset="0"/>
              </a:rPr>
              <a:t>Lab 17: </a:t>
            </a:r>
            <a:r>
              <a:rPr kumimoji="0" 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rPr>
              <a:t>Type Your Act</a:t>
            </a:r>
            <a:r>
              <a:rPr lang="en-US" sz="1200" dirty="0">
                <a:latin typeface="Arial" panose="020B0604020202020204" pitchFamily="34" charset="0"/>
                <a:cs typeface="Arial" panose="020B0604020202020204" pitchFamily="34" charset="0"/>
              </a:rPr>
              <a:t> Practicing Matplotlib </a:t>
            </a:r>
            <a:endParaRPr kumimoji="0" lang="en-US" sz="12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Solution:</a:t>
            </a:r>
            <a:r>
              <a:rPr lang="en-US" sz="1200" b="1" dirty="0">
                <a:solidFill>
                  <a:schemeClr val="tx1"/>
                </a:solidFill>
              </a:rPr>
              <a:t> </a:t>
            </a:r>
            <a:r>
              <a:rPr lang="en-US" sz="1200" b="1" dirty="0">
                <a:solidFill>
                  <a:schemeClr val="tx1"/>
                </a:solidFill>
                <a:hlinkClick r:id="rId3">
                  <a:extLst>
                    <a:ext uri="{A12FA001-AC4F-418D-AE19-62706E023703}">
                      <ahyp:hlinkClr xmlns:ahyp="http://schemas.microsoft.com/office/drawing/2018/hyperlinkcolor" val="tx"/>
                    </a:ext>
                  </a:extLst>
                </a:hlinkClick>
              </a:rPr>
              <a:t>GitHub Link</a:t>
            </a: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27</a:t>
            </a:fld>
            <a:endParaRPr lang="en-IN"/>
          </a:p>
        </p:txBody>
      </p:sp>
    </p:spTree>
    <p:extLst>
      <p:ext uri="{BB962C8B-B14F-4D97-AF65-F5344CB8AC3E}">
        <p14:creationId xmlns:p14="http://schemas.microsoft.com/office/powerpoint/2010/main" val="3284126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Let's explore Seaborn, a powerful Python data visualization library built on top of Matplotlib. Seaborn simplifies creating attractive and informative statistical graphics with its high-level interface, allowing complex visualizations with minimal code. It supports various plot types like relational plots, categorical plots, distribution plots, and matrix plots. Seaborn integrates seamlessly with Pandas, facilitating easy plotting from </a:t>
            </a:r>
            <a:r>
              <a:rPr lang="en-US" err="1"/>
              <a:t>DataFrames</a:t>
            </a:r>
            <a:r>
              <a:rPr lang="en-US"/>
              <a:t>. It offers extensive customization options for creating polished visualizations and includes tools for statistical estimation, enhancing plot interpretability. Mastering Seaborn will greatly improve your ability to effectively communicate data insights.</a:t>
            </a:r>
          </a:p>
        </p:txBody>
      </p:sp>
    </p:spTree>
    <p:extLst>
      <p:ext uri="{BB962C8B-B14F-4D97-AF65-F5344CB8AC3E}">
        <p14:creationId xmlns:p14="http://schemas.microsoft.com/office/powerpoint/2010/main" val="11622197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510" indent="0" algn="ctr">
              <a:spcBef>
                <a:spcPts val="133"/>
              </a:spcBef>
              <a:buNone/>
            </a:pPr>
            <a:r>
              <a:rPr lang="en-US" b="1" dirty="0"/>
              <a:t>Lab21:   Practicing Seaborn</a:t>
            </a:r>
          </a:p>
          <a:p>
            <a:pPr marL="16510" marR="0" lvl="0" indent="0" algn="ctr" defTabSz="914400" rtl="0" eaLnBrk="1" fontAlgn="auto" latinLnBrk="0" hangingPunct="1">
              <a:lnSpc>
                <a:spcPct val="100000"/>
              </a:lnSpc>
              <a:spcBef>
                <a:spcPts val="133"/>
              </a:spcBef>
              <a:spcAft>
                <a:spcPts val="0"/>
              </a:spcAft>
              <a:buClrTx/>
              <a:buSzTx/>
              <a:buFontTx/>
              <a:buNone/>
              <a:tabLst/>
              <a:defRPr/>
            </a:pPr>
            <a:r>
              <a:rPr lang="en-US" sz="1200" b="1" dirty="0"/>
              <a:t>Solution:</a:t>
            </a:r>
            <a:r>
              <a:rPr lang="en-US" sz="1200" b="1" dirty="0">
                <a:solidFill>
                  <a:schemeClr val="tx1"/>
                </a:solidFill>
              </a:rPr>
              <a:t> </a:t>
            </a:r>
            <a:r>
              <a:rPr lang="en-US" sz="1200" b="1" dirty="0">
                <a:solidFill>
                  <a:schemeClr val="tx1"/>
                </a:solidFill>
                <a:hlinkClick r:id="rId3">
                  <a:extLst>
                    <a:ext uri="{A12FA001-AC4F-418D-AE19-62706E023703}">
                      <ahyp:hlinkClr xmlns:ahyp="http://schemas.microsoft.com/office/drawing/2018/hyperlinkcolor" val="tx"/>
                    </a:ext>
                  </a:extLst>
                </a:hlinkClick>
              </a:rPr>
              <a:t>GitHub Link</a:t>
            </a:r>
            <a:endParaRPr lang="en-US" sz="1200" b="1" dirty="0"/>
          </a:p>
          <a:p>
            <a:pPr marL="16510" indent="0" algn="ctr">
              <a:spcBef>
                <a:spcPts val="133"/>
              </a:spcBef>
              <a:buNone/>
            </a:pPr>
            <a:endParaRPr lang="en-US" dirty="0"/>
          </a:p>
          <a:p>
            <a:pPr marL="16510" indent="0" algn="ctr">
              <a:spcBef>
                <a:spcPts val="133"/>
              </a:spcBef>
              <a:buNone/>
            </a:pPr>
            <a:endParaRPr lang="en-US" b="1" dirty="0"/>
          </a:p>
          <a:p>
            <a:pPr>
              <a:buNone/>
            </a:pPr>
            <a:endParaRPr lang="en-US" b="1" dirty="0"/>
          </a:p>
          <a:p>
            <a:pPr>
              <a:buNone/>
            </a:pPr>
            <a:endParaRPr lang="en-US"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29</a:t>
            </a:fld>
            <a:endParaRPr lang="en-IN"/>
          </a:p>
        </p:txBody>
      </p:sp>
    </p:spTree>
    <p:extLst>
      <p:ext uri="{BB962C8B-B14F-4D97-AF65-F5344CB8AC3E}">
        <p14:creationId xmlns:p14="http://schemas.microsoft.com/office/powerpoint/2010/main" val="20749677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Solution:</a:t>
            </a:r>
            <a:r>
              <a:rPr lang="en-US" sz="1200" b="1" dirty="0">
                <a:solidFill>
                  <a:schemeClr val="tx1"/>
                </a:solidFill>
              </a:rPr>
              <a:t> </a:t>
            </a:r>
            <a:r>
              <a:rPr lang="en-US" sz="1200" b="1" dirty="0">
                <a:solidFill>
                  <a:schemeClr val="tx1"/>
                </a:solidFill>
                <a:hlinkClick r:id="rId3">
                  <a:extLst>
                    <a:ext uri="{A12FA001-AC4F-418D-AE19-62706E023703}">
                      <ahyp:hlinkClr xmlns:ahyp="http://schemas.microsoft.com/office/drawing/2018/hyperlinkcolor" val="tx"/>
                    </a:ext>
                  </a:extLst>
                </a:hlinkClick>
              </a:rPr>
              <a:t>GitHub Link</a:t>
            </a:r>
            <a:endParaRPr lang="en-US" sz="1200"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30</a:t>
            </a:fld>
            <a:endParaRPr lang="en-IN"/>
          </a:p>
        </p:txBody>
      </p:sp>
    </p:spTree>
    <p:extLst>
      <p:ext uri="{BB962C8B-B14F-4D97-AF65-F5344CB8AC3E}">
        <p14:creationId xmlns:p14="http://schemas.microsoft.com/office/powerpoint/2010/main" val="4124498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Pandas is a fundamental Python library for working with datasets like CSV, JSON, and Excel files. It provides robust functions for analyzing, cleaning, exploring, and manipulating data. The name 'Pandas' is derived from 'Panel Data' and 'Python Data Analysis,' reflecting its core purpose. Key data structures include Series, a one-dimensional array, and </a:t>
            </a:r>
            <a:r>
              <a:rPr lang="en-US" err="1"/>
              <a:t>DataFrame</a:t>
            </a:r>
            <a:r>
              <a:rPr lang="en-US"/>
              <a:t>, a two-dimensional table. Pandas excels in data manipulation tasks like indexing, merging, grouping, and pivoting. Its seamless integration with libraries like NumPy, Matplotlib, and Seaborn makes it a cornerstone of the Python data science ecosystem.</a:t>
            </a:r>
          </a:p>
        </p:txBody>
      </p:sp>
    </p:spTree>
    <p:extLst>
      <p:ext uri="{BB962C8B-B14F-4D97-AF65-F5344CB8AC3E}">
        <p14:creationId xmlns:p14="http://schemas.microsoft.com/office/powerpoint/2010/main" val="351717783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510" indent="0" algn="ctr">
              <a:spcBef>
                <a:spcPts val="133"/>
              </a:spcBef>
              <a:buNone/>
            </a:pPr>
            <a:r>
              <a:rPr lang="en-US" b="1" dirty="0"/>
              <a:t>Lab22:   Practicing Pandas</a:t>
            </a:r>
          </a:p>
          <a:p>
            <a:pPr marL="16510" marR="0" lvl="0" indent="0" algn="ctr" defTabSz="914400" rtl="0" eaLnBrk="1" fontAlgn="auto" latinLnBrk="0" hangingPunct="1">
              <a:lnSpc>
                <a:spcPct val="100000"/>
              </a:lnSpc>
              <a:spcBef>
                <a:spcPts val="133"/>
              </a:spcBef>
              <a:spcAft>
                <a:spcPts val="0"/>
              </a:spcAft>
              <a:buClrTx/>
              <a:buSzTx/>
              <a:buFontTx/>
              <a:buNone/>
              <a:tabLst/>
              <a:defRPr/>
            </a:pPr>
            <a:r>
              <a:rPr lang="en-US" sz="1200" b="1" dirty="0"/>
              <a:t>Solution:</a:t>
            </a:r>
            <a:r>
              <a:rPr lang="en-US" sz="1200" b="1" dirty="0">
                <a:solidFill>
                  <a:schemeClr val="tx1"/>
                </a:solidFill>
              </a:rPr>
              <a:t> </a:t>
            </a:r>
            <a:r>
              <a:rPr lang="en-US" sz="1200" b="1" dirty="0">
                <a:solidFill>
                  <a:schemeClr val="tx1"/>
                </a:solidFill>
                <a:hlinkClick r:id="rId3">
                  <a:extLst>
                    <a:ext uri="{A12FA001-AC4F-418D-AE19-62706E023703}">
                      <ahyp:hlinkClr xmlns:ahyp="http://schemas.microsoft.com/office/drawing/2018/hyperlinkcolor" val="tx"/>
                    </a:ext>
                  </a:extLst>
                </a:hlinkClick>
              </a:rPr>
              <a:t>GitHub Link</a:t>
            </a:r>
            <a:endParaRPr lang="en-US" sz="1200" b="1" dirty="0"/>
          </a:p>
          <a:p>
            <a:pPr marL="16510" indent="0" algn="ctr">
              <a:spcBef>
                <a:spcPts val="133"/>
              </a:spcBef>
              <a:buNone/>
            </a:pPr>
            <a:endParaRPr lang="en-US" dirty="0"/>
          </a:p>
          <a:p>
            <a:pPr marL="16510" indent="0" algn="ctr">
              <a:spcBef>
                <a:spcPts val="133"/>
              </a:spcBef>
              <a:buNone/>
            </a:pPr>
            <a:endParaRPr lang="en-US"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32</a:t>
            </a:fld>
            <a:endParaRPr lang="en-IN"/>
          </a:p>
        </p:txBody>
      </p:sp>
    </p:spTree>
    <p:extLst>
      <p:ext uri="{BB962C8B-B14F-4D97-AF65-F5344CB8AC3E}">
        <p14:creationId xmlns:p14="http://schemas.microsoft.com/office/powerpoint/2010/main" val="8418559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ctr">
              <a:buNone/>
            </a:pPr>
            <a:endParaRPr lang="en-US" dirty="0"/>
          </a:p>
          <a:p>
            <a:pPr marL="0" indent="0" algn="ctr">
              <a:buNone/>
            </a:pPr>
            <a:r>
              <a:rPr lang="en-US" b="1" dirty="0"/>
              <a:t>Self Practice9:   Self Practicing Pandas</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t>Solution:</a:t>
            </a:r>
            <a:r>
              <a:rPr lang="en-US" sz="1200" b="1" dirty="0">
                <a:solidFill>
                  <a:schemeClr val="tx1"/>
                </a:solidFill>
              </a:rPr>
              <a:t> </a:t>
            </a:r>
            <a:r>
              <a:rPr lang="en-US" sz="1200" b="1" dirty="0">
                <a:solidFill>
                  <a:schemeClr val="tx1"/>
                </a:solidFill>
                <a:hlinkClick r:id="rId3">
                  <a:extLst>
                    <a:ext uri="{A12FA001-AC4F-418D-AE19-62706E023703}">
                      <ahyp:hlinkClr xmlns:ahyp="http://schemas.microsoft.com/office/drawing/2018/hyperlinkcolor" val="tx"/>
                    </a:ext>
                  </a:extLst>
                </a:hlinkClick>
              </a:rPr>
              <a:t>GitHub Link</a:t>
            </a:r>
            <a:endParaRPr lang="en-US" sz="1200" b="1" dirty="0"/>
          </a:p>
          <a:p>
            <a:pPr marL="0" indent="0" algn="ctr">
              <a:buNone/>
            </a:pPr>
            <a:endParaRPr lang="en-US" dirty="0"/>
          </a:p>
          <a:p>
            <a:pPr marL="0" indent="0" algn="ctr">
              <a:buNone/>
            </a:pPr>
            <a:endParaRPr lang="en-US" dirty="0"/>
          </a:p>
          <a:p>
            <a:pPr marL="0" indent="0" algn="ctr">
              <a:buNone/>
            </a:pPr>
            <a:endParaRPr lang="en-US"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33</a:t>
            </a:fld>
            <a:endParaRPr lang="en-IN"/>
          </a:p>
        </p:txBody>
      </p:sp>
    </p:spTree>
    <p:extLst>
      <p:ext uri="{BB962C8B-B14F-4D97-AF65-F5344CB8AC3E}">
        <p14:creationId xmlns:p14="http://schemas.microsoft.com/office/powerpoint/2010/main" val="9458920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just">
              <a:buFont typeface="Arial,Sans-Serif"/>
              <a:buChar char="•"/>
            </a:pPr>
            <a:r>
              <a:rPr lang="en-US" dirty="0"/>
              <a:t>Storytelling is the art of conveying a message or information through a narrative. </a:t>
            </a:r>
          </a:p>
          <a:p>
            <a:pPr marL="285750" indent="-285750" algn="just">
              <a:buFont typeface="Arial,Sans-Serif"/>
              <a:buChar char="•"/>
            </a:pPr>
            <a:endParaRPr lang="en-US" dirty="0"/>
          </a:p>
          <a:p>
            <a:pPr marL="285750" indent="-285750" algn="just">
              <a:buFont typeface="Arial,Sans-Serif"/>
              <a:buChar char="•"/>
            </a:pPr>
            <a:r>
              <a:rPr lang="en-US" dirty="0"/>
              <a:t>It has been a fundamental part of human culture for thousands of years, serving as a means to entertain, educate, preserve culture, and instill values. </a:t>
            </a:r>
          </a:p>
          <a:p>
            <a:pPr marL="285750" indent="-285750" algn="just">
              <a:buFont typeface="Arial,Sans-Serif"/>
              <a:buChar char="•"/>
            </a:pPr>
            <a:endParaRPr lang="en-US" dirty="0"/>
          </a:p>
          <a:p>
            <a:pPr marL="285750" indent="-285750" algn="just">
              <a:buFont typeface="Arial,Sans-Serif"/>
              <a:buChar char="•"/>
            </a:pPr>
            <a:r>
              <a:rPr lang="en-US" dirty="0"/>
              <a:t>In the context of data, storytelling involves weaving data points into a narrative that communicates insights and compels the audience to take action.</a:t>
            </a:r>
          </a:p>
          <a:p>
            <a:pPr algn="just">
              <a:buNone/>
            </a:pPr>
            <a:r>
              <a:rPr lang="en-US" dirty="0"/>
              <a:t>Characteristics of a Good Story</a:t>
            </a:r>
          </a:p>
          <a:p>
            <a:pPr algn="just">
              <a:buNone/>
            </a:pPr>
            <a:r>
              <a:rPr lang="en-US" dirty="0"/>
              <a:t>A good story typically has the following characteristics:</a:t>
            </a:r>
          </a:p>
          <a:p>
            <a:pPr marL="171450" indent="-171450" algn="just"/>
            <a:r>
              <a:rPr lang="en-US" b="1" dirty="0"/>
              <a:t>Clarity</a:t>
            </a:r>
            <a:r>
              <a:rPr lang="en-US" dirty="0"/>
              <a:t>: The narrative is easy to understand.</a:t>
            </a:r>
          </a:p>
          <a:p>
            <a:pPr marL="171450" indent="-171450" algn="just"/>
            <a:r>
              <a:rPr lang="en-US" b="1" dirty="0"/>
              <a:t>Engagement</a:t>
            </a:r>
            <a:r>
              <a:rPr lang="en-US" dirty="0"/>
              <a:t>: The story captivates the audience's attention.</a:t>
            </a:r>
          </a:p>
          <a:p>
            <a:pPr marL="171450" indent="-171450" algn="just"/>
            <a:r>
              <a:rPr lang="en-US" b="1" dirty="0"/>
              <a:t>Relevance</a:t>
            </a:r>
            <a:r>
              <a:rPr lang="en-US" dirty="0"/>
              <a:t>: The story is pertinent to the audience's interests or needs.</a:t>
            </a:r>
          </a:p>
          <a:p>
            <a:pPr marL="171450" indent="-171450" algn="just"/>
            <a:r>
              <a:rPr lang="en-US" b="1" dirty="0"/>
              <a:t>Structure</a:t>
            </a:r>
            <a:r>
              <a:rPr lang="en-US" dirty="0"/>
              <a:t>: It has a clear beginning, middle, and end.</a:t>
            </a:r>
          </a:p>
          <a:p>
            <a:pPr marL="171450" indent="-171450" algn="just"/>
            <a:r>
              <a:rPr lang="en-US" b="1" dirty="0"/>
              <a:t>Emotion</a:t>
            </a:r>
            <a:r>
              <a:rPr lang="en-US" dirty="0"/>
              <a:t>: It evokes emotional responses from the audience.</a:t>
            </a:r>
          </a:p>
          <a:p>
            <a:pPr marL="171450" indent="-171450" algn="just"/>
            <a:r>
              <a:rPr lang="en-US" b="1" dirty="0"/>
              <a:t>Visuals</a:t>
            </a:r>
            <a:r>
              <a:rPr lang="en-US" dirty="0"/>
              <a:t>: Effective use of visuals to support and enhance the narrative.</a:t>
            </a:r>
          </a:p>
          <a:p>
            <a:pPr marL="0" indent="0" algn="just">
              <a:buFont typeface="Arial,Sans-Serif"/>
              <a:buNone/>
            </a:pPr>
            <a:endParaRPr lang="en-US" dirty="0"/>
          </a:p>
        </p:txBody>
      </p:sp>
    </p:spTree>
    <p:extLst>
      <p:ext uri="{BB962C8B-B14F-4D97-AF65-F5344CB8AC3E}">
        <p14:creationId xmlns:p14="http://schemas.microsoft.com/office/powerpoint/2010/main" val="2629028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How to Create Data Stories?</a:t>
            </a:r>
          </a:p>
          <a:p>
            <a:pPr>
              <a:buNone/>
            </a:pPr>
            <a:r>
              <a:rPr lang="en-US" dirty="0"/>
              <a:t>Creating data stories involves several steps:</a:t>
            </a:r>
          </a:p>
          <a:p>
            <a:pPr marL="285750" indent="-285750">
              <a:buChar char="•"/>
            </a:pPr>
            <a:r>
              <a:rPr lang="en-US" b="1" dirty="0"/>
              <a:t>Understand the Audience</a:t>
            </a:r>
            <a:r>
              <a:rPr lang="en-US" dirty="0"/>
              <a:t>: Know who they are and what they care about.</a:t>
            </a:r>
          </a:p>
          <a:p>
            <a:pPr marL="285750" indent="-285750">
              <a:buChar char="•"/>
            </a:pPr>
            <a:r>
              <a:rPr lang="en-US" b="1" dirty="0"/>
              <a:t>Identify Key Messages</a:t>
            </a:r>
            <a:r>
              <a:rPr lang="en-US" dirty="0"/>
              <a:t>: Determine the main points you want to communicate.</a:t>
            </a:r>
          </a:p>
          <a:p>
            <a:pPr marL="285750" indent="-285750">
              <a:buChar char="•"/>
            </a:pPr>
            <a:r>
              <a:rPr lang="en-US" b="1" dirty="0"/>
              <a:t>Collect and Analyze Data</a:t>
            </a:r>
            <a:r>
              <a:rPr lang="en-US" dirty="0"/>
              <a:t>: Gather relevant data and analyze it to find insights.</a:t>
            </a:r>
          </a:p>
          <a:p>
            <a:pPr marL="285750" indent="-285750">
              <a:buChar char="•"/>
            </a:pPr>
            <a:r>
              <a:rPr lang="en-US" b="1" dirty="0"/>
              <a:t>Create a Narrative</a:t>
            </a:r>
            <a:r>
              <a:rPr lang="en-US" dirty="0"/>
              <a:t>: Build a storyline around the insights.</a:t>
            </a:r>
          </a:p>
          <a:p>
            <a:pPr marL="285750" indent="-285750">
              <a:buChar char="•"/>
            </a:pPr>
            <a:r>
              <a:rPr lang="en-US" b="1" dirty="0"/>
              <a:t>Design Visuals</a:t>
            </a:r>
            <a:r>
              <a:rPr lang="en-US" dirty="0"/>
              <a:t>: Use charts, graphs, and other visuals to support the story.</a:t>
            </a:r>
          </a:p>
          <a:p>
            <a:pPr marL="285750" indent="-285750">
              <a:buChar char="•"/>
            </a:pPr>
            <a:r>
              <a:rPr lang="en-US" b="1" dirty="0"/>
              <a:t>Refine and Practice</a:t>
            </a:r>
            <a:r>
              <a:rPr lang="en-US" dirty="0"/>
              <a:t>: Polish the narrative and practice delivering it.</a:t>
            </a:r>
          </a:p>
          <a:p>
            <a:pPr>
              <a:buNone/>
            </a:pPr>
            <a:endParaRPr lang="en-US" dirty="0">
              <a:latin typeface="Calibri"/>
              <a:cs typeface="Calibri"/>
            </a:endParaRPr>
          </a:p>
        </p:txBody>
      </p:sp>
    </p:spTree>
    <p:extLst>
      <p:ext uri="{BB962C8B-B14F-4D97-AF65-F5344CB8AC3E}">
        <p14:creationId xmlns:p14="http://schemas.microsoft.com/office/powerpoint/2010/main" val="6641254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buNone/>
            </a:pPr>
            <a:r>
              <a:rPr lang="en-US" b="1" dirty="0"/>
              <a:t>Lab23: End-to-End Story Telling project on real-world dataset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t>Solution:</a:t>
            </a:r>
            <a:r>
              <a:rPr lang="en-US" sz="1200" b="1" dirty="0">
                <a:solidFill>
                  <a:schemeClr val="tx1"/>
                </a:solidFill>
              </a:rPr>
              <a:t> </a:t>
            </a:r>
            <a:r>
              <a:rPr lang="en-US" sz="1200" b="1" dirty="0">
                <a:solidFill>
                  <a:schemeClr val="tx1"/>
                </a:solidFill>
                <a:hlinkClick r:id="rId3">
                  <a:extLst>
                    <a:ext uri="{A12FA001-AC4F-418D-AE19-62706E023703}">
                      <ahyp:hlinkClr xmlns:ahyp="http://schemas.microsoft.com/office/drawing/2018/hyperlinkcolor" val="tx"/>
                    </a:ext>
                  </a:extLst>
                </a:hlinkClick>
              </a:rPr>
              <a:t>GitHub Link</a:t>
            </a:r>
            <a:endParaRPr lang="en-US" sz="1200" b="1" dirty="0"/>
          </a:p>
          <a:p>
            <a:pPr algn="ctr">
              <a:buNone/>
            </a:pPr>
            <a:endParaRPr lang="en-US" dirty="0"/>
          </a:p>
          <a:p>
            <a:pPr marL="16510" indent="0" algn="ctr">
              <a:spcBef>
                <a:spcPts val="133"/>
              </a:spcBef>
              <a:buNone/>
            </a:pPr>
            <a:endParaRPr lang="en-US" b="1" dirty="0"/>
          </a:p>
          <a:p>
            <a:pPr>
              <a:buNone/>
            </a:pPr>
            <a:endParaRPr lang="en-US" b="1" dirty="0"/>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36</a:t>
            </a:fld>
            <a:endParaRPr lang="en-IN"/>
          </a:p>
        </p:txBody>
      </p:sp>
    </p:spTree>
    <p:extLst>
      <p:ext uri="{BB962C8B-B14F-4D97-AF65-F5344CB8AC3E}">
        <p14:creationId xmlns:p14="http://schemas.microsoft.com/office/powerpoint/2010/main" val="21523166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Exploratory Data Analysis (EDA) refers to the process of examining datasets to uncover patterns, trends, and relationships. It serves as a crucial first step in understanding data before applying more complex analysis or modeling techniques.</a:t>
            </a:r>
          </a:p>
          <a:p>
            <a:pPr>
              <a:buNone/>
            </a:pPr>
            <a:r>
              <a:rPr lang="en-US" dirty="0"/>
              <a:t>We have explored:</a:t>
            </a:r>
          </a:p>
          <a:p>
            <a:pPr marL="285750" indent="-285750">
              <a:buChar char="•"/>
            </a:pPr>
            <a:r>
              <a:rPr lang="en-US" b="1" dirty="0"/>
              <a:t>Definition of EDA</a:t>
            </a:r>
            <a:r>
              <a:rPr lang="en-US" dirty="0"/>
              <a:t>: EDA involves analyzing data to summarize its main characteristics using visualizations and statistical techniques.</a:t>
            </a:r>
          </a:p>
          <a:p>
            <a:pPr marL="285750" indent="-285750">
              <a:buChar char="•"/>
            </a:pPr>
            <a:r>
              <a:rPr lang="en-US" b="1" dirty="0"/>
              <a:t>Importance of EDA</a:t>
            </a:r>
            <a:r>
              <a:rPr lang="en-US" dirty="0"/>
              <a:t>: EDA is essential for understanding the structure of a new dataset, identifying outliers, handling missing values, and preparing data for modeling.</a:t>
            </a:r>
          </a:p>
          <a:p>
            <a:pPr marL="285750" indent="-285750">
              <a:buChar char="•"/>
            </a:pPr>
            <a:r>
              <a:rPr lang="en-US" b="1" dirty="0"/>
              <a:t>Tools and Techniques</a:t>
            </a:r>
            <a:r>
              <a:rPr lang="en-US" dirty="0"/>
              <a:t>: We have utilized various tools such as Pandas for data manipulation and analysis, and Seaborn for creating informative visualizations.</a:t>
            </a:r>
          </a:p>
          <a:p>
            <a:pPr marL="285750" indent="-285750">
              <a:buChar char="•"/>
            </a:pPr>
            <a:r>
              <a:rPr lang="en-US" b="1" dirty="0"/>
              <a:t>Application of Libraries</a:t>
            </a:r>
            <a:r>
              <a:rPr lang="en-US" dirty="0"/>
              <a:t>: Pandas facilitated data cleaning, transformation, and initial analysis, while Seaborn provided advanced plotting capabilities for visualizing relationships and distributions in the data.</a:t>
            </a:r>
          </a:p>
          <a:p>
            <a:pPr indent="0">
              <a:buNone/>
            </a:pPr>
            <a:r>
              <a:rPr lang="en-US" dirty="0"/>
              <a:t>In conclusion, mastering EDA enables data scientists to derive meaningful insights, validate assumptions, and prepare data for further analysis or modeling tasks effectively.</a:t>
            </a:r>
          </a:p>
          <a:p>
            <a:pPr>
              <a:buNone/>
            </a:pPr>
            <a:endParaRPr lang="en-US" dirty="0">
              <a:latin typeface="Calibri"/>
              <a:cs typeface="Calibri"/>
            </a:endParaRPr>
          </a:p>
          <a:p>
            <a:endParaRPr lang="en-IN" dirty="0"/>
          </a:p>
        </p:txBody>
      </p:sp>
      <p:sp>
        <p:nvSpPr>
          <p:cNvPr id="4" name="Slide Number Placeholder 3"/>
          <p:cNvSpPr>
            <a:spLocks noGrp="1"/>
          </p:cNvSpPr>
          <p:nvPr>
            <p:ph type="sldNum" sz="quarter" idx="5"/>
          </p:nvPr>
        </p:nvSpPr>
        <p:spPr/>
        <p:txBody>
          <a:bodyPr/>
          <a:lstStyle/>
          <a:p>
            <a:fld id="{D2DC4813-6191-4AA2-8E60-78DD42F28E4E}" type="slidenum">
              <a:rPr lang="en-IN" smtClean="0"/>
              <a:t>37</a:t>
            </a:fld>
            <a:endParaRPr lang="en-IN"/>
          </a:p>
        </p:txBody>
      </p:sp>
    </p:spTree>
    <p:extLst>
      <p:ext uri="{BB962C8B-B14F-4D97-AF65-F5344CB8AC3E}">
        <p14:creationId xmlns:p14="http://schemas.microsoft.com/office/powerpoint/2010/main" val="35883314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6035" indent="0">
              <a:spcBef>
                <a:spcPts val="1813"/>
              </a:spcBef>
              <a:buNone/>
            </a:pPr>
            <a:r>
              <a:rPr lang="en-US" b="1"/>
              <a:t>Question 1: What is the primary goal of Exploratory Data Analysis (EDA)?</a:t>
            </a:r>
            <a:endParaRPr lang="en-US"/>
          </a:p>
          <a:p>
            <a:pPr marL="300355" indent="-274955">
              <a:buAutoNum type="alphaLcParenR"/>
            </a:pPr>
            <a:r>
              <a:rPr lang="en-US"/>
              <a:t>Building predictive models</a:t>
            </a:r>
          </a:p>
          <a:p>
            <a:pPr marL="300355" indent="-274955">
              <a:buAutoNum type="alphaLcParenR"/>
            </a:pPr>
            <a:r>
              <a:rPr lang="en-US"/>
              <a:t>Data visualization</a:t>
            </a:r>
          </a:p>
          <a:p>
            <a:pPr marL="287655" indent="-262255">
              <a:buAutoNum type="alphaLcParenR"/>
            </a:pPr>
            <a:r>
              <a:rPr lang="en-US"/>
              <a:t>Extracting insights from data</a:t>
            </a:r>
          </a:p>
          <a:p>
            <a:pPr marL="300355" indent="-274955">
              <a:buAutoNum type="alphaLcParenR"/>
            </a:pPr>
            <a:r>
              <a:rPr lang="en-US"/>
              <a:t>Data cleaning</a:t>
            </a:r>
          </a:p>
          <a:p>
            <a:pPr marL="25400" indent="0">
              <a:buNone/>
            </a:pPr>
            <a:endParaRPr lang="en-US"/>
          </a:p>
          <a:p>
            <a:pPr marL="25400" indent="0">
              <a:buNone/>
            </a:pPr>
            <a:endParaRPr lang="en-US"/>
          </a:p>
          <a:p>
            <a:pPr marL="25400" indent="0">
              <a:buNone/>
            </a:pPr>
            <a:r>
              <a:rPr lang="en-US" b="1"/>
              <a:t>Answer: c) Extracting insights from data</a:t>
            </a:r>
            <a:endParaRPr lang="en-US"/>
          </a:p>
        </p:txBody>
      </p:sp>
    </p:spTree>
    <p:extLst>
      <p:ext uri="{BB962C8B-B14F-4D97-AF65-F5344CB8AC3E}">
        <p14:creationId xmlns:p14="http://schemas.microsoft.com/office/powerpoint/2010/main" val="4731054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6990" indent="0">
              <a:spcBef>
                <a:spcPts val="1813"/>
              </a:spcBef>
              <a:buNone/>
            </a:pPr>
            <a:r>
              <a:rPr lang="en-US" b="1"/>
              <a:t>Question 2: Which of the following is NOT a common step in EDA?</a:t>
            </a:r>
            <a:endParaRPr lang="en-US"/>
          </a:p>
          <a:p>
            <a:pPr marL="321945" indent="-275590">
              <a:buAutoNum type="alphaLcParenR"/>
            </a:pPr>
            <a:r>
              <a:rPr lang="en-US"/>
              <a:t>Summary statistics</a:t>
            </a:r>
          </a:p>
          <a:p>
            <a:pPr marL="321945" indent="-275590">
              <a:buAutoNum type="alphaLcParenR"/>
            </a:pPr>
            <a:r>
              <a:rPr lang="en-US"/>
              <a:t>Data transformation</a:t>
            </a:r>
          </a:p>
          <a:p>
            <a:pPr marL="309245" indent="-262890">
              <a:buAutoNum type="alphaLcParenR"/>
            </a:pPr>
            <a:r>
              <a:rPr lang="en-US"/>
              <a:t>Hypothesis testing</a:t>
            </a:r>
          </a:p>
          <a:p>
            <a:pPr marL="321945" indent="-275590">
              <a:buAutoNum type="alphaLcParenR"/>
            </a:pPr>
            <a:r>
              <a:rPr lang="en-US"/>
              <a:t>Implementing predictive models</a:t>
            </a:r>
          </a:p>
          <a:p>
            <a:pPr marL="321945" indent="-275590">
              <a:buAutoNum type="alphaLcParenR"/>
            </a:pPr>
            <a:endParaRPr lang="en-US"/>
          </a:p>
          <a:p>
            <a:pPr marL="46355" indent="0">
              <a:buNone/>
            </a:pPr>
            <a:r>
              <a:rPr lang="en-US" b="1"/>
              <a:t>Answer: d) Implementing predictive models</a:t>
            </a:r>
            <a:endParaRPr lang="en-US"/>
          </a:p>
          <a:p>
            <a:pPr>
              <a:buNone/>
            </a:pPr>
            <a:endParaRPr lang="en-US">
              <a:latin typeface="Calibri"/>
              <a:cs typeface="Calibri"/>
            </a:endParaRPr>
          </a:p>
        </p:txBody>
      </p:sp>
    </p:spTree>
    <p:extLst>
      <p:ext uri="{BB962C8B-B14F-4D97-AF65-F5344CB8AC3E}">
        <p14:creationId xmlns:p14="http://schemas.microsoft.com/office/powerpoint/2010/main" val="36186931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98145" marR="6350" indent="0">
              <a:buNone/>
            </a:pPr>
            <a:r>
              <a:rPr lang="en-US" b="1"/>
              <a:t>Question 3: What type of visualization is useful for displaying the distribution of categorical  data?</a:t>
            </a:r>
            <a:endParaRPr lang="en-US"/>
          </a:p>
          <a:p>
            <a:pPr marL="0" indent="0">
              <a:spcBef>
                <a:spcPts val="20"/>
              </a:spcBef>
              <a:buNone/>
            </a:pPr>
            <a:endParaRPr lang="en-US"/>
          </a:p>
          <a:p>
            <a:pPr marL="672465" indent="-274955">
              <a:buAutoNum type="alphaLcParenR"/>
            </a:pPr>
            <a:r>
              <a:rPr lang="en-US"/>
              <a:t>Scatter plot</a:t>
            </a:r>
          </a:p>
          <a:p>
            <a:pPr marL="672465" indent="-274955">
              <a:buAutoNum type="alphaLcParenR"/>
            </a:pPr>
            <a:r>
              <a:rPr lang="en-US"/>
              <a:t>Line plot</a:t>
            </a:r>
          </a:p>
          <a:p>
            <a:pPr marL="659765" indent="-262255">
              <a:buAutoNum type="alphaLcParenR"/>
            </a:pPr>
            <a:r>
              <a:rPr lang="en-US"/>
              <a:t>Histogram</a:t>
            </a:r>
          </a:p>
          <a:p>
            <a:pPr marL="672465" indent="-274955">
              <a:buAutoNum type="alphaLcParenR"/>
            </a:pPr>
            <a:r>
              <a:rPr lang="en-US"/>
              <a:t>Box plot</a:t>
            </a:r>
          </a:p>
          <a:p>
            <a:pPr marL="0" indent="0">
              <a:spcBef>
                <a:spcPts val="20"/>
              </a:spcBef>
              <a:buNone/>
            </a:pPr>
            <a:endParaRPr lang="en-US"/>
          </a:p>
          <a:p>
            <a:pPr marL="398145" indent="0">
              <a:buNone/>
            </a:pPr>
            <a:r>
              <a:rPr lang="en-US" b="1"/>
              <a:t>Answer: c) Histogram</a:t>
            </a:r>
            <a:endParaRPr lang="en-US"/>
          </a:p>
          <a:p>
            <a:pPr>
              <a:buNone/>
            </a:pPr>
            <a:endParaRPr lang="en-US">
              <a:latin typeface="Calibri"/>
              <a:cs typeface="Calibri"/>
            </a:endParaRPr>
          </a:p>
        </p:txBody>
      </p:sp>
    </p:spTree>
    <p:extLst>
      <p:ext uri="{BB962C8B-B14F-4D97-AF65-F5344CB8AC3E}">
        <p14:creationId xmlns:p14="http://schemas.microsoft.com/office/powerpoint/2010/main" val="21119894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6510" indent="0">
              <a:spcBef>
                <a:spcPts val="140"/>
              </a:spcBef>
              <a:buNone/>
            </a:pPr>
            <a:r>
              <a:rPr lang="en-US" b="1"/>
              <a:t>Question 4: Which EDA technique is useful for identifying outliers in a dataset?</a:t>
            </a:r>
            <a:endParaRPr lang="en-US"/>
          </a:p>
          <a:p>
            <a:pPr marL="0" indent="0">
              <a:spcBef>
                <a:spcPts val="40"/>
              </a:spcBef>
              <a:buNone/>
            </a:pPr>
            <a:endParaRPr lang="en-US"/>
          </a:p>
          <a:p>
            <a:pPr marL="255270" indent="-239395">
              <a:buAutoNum type="alphaLcParenR"/>
            </a:pPr>
            <a:r>
              <a:rPr lang="en-US"/>
              <a:t>Correlation analysis</a:t>
            </a:r>
          </a:p>
          <a:p>
            <a:pPr marL="265430" indent="-249555">
              <a:buAutoNum type="alphaLcParenR"/>
            </a:pPr>
            <a:r>
              <a:rPr lang="en-US"/>
              <a:t>Time series decomposition</a:t>
            </a:r>
          </a:p>
          <a:p>
            <a:pPr marL="239395" indent="-222885">
              <a:buAutoNum type="alphaLcParenR"/>
            </a:pPr>
            <a:r>
              <a:rPr lang="en-US"/>
              <a:t>Box plot</a:t>
            </a:r>
          </a:p>
          <a:p>
            <a:pPr marL="265430" indent="-249555">
              <a:buAutoNum type="alphaLcParenR"/>
            </a:pPr>
            <a:r>
              <a:rPr lang="en-US"/>
              <a:t>Hypothesis testing</a:t>
            </a:r>
          </a:p>
          <a:p>
            <a:pPr>
              <a:buNone/>
            </a:pPr>
            <a:endParaRPr lang="en-US">
              <a:latin typeface="Calibri"/>
              <a:cs typeface="Calibri"/>
            </a:endParaRPr>
          </a:p>
        </p:txBody>
      </p:sp>
    </p:spTree>
    <p:extLst>
      <p:ext uri="{BB962C8B-B14F-4D97-AF65-F5344CB8AC3E}">
        <p14:creationId xmlns:p14="http://schemas.microsoft.com/office/powerpoint/2010/main" val="1496156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4025" indent="0">
              <a:spcBef>
                <a:spcPts val="1707"/>
              </a:spcBef>
              <a:buNone/>
            </a:pPr>
            <a:r>
              <a:rPr lang="en-US" b="1"/>
              <a:t>Question 5: Which library is commonly used for creating interactive and informative statistical</a:t>
            </a:r>
            <a:endParaRPr lang="en-US"/>
          </a:p>
          <a:p>
            <a:pPr marL="454025" indent="0">
              <a:buNone/>
            </a:pPr>
            <a:r>
              <a:rPr lang="en-US" b="1"/>
              <a:t>graphics in EDA?</a:t>
            </a:r>
            <a:endParaRPr lang="en-US"/>
          </a:p>
          <a:p>
            <a:pPr marL="0" indent="0">
              <a:spcBef>
                <a:spcPts val="20"/>
              </a:spcBef>
              <a:buNone/>
            </a:pPr>
            <a:endParaRPr lang="en-US"/>
          </a:p>
          <a:p>
            <a:pPr marL="729615" indent="-275590">
              <a:buAutoNum type="alphaLcParenR"/>
            </a:pPr>
            <a:r>
              <a:rPr lang="en-US"/>
              <a:t>Matplotlib</a:t>
            </a:r>
          </a:p>
          <a:p>
            <a:pPr marL="729615" indent="-275590">
              <a:buAutoNum type="alphaLcParenR"/>
            </a:pPr>
            <a:r>
              <a:rPr lang="en-US"/>
              <a:t>Seaborn</a:t>
            </a:r>
          </a:p>
          <a:p>
            <a:pPr marL="716915" indent="-262890">
              <a:buAutoNum type="alphaLcParenR"/>
            </a:pPr>
            <a:r>
              <a:rPr lang="en-US" err="1"/>
              <a:t>Numpy</a:t>
            </a:r>
          </a:p>
          <a:p>
            <a:pPr marL="729615" indent="-275590">
              <a:buAutoNum type="alphaLcParenR"/>
            </a:pPr>
            <a:r>
              <a:rPr lang="en-US"/>
              <a:t>Scikit-learn</a:t>
            </a:r>
          </a:p>
          <a:p>
            <a:pPr>
              <a:buNone/>
            </a:pPr>
            <a:endParaRPr lang="en-US">
              <a:latin typeface="Calibri"/>
              <a:cs typeface="Calibri"/>
            </a:endParaRPr>
          </a:p>
        </p:txBody>
      </p:sp>
    </p:spTree>
    <p:extLst>
      <p:ext uri="{BB962C8B-B14F-4D97-AF65-F5344CB8AC3E}">
        <p14:creationId xmlns:p14="http://schemas.microsoft.com/office/powerpoint/2010/main" val="25514183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Thank You</a:t>
            </a:r>
          </a:p>
        </p:txBody>
      </p:sp>
      <p:sp>
        <p:nvSpPr>
          <p:cNvPr id="4" name="Slide Number Placeholder 3"/>
          <p:cNvSpPr>
            <a:spLocks noGrp="1"/>
          </p:cNvSpPr>
          <p:nvPr>
            <p:ph type="sldNum" sz="quarter" idx="5"/>
          </p:nvPr>
        </p:nvSpPr>
        <p:spPr/>
        <p:txBody>
          <a:bodyPr/>
          <a:lstStyle/>
          <a:p>
            <a:fld id="{D2DC4813-6191-4AA2-8E60-78DD42F28E4E}" type="slidenum">
              <a:rPr lang="en-IN" smtClean="0"/>
              <a:t>45</a:t>
            </a:fld>
            <a:endParaRPr lang="en-IN"/>
          </a:p>
        </p:txBody>
      </p:sp>
    </p:spTree>
    <p:extLst>
      <p:ext uri="{BB962C8B-B14F-4D97-AF65-F5344CB8AC3E}">
        <p14:creationId xmlns:p14="http://schemas.microsoft.com/office/powerpoint/2010/main" val="28264689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9643638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703438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63514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userDrawn="1">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378563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0206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BDBE1-DEC6-4B05-B4BC-D93347DD54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FFFEC75-4862-459E-A890-5EC4C93AF6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A8B973-B46B-4FA2-B9E7-3C8DD21034A4}"/>
              </a:ext>
            </a:extLst>
          </p:cNvPr>
          <p:cNvSpPr>
            <a:spLocks noGrp="1"/>
          </p:cNvSpPr>
          <p:nvPr>
            <p:ph type="dt" sz="half" idx="10"/>
          </p:nvPr>
        </p:nvSpPr>
        <p:spPr/>
        <p:txBody>
          <a:bodyPr/>
          <a:lstStyle/>
          <a:p>
            <a:fld id="{B6FDAD1E-B8FE-4033-862F-B2A3F96E2FCF}" type="datetime1">
              <a:rPr lang="en-IN" smtClean="0"/>
              <a:t>05-08-2025</a:t>
            </a:fld>
            <a:endParaRPr lang="en-IN"/>
          </a:p>
        </p:txBody>
      </p:sp>
      <p:sp>
        <p:nvSpPr>
          <p:cNvPr id="5" name="Footer Placeholder 4">
            <a:extLst>
              <a:ext uri="{FF2B5EF4-FFF2-40B4-BE49-F238E27FC236}">
                <a16:creationId xmlns:a16="http://schemas.microsoft.com/office/drawing/2014/main" id="{9BDB7D36-BF82-4F72-8655-59DD97454C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BB20DA-69BC-4041-A2BC-1E44AB0A5104}"/>
              </a:ext>
            </a:extLst>
          </p:cNvPr>
          <p:cNvSpPr>
            <a:spLocks noGrp="1"/>
          </p:cNvSpPr>
          <p:nvPr>
            <p:ph type="sldNum" sz="quarter" idx="12"/>
          </p:nvPr>
        </p:nvSpPr>
        <p:spPr/>
        <p:txBody>
          <a:bodyPr/>
          <a:lstStyle/>
          <a:p>
            <a:fld id="{0D101AD5-6C87-4D54-9E40-9F82F09AB7AA}" type="slidenum">
              <a:rPr lang="en-IN" smtClean="0"/>
              <a:t>‹#›</a:t>
            </a:fld>
            <a:endParaRPr lang="en-IN"/>
          </a:p>
        </p:txBody>
      </p:sp>
    </p:spTree>
    <p:extLst>
      <p:ext uri="{BB962C8B-B14F-4D97-AF65-F5344CB8AC3E}">
        <p14:creationId xmlns:p14="http://schemas.microsoft.com/office/powerpoint/2010/main" val="256976477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tags" Target="../tags/tag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theme" Target="../theme/theme2.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6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B7EEC3D-D175-2E7B-2AC6-57BBAB202241}"/>
              </a:ext>
            </a:extLst>
          </p:cNvPr>
          <p:cNvSpPr/>
          <p:nvPr userDrawn="1"/>
        </p:nvSpPr>
        <p:spPr>
          <a:xfrm>
            <a:off x="0" y="-21771"/>
            <a:ext cx="12192000" cy="631372"/>
          </a:xfrm>
          <a:prstGeom prst="rect">
            <a:avLst/>
          </a:prstGeom>
          <a:solidFill>
            <a:srgbClr val="01295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descr="A black and white logo&#10;&#10;Description automatically generated">
            <a:extLst>
              <a:ext uri="{FF2B5EF4-FFF2-40B4-BE49-F238E27FC236}">
                <a16:creationId xmlns:a16="http://schemas.microsoft.com/office/drawing/2014/main" id="{9847F5B2-139A-0D68-6E22-1F0DD371E5B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439400" y="123825"/>
            <a:ext cx="1259347" cy="409575"/>
          </a:xfrm>
          <a:prstGeom prst="rect">
            <a:avLst/>
          </a:prstGeom>
        </p:spPr>
      </p:pic>
      <p:grpSp>
        <p:nvGrpSpPr>
          <p:cNvPr id="25" name="Group 24">
            <a:extLst>
              <a:ext uri="{FF2B5EF4-FFF2-40B4-BE49-F238E27FC236}">
                <a16:creationId xmlns:a16="http://schemas.microsoft.com/office/drawing/2014/main" id="{C155A103-ADBB-F2D4-3428-2366FC21742D}"/>
              </a:ext>
            </a:extLst>
          </p:cNvPr>
          <p:cNvGrpSpPr/>
          <p:nvPr userDrawn="1"/>
        </p:nvGrpSpPr>
        <p:grpSpPr>
          <a:xfrm rot="5400000">
            <a:off x="6073140" y="-6099990"/>
            <a:ext cx="45719" cy="12192000"/>
            <a:chOff x="12115800" y="0"/>
            <a:chExt cx="76200" cy="4267200"/>
          </a:xfrm>
        </p:grpSpPr>
        <p:sp>
          <p:nvSpPr>
            <p:cNvPr id="5" name="Rectangle 4">
              <a:extLst>
                <a:ext uri="{FF2B5EF4-FFF2-40B4-BE49-F238E27FC236}">
                  <a16:creationId xmlns:a16="http://schemas.microsoft.com/office/drawing/2014/main" id="{FBBDA7C7-2313-640F-9DE7-D7FBC17FB456}"/>
                </a:ext>
              </a:extLst>
            </p:cNvPr>
            <p:cNvSpPr/>
            <p:nvPr userDrawn="1"/>
          </p:nvSpPr>
          <p:spPr>
            <a:xfrm rot="16200000">
              <a:off x="11620500" y="495300"/>
              <a:ext cx="1066800" cy="76200"/>
            </a:xfrm>
            <a:prstGeom prst="rect">
              <a:avLst/>
            </a:prstGeom>
            <a:solidFill>
              <a:srgbClr val="FFCF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CD080EE0-9745-650A-570C-0FB016CFBA8B}"/>
                </a:ext>
              </a:extLst>
            </p:cNvPr>
            <p:cNvSpPr/>
            <p:nvPr userDrawn="1"/>
          </p:nvSpPr>
          <p:spPr>
            <a:xfrm rot="16200000">
              <a:off x="11620500" y="1562100"/>
              <a:ext cx="1066800" cy="76200"/>
            </a:xfrm>
            <a:prstGeom prst="rect">
              <a:avLst/>
            </a:prstGeom>
            <a:solidFill>
              <a:srgbClr val="00A4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FDB974EF-1B82-6BFB-9C4D-D7920338D931}"/>
                </a:ext>
              </a:extLst>
            </p:cNvPr>
            <p:cNvSpPr/>
            <p:nvPr userDrawn="1"/>
          </p:nvSpPr>
          <p:spPr>
            <a:xfrm rot="16200000">
              <a:off x="11620500" y="2628900"/>
              <a:ext cx="1066800" cy="76200"/>
            </a:xfrm>
            <a:prstGeom prst="rect">
              <a:avLst/>
            </a:prstGeom>
            <a:solidFill>
              <a:srgbClr val="F25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D18CC3A7-BF1B-E349-3DDE-B264C09C9FCB}"/>
                </a:ext>
              </a:extLst>
            </p:cNvPr>
            <p:cNvSpPr/>
            <p:nvPr userDrawn="1"/>
          </p:nvSpPr>
          <p:spPr>
            <a:xfrm rot="16200000">
              <a:off x="11620500" y="3695700"/>
              <a:ext cx="1066800" cy="76200"/>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 name="Group 1">
            <a:extLst>
              <a:ext uri="{FF2B5EF4-FFF2-40B4-BE49-F238E27FC236}">
                <a16:creationId xmlns:a16="http://schemas.microsoft.com/office/drawing/2014/main" id="{CA6186BC-4E10-0A84-C200-2F0B4891CFB2}"/>
              </a:ext>
            </a:extLst>
          </p:cNvPr>
          <p:cNvGrpSpPr/>
          <p:nvPr userDrawn="1"/>
        </p:nvGrpSpPr>
        <p:grpSpPr>
          <a:xfrm rot="5400000">
            <a:off x="6060601" y="739140"/>
            <a:ext cx="45719" cy="12192000"/>
            <a:chOff x="12115800" y="0"/>
            <a:chExt cx="76200" cy="4267200"/>
          </a:xfrm>
        </p:grpSpPr>
        <p:sp>
          <p:nvSpPr>
            <p:cNvPr id="3" name="Rectangle 2">
              <a:extLst>
                <a:ext uri="{FF2B5EF4-FFF2-40B4-BE49-F238E27FC236}">
                  <a16:creationId xmlns:a16="http://schemas.microsoft.com/office/drawing/2014/main" id="{29838462-E3ED-2088-A2EF-1E3ECEA3B960}"/>
                </a:ext>
              </a:extLst>
            </p:cNvPr>
            <p:cNvSpPr/>
            <p:nvPr userDrawn="1"/>
          </p:nvSpPr>
          <p:spPr>
            <a:xfrm rot="16200000">
              <a:off x="11620500" y="495300"/>
              <a:ext cx="1066800" cy="76200"/>
            </a:xfrm>
            <a:prstGeom prst="rect">
              <a:avLst/>
            </a:prstGeom>
            <a:solidFill>
              <a:srgbClr val="FFCF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BBBD4FC5-81D7-1B5D-E213-BFA540B03B7E}"/>
                </a:ext>
              </a:extLst>
            </p:cNvPr>
            <p:cNvSpPr/>
            <p:nvPr userDrawn="1"/>
          </p:nvSpPr>
          <p:spPr>
            <a:xfrm rot="16200000">
              <a:off x="11620500" y="1562100"/>
              <a:ext cx="1066800" cy="76200"/>
            </a:xfrm>
            <a:prstGeom prst="rect">
              <a:avLst/>
            </a:prstGeom>
            <a:solidFill>
              <a:srgbClr val="00A4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C368F2E4-6ECB-9AD5-FB7E-084B888F6AC0}"/>
                </a:ext>
              </a:extLst>
            </p:cNvPr>
            <p:cNvSpPr/>
            <p:nvPr userDrawn="1"/>
          </p:nvSpPr>
          <p:spPr>
            <a:xfrm rot="16200000">
              <a:off x="11620500" y="2628900"/>
              <a:ext cx="1066800" cy="76200"/>
            </a:xfrm>
            <a:prstGeom prst="rect">
              <a:avLst/>
            </a:prstGeom>
            <a:solidFill>
              <a:srgbClr val="F25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082EB052-5587-7E9D-2A88-EE076DE81119}"/>
                </a:ext>
              </a:extLst>
            </p:cNvPr>
            <p:cNvSpPr/>
            <p:nvPr userDrawn="1"/>
          </p:nvSpPr>
          <p:spPr>
            <a:xfrm rot="16200000">
              <a:off x="11620500" y="3695700"/>
              <a:ext cx="1066800" cy="76200"/>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custDataLst>
      <p:tags r:id="rId7"/>
    </p:custDataLst>
    <p:extLst>
      <p:ext uri="{BB962C8B-B14F-4D97-AF65-F5344CB8AC3E}">
        <p14:creationId xmlns:p14="http://schemas.microsoft.com/office/powerpoint/2010/main" val="308720184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7" r:id="rId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6.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3.xml"/><Relationship Id="rId1" Type="http://schemas.openxmlformats.org/officeDocument/2006/relationships/tags" Target="../tags/tag7.xml"/><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3.xml"/><Relationship Id="rId1" Type="http://schemas.openxmlformats.org/officeDocument/2006/relationships/tags" Target="../tags/tag8.xml"/><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9.xml"/><Relationship Id="rId4" Type="http://schemas.openxmlformats.org/officeDocument/2006/relationships/image" Target="../media/image13.sv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1.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video" Target="https://www.youtube.com/embed/37x5dKW-X5U?feature=oembed" TargetMode="External"/><Relationship Id="rId5" Type="http://schemas.openxmlformats.org/officeDocument/2006/relationships/hyperlink" Target="https://www.youtube.com/watch?v=37x5dKW-X5U" TargetMode="Externa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hyperlink" Target="https://miro.medium.com/v2/resize:fit:720/format:webp/0*cmWRXafuUmoOQrlq.gif"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microsoft.com/office/2007/relationships/hdphoto" Target="../media/hdphoto2.wdp"/><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microsoft.com/office/2007/relationships/hdphoto" Target="../media/hdphoto1.wdp"/><Relationship Id="rId9" Type="http://schemas.microsoft.com/office/2007/relationships/hdphoto" Target="../media/hdphoto3.wdp"/></Relationships>
</file>

<file path=ppt/slides/_rels/slide10.xml.rels><?xml version="1.0" encoding="UTF-8" standalone="yes"?>
<Relationships xmlns="http://schemas.openxmlformats.org/package/2006/relationships"><Relationship Id="rId3" Type="http://schemas.openxmlformats.org/officeDocument/2006/relationships/hyperlink" Target="https://www.google.com/imgres?imgurl=https%3A%2F%2Fi.ytimg.com%2Fvi%2FjhNSUOmJ0nI%2Fmaxresdefault.jpg&amp;tbnid=XEq1qGNapm4t1M&amp;vet=12ahUKEwiYsoijyICAAxW3cmwGHeIsBVsQMygDegUIARDCAQ..i&amp;imgrefurl=https%3A%2F%2Fwww.youtube.com%2Fwatch%3Fv%3DjhNSUOmJ0nI&amp;docid=5xQahJhXvwrbzM&amp;w=1280&amp;h=720&amp;q=types%20of%20data%20in%20ai%3A&amp;hl=en&amp;ved=2ahUKEwiYsoijyICAAxW3cmwGHeIsBVsQMygDegUIARDCAQ"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hyperlink" Target="https://www.solver.com/text-mining-example" TargetMode="Externa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hyperlink" Target="https://www.seekpng.com/ipng/u2w7y3r5a9y3u2a9_data-analytics-exploratory-data-analysis-icon/"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s://www.interviewbit.com/blog/applications-of-big-data/"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medium.com/@subhransunayak726/exploratory-data-analysis-eda-in-python-the-complete-guide-9d940cdf58d7"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hyperlink" Target="https://www.analyticsvidhya.com/blog/2021/08/exploratory-data-analysis-and-visualization-techniques-in-data-science/"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ppcexpo.com/blog/wp-content/uploads/2022/01/exploratory-data-analysis-1.jp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s://en.wikipedia.org/wiki/NumPy"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tags" Target="../tags/tag12.xml"/><Relationship Id="rId6" Type="http://schemas.openxmlformats.org/officeDocument/2006/relationships/hyperlink" Target="https://github.com/Techsaksham/TSP4.0-AI-SDP-LAB-Repo/tree/main/Unit%20II:%20Applied%20Data%20Analytics%20with%20Python%20Programming,%20and%20PowerBI" TargetMode="External"/><Relationship Id="rId5" Type="http://schemas.openxmlformats.org/officeDocument/2006/relationships/image" Target="../media/image34.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13.xml"/><Relationship Id="rId6" Type="http://schemas.openxmlformats.org/officeDocument/2006/relationships/hyperlink" Target="https://github.com/Techsaksham/TSP4.0-AI-SDP-LAB-Repo/tree/main/Unit%20II:%20Applied%20Data%20Analytics%20with%20Python%20Programming,%20and%20PowerBI" TargetMode="External"/><Relationship Id="rId5" Type="http://schemas.openxmlformats.org/officeDocument/2006/relationships/image" Target="../media/image34.png"/><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www.techfunnel.com/wp-content/uploads/2020/10/data-visualization.png"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tags" Target="../tags/tag14.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3.xml"/><Relationship Id="rId1" Type="http://schemas.openxmlformats.org/officeDocument/2006/relationships/tags" Target="../tags/tag15.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3.xml"/><Relationship Id="rId1" Type="http://schemas.openxmlformats.org/officeDocument/2006/relationships/tags" Target="../tags/tag16.xml"/><Relationship Id="rId5" Type="http://schemas.openxmlformats.org/officeDocument/2006/relationships/image" Target="../media/image34.png"/><Relationship Id="rId4" Type="http://schemas.openxmlformats.org/officeDocument/2006/relationships/image" Target="../media/image33.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hyperlink" Target="https://en.wikipedia.org/wiki/Pandas_%28software%29" TargetMode="Externa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17.xml"/><Relationship Id="rId5" Type="http://schemas.openxmlformats.org/officeDocument/2006/relationships/image" Target="../media/image34.png"/><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3.xml"/><Relationship Id="rId1" Type="http://schemas.openxmlformats.org/officeDocument/2006/relationships/tags" Target="../tags/tag18.xml"/><Relationship Id="rId5" Type="http://schemas.openxmlformats.org/officeDocument/2006/relationships/image" Target="../media/image34.png"/><Relationship Id="rId4" Type="http://schemas.openxmlformats.org/officeDocument/2006/relationships/image" Target="../media/image33.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3.xml"/><Relationship Id="rId1" Type="http://schemas.openxmlformats.org/officeDocument/2006/relationships/tags" Target="../tags/tag19.xml"/><Relationship Id="rId5" Type="http://schemas.openxmlformats.org/officeDocument/2006/relationships/image" Target="../media/image34.png"/><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3.xml"/><Relationship Id="rId1" Type="http://schemas.openxmlformats.org/officeDocument/2006/relationships/tags" Target="../tags/tag20.xml"/><Relationship Id="rId4" Type="http://schemas.openxmlformats.org/officeDocument/2006/relationships/image" Target="../media/image42.png"/></Relationships>
</file>

<file path=ppt/slides/_rels/slide38.xml.rels><?xml version="1.0" encoding="UTF-8" standalone="yes"?>
<Relationships xmlns="http://schemas.openxmlformats.org/package/2006/relationships"><Relationship Id="rId3" Type="http://schemas.openxmlformats.org/officeDocument/2006/relationships/hyperlink" Target="https://www.geeksforgeeks.org/exploratory-data-analysis-eda-types-and-tools/" TargetMode="External"/><Relationship Id="rId7" Type="http://schemas.openxmlformats.org/officeDocument/2006/relationships/hyperlink" Target="https://www.analyticsvidhya.com/blog/2021/06/web-scraping-with-python-beautifulsoup-library/" TargetMode="External"/><Relationship Id="rId2" Type="http://schemas.openxmlformats.org/officeDocument/2006/relationships/slideLayout" Target="../slideLayouts/slideLayout3.xml"/><Relationship Id="rId1" Type="http://schemas.openxmlformats.org/officeDocument/2006/relationships/tags" Target="../tags/tag21.xml"/><Relationship Id="rId6" Type="http://schemas.openxmlformats.org/officeDocument/2006/relationships/hyperlink" Target="https://towardsdatascience.com/web-scraping-basics-82f8b5acd45c" TargetMode="External"/><Relationship Id="rId5" Type="http://schemas.openxmlformats.org/officeDocument/2006/relationships/hyperlink" Target="https://www.itl.nist.gov/div898/handbook/eda/eda.htm" TargetMode="External"/><Relationship Id="rId4" Type="http://schemas.openxmlformats.org/officeDocument/2006/relationships/hyperlink" Target="https://www.knowledgehut.com/blog/data-science/eda-data-science"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slideLayout" Target="../slideLayouts/slideLayout3.xml"/><Relationship Id="rId1" Type="http://schemas.openxmlformats.org/officeDocument/2006/relationships/tags" Target="../tags/tag2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3.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E3740-0E0B-A36B-B4BF-924B06E66D69}"/>
            </a:ext>
          </a:extLst>
        </p:cNvPr>
        <p:cNvGrpSpPr/>
        <p:nvPr/>
      </p:nvGrpSpPr>
      <p:grpSpPr>
        <a:xfrm>
          <a:off x="0" y="0"/>
          <a:ext cx="0" cy="0"/>
          <a:chOff x="0" y="0"/>
          <a:chExt cx="0" cy="0"/>
        </a:xfrm>
      </p:grpSpPr>
      <p:sp>
        <p:nvSpPr>
          <p:cNvPr id="6" name="Freeform 2">
            <a:extLst>
              <a:ext uri="{FF2B5EF4-FFF2-40B4-BE49-F238E27FC236}">
                <a16:creationId xmlns:a16="http://schemas.microsoft.com/office/drawing/2014/main" id="{5021524F-B017-C8D8-DFF2-FCBE55E9FD3D}"/>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4"/>
            <a:stretch>
              <a:fillRect t="-3333" b="-3333"/>
            </a:stretch>
          </a:blipFill>
        </p:spPr>
        <p:txBody>
          <a:bodyPr/>
          <a:lstStyle/>
          <a:p>
            <a:endParaRPr lang="en-IN" sz="800"/>
          </a:p>
        </p:txBody>
      </p:sp>
      <p:pic>
        <p:nvPicPr>
          <p:cNvPr id="7" name="Picture 4" descr="An abstract purple background with wavy lines photo – Free Render Image on  Unsplash">
            <a:extLst>
              <a:ext uri="{FF2B5EF4-FFF2-40B4-BE49-F238E27FC236}">
                <a16:creationId xmlns:a16="http://schemas.microsoft.com/office/drawing/2014/main" id="{E2ACE65E-97F8-852B-881A-C67E1852317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b="15888"/>
          <a:stretch/>
        </p:blipFill>
        <p:spPr bwMode="auto">
          <a:xfrm>
            <a:off x="0" y="1"/>
            <a:ext cx="12223986" cy="6858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A5CFAF36-3C6E-696C-2812-560F59EA5D28}"/>
              </a:ext>
            </a:extLst>
          </p:cNvPr>
          <p:cNvSpPr/>
          <p:nvPr/>
        </p:nvSpPr>
        <p:spPr>
          <a:xfrm>
            <a:off x="0" y="0"/>
            <a:ext cx="12192000" cy="6858000"/>
          </a:xfrm>
          <a:prstGeom prst="rect">
            <a:avLst/>
          </a:prstGeom>
          <a:solidFill>
            <a:srgbClr val="1B0035">
              <a:alpha val="61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3" name="Straight Connector 12">
            <a:extLst>
              <a:ext uri="{FF2B5EF4-FFF2-40B4-BE49-F238E27FC236}">
                <a16:creationId xmlns:a16="http://schemas.microsoft.com/office/drawing/2014/main" id="{3E8FE595-FACC-19C7-38F4-49489FD20A74}"/>
              </a:ext>
            </a:extLst>
          </p:cNvPr>
          <p:cNvCxnSpPr/>
          <p:nvPr/>
        </p:nvCxnSpPr>
        <p:spPr>
          <a:xfrm>
            <a:off x="466039" y="3432721"/>
            <a:ext cx="4114800" cy="0"/>
          </a:xfrm>
          <a:prstGeom prst="line">
            <a:avLst/>
          </a:prstGeom>
          <a:ln w="12700">
            <a:solidFill>
              <a:srgbClr val="00A4EF"/>
            </a:solidFill>
          </a:ln>
        </p:spPr>
        <p:style>
          <a:lnRef idx="1">
            <a:schemeClr val="accent1"/>
          </a:lnRef>
          <a:fillRef idx="0">
            <a:schemeClr val="accent1"/>
          </a:fillRef>
          <a:effectRef idx="0">
            <a:schemeClr val="accent1"/>
          </a:effectRef>
          <a:fontRef idx="minor">
            <a:schemeClr val="tx1"/>
          </a:fontRef>
        </p:style>
      </p:cxnSp>
      <p:sp>
        <p:nvSpPr>
          <p:cNvPr id="4" name="TextBox 25">
            <a:extLst>
              <a:ext uri="{FF2B5EF4-FFF2-40B4-BE49-F238E27FC236}">
                <a16:creationId xmlns:a16="http://schemas.microsoft.com/office/drawing/2014/main" id="{46CF1810-8FD6-7EBF-5D85-146F7F10CFEF}"/>
              </a:ext>
            </a:extLst>
          </p:cNvPr>
          <p:cNvSpPr txBox="1"/>
          <p:nvPr/>
        </p:nvSpPr>
        <p:spPr>
          <a:xfrm>
            <a:off x="457199" y="3731566"/>
            <a:ext cx="6324601" cy="461665"/>
          </a:xfrm>
          <a:prstGeom prst="rect">
            <a:avLst/>
          </a:prstGeom>
        </p:spPr>
        <p:txBody>
          <a:bodyPr wrap="square" lIns="0" tIns="0" rIns="0" bIns="0" rtlCol="0" anchor="t">
            <a:spAutoFit/>
          </a:bodyPr>
          <a:lstStyle/>
          <a:p>
            <a:pPr algn="l"/>
            <a:r>
              <a:rPr lang="en-US" sz="3000" b="1" dirty="0">
                <a:solidFill>
                  <a:srgbClr val="FFFFFF"/>
                </a:solidFill>
                <a:latin typeface="Arial" panose="020B0604020202020204" pitchFamily="34" charset="0"/>
                <a:ea typeface="Garet Bold"/>
                <a:cs typeface="Arial" panose="020B0604020202020204" pitchFamily="34" charset="0"/>
                <a:sym typeface="Garet Bold"/>
              </a:rPr>
              <a:t>Data Literacy &amp; Analysis</a:t>
            </a:r>
          </a:p>
        </p:txBody>
      </p:sp>
      <p:sp>
        <p:nvSpPr>
          <p:cNvPr id="5" name="TextBox 26">
            <a:extLst>
              <a:ext uri="{FF2B5EF4-FFF2-40B4-BE49-F238E27FC236}">
                <a16:creationId xmlns:a16="http://schemas.microsoft.com/office/drawing/2014/main" id="{3FFB2AFE-248A-C5EB-5292-1BD86AB019C6}"/>
              </a:ext>
            </a:extLst>
          </p:cNvPr>
          <p:cNvSpPr txBox="1"/>
          <p:nvPr/>
        </p:nvSpPr>
        <p:spPr>
          <a:xfrm>
            <a:off x="457200" y="2971800"/>
            <a:ext cx="2285999" cy="384721"/>
          </a:xfrm>
          <a:prstGeom prst="rect">
            <a:avLst/>
          </a:prstGeom>
        </p:spPr>
        <p:txBody>
          <a:bodyPr wrap="square" lIns="0" tIns="0" rIns="0" bIns="0" rtlCol="0" anchor="t">
            <a:spAutoFit/>
          </a:bodyPr>
          <a:lstStyle/>
          <a:p>
            <a:pPr algn="l"/>
            <a:r>
              <a:rPr lang="en-US" sz="2500" dirty="0">
                <a:solidFill>
                  <a:schemeClr val="bg1"/>
                </a:solidFill>
                <a:latin typeface="Arial" panose="020B0604020202020204" pitchFamily="34" charset="0"/>
                <a:ea typeface="Garet"/>
                <a:cs typeface="Arial" panose="020B0604020202020204" pitchFamily="34" charset="0"/>
                <a:sym typeface="Garet"/>
              </a:rPr>
              <a:t>Chapter - 2.3</a:t>
            </a:r>
          </a:p>
        </p:txBody>
      </p:sp>
      <p:cxnSp>
        <p:nvCxnSpPr>
          <p:cNvPr id="14" name="Straight Connector 13">
            <a:extLst>
              <a:ext uri="{FF2B5EF4-FFF2-40B4-BE49-F238E27FC236}">
                <a16:creationId xmlns:a16="http://schemas.microsoft.com/office/drawing/2014/main" id="{2D05E8C8-AB7D-AF3C-5288-6BBD12C39507}"/>
              </a:ext>
            </a:extLst>
          </p:cNvPr>
          <p:cNvCxnSpPr/>
          <p:nvPr/>
        </p:nvCxnSpPr>
        <p:spPr>
          <a:xfrm>
            <a:off x="2133600" y="647699"/>
            <a:ext cx="0" cy="533400"/>
          </a:xfrm>
          <a:prstGeom prst="line">
            <a:avLst/>
          </a:prstGeom>
        </p:spPr>
        <p:style>
          <a:lnRef idx="1">
            <a:schemeClr val="dk1"/>
          </a:lnRef>
          <a:fillRef idx="0">
            <a:schemeClr val="dk1"/>
          </a:fillRef>
          <a:effectRef idx="0">
            <a:schemeClr val="dk1"/>
          </a:effectRef>
          <a:fontRef idx="minor">
            <a:schemeClr val="tx1"/>
          </a:fontRef>
        </p:style>
      </p:cxnSp>
      <p:sp>
        <p:nvSpPr>
          <p:cNvPr id="19" name="Rectangle: Rounded Corners 18">
            <a:extLst>
              <a:ext uri="{FF2B5EF4-FFF2-40B4-BE49-F238E27FC236}">
                <a16:creationId xmlns:a16="http://schemas.microsoft.com/office/drawing/2014/main" id="{23B4B6FF-C113-43D8-E967-2E91E0424ADD}"/>
              </a:ext>
            </a:extLst>
          </p:cNvPr>
          <p:cNvSpPr/>
          <p:nvPr/>
        </p:nvSpPr>
        <p:spPr>
          <a:xfrm>
            <a:off x="367086" y="1057328"/>
            <a:ext cx="5904630" cy="990594"/>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4AD3DAB5-DFBC-DD5A-D1D2-986CC4159679}"/>
              </a:ext>
            </a:extLst>
          </p:cNvPr>
          <p:cNvGrpSpPr/>
          <p:nvPr/>
        </p:nvGrpSpPr>
        <p:grpSpPr>
          <a:xfrm>
            <a:off x="741997" y="1295400"/>
            <a:ext cx="5125403" cy="509616"/>
            <a:chOff x="457200" y="511900"/>
            <a:chExt cx="5580842" cy="554900"/>
          </a:xfrm>
        </p:grpSpPr>
        <p:pic>
          <p:nvPicPr>
            <p:cNvPr id="22" name="Picture 3" descr="A black and grey logo&#10;&#10;Description automatically generated">
              <a:extLst>
                <a:ext uri="{FF2B5EF4-FFF2-40B4-BE49-F238E27FC236}">
                  <a16:creationId xmlns:a16="http://schemas.microsoft.com/office/drawing/2014/main" id="{39E51A27-FF4A-AFC4-ECE2-6B86BB71383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7200" y="598850"/>
              <a:ext cx="1786381" cy="38100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descr="A close up of a logo&#10;&#10;Description automatically generated">
              <a:extLst>
                <a:ext uri="{FF2B5EF4-FFF2-40B4-BE49-F238E27FC236}">
                  <a16:creationId xmlns:a16="http://schemas.microsoft.com/office/drawing/2014/main" id="{3AC46BDF-2616-4F63-A289-A9EEED25222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52009" y="596475"/>
              <a:ext cx="1186033" cy="385750"/>
            </a:xfrm>
            <a:prstGeom prst="rect">
              <a:avLst/>
            </a:prstGeom>
          </p:spPr>
        </p:pic>
        <p:pic>
          <p:nvPicPr>
            <p:cNvPr id="24" name="Picture 23" descr="A blue and white logo&#10;&#10;AI-generated content may be incorrect.">
              <a:extLst>
                <a:ext uri="{FF2B5EF4-FFF2-40B4-BE49-F238E27FC236}">
                  <a16:creationId xmlns:a16="http://schemas.microsoft.com/office/drawing/2014/main" id="{496C758E-16B4-ADE0-57A5-1332B4E2C69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182605" y="511900"/>
              <a:ext cx="840360" cy="554900"/>
            </a:xfrm>
            <a:prstGeom prst="rect">
              <a:avLst/>
            </a:prstGeom>
          </p:spPr>
        </p:pic>
      </p:grpSp>
      <p:pic>
        <p:nvPicPr>
          <p:cNvPr id="3" name="Picture 2" descr="A silhouette of a person's head with a circuit board&#10;&#10;AI-generated content may be incorrect.">
            <a:extLst>
              <a:ext uri="{FF2B5EF4-FFF2-40B4-BE49-F238E27FC236}">
                <a16:creationId xmlns:a16="http://schemas.microsoft.com/office/drawing/2014/main" id="{72F62194-09AD-316D-1573-1B6330DE4B65}"/>
              </a:ext>
            </a:extLst>
          </p:cNvPr>
          <p:cNvPicPr>
            <a:picLocks noChangeAspect="1"/>
          </p:cNvPicPr>
          <p:nvPr/>
        </p:nvPicPr>
        <p:blipFill>
          <a:blip r:embed="rId9">
            <a:extLst>
              <a:ext uri="{28A0092B-C50C-407E-A947-70E740481C1C}">
                <a14:useLocalDpi xmlns:a14="http://schemas.microsoft.com/office/drawing/2010/main" val="0"/>
              </a:ext>
            </a:extLst>
          </a:blip>
          <a:srcRect l="33750" t="444" r="19608" b="-444"/>
          <a:stretch>
            <a:fillRect/>
          </a:stretch>
        </p:blipFill>
        <p:spPr>
          <a:xfrm flipH="1">
            <a:off x="6208098" y="0"/>
            <a:ext cx="5686610" cy="6858000"/>
          </a:xfrm>
          <a:prstGeom prst="rect">
            <a:avLst/>
          </a:prstGeom>
        </p:spPr>
      </p:pic>
    </p:spTree>
    <p:custDataLst>
      <p:tags r:id="rId1"/>
    </p:custDataLst>
    <p:extLst>
      <p:ext uri="{BB962C8B-B14F-4D97-AF65-F5344CB8AC3E}">
        <p14:creationId xmlns:p14="http://schemas.microsoft.com/office/powerpoint/2010/main" val="254669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05505-AEC7-358C-0EF9-EF61EFF21F6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D029BE60-656A-E804-764F-017035AF8D36}"/>
              </a:ext>
            </a:extLst>
          </p:cNvPr>
          <p:cNvGrpSpPr/>
          <p:nvPr/>
        </p:nvGrpSpPr>
        <p:grpSpPr>
          <a:xfrm>
            <a:off x="2705100" y="1752600"/>
            <a:ext cx="6781800" cy="4038600"/>
            <a:chOff x="2705100" y="1752600"/>
            <a:chExt cx="6781800" cy="4038600"/>
          </a:xfrm>
        </p:grpSpPr>
        <p:grpSp>
          <p:nvGrpSpPr>
            <p:cNvPr id="8" name="Group 7">
              <a:extLst>
                <a:ext uri="{FF2B5EF4-FFF2-40B4-BE49-F238E27FC236}">
                  <a16:creationId xmlns:a16="http://schemas.microsoft.com/office/drawing/2014/main" id="{D425BCA4-13C5-9CF3-5269-0961BECB94ED}"/>
                </a:ext>
              </a:extLst>
            </p:cNvPr>
            <p:cNvGrpSpPr/>
            <p:nvPr/>
          </p:nvGrpSpPr>
          <p:grpSpPr>
            <a:xfrm>
              <a:off x="4267200" y="1981200"/>
              <a:ext cx="3657600" cy="2150481"/>
              <a:chOff x="4239225" y="1458686"/>
              <a:chExt cx="3657600" cy="2150481"/>
            </a:xfrm>
          </p:grpSpPr>
          <p:sp>
            <p:nvSpPr>
              <p:cNvPr id="3" name="Rectangle: Rounded Corners 2">
                <a:extLst>
                  <a:ext uri="{FF2B5EF4-FFF2-40B4-BE49-F238E27FC236}">
                    <a16:creationId xmlns:a16="http://schemas.microsoft.com/office/drawing/2014/main" id="{E5EF77BB-0328-252E-5AEB-C6E8E057087C}"/>
                  </a:ext>
                </a:extLst>
              </p:cNvPr>
              <p:cNvSpPr/>
              <p:nvPr/>
            </p:nvSpPr>
            <p:spPr>
              <a:xfrm>
                <a:off x="4239225" y="1458686"/>
                <a:ext cx="3657600" cy="2133600"/>
              </a:xfrm>
              <a:prstGeom prst="roundRect">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raphic 3" descr="Warning with solid fill">
                <a:extLst>
                  <a:ext uri="{FF2B5EF4-FFF2-40B4-BE49-F238E27FC236}">
                    <a16:creationId xmlns:a16="http://schemas.microsoft.com/office/drawing/2014/main" id="{39A9E10F-73D0-1E12-F326-8973E5EB38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29200" y="1475567"/>
                <a:ext cx="2133600" cy="2133600"/>
              </a:xfrm>
              <a:prstGeom prst="rect">
                <a:avLst/>
              </a:prstGeom>
            </p:spPr>
          </p:pic>
        </p:grpSp>
        <p:sp>
          <p:nvSpPr>
            <p:cNvPr id="7" name="TextBox 6">
              <a:extLst>
                <a:ext uri="{FF2B5EF4-FFF2-40B4-BE49-F238E27FC236}">
                  <a16:creationId xmlns:a16="http://schemas.microsoft.com/office/drawing/2014/main" id="{3C59BB45-663F-93B8-F1E1-85162698EB15}"/>
                </a:ext>
              </a:extLst>
            </p:cNvPr>
            <p:cNvSpPr txBox="1"/>
            <p:nvPr/>
          </p:nvSpPr>
          <p:spPr>
            <a:xfrm>
              <a:off x="5181600" y="4267200"/>
              <a:ext cx="1828800" cy="400110"/>
            </a:xfrm>
            <a:prstGeom prst="rect">
              <a:avLst/>
            </a:prstGeom>
            <a:noFill/>
          </p:spPr>
          <p:txBody>
            <a:bodyPr wrap="square">
              <a:spAutoFit/>
            </a:bodyPr>
            <a:lstStyle/>
            <a:p>
              <a:pPr algn="ctr"/>
              <a:r>
                <a:rPr lang="en-US" sz="2000" b="1" dirty="0">
                  <a:latin typeface="Arial" panose="020B0604020202020204" pitchFamily="34" charset="0"/>
                  <a:cs typeface="Arial" panose="020B0604020202020204" pitchFamily="34" charset="0"/>
                </a:rPr>
                <a:t>Disclaimer</a:t>
              </a:r>
            </a:p>
          </p:txBody>
        </p:sp>
        <p:sp>
          <p:nvSpPr>
            <p:cNvPr id="9" name="TextBox 8">
              <a:extLst>
                <a:ext uri="{FF2B5EF4-FFF2-40B4-BE49-F238E27FC236}">
                  <a16:creationId xmlns:a16="http://schemas.microsoft.com/office/drawing/2014/main" id="{0BE0182C-C2E4-AB4D-F165-672C44EA8A3B}"/>
                </a:ext>
              </a:extLst>
            </p:cNvPr>
            <p:cNvSpPr txBox="1"/>
            <p:nvPr/>
          </p:nvSpPr>
          <p:spPr>
            <a:xfrm>
              <a:off x="2914650" y="4724400"/>
              <a:ext cx="6362700" cy="707886"/>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The content is curated from online/offline resources and used for educational purpose only</a:t>
              </a:r>
            </a:p>
          </p:txBody>
        </p:sp>
        <p:sp>
          <p:nvSpPr>
            <p:cNvPr id="10" name="Rectangle: Rounded Corners 9">
              <a:extLst>
                <a:ext uri="{FF2B5EF4-FFF2-40B4-BE49-F238E27FC236}">
                  <a16:creationId xmlns:a16="http://schemas.microsoft.com/office/drawing/2014/main" id="{F7E743E0-E8FD-0C86-3BF6-7CE38AC1FE0D}"/>
                </a:ext>
              </a:extLst>
            </p:cNvPr>
            <p:cNvSpPr/>
            <p:nvPr/>
          </p:nvSpPr>
          <p:spPr>
            <a:xfrm>
              <a:off x="2705100" y="1752600"/>
              <a:ext cx="6781800" cy="3962400"/>
            </a:xfrm>
            <a:prstGeom prst="roundRect">
              <a:avLst>
                <a:gd name="adj" fmla="val 19756"/>
              </a:avLst>
            </a:prstGeom>
            <a:noFill/>
            <a:ln w="3175">
              <a:solidFill>
                <a:srgbClr val="BFDAF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Rounded Corners 1">
              <a:extLst>
                <a:ext uri="{FF2B5EF4-FFF2-40B4-BE49-F238E27FC236}">
                  <a16:creationId xmlns:a16="http://schemas.microsoft.com/office/drawing/2014/main" id="{4A03A50D-E945-2E9B-9A16-F9AFB8C442BD}"/>
                </a:ext>
              </a:extLst>
            </p:cNvPr>
            <p:cNvSpPr/>
            <p:nvPr/>
          </p:nvSpPr>
          <p:spPr>
            <a:xfrm>
              <a:off x="3505200" y="5638800"/>
              <a:ext cx="5181600" cy="152400"/>
            </a:xfrm>
            <a:prstGeom prst="roundRect">
              <a:avLst/>
            </a:prstGeom>
            <a:solidFill>
              <a:srgbClr val="FFB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185886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C0768AD4-8698-734D-CBEC-6A147531FB7B}"/>
              </a:ext>
            </a:extLst>
          </p:cNvPr>
          <p:cNvSpPr txBox="1">
            <a:spLocks/>
          </p:cNvSpPr>
          <p:nvPr/>
        </p:nvSpPr>
        <p:spPr>
          <a:xfrm>
            <a:off x="381000" y="838200"/>
            <a:ext cx="3268485"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Chapters for Discussion</a:t>
            </a:r>
          </a:p>
        </p:txBody>
      </p:sp>
      <p:grpSp>
        <p:nvGrpSpPr>
          <p:cNvPr id="2" name="Group 1">
            <a:extLst>
              <a:ext uri="{FF2B5EF4-FFF2-40B4-BE49-F238E27FC236}">
                <a16:creationId xmlns:a16="http://schemas.microsoft.com/office/drawing/2014/main" id="{EA531094-AEFE-825D-300A-9EE05644571B}"/>
              </a:ext>
            </a:extLst>
          </p:cNvPr>
          <p:cNvGrpSpPr/>
          <p:nvPr/>
        </p:nvGrpSpPr>
        <p:grpSpPr>
          <a:xfrm>
            <a:off x="444873" y="2179421"/>
            <a:ext cx="5270117" cy="884067"/>
            <a:chOff x="444873" y="2179421"/>
            <a:chExt cx="5270117" cy="884067"/>
          </a:xfrm>
        </p:grpSpPr>
        <p:sp>
          <p:nvSpPr>
            <p:cNvPr id="5" name="Freeform 3">
              <a:extLst>
                <a:ext uri="{FF2B5EF4-FFF2-40B4-BE49-F238E27FC236}">
                  <a16:creationId xmlns:a16="http://schemas.microsoft.com/office/drawing/2014/main" id="{B502B681-A3EE-E0E6-AC79-25F0EFD0DC78}"/>
                </a:ext>
              </a:extLst>
            </p:cNvPr>
            <p:cNvSpPr/>
            <p:nvPr/>
          </p:nvSpPr>
          <p:spPr>
            <a:xfrm>
              <a:off x="444873" y="2197579"/>
              <a:ext cx="5270117" cy="847751"/>
            </a:xfrm>
            <a:custGeom>
              <a:avLst/>
              <a:gdLst/>
              <a:ahLst/>
              <a:cxnLst/>
              <a:rect l="l" t="t" r="r" b="b"/>
              <a:pathLst>
                <a:path w="1576291" h="208369">
                  <a:moveTo>
                    <a:pt x="80480" y="0"/>
                  </a:moveTo>
                  <a:lnTo>
                    <a:pt x="1495811" y="0"/>
                  </a:lnTo>
                  <a:cubicBezTo>
                    <a:pt x="1517156" y="0"/>
                    <a:pt x="1537626" y="8479"/>
                    <a:pt x="1552719" y="23572"/>
                  </a:cubicBezTo>
                  <a:cubicBezTo>
                    <a:pt x="1567812" y="38665"/>
                    <a:pt x="1576291" y="59135"/>
                    <a:pt x="1576291" y="80480"/>
                  </a:cubicBezTo>
                  <a:lnTo>
                    <a:pt x="1576291" y="127890"/>
                  </a:lnTo>
                  <a:cubicBezTo>
                    <a:pt x="1576291" y="149234"/>
                    <a:pt x="1567812" y="169705"/>
                    <a:pt x="1552719" y="184797"/>
                  </a:cubicBezTo>
                  <a:cubicBezTo>
                    <a:pt x="1537626" y="199890"/>
                    <a:pt x="1517156" y="208369"/>
                    <a:pt x="1495811" y="208369"/>
                  </a:cubicBezTo>
                  <a:lnTo>
                    <a:pt x="80480" y="208369"/>
                  </a:lnTo>
                  <a:cubicBezTo>
                    <a:pt x="59135" y="208369"/>
                    <a:pt x="38665" y="199890"/>
                    <a:pt x="23572" y="184797"/>
                  </a:cubicBezTo>
                  <a:cubicBezTo>
                    <a:pt x="8479" y="169705"/>
                    <a:pt x="0" y="149234"/>
                    <a:pt x="0" y="127890"/>
                  </a:cubicBezTo>
                  <a:lnTo>
                    <a:pt x="0" y="80480"/>
                  </a:lnTo>
                  <a:cubicBezTo>
                    <a:pt x="0" y="59135"/>
                    <a:pt x="8479" y="38665"/>
                    <a:pt x="23572" y="23572"/>
                  </a:cubicBezTo>
                  <a:cubicBezTo>
                    <a:pt x="38665" y="8479"/>
                    <a:pt x="59135" y="0"/>
                    <a:pt x="80480" y="0"/>
                  </a:cubicBezTo>
                  <a:close/>
                </a:path>
              </a:pathLst>
            </a:custGeom>
            <a:solidFill>
              <a:srgbClr val="005899"/>
            </a:solidFill>
          </p:spPr>
          <p:txBody>
            <a:bodyPr/>
            <a:lstStyle/>
            <a:p>
              <a:endParaRPr lang="en-IN" sz="800" dirty="0">
                <a:latin typeface="Arial" panose="020B0604020202020204" pitchFamily="34" charset="0"/>
                <a:cs typeface="Arial" panose="020B0604020202020204" pitchFamily="34" charset="0"/>
              </a:endParaRPr>
            </a:p>
          </p:txBody>
        </p:sp>
        <p:grpSp>
          <p:nvGrpSpPr>
            <p:cNvPr id="7" name="Group 5">
              <a:extLst>
                <a:ext uri="{FF2B5EF4-FFF2-40B4-BE49-F238E27FC236}">
                  <a16:creationId xmlns:a16="http://schemas.microsoft.com/office/drawing/2014/main" id="{B8DAEF06-EDFC-0642-CE1E-B9594FF49830}"/>
                </a:ext>
              </a:extLst>
            </p:cNvPr>
            <p:cNvGrpSpPr/>
            <p:nvPr/>
          </p:nvGrpSpPr>
          <p:grpSpPr>
            <a:xfrm>
              <a:off x="1297457" y="2179421"/>
              <a:ext cx="884067" cy="884067"/>
              <a:chOff x="0" y="0"/>
              <a:chExt cx="812800" cy="812800"/>
            </a:xfrm>
          </p:grpSpPr>
          <p:sp>
            <p:nvSpPr>
              <p:cNvPr id="8" name="Freeform 6">
                <a:extLst>
                  <a:ext uri="{FF2B5EF4-FFF2-40B4-BE49-F238E27FC236}">
                    <a16:creationId xmlns:a16="http://schemas.microsoft.com/office/drawing/2014/main" id="{D70EB06B-7623-4BC8-9FCF-B4A3D6C4A27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99"/>
              </a:solidFill>
              <a:ln w="85725" cap="sq">
                <a:solidFill>
                  <a:srgbClr val="FFFFFF"/>
                </a:solidFill>
                <a:prstDash val="solid"/>
                <a:miter/>
              </a:ln>
            </p:spPr>
            <p:txBody>
              <a:bodyPr/>
              <a:lstStyle/>
              <a:p>
                <a:endParaRPr lang="en-IN" sz="800">
                  <a:latin typeface="Arial" panose="020B0604020202020204" pitchFamily="34" charset="0"/>
                  <a:cs typeface="Arial" panose="020B0604020202020204" pitchFamily="34" charset="0"/>
                </a:endParaRPr>
              </a:p>
            </p:txBody>
          </p:sp>
          <p:sp>
            <p:nvSpPr>
              <p:cNvPr id="9" name="TextBox 7">
                <a:extLst>
                  <a:ext uri="{FF2B5EF4-FFF2-40B4-BE49-F238E27FC236}">
                    <a16:creationId xmlns:a16="http://schemas.microsoft.com/office/drawing/2014/main" id="{47949106-8BD3-5EB7-5D13-DFAF512E8B3A}"/>
                  </a:ext>
                </a:extLst>
              </p:cNvPr>
              <p:cNvSpPr txBox="1"/>
              <p:nvPr/>
            </p:nvSpPr>
            <p:spPr>
              <a:xfrm>
                <a:off x="76200" y="38100"/>
                <a:ext cx="660400" cy="698500"/>
              </a:xfrm>
              <a:prstGeom prst="rect">
                <a:avLst/>
              </a:prstGeom>
            </p:spPr>
            <p:txBody>
              <a:bodyPr lIns="20627" tIns="20627" rIns="20627" bIns="20627" rtlCol="0" anchor="ctr"/>
              <a:lstStyle/>
              <a:p>
                <a:pPr algn="ctr">
                  <a:lnSpc>
                    <a:spcPts val="1773"/>
                  </a:lnSpc>
                  <a:spcBef>
                    <a:spcPct val="0"/>
                  </a:spcBef>
                </a:pPr>
                <a:endParaRPr sz="800">
                  <a:latin typeface="Arial" panose="020B0604020202020204" pitchFamily="34" charset="0"/>
                  <a:cs typeface="Arial" panose="020B0604020202020204" pitchFamily="34" charset="0"/>
                </a:endParaRPr>
              </a:p>
            </p:txBody>
          </p:sp>
        </p:grpSp>
        <p:sp>
          <p:nvSpPr>
            <p:cNvPr id="10" name="Freeform 8">
              <a:extLst>
                <a:ext uri="{FF2B5EF4-FFF2-40B4-BE49-F238E27FC236}">
                  <a16:creationId xmlns:a16="http://schemas.microsoft.com/office/drawing/2014/main" id="{3CDC24C4-751B-8AF1-B617-4D5929CEA1D1}"/>
                </a:ext>
              </a:extLst>
            </p:cNvPr>
            <p:cNvSpPr/>
            <p:nvPr/>
          </p:nvSpPr>
          <p:spPr>
            <a:xfrm>
              <a:off x="1546054" y="2425074"/>
              <a:ext cx="386871" cy="392762"/>
            </a:xfrm>
            <a:custGeom>
              <a:avLst/>
              <a:gdLst/>
              <a:ahLst/>
              <a:cxnLst/>
              <a:rect l="l" t="t" r="r" b="b"/>
              <a:pathLst>
                <a:path w="580306" h="589143">
                  <a:moveTo>
                    <a:pt x="0" y="0"/>
                  </a:moveTo>
                  <a:lnTo>
                    <a:pt x="580306" y="0"/>
                  </a:lnTo>
                  <a:lnTo>
                    <a:pt x="580306" y="589143"/>
                  </a:lnTo>
                  <a:lnTo>
                    <a:pt x="0" y="5891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a:latin typeface="Arial" panose="020B0604020202020204" pitchFamily="34" charset="0"/>
                <a:cs typeface="Arial" panose="020B0604020202020204" pitchFamily="34" charset="0"/>
              </a:endParaRPr>
            </a:p>
          </p:txBody>
        </p:sp>
      </p:grpSp>
      <p:sp>
        <p:nvSpPr>
          <p:cNvPr id="43" name="TextBox 30">
            <a:extLst>
              <a:ext uri="{FF2B5EF4-FFF2-40B4-BE49-F238E27FC236}">
                <a16:creationId xmlns:a16="http://schemas.microsoft.com/office/drawing/2014/main" id="{7663B9BC-14B8-5C0D-CE9B-544C40E396E8}"/>
              </a:ext>
            </a:extLst>
          </p:cNvPr>
          <p:cNvSpPr txBox="1"/>
          <p:nvPr/>
        </p:nvSpPr>
        <p:spPr>
          <a:xfrm>
            <a:off x="2373689" y="2463387"/>
            <a:ext cx="3662827" cy="283411"/>
          </a:xfrm>
          <a:prstGeom prst="rect">
            <a:avLst/>
          </a:prstGeom>
        </p:spPr>
        <p:txBody>
          <a:bodyPr lIns="0" tIns="0" rIns="0" bIns="0" rtlCol="0" anchor="t">
            <a:spAutoFit/>
          </a:bodyPr>
          <a:lstStyle/>
          <a:p>
            <a:pPr>
              <a:lnSpc>
                <a:spcPts val="2389"/>
              </a:lnSpc>
              <a:spcBef>
                <a:spcPct val="0"/>
              </a:spcBef>
            </a:pPr>
            <a:r>
              <a:rPr lang="en-US" dirty="0">
                <a:solidFill>
                  <a:srgbClr val="FFFFFF"/>
                </a:solidFill>
                <a:latin typeface="Arial" panose="020B0604020202020204" pitchFamily="34" charset="0"/>
                <a:ea typeface="League Spartan"/>
                <a:cs typeface="Arial" panose="020B0604020202020204" pitchFamily="34" charset="0"/>
                <a:sym typeface="League Spartan"/>
              </a:rPr>
              <a:t>Python Basics for Data Science</a:t>
            </a:r>
          </a:p>
        </p:txBody>
      </p:sp>
      <p:grpSp>
        <p:nvGrpSpPr>
          <p:cNvPr id="4" name="Group 3">
            <a:extLst>
              <a:ext uri="{FF2B5EF4-FFF2-40B4-BE49-F238E27FC236}">
                <a16:creationId xmlns:a16="http://schemas.microsoft.com/office/drawing/2014/main" id="{71F38B45-468A-5302-087B-2FD33342B65F}"/>
              </a:ext>
            </a:extLst>
          </p:cNvPr>
          <p:cNvGrpSpPr/>
          <p:nvPr/>
        </p:nvGrpSpPr>
        <p:grpSpPr>
          <a:xfrm>
            <a:off x="3460941" y="3657600"/>
            <a:ext cx="5270117" cy="884067"/>
            <a:chOff x="444873" y="3400218"/>
            <a:chExt cx="5270117" cy="884067"/>
          </a:xfrm>
        </p:grpSpPr>
        <p:sp>
          <p:nvSpPr>
            <p:cNvPr id="12" name="Freeform 10">
              <a:extLst>
                <a:ext uri="{FF2B5EF4-FFF2-40B4-BE49-F238E27FC236}">
                  <a16:creationId xmlns:a16="http://schemas.microsoft.com/office/drawing/2014/main" id="{69547ACA-E29A-0C2A-98F2-27003371141A}"/>
                </a:ext>
              </a:extLst>
            </p:cNvPr>
            <p:cNvSpPr/>
            <p:nvPr/>
          </p:nvSpPr>
          <p:spPr>
            <a:xfrm>
              <a:off x="444873" y="3418376"/>
              <a:ext cx="5270117" cy="847751"/>
            </a:xfrm>
            <a:custGeom>
              <a:avLst/>
              <a:gdLst/>
              <a:ahLst/>
              <a:cxnLst/>
              <a:rect l="l" t="t" r="r" b="b"/>
              <a:pathLst>
                <a:path w="1576291" h="208369">
                  <a:moveTo>
                    <a:pt x="80480" y="0"/>
                  </a:moveTo>
                  <a:lnTo>
                    <a:pt x="1495811" y="0"/>
                  </a:lnTo>
                  <a:cubicBezTo>
                    <a:pt x="1517156" y="0"/>
                    <a:pt x="1537626" y="8479"/>
                    <a:pt x="1552719" y="23572"/>
                  </a:cubicBezTo>
                  <a:cubicBezTo>
                    <a:pt x="1567812" y="38665"/>
                    <a:pt x="1576291" y="59135"/>
                    <a:pt x="1576291" y="80480"/>
                  </a:cubicBezTo>
                  <a:lnTo>
                    <a:pt x="1576291" y="127890"/>
                  </a:lnTo>
                  <a:cubicBezTo>
                    <a:pt x="1576291" y="149234"/>
                    <a:pt x="1567812" y="169705"/>
                    <a:pt x="1552719" y="184797"/>
                  </a:cubicBezTo>
                  <a:cubicBezTo>
                    <a:pt x="1537626" y="199890"/>
                    <a:pt x="1517156" y="208369"/>
                    <a:pt x="1495811" y="208369"/>
                  </a:cubicBezTo>
                  <a:lnTo>
                    <a:pt x="80480" y="208369"/>
                  </a:lnTo>
                  <a:cubicBezTo>
                    <a:pt x="59135" y="208369"/>
                    <a:pt x="38665" y="199890"/>
                    <a:pt x="23572" y="184797"/>
                  </a:cubicBezTo>
                  <a:cubicBezTo>
                    <a:pt x="8479" y="169705"/>
                    <a:pt x="0" y="149234"/>
                    <a:pt x="0" y="127890"/>
                  </a:cubicBezTo>
                  <a:lnTo>
                    <a:pt x="0" y="80480"/>
                  </a:lnTo>
                  <a:cubicBezTo>
                    <a:pt x="0" y="59135"/>
                    <a:pt x="8479" y="38665"/>
                    <a:pt x="23572" y="23572"/>
                  </a:cubicBezTo>
                  <a:cubicBezTo>
                    <a:pt x="38665" y="8479"/>
                    <a:pt x="59135" y="0"/>
                    <a:pt x="80480" y="0"/>
                  </a:cubicBezTo>
                  <a:close/>
                </a:path>
              </a:pathLst>
            </a:custGeom>
            <a:solidFill>
              <a:srgbClr val="005899"/>
            </a:solidFill>
          </p:spPr>
          <p:txBody>
            <a:bodyPr/>
            <a:lstStyle/>
            <a:p>
              <a:endParaRPr lang="en-IN" sz="800">
                <a:latin typeface="Arial" panose="020B0604020202020204" pitchFamily="34" charset="0"/>
                <a:cs typeface="Arial" panose="020B0604020202020204" pitchFamily="34" charset="0"/>
              </a:endParaRPr>
            </a:p>
          </p:txBody>
        </p:sp>
        <p:grpSp>
          <p:nvGrpSpPr>
            <p:cNvPr id="14" name="Group 12">
              <a:extLst>
                <a:ext uri="{FF2B5EF4-FFF2-40B4-BE49-F238E27FC236}">
                  <a16:creationId xmlns:a16="http://schemas.microsoft.com/office/drawing/2014/main" id="{64133AD2-82C3-65D1-2EB4-BA11FA7682E5}"/>
                </a:ext>
              </a:extLst>
            </p:cNvPr>
            <p:cNvGrpSpPr/>
            <p:nvPr/>
          </p:nvGrpSpPr>
          <p:grpSpPr>
            <a:xfrm>
              <a:off x="1297457" y="3400218"/>
              <a:ext cx="884067" cy="884067"/>
              <a:chOff x="0" y="0"/>
              <a:chExt cx="812800" cy="812800"/>
            </a:xfrm>
          </p:grpSpPr>
          <p:sp>
            <p:nvSpPr>
              <p:cNvPr id="16" name="Freeform 13">
                <a:extLst>
                  <a:ext uri="{FF2B5EF4-FFF2-40B4-BE49-F238E27FC236}">
                    <a16:creationId xmlns:a16="http://schemas.microsoft.com/office/drawing/2014/main" id="{A595AF04-374E-31DF-8006-98D03CA35EF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99"/>
              </a:solidFill>
              <a:ln w="85725" cap="sq">
                <a:solidFill>
                  <a:srgbClr val="FFFFFF"/>
                </a:solidFill>
                <a:prstDash val="solid"/>
                <a:miter/>
              </a:ln>
            </p:spPr>
            <p:txBody>
              <a:bodyPr/>
              <a:lstStyle/>
              <a:p>
                <a:endParaRPr lang="en-IN" sz="800">
                  <a:latin typeface="Arial" panose="020B0604020202020204" pitchFamily="34" charset="0"/>
                  <a:cs typeface="Arial" panose="020B0604020202020204" pitchFamily="34" charset="0"/>
                </a:endParaRPr>
              </a:p>
            </p:txBody>
          </p:sp>
          <p:sp>
            <p:nvSpPr>
              <p:cNvPr id="17" name="TextBox 14">
                <a:extLst>
                  <a:ext uri="{FF2B5EF4-FFF2-40B4-BE49-F238E27FC236}">
                    <a16:creationId xmlns:a16="http://schemas.microsoft.com/office/drawing/2014/main" id="{3714BC40-B9EB-655C-4BEE-1176D06BCD38}"/>
                  </a:ext>
                </a:extLst>
              </p:cNvPr>
              <p:cNvSpPr txBox="1"/>
              <p:nvPr/>
            </p:nvSpPr>
            <p:spPr>
              <a:xfrm>
                <a:off x="76200" y="38100"/>
                <a:ext cx="660400" cy="698500"/>
              </a:xfrm>
              <a:prstGeom prst="rect">
                <a:avLst/>
              </a:prstGeom>
            </p:spPr>
            <p:txBody>
              <a:bodyPr lIns="20627" tIns="20627" rIns="20627" bIns="20627" rtlCol="0" anchor="ctr"/>
              <a:lstStyle/>
              <a:p>
                <a:pPr algn="ctr">
                  <a:lnSpc>
                    <a:spcPts val="1773"/>
                  </a:lnSpc>
                  <a:spcBef>
                    <a:spcPct val="0"/>
                  </a:spcBef>
                </a:pPr>
                <a:endParaRPr sz="800">
                  <a:latin typeface="Arial" panose="020B0604020202020204" pitchFamily="34" charset="0"/>
                  <a:cs typeface="Arial" panose="020B0604020202020204" pitchFamily="34" charset="0"/>
                </a:endParaRPr>
              </a:p>
            </p:txBody>
          </p:sp>
        </p:grpSp>
        <p:sp>
          <p:nvSpPr>
            <p:cNvPr id="18" name="Freeform 15">
              <a:extLst>
                <a:ext uri="{FF2B5EF4-FFF2-40B4-BE49-F238E27FC236}">
                  <a16:creationId xmlns:a16="http://schemas.microsoft.com/office/drawing/2014/main" id="{01A2C6AB-ADBE-AC6B-B87A-4408901A54EE}"/>
                </a:ext>
              </a:extLst>
            </p:cNvPr>
            <p:cNvSpPr/>
            <p:nvPr/>
          </p:nvSpPr>
          <p:spPr>
            <a:xfrm>
              <a:off x="1546054" y="3645870"/>
              <a:ext cx="386871" cy="392762"/>
            </a:xfrm>
            <a:custGeom>
              <a:avLst/>
              <a:gdLst/>
              <a:ahLst/>
              <a:cxnLst/>
              <a:rect l="l" t="t" r="r" b="b"/>
              <a:pathLst>
                <a:path w="580306" h="589143">
                  <a:moveTo>
                    <a:pt x="0" y="0"/>
                  </a:moveTo>
                  <a:lnTo>
                    <a:pt x="580306" y="0"/>
                  </a:lnTo>
                  <a:lnTo>
                    <a:pt x="580306" y="589144"/>
                  </a:lnTo>
                  <a:lnTo>
                    <a:pt x="0" y="58914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a:latin typeface="Arial" panose="020B0604020202020204" pitchFamily="34" charset="0"/>
                <a:cs typeface="Arial" panose="020B0604020202020204" pitchFamily="34" charset="0"/>
              </a:endParaRPr>
            </a:p>
          </p:txBody>
        </p:sp>
        <p:sp>
          <p:nvSpPr>
            <p:cNvPr id="44" name="TextBox 31">
              <a:extLst>
                <a:ext uri="{FF2B5EF4-FFF2-40B4-BE49-F238E27FC236}">
                  <a16:creationId xmlns:a16="http://schemas.microsoft.com/office/drawing/2014/main" id="{4CEC4E49-6177-9FBB-0760-7857782F24CD}"/>
                </a:ext>
              </a:extLst>
            </p:cNvPr>
            <p:cNvSpPr txBox="1"/>
            <p:nvPr/>
          </p:nvSpPr>
          <p:spPr>
            <a:xfrm>
              <a:off x="2373689" y="3680674"/>
              <a:ext cx="3036511" cy="256480"/>
            </a:xfrm>
            <a:prstGeom prst="rect">
              <a:avLst/>
            </a:prstGeom>
          </p:spPr>
          <p:txBody>
            <a:bodyPr wrap="square" lIns="0" tIns="0" rIns="0" bIns="0" rtlCol="0" anchor="t">
              <a:spAutoFit/>
            </a:bodyPr>
            <a:lstStyle/>
            <a:p>
              <a:pPr>
                <a:lnSpc>
                  <a:spcPts val="2048"/>
                </a:lnSpc>
              </a:pPr>
              <a:r>
                <a:rPr lang="en-US" sz="1800" dirty="0">
                  <a:solidFill>
                    <a:srgbClr val="FFFFFF"/>
                  </a:solidFill>
                  <a:latin typeface="Arial" panose="020B0604020202020204" pitchFamily="34" charset="0"/>
                  <a:ea typeface="League Spartan"/>
                  <a:cs typeface="Arial" panose="020B0604020202020204" pitchFamily="34" charset="0"/>
                  <a:sym typeface="League Spartan"/>
                </a:rPr>
                <a:t> Data Literacy &amp; Analysis</a:t>
              </a:r>
            </a:p>
          </p:txBody>
        </p:sp>
      </p:grpSp>
      <p:grpSp>
        <p:nvGrpSpPr>
          <p:cNvPr id="11" name="Group 10">
            <a:extLst>
              <a:ext uri="{FF2B5EF4-FFF2-40B4-BE49-F238E27FC236}">
                <a16:creationId xmlns:a16="http://schemas.microsoft.com/office/drawing/2014/main" id="{75D8A4D8-6F41-1562-6692-B177FDE997D6}"/>
              </a:ext>
            </a:extLst>
          </p:cNvPr>
          <p:cNvGrpSpPr/>
          <p:nvPr/>
        </p:nvGrpSpPr>
        <p:grpSpPr>
          <a:xfrm>
            <a:off x="6324600" y="2190045"/>
            <a:ext cx="5270117" cy="884067"/>
            <a:chOff x="6324600" y="2190045"/>
            <a:chExt cx="5270117" cy="884067"/>
          </a:xfrm>
        </p:grpSpPr>
        <p:sp>
          <p:nvSpPr>
            <p:cNvPr id="48" name="Freeform 3">
              <a:extLst>
                <a:ext uri="{FF2B5EF4-FFF2-40B4-BE49-F238E27FC236}">
                  <a16:creationId xmlns:a16="http://schemas.microsoft.com/office/drawing/2014/main" id="{7F967D94-5BAD-5584-39C9-1F8FBDD07903}"/>
                </a:ext>
              </a:extLst>
            </p:cNvPr>
            <p:cNvSpPr/>
            <p:nvPr/>
          </p:nvSpPr>
          <p:spPr>
            <a:xfrm>
              <a:off x="6324600" y="2208203"/>
              <a:ext cx="5270117" cy="847751"/>
            </a:xfrm>
            <a:custGeom>
              <a:avLst/>
              <a:gdLst/>
              <a:ahLst/>
              <a:cxnLst/>
              <a:rect l="l" t="t" r="r" b="b"/>
              <a:pathLst>
                <a:path w="1576291" h="208369">
                  <a:moveTo>
                    <a:pt x="80480" y="0"/>
                  </a:moveTo>
                  <a:lnTo>
                    <a:pt x="1495811" y="0"/>
                  </a:lnTo>
                  <a:cubicBezTo>
                    <a:pt x="1517156" y="0"/>
                    <a:pt x="1537626" y="8479"/>
                    <a:pt x="1552719" y="23572"/>
                  </a:cubicBezTo>
                  <a:cubicBezTo>
                    <a:pt x="1567812" y="38665"/>
                    <a:pt x="1576291" y="59135"/>
                    <a:pt x="1576291" y="80480"/>
                  </a:cubicBezTo>
                  <a:lnTo>
                    <a:pt x="1576291" y="127890"/>
                  </a:lnTo>
                  <a:cubicBezTo>
                    <a:pt x="1576291" y="149234"/>
                    <a:pt x="1567812" y="169705"/>
                    <a:pt x="1552719" y="184797"/>
                  </a:cubicBezTo>
                  <a:cubicBezTo>
                    <a:pt x="1537626" y="199890"/>
                    <a:pt x="1517156" y="208369"/>
                    <a:pt x="1495811" y="208369"/>
                  </a:cubicBezTo>
                  <a:lnTo>
                    <a:pt x="80480" y="208369"/>
                  </a:lnTo>
                  <a:cubicBezTo>
                    <a:pt x="59135" y="208369"/>
                    <a:pt x="38665" y="199890"/>
                    <a:pt x="23572" y="184797"/>
                  </a:cubicBezTo>
                  <a:cubicBezTo>
                    <a:pt x="8479" y="169705"/>
                    <a:pt x="0" y="149234"/>
                    <a:pt x="0" y="127890"/>
                  </a:cubicBezTo>
                  <a:lnTo>
                    <a:pt x="0" y="80480"/>
                  </a:lnTo>
                  <a:cubicBezTo>
                    <a:pt x="0" y="59135"/>
                    <a:pt x="8479" y="38665"/>
                    <a:pt x="23572" y="23572"/>
                  </a:cubicBezTo>
                  <a:cubicBezTo>
                    <a:pt x="38665" y="8479"/>
                    <a:pt x="59135" y="0"/>
                    <a:pt x="80480" y="0"/>
                  </a:cubicBezTo>
                  <a:close/>
                </a:path>
              </a:pathLst>
            </a:custGeom>
            <a:solidFill>
              <a:srgbClr val="005899"/>
            </a:solidFill>
          </p:spPr>
          <p:txBody>
            <a:bodyPr/>
            <a:lstStyle/>
            <a:p>
              <a:endParaRPr lang="en-IN" sz="800">
                <a:latin typeface="Arial" panose="020B0604020202020204" pitchFamily="34" charset="0"/>
                <a:cs typeface="Arial" panose="020B0604020202020204" pitchFamily="34" charset="0"/>
              </a:endParaRPr>
            </a:p>
          </p:txBody>
        </p:sp>
        <p:grpSp>
          <p:nvGrpSpPr>
            <p:cNvPr id="50" name="Group 5">
              <a:extLst>
                <a:ext uri="{FF2B5EF4-FFF2-40B4-BE49-F238E27FC236}">
                  <a16:creationId xmlns:a16="http://schemas.microsoft.com/office/drawing/2014/main" id="{B16FB7BA-89FB-15AF-33D3-52D39CB1BA45}"/>
                </a:ext>
              </a:extLst>
            </p:cNvPr>
            <p:cNvGrpSpPr/>
            <p:nvPr/>
          </p:nvGrpSpPr>
          <p:grpSpPr>
            <a:xfrm>
              <a:off x="7177184" y="2190045"/>
              <a:ext cx="884067" cy="884067"/>
              <a:chOff x="0" y="0"/>
              <a:chExt cx="812800" cy="812800"/>
            </a:xfrm>
          </p:grpSpPr>
          <p:sp>
            <p:nvSpPr>
              <p:cNvPr id="51" name="Freeform 6">
                <a:extLst>
                  <a:ext uri="{FF2B5EF4-FFF2-40B4-BE49-F238E27FC236}">
                    <a16:creationId xmlns:a16="http://schemas.microsoft.com/office/drawing/2014/main" id="{747B2603-E2A4-0198-B6A1-584AA72F7D5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99"/>
              </a:solidFill>
              <a:ln w="85725" cap="sq">
                <a:solidFill>
                  <a:srgbClr val="FFFFFF"/>
                </a:solidFill>
                <a:prstDash val="solid"/>
                <a:miter/>
              </a:ln>
            </p:spPr>
            <p:txBody>
              <a:bodyPr/>
              <a:lstStyle/>
              <a:p>
                <a:endParaRPr lang="en-IN" sz="800">
                  <a:latin typeface="Arial" panose="020B0604020202020204" pitchFamily="34" charset="0"/>
                  <a:cs typeface="Arial" panose="020B0604020202020204" pitchFamily="34" charset="0"/>
                </a:endParaRPr>
              </a:p>
            </p:txBody>
          </p:sp>
          <p:sp>
            <p:nvSpPr>
              <p:cNvPr id="52" name="TextBox 7">
                <a:extLst>
                  <a:ext uri="{FF2B5EF4-FFF2-40B4-BE49-F238E27FC236}">
                    <a16:creationId xmlns:a16="http://schemas.microsoft.com/office/drawing/2014/main" id="{D7652058-DA86-8EFF-267D-EB94D34C9D74}"/>
                  </a:ext>
                </a:extLst>
              </p:cNvPr>
              <p:cNvSpPr txBox="1"/>
              <p:nvPr/>
            </p:nvSpPr>
            <p:spPr>
              <a:xfrm>
                <a:off x="76200" y="38100"/>
                <a:ext cx="660400" cy="698500"/>
              </a:xfrm>
              <a:prstGeom prst="rect">
                <a:avLst/>
              </a:prstGeom>
            </p:spPr>
            <p:txBody>
              <a:bodyPr lIns="20627" tIns="20627" rIns="20627" bIns="20627" rtlCol="0" anchor="ctr"/>
              <a:lstStyle/>
              <a:p>
                <a:pPr algn="ctr">
                  <a:lnSpc>
                    <a:spcPts val="1773"/>
                  </a:lnSpc>
                  <a:spcBef>
                    <a:spcPct val="0"/>
                  </a:spcBef>
                </a:pPr>
                <a:endParaRPr sz="800">
                  <a:latin typeface="Arial" panose="020B0604020202020204" pitchFamily="34" charset="0"/>
                  <a:cs typeface="Arial" panose="020B0604020202020204" pitchFamily="34" charset="0"/>
                </a:endParaRPr>
              </a:p>
            </p:txBody>
          </p:sp>
        </p:grpSp>
        <p:sp>
          <p:nvSpPr>
            <p:cNvPr id="53" name="Freeform 8">
              <a:extLst>
                <a:ext uri="{FF2B5EF4-FFF2-40B4-BE49-F238E27FC236}">
                  <a16:creationId xmlns:a16="http://schemas.microsoft.com/office/drawing/2014/main" id="{01555075-FE4A-A23F-DF26-D1607ECA2F41}"/>
                </a:ext>
              </a:extLst>
            </p:cNvPr>
            <p:cNvSpPr/>
            <p:nvPr/>
          </p:nvSpPr>
          <p:spPr>
            <a:xfrm>
              <a:off x="7425781" y="2435698"/>
              <a:ext cx="386871" cy="392762"/>
            </a:xfrm>
            <a:custGeom>
              <a:avLst/>
              <a:gdLst/>
              <a:ahLst/>
              <a:cxnLst/>
              <a:rect l="l" t="t" r="r" b="b"/>
              <a:pathLst>
                <a:path w="580306" h="589143">
                  <a:moveTo>
                    <a:pt x="0" y="0"/>
                  </a:moveTo>
                  <a:lnTo>
                    <a:pt x="580306" y="0"/>
                  </a:lnTo>
                  <a:lnTo>
                    <a:pt x="580306" y="589143"/>
                  </a:lnTo>
                  <a:lnTo>
                    <a:pt x="0" y="5891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a:latin typeface="Arial" panose="020B0604020202020204" pitchFamily="34" charset="0"/>
                <a:cs typeface="Arial" panose="020B0604020202020204" pitchFamily="34" charset="0"/>
              </a:endParaRPr>
            </a:p>
          </p:txBody>
        </p:sp>
      </p:grpSp>
      <p:sp>
        <p:nvSpPr>
          <p:cNvPr id="61" name="TextBox 30">
            <a:extLst>
              <a:ext uri="{FF2B5EF4-FFF2-40B4-BE49-F238E27FC236}">
                <a16:creationId xmlns:a16="http://schemas.microsoft.com/office/drawing/2014/main" id="{D790FED8-CA16-6FFA-B2D9-B8497F9B8568}"/>
              </a:ext>
            </a:extLst>
          </p:cNvPr>
          <p:cNvSpPr txBox="1"/>
          <p:nvPr/>
        </p:nvSpPr>
        <p:spPr>
          <a:xfrm>
            <a:off x="8253416" y="2474011"/>
            <a:ext cx="3662827" cy="283411"/>
          </a:xfrm>
          <a:prstGeom prst="rect">
            <a:avLst/>
          </a:prstGeom>
        </p:spPr>
        <p:txBody>
          <a:bodyPr lIns="0" tIns="0" rIns="0" bIns="0" rtlCol="0" anchor="t">
            <a:spAutoFit/>
          </a:bodyPr>
          <a:lstStyle/>
          <a:p>
            <a:pPr>
              <a:lnSpc>
                <a:spcPts val="2389"/>
              </a:lnSpc>
              <a:spcBef>
                <a:spcPct val="0"/>
              </a:spcBef>
            </a:pPr>
            <a:r>
              <a:rPr lang="en-US" dirty="0">
                <a:solidFill>
                  <a:srgbClr val="FFFFFF"/>
                </a:solidFill>
                <a:latin typeface="Arial" panose="020B0604020202020204" pitchFamily="34" charset="0"/>
                <a:ea typeface="League Spartan"/>
                <a:cs typeface="Arial" panose="020B0604020202020204" pitchFamily="34" charset="0"/>
                <a:sym typeface="League Spartan"/>
              </a:rPr>
              <a:t>OOPs Concept</a:t>
            </a:r>
          </a:p>
        </p:txBody>
      </p:sp>
    </p:spTree>
    <p:custDataLst>
      <p:tags r:id="rId1"/>
    </p:custDataLst>
    <p:extLst>
      <p:ext uri="{BB962C8B-B14F-4D97-AF65-F5344CB8AC3E}">
        <p14:creationId xmlns:p14="http://schemas.microsoft.com/office/powerpoint/2010/main" val="1013712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a:extLst>
              <a:ext uri="{FF2B5EF4-FFF2-40B4-BE49-F238E27FC236}">
                <a16:creationId xmlns:a16="http://schemas.microsoft.com/office/drawing/2014/main" id="{65FBC707-0C5C-47FF-BEBC-99B0A31B6001}"/>
              </a:ext>
            </a:extLst>
          </p:cNvPr>
          <p:cNvSpPr/>
          <p:nvPr/>
        </p:nvSpPr>
        <p:spPr>
          <a:xfrm>
            <a:off x="5158571" y="3013836"/>
            <a:ext cx="4557761" cy="1322969"/>
          </a:xfrm>
          <a:custGeom>
            <a:avLst/>
            <a:gdLst/>
            <a:ahLst/>
            <a:cxnLst/>
            <a:rect l="l" t="t" r="r" b="b"/>
            <a:pathLst>
              <a:path w="9115522" h="1777527">
                <a:moveTo>
                  <a:pt x="0" y="0"/>
                </a:moveTo>
                <a:lnTo>
                  <a:pt x="9115522" y="0"/>
                </a:lnTo>
                <a:lnTo>
                  <a:pt x="9115522" y="1777527"/>
                </a:lnTo>
                <a:lnTo>
                  <a:pt x="0" y="177752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nchor="ctr"/>
          <a:lstStyle/>
          <a:p>
            <a:pPr algn="ctr"/>
            <a:endParaRPr lang="en-IN" sz="800" dirty="0"/>
          </a:p>
        </p:txBody>
      </p:sp>
      <p:sp>
        <p:nvSpPr>
          <p:cNvPr id="4" name="Freeform 4">
            <a:extLst>
              <a:ext uri="{FF2B5EF4-FFF2-40B4-BE49-F238E27FC236}">
                <a16:creationId xmlns:a16="http://schemas.microsoft.com/office/drawing/2014/main" id="{ECBEBF98-58E9-7179-5E24-C2C95E188467}"/>
              </a:ext>
            </a:extLst>
          </p:cNvPr>
          <p:cNvSpPr/>
          <p:nvPr/>
        </p:nvSpPr>
        <p:spPr>
          <a:xfrm flipH="1">
            <a:off x="2475668" y="3020431"/>
            <a:ext cx="4557761" cy="1322969"/>
          </a:xfrm>
          <a:custGeom>
            <a:avLst/>
            <a:gdLst/>
            <a:ahLst/>
            <a:cxnLst/>
            <a:rect l="l" t="t" r="r" b="b"/>
            <a:pathLst>
              <a:path w="9115522" h="1777527">
                <a:moveTo>
                  <a:pt x="9115522" y="0"/>
                </a:moveTo>
                <a:lnTo>
                  <a:pt x="0" y="0"/>
                </a:lnTo>
                <a:lnTo>
                  <a:pt x="0" y="1777527"/>
                </a:lnTo>
                <a:lnTo>
                  <a:pt x="9115522" y="1777527"/>
                </a:lnTo>
                <a:lnTo>
                  <a:pt x="9115522"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sz="800" dirty="0"/>
          </a:p>
        </p:txBody>
      </p:sp>
      <p:sp>
        <p:nvSpPr>
          <p:cNvPr id="5" name="TextBox 5">
            <a:extLst>
              <a:ext uri="{FF2B5EF4-FFF2-40B4-BE49-F238E27FC236}">
                <a16:creationId xmlns:a16="http://schemas.microsoft.com/office/drawing/2014/main" id="{2F96954A-20FB-1A6D-3798-4069831ED5C7}"/>
              </a:ext>
            </a:extLst>
          </p:cNvPr>
          <p:cNvSpPr txBox="1"/>
          <p:nvPr/>
        </p:nvSpPr>
        <p:spPr>
          <a:xfrm>
            <a:off x="3455340" y="3189605"/>
            <a:ext cx="5281320" cy="746551"/>
          </a:xfrm>
          <a:prstGeom prst="rect">
            <a:avLst/>
          </a:prstGeom>
        </p:spPr>
        <p:txBody>
          <a:bodyPr lIns="0" tIns="0" rIns="0" bIns="0" rtlCol="0" anchor="ctr">
            <a:spAutoFit/>
          </a:bodyPr>
          <a:lstStyle/>
          <a:p>
            <a:pPr algn="ctr">
              <a:lnSpc>
                <a:spcPts val="6712"/>
              </a:lnSpc>
              <a:spcBef>
                <a:spcPct val="0"/>
              </a:spcBef>
            </a:pPr>
            <a:r>
              <a:rPr lang="en-US" sz="3000" b="1" dirty="0">
                <a:solidFill>
                  <a:srgbClr val="002646"/>
                </a:solidFill>
                <a:latin typeface="Arial" panose="020B0604020202020204" pitchFamily="34" charset="0"/>
                <a:ea typeface="Poppins Bold"/>
                <a:cs typeface="Arial" panose="020B0604020202020204" pitchFamily="34" charset="0"/>
                <a:sym typeface="Poppins Bold"/>
              </a:rPr>
              <a:t>Chapter 2.3</a:t>
            </a:r>
          </a:p>
        </p:txBody>
      </p:sp>
    </p:spTree>
    <p:custDataLst>
      <p:tags r:id="rId1"/>
    </p:custDataLst>
    <p:extLst>
      <p:ext uri="{BB962C8B-B14F-4D97-AF65-F5344CB8AC3E}">
        <p14:creationId xmlns:p14="http://schemas.microsoft.com/office/powerpoint/2010/main" val="1630480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8" y="838200"/>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Learning Objective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361142" y="1335397"/>
            <a:ext cx="5811058" cy="2246003"/>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Retrieve data from multiple sources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Perform Exploratory Data Analysis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Handle categorical and ordinal features</a:t>
            </a:r>
          </a:p>
          <a:p>
            <a:pPr marL="228600" indent="-228600">
              <a:spcBef>
                <a:spcPts val="0"/>
              </a:spcBef>
              <a:spcAft>
                <a:spcPts val="800"/>
              </a:spcAft>
            </a:pPr>
            <a:r>
              <a:rPr lang="en-US" sz="1800" dirty="0">
                <a:latin typeface="Arial" panose="020B0604020202020204" pitchFamily="34" charset="0"/>
                <a:cs typeface="Arial" panose="020B0604020202020204" pitchFamily="34" charset="0"/>
              </a:rPr>
              <a:t>Will get practical exposure to data analysis tools like NumPy, </a:t>
            </a:r>
            <a:r>
              <a:rPr lang="en-US" sz="1800" dirty="0" err="1">
                <a:latin typeface="Arial" panose="020B0604020202020204" pitchFamily="34" charset="0"/>
                <a:cs typeface="Arial" panose="020B0604020202020204" pitchFamily="34" charset="0"/>
              </a:rPr>
              <a:t>Matplotlib,and</a:t>
            </a:r>
            <a:r>
              <a:rPr lang="en-US" sz="1800" dirty="0">
                <a:latin typeface="Arial" panose="020B0604020202020204" pitchFamily="34" charset="0"/>
                <a:cs typeface="Arial" panose="020B0604020202020204" pitchFamily="34" charset="0"/>
              </a:rPr>
              <a:t> Pandas.</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pSp>
        <p:nvGrpSpPr>
          <p:cNvPr id="12" name="Group 11">
            <a:extLst>
              <a:ext uri="{FF2B5EF4-FFF2-40B4-BE49-F238E27FC236}">
                <a16:creationId xmlns:a16="http://schemas.microsoft.com/office/drawing/2014/main" id="{41626792-F595-0EEC-9D0F-571D8889A6A2}"/>
              </a:ext>
            </a:extLst>
          </p:cNvPr>
          <p:cNvGrpSpPr/>
          <p:nvPr/>
        </p:nvGrpSpPr>
        <p:grpSpPr>
          <a:xfrm>
            <a:off x="7924800" y="1514475"/>
            <a:ext cx="3543300" cy="3829050"/>
            <a:chOff x="8153400" y="1514475"/>
            <a:chExt cx="3543300" cy="3829050"/>
          </a:xfrm>
        </p:grpSpPr>
        <p:cxnSp>
          <p:nvCxnSpPr>
            <p:cNvPr id="13" name="Straight Connector 12">
              <a:extLst>
                <a:ext uri="{FF2B5EF4-FFF2-40B4-BE49-F238E27FC236}">
                  <a16:creationId xmlns:a16="http://schemas.microsoft.com/office/drawing/2014/main" id="{17ABEA62-1393-60EA-F23A-CDA515034080}"/>
                </a:ext>
              </a:extLst>
            </p:cNvPr>
            <p:cNvCxnSpPr/>
            <p:nvPr/>
          </p:nvCxnSpPr>
          <p:spPr>
            <a:xfrm>
              <a:off x="8382000" y="5257800"/>
              <a:ext cx="22098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white board with check marks and a target&#10;&#10;Description automatically generated">
              <a:extLst>
                <a:ext uri="{FF2B5EF4-FFF2-40B4-BE49-F238E27FC236}">
                  <a16:creationId xmlns:a16="http://schemas.microsoft.com/office/drawing/2014/main" id="{BD213462-DBB8-8E4F-11DB-9C40F792B3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53400" y="1514475"/>
              <a:ext cx="3543300" cy="3829050"/>
            </a:xfrm>
            <a:prstGeom prst="rect">
              <a:avLst/>
            </a:prstGeom>
          </p:spPr>
        </p:pic>
      </p:grpSp>
    </p:spTree>
    <p:custDataLst>
      <p:tags r:id="rId1"/>
    </p:custDataLst>
    <p:extLst>
      <p:ext uri="{BB962C8B-B14F-4D97-AF65-F5344CB8AC3E}">
        <p14:creationId xmlns:p14="http://schemas.microsoft.com/office/powerpoint/2010/main" val="3247350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838200"/>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Learning Outcome</a:t>
            </a:r>
          </a:p>
        </p:txBody>
      </p:sp>
      <p:sp>
        <p:nvSpPr>
          <p:cNvPr id="2" name="Text Placeholder 4">
            <a:extLst>
              <a:ext uri="{FF2B5EF4-FFF2-40B4-BE49-F238E27FC236}">
                <a16:creationId xmlns:a16="http://schemas.microsoft.com/office/drawing/2014/main" id="{9835D79F-345C-6435-F4A9-FE2A9E806174}"/>
              </a:ext>
            </a:extLst>
          </p:cNvPr>
          <p:cNvSpPr txBox="1">
            <a:spLocks/>
          </p:cNvSpPr>
          <p:nvPr/>
        </p:nvSpPr>
        <p:spPr>
          <a:xfrm>
            <a:off x="457200" y="1371600"/>
            <a:ext cx="5638800" cy="3180358"/>
          </a:xfrm>
          <a:prstGeom prst="rect">
            <a:avLst/>
          </a:prstGeom>
        </p:spPr>
        <p:txBody>
          <a:bodyPr wrap="square" lIns="0" tIns="0" rIns="0" bIns="0">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defTabSz="914400" eaLnBrk="0" fontAlgn="base" hangingPunct="0">
              <a:spcBef>
                <a:spcPct val="0"/>
              </a:spcBef>
              <a:spcAft>
                <a:spcPts val="800"/>
              </a:spcAft>
            </a:pPr>
            <a:r>
              <a:rPr lang="en-US" altLang="en-US" sz="1800" dirty="0">
                <a:latin typeface="Arial" panose="020B0604020202020204" pitchFamily="34" charset="0"/>
              </a:rPr>
              <a:t>Retrieve and integrate data from </a:t>
            </a:r>
            <a:r>
              <a:rPr lang="en-US" altLang="en-US" sz="1800" b="1" dirty="0">
                <a:latin typeface="Arial" panose="020B0604020202020204" pitchFamily="34" charset="0"/>
              </a:rPr>
              <a:t>multiple sources</a:t>
            </a:r>
            <a:r>
              <a:rPr lang="en-US" altLang="en-US" sz="1800" dirty="0">
                <a:latin typeface="Arial" panose="020B0604020202020204" pitchFamily="34" charset="0"/>
              </a:rPr>
              <a:t> for analysis.</a:t>
            </a:r>
          </a:p>
          <a:p>
            <a:pPr defTabSz="914400" eaLnBrk="0" fontAlgn="base" hangingPunct="0">
              <a:spcBef>
                <a:spcPct val="0"/>
              </a:spcBef>
              <a:spcAft>
                <a:spcPts val="800"/>
              </a:spcAft>
            </a:pPr>
            <a:r>
              <a:rPr lang="en-US" altLang="en-US" sz="1800" dirty="0">
                <a:latin typeface="Arial" panose="020B0604020202020204" pitchFamily="34" charset="0"/>
              </a:rPr>
              <a:t>Perform </a:t>
            </a:r>
            <a:r>
              <a:rPr lang="en-US" altLang="en-US" sz="1800" b="1" dirty="0">
                <a:latin typeface="Arial" panose="020B0604020202020204" pitchFamily="34" charset="0"/>
              </a:rPr>
              <a:t>Exploratory Data Analysis (EDA)</a:t>
            </a:r>
            <a:r>
              <a:rPr lang="en-US" altLang="en-US" sz="1800" dirty="0">
                <a:latin typeface="Arial" panose="020B0604020202020204" pitchFamily="34" charset="0"/>
              </a:rPr>
              <a:t> to identify patterns, trends, and anomalies in datasets.</a:t>
            </a:r>
          </a:p>
          <a:p>
            <a:pPr defTabSz="914400" eaLnBrk="0" fontAlgn="base" hangingPunct="0">
              <a:spcBef>
                <a:spcPct val="0"/>
              </a:spcBef>
              <a:spcAft>
                <a:spcPts val="800"/>
              </a:spcAft>
            </a:pPr>
            <a:r>
              <a:rPr lang="en-US" altLang="en-US" sz="1800" dirty="0">
                <a:latin typeface="Arial" panose="020B0604020202020204" pitchFamily="34" charset="0"/>
              </a:rPr>
              <a:t>Effectively handle </a:t>
            </a:r>
            <a:r>
              <a:rPr lang="en-US" altLang="en-US" sz="1800" b="1" dirty="0">
                <a:latin typeface="Arial" panose="020B0604020202020204" pitchFamily="34" charset="0"/>
              </a:rPr>
              <a:t>categorical and ordinal features</a:t>
            </a:r>
            <a:r>
              <a:rPr lang="en-US" altLang="en-US" sz="1800" dirty="0">
                <a:latin typeface="Arial" panose="020B0604020202020204" pitchFamily="34" charset="0"/>
              </a:rPr>
              <a:t> during data preprocessing.</a:t>
            </a:r>
          </a:p>
          <a:p>
            <a:pPr defTabSz="914400" eaLnBrk="0" fontAlgn="base" hangingPunct="0">
              <a:spcBef>
                <a:spcPct val="0"/>
              </a:spcBef>
              <a:spcAft>
                <a:spcPts val="800"/>
              </a:spcAft>
            </a:pPr>
            <a:r>
              <a:rPr lang="en-US" altLang="en-US" sz="1800" dirty="0">
                <a:latin typeface="Arial" panose="020B0604020202020204" pitchFamily="34" charset="0"/>
              </a:rPr>
              <a:t>Gain </a:t>
            </a:r>
            <a:r>
              <a:rPr lang="en-US" altLang="en-US" sz="1800" b="1" dirty="0">
                <a:latin typeface="Arial" panose="020B0604020202020204" pitchFamily="34" charset="0"/>
              </a:rPr>
              <a:t>practical exposure</a:t>
            </a:r>
            <a:r>
              <a:rPr lang="en-US" altLang="en-US" sz="1800" dirty="0">
                <a:latin typeface="Arial" panose="020B0604020202020204" pitchFamily="34" charset="0"/>
              </a:rPr>
              <a:t> to widely used data analysis libraries such as </a:t>
            </a:r>
            <a:r>
              <a:rPr lang="en-US" altLang="en-US" sz="1800" b="1" dirty="0">
                <a:latin typeface="Arial" panose="020B0604020202020204" pitchFamily="34" charset="0"/>
              </a:rPr>
              <a:t>NumPy</a:t>
            </a:r>
            <a:r>
              <a:rPr lang="en-US" altLang="en-US" sz="1800" dirty="0">
                <a:latin typeface="Arial" panose="020B0604020202020204" pitchFamily="34" charset="0"/>
              </a:rPr>
              <a:t>, </a:t>
            </a:r>
            <a:r>
              <a:rPr lang="en-US" altLang="en-US" sz="1800" b="1" dirty="0">
                <a:latin typeface="Arial" panose="020B0604020202020204" pitchFamily="34" charset="0"/>
              </a:rPr>
              <a:t>Matplotlib</a:t>
            </a:r>
            <a:r>
              <a:rPr lang="en-US" altLang="en-US" sz="1800" dirty="0">
                <a:latin typeface="Arial" panose="020B0604020202020204" pitchFamily="34" charset="0"/>
              </a:rPr>
              <a:t>, and </a:t>
            </a:r>
            <a:r>
              <a:rPr lang="en-US" altLang="en-US" sz="1800" b="1" dirty="0">
                <a:latin typeface="Arial" panose="020B0604020202020204" pitchFamily="34" charset="0"/>
              </a:rPr>
              <a:t>Pandas</a:t>
            </a:r>
            <a:r>
              <a:rPr lang="en-US" altLang="en-US" sz="1800" dirty="0">
                <a:latin typeface="Arial" panose="020B0604020202020204" pitchFamily="34" charset="0"/>
              </a:rPr>
              <a:t> for manipulating and visualizing data.</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3" name="Picture 2" descr="A book with a light bulb and gears&#10;&#10;Description automatically generated">
            <a:extLst>
              <a:ext uri="{FF2B5EF4-FFF2-40B4-BE49-F238E27FC236}">
                <a16:creationId xmlns:a16="http://schemas.microsoft.com/office/drawing/2014/main" id="{70F275FE-BCC3-EFC9-0E66-1F957E5591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62800" y="1676400"/>
            <a:ext cx="3909155" cy="4845893"/>
          </a:xfrm>
          <a:prstGeom prst="rect">
            <a:avLst/>
          </a:prstGeom>
        </p:spPr>
      </p:pic>
    </p:spTree>
    <p:custDataLst>
      <p:tags r:id="rId1"/>
    </p:custDataLst>
    <p:extLst>
      <p:ext uri="{BB962C8B-B14F-4D97-AF65-F5344CB8AC3E}">
        <p14:creationId xmlns:p14="http://schemas.microsoft.com/office/powerpoint/2010/main" val="2849240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nline Media 4" title="What is Data Analytics | Data Analytics in 5 Minutes | Intellipaat">
            <a:hlinkClick r:id="" action="ppaction://media"/>
            <a:extLst>
              <a:ext uri="{FF2B5EF4-FFF2-40B4-BE49-F238E27FC236}">
                <a16:creationId xmlns:a16="http://schemas.microsoft.com/office/drawing/2014/main" id="{23686589-05D8-0BE1-AA68-B28DD7A846A6}"/>
              </a:ext>
            </a:extLst>
          </p:cNvPr>
          <p:cNvPicPr>
            <a:picLocks noRot="1" noChangeAspect="1"/>
          </p:cNvPicPr>
          <p:nvPr>
            <a:videoFile r:link="rId1"/>
          </p:nvPr>
        </p:nvPicPr>
        <p:blipFill>
          <a:blip r:embed="rId4"/>
          <a:stretch>
            <a:fillRect/>
          </a:stretch>
        </p:blipFill>
        <p:spPr>
          <a:xfrm>
            <a:off x="2484070" y="1685925"/>
            <a:ext cx="7223859" cy="4081481"/>
          </a:xfrm>
          <a:prstGeom prst="rect">
            <a:avLst/>
          </a:prstGeom>
        </p:spPr>
      </p:pic>
      <p:sp>
        <p:nvSpPr>
          <p:cNvPr id="6" name="TextBox 5">
            <a:extLst>
              <a:ext uri="{FF2B5EF4-FFF2-40B4-BE49-F238E27FC236}">
                <a16:creationId xmlns:a16="http://schemas.microsoft.com/office/drawing/2014/main" id="{444BD7A6-254D-175B-D33E-E626A99AADCF}"/>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5">
                  <a:extLst>
                    <a:ext uri="{A12FA001-AC4F-418D-AE19-62706E023703}">
                      <ahyp:hlinkClr xmlns:ahyp="http://schemas.microsoft.com/office/drawing/2018/hyperlinkcolor" val="tx"/>
                    </a:ext>
                  </a:extLst>
                </a:hlinkClick>
              </a:rPr>
              <a:t>https://www.youtube.com/watch?v=37x5dKW-X5U</a:t>
            </a:r>
            <a:endParaRPr lang="en-IN" sz="1200" dirty="0">
              <a:solidFill>
                <a:srgbClr val="0000FF"/>
              </a:solidFill>
              <a:latin typeface="+mj-lt"/>
            </a:endParaRPr>
          </a:p>
        </p:txBody>
      </p:sp>
      <p:sp>
        <p:nvSpPr>
          <p:cNvPr id="7" name="Google Shape;62;g5fab984687_2_0">
            <a:extLst>
              <a:ext uri="{FF2B5EF4-FFF2-40B4-BE49-F238E27FC236}">
                <a16:creationId xmlns:a16="http://schemas.microsoft.com/office/drawing/2014/main" id="{CDD75F20-4EC2-BDB4-B81A-445C1DE6D668}"/>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cxnSp>
        <p:nvCxnSpPr>
          <p:cNvPr id="8" name="Straight Connector 7">
            <a:extLst>
              <a:ext uri="{FF2B5EF4-FFF2-40B4-BE49-F238E27FC236}">
                <a16:creationId xmlns:a16="http://schemas.microsoft.com/office/drawing/2014/main" id="{5A61735F-633E-6153-1C1E-7C5E8DF13F74}"/>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Google Shape;61;g5fab984687_2_0">
            <a:extLst>
              <a:ext uri="{FF2B5EF4-FFF2-40B4-BE49-F238E27FC236}">
                <a16:creationId xmlns:a16="http://schemas.microsoft.com/office/drawing/2014/main" id="{DEC3F8BC-4294-EC6B-8130-CB70A34E3033}"/>
              </a:ext>
            </a:extLst>
          </p:cNvPr>
          <p:cNvSpPr txBox="1">
            <a:spLocks/>
          </p:cNvSpPr>
          <p:nvPr/>
        </p:nvSpPr>
        <p:spPr>
          <a:xfrm>
            <a:off x="365925" y="804462"/>
            <a:ext cx="4434675" cy="4643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SzPts val="2800"/>
            </a:pPr>
            <a:r>
              <a:rPr lang="en-IN" sz="2000" b="1" dirty="0">
                <a:solidFill>
                  <a:srgbClr val="213163"/>
                </a:solidFill>
              </a:rPr>
              <a:t>Importance of Data Analysis </a:t>
            </a:r>
            <a:endParaRPr lang="en-IN"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347599" y="762000"/>
            <a:ext cx="3914776" cy="429684"/>
          </a:xfrm>
          <a:prstGeom prst="rect">
            <a:avLst/>
          </a:prstGeom>
          <a:noFill/>
          <a:ln>
            <a:noFill/>
          </a:ln>
        </p:spPr>
        <p:txBody>
          <a:bodyPr spcFirstLastPara="1" wrap="square" lIns="121900" tIns="121900" rIns="121900" bIns="121900" anchor="t" anchorCtr="0">
            <a:noAutofit/>
          </a:bodyPr>
          <a:lstStyle/>
          <a:p>
            <a:pPr algn="l">
              <a:buSzPts val="2800"/>
            </a:pPr>
            <a:r>
              <a:rPr lang="en-IN" sz="2000" b="1" dirty="0">
                <a:solidFill>
                  <a:srgbClr val="213163"/>
                </a:solidFill>
                <a:latin typeface="Arial" panose="020B0604020202020204" pitchFamily="34" charset="0"/>
                <a:cs typeface="Arial" panose="020B0604020202020204" pitchFamily="34" charset="0"/>
              </a:rPr>
              <a:t>What is Data Analytics?</a:t>
            </a:r>
            <a:endParaRPr sz="2000"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FAB95C75-84C3-7B58-2433-FC6E8F923BBB}"/>
              </a:ext>
            </a:extLst>
          </p:cNvPr>
          <p:cNvSpPr txBox="1"/>
          <p:nvPr/>
        </p:nvSpPr>
        <p:spPr>
          <a:xfrm>
            <a:off x="366649" y="1331679"/>
            <a:ext cx="5881751" cy="2513509"/>
          </a:xfrm>
          <a:prstGeom prst="rect">
            <a:avLst/>
          </a:prstGeom>
          <a:noFill/>
        </p:spPr>
        <p:txBody>
          <a:bodyPr wrap="square" lIns="91440" tIns="45720" rIns="91440" bIns="45720" anchor="t">
            <a:spAutoFit/>
          </a:bodyPr>
          <a:lstStyle/>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Data analytics is the systematic computational analysis of data to extract meaningful insights, identify patterns, and support decision-making. </a:t>
            </a:r>
          </a:p>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It involves various processes such as data collection, cleaning, transformation, analysis, and visualization. </a:t>
            </a:r>
          </a:p>
          <a:p>
            <a:pPr marL="228600" indent="-228600">
              <a:spcAft>
                <a:spcPts val="800"/>
              </a:spcAft>
              <a:buFont typeface="Arial" panose="020B0604020202020204" pitchFamily="34" charset="0"/>
              <a:buChar char="•"/>
            </a:pPr>
            <a:r>
              <a:rPr lang="en-US" sz="1800" dirty="0">
                <a:latin typeface="Arial" panose="020B0604020202020204" pitchFamily="34" charset="0"/>
                <a:cs typeface="Arial" panose="020B0604020202020204" pitchFamily="34" charset="0"/>
              </a:rPr>
              <a:t>The goal is to derive useful information from data that can help in making informed business decisions, improving processes, and predicting future trends.</a:t>
            </a:r>
            <a:endParaRPr lang="en-IN" sz="1800" dirty="0">
              <a:latin typeface="Arial" panose="020B0604020202020204" pitchFamily="34" charset="0"/>
              <a:cs typeface="Arial" panose="020B0604020202020204" pitchFamily="34" charset="0"/>
            </a:endParaRPr>
          </a:p>
        </p:txBody>
      </p:sp>
      <p:pic>
        <p:nvPicPr>
          <p:cNvPr id="4" name="Picture 3" descr="A computer with a magnifying glass and a plant&#10;&#10;Description automatically generated">
            <a:extLst>
              <a:ext uri="{FF2B5EF4-FFF2-40B4-BE49-F238E27FC236}">
                <a16:creationId xmlns:a16="http://schemas.microsoft.com/office/drawing/2014/main" id="{9A1D36B0-C77C-82F3-634E-A7DBF8C88DD1}"/>
              </a:ext>
            </a:extLst>
          </p:cNvPr>
          <p:cNvPicPr>
            <a:picLocks noChangeAspect="1"/>
          </p:cNvPicPr>
          <p:nvPr/>
        </p:nvPicPr>
        <p:blipFill>
          <a:blip r:embed="rId3"/>
          <a:stretch>
            <a:fillRect/>
          </a:stretch>
        </p:blipFill>
        <p:spPr>
          <a:xfrm>
            <a:off x="6272149" y="1581234"/>
            <a:ext cx="5810250" cy="3525120"/>
          </a:xfrm>
          <a:prstGeom prst="rect">
            <a:avLst/>
          </a:prstGeom>
          <a:ln w="3175">
            <a:solidFill>
              <a:schemeClr val="bg2"/>
            </a:solidFill>
          </a:ln>
        </p:spPr>
      </p:pic>
      <p:sp>
        <p:nvSpPr>
          <p:cNvPr id="2" name="TextBox 1">
            <a:extLst>
              <a:ext uri="{FF2B5EF4-FFF2-40B4-BE49-F238E27FC236}">
                <a16:creationId xmlns:a16="http://schemas.microsoft.com/office/drawing/2014/main" id="{A89C6E45-2A8C-05F5-B08B-90B81F378A73}"/>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https://miro.medium.com/v2/resize:fit:720/format:webp/0*cmWRXafuUmoOQrlq.gif</a:t>
            </a:r>
            <a:endParaRPr lang="en-IN" sz="1200" dirty="0">
              <a:solidFill>
                <a:srgbClr val="0000FF"/>
              </a:solidFill>
              <a:latin typeface="+mj-lt"/>
            </a:endParaRPr>
          </a:p>
        </p:txBody>
      </p:sp>
      <p:cxnSp>
        <p:nvCxnSpPr>
          <p:cNvPr id="7" name="Straight Connector 6">
            <a:extLst>
              <a:ext uri="{FF2B5EF4-FFF2-40B4-BE49-F238E27FC236}">
                <a16:creationId xmlns:a16="http://schemas.microsoft.com/office/drawing/2014/main" id="{625E62ED-C27A-2D29-C039-0DE415CB54C0}"/>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6" name="Google Shape;62;g5fab984687_2_0">
            <a:extLst>
              <a:ext uri="{FF2B5EF4-FFF2-40B4-BE49-F238E27FC236}">
                <a16:creationId xmlns:a16="http://schemas.microsoft.com/office/drawing/2014/main" id="{DC55649A-1F64-847A-D50E-5EFA3616352C}"/>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extLst>
      <p:ext uri="{BB962C8B-B14F-4D97-AF65-F5344CB8AC3E}">
        <p14:creationId xmlns:p14="http://schemas.microsoft.com/office/powerpoint/2010/main" val="2981650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g5fab984687_2_0"/>
          <p:cNvSpPr txBox="1">
            <a:spLocks noGrp="1"/>
          </p:cNvSpPr>
          <p:nvPr>
            <p:ph type="title" idx="4294967295"/>
          </p:nvPr>
        </p:nvSpPr>
        <p:spPr>
          <a:xfrm>
            <a:off x="352424" y="786142"/>
            <a:ext cx="3914776" cy="429684"/>
          </a:xfrm>
          <a:prstGeom prst="rect">
            <a:avLst/>
          </a:prstGeom>
          <a:noFill/>
          <a:ln>
            <a:noFill/>
          </a:ln>
        </p:spPr>
        <p:txBody>
          <a:bodyPr spcFirstLastPara="1" wrap="square" lIns="121900" tIns="121900" rIns="121900" bIns="121900" anchor="t" anchorCtr="0">
            <a:noAutofit/>
          </a:bodyPr>
          <a:lstStyle/>
          <a:p>
            <a:pPr algn="l">
              <a:buSzPts val="2800"/>
            </a:pPr>
            <a:r>
              <a:rPr lang="en-IN" sz="2000" b="1" dirty="0">
                <a:solidFill>
                  <a:srgbClr val="213163"/>
                </a:solidFill>
                <a:latin typeface="Arial" panose="020B0604020202020204" pitchFamily="34" charset="0"/>
                <a:cs typeface="Arial" panose="020B0604020202020204" pitchFamily="34" charset="0"/>
              </a:rPr>
              <a:t>Types of  Data Analytics</a:t>
            </a:r>
          </a:p>
        </p:txBody>
      </p:sp>
      <p:grpSp>
        <p:nvGrpSpPr>
          <p:cNvPr id="15" name="Group 14">
            <a:extLst>
              <a:ext uri="{FF2B5EF4-FFF2-40B4-BE49-F238E27FC236}">
                <a16:creationId xmlns:a16="http://schemas.microsoft.com/office/drawing/2014/main" id="{E5BBC482-D7BB-8413-20C6-D6F8E135E126}"/>
              </a:ext>
            </a:extLst>
          </p:cNvPr>
          <p:cNvGrpSpPr/>
          <p:nvPr/>
        </p:nvGrpSpPr>
        <p:grpSpPr>
          <a:xfrm>
            <a:off x="762000" y="2438400"/>
            <a:ext cx="2209800" cy="2209800"/>
            <a:chOff x="762000" y="2438400"/>
            <a:chExt cx="2209800" cy="2209800"/>
          </a:xfrm>
        </p:grpSpPr>
        <p:sp>
          <p:nvSpPr>
            <p:cNvPr id="7" name="Rectangle 6">
              <a:extLst>
                <a:ext uri="{FF2B5EF4-FFF2-40B4-BE49-F238E27FC236}">
                  <a16:creationId xmlns:a16="http://schemas.microsoft.com/office/drawing/2014/main" id="{8C0219A0-60D2-FF83-B901-B9B6FAA8EC2F}"/>
                </a:ext>
              </a:extLst>
            </p:cNvPr>
            <p:cNvSpPr>
              <a:spLocks/>
            </p:cNvSpPr>
            <p:nvPr/>
          </p:nvSpPr>
          <p:spPr>
            <a:xfrm>
              <a:off x="762000" y="2438400"/>
              <a:ext cx="2209800" cy="2209800"/>
            </a:xfrm>
            <a:prstGeom prst="rect">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Descriptive Analytics: Steps, Techniques, Use Case, Examples">
              <a:extLst>
                <a:ext uri="{FF2B5EF4-FFF2-40B4-BE49-F238E27FC236}">
                  <a16:creationId xmlns:a16="http://schemas.microsoft.com/office/drawing/2014/main" id="{9B6D1C97-C21E-BBB3-088D-A6CFA79E5C3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4375" l="16038" r="47524">
                          <a14:foregroundMark x1="16038" y1="29063" x2="16038" y2="29063"/>
                          <a14:foregroundMark x1="43632" y1="18750" x2="43632" y2="18750"/>
                          <a14:foregroundMark x1="38090" y1="19688" x2="38090" y2="19688"/>
                          <a14:foregroundMark x1="40802" y1="35938" x2="40802" y2="35938"/>
                          <a14:foregroundMark x1="42807" y1="61875" x2="42807" y2="61875"/>
                          <a14:foregroundMark x1="41981" y1="61250" x2="41981" y2="61250"/>
                          <a14:foregroundMark x1="38090" y1="12812" x2="38090" y2="12812"/>
                          <a14:foregroundMark x1="37618" y1="13438" x2="37618" y2="13438"/>
                          <a14:foregroundMark x1="39387" y1="50625" x2="39387" y2="50625"/>
                          <a14:foregroundMark x1="33962" y1="57188" x2="33962" y2="57188"/>
                          <a14:foregroundMark x1="31840" y1="57500" x2="31840" y2="57500"/>
                          <a14:foregroundMark x1="24882" y1="91875" x2="24882" y2="91875"/>
                          <a14:foregroundMark x1="21934" y1="94375" x2="21934" y2="94375"/>
                        </a14:backgroundRemoval>
                      </a14:imgEffect>
                    </a14:imgLayer>
                  </a14:imgProps>
                </a:ext>
                <a:ext uri="{28A0092B-C50C-407E-A947-70E740481C1C}">
                  <a14:useLocalDpi xmlns:a14="http://schemas.microsoft.com/office/drawing/2010/main" val="0"/>
                </a:ext>
              </a:extLst>
            </a:blip>
            <a:srcRect l="13941" r="48742"/>
            <a:stretch/>
          </p:blipFill>
          <p:spPr bwMode="auto">
            <a:xfrm>
              <a:off x="914400" y="2590800"/>
              <a:ext cx="1925393" cy="1947026"/>
            </a:xfrm>
            <a:prstGeom prst="rect">
              <a:avLst/>
            </a:prstGeom>
            <a:ln>
              <a:noFill/>
            </a:ln>
            <a:effectLst/>
            <a:extLst>
              <a:ext uri="{909E8E84-426E-40DD-AFC4-6F175D3DCCD1}">
                <a14:hiddenFill xmlns:a14="http://schemas.microsoft.com/office/drawing/2010/main">
                  <a:solidFill>
                    <a:srgbClr val="FFFFFF"/>
                  </a:solidFill>
                </a14:hiddenFill>
              </a:ext>
            </a:extLst>
          </p:spPr>
        </p:pic>
      </p:grpSp>
      <p:grpSp>
        <p:nvGrpSpPr>
          <p:cNvPr id="13" name="Group 12">
            <a:extLst>
              <a:ext uri="{FF2B5EF4-FFF2-40B4-BE49-F238E27FC236}">
                <a16:creationId xmlns:a16="http://schemas.microsoft.com/office/drawing/2014/main" id="{E412F0B7-C979-3418-61A5-3304F807DFF7}"/>
              </a:ext>
            </a:extLst>
          </p:cNvPr>
          <p:cNvGrpSpPr/>
          <p:nvPr/>
        </p:nvGrpSpPr>
        <p:grpSpPr>
          <a:xfrm>
            <a:off x="3429000" y="2438400"/>
            <a:ext cx="2479489" cy="2209800"/>
            <a:chOff x="3429000" y="2438400"/>
            <a:chExt cx="2479489" cy="2209800"/>
          </a:xfrm>
        </p:grpSpPr>
        <p:sp>
          <p:nvSpPr>
            <p:cNvPr id="8" name="Rectangle 7">
              <a:extLst>
                <a:ext uri="{FF2B5EF4-FFF2-40B4-BE49-F238E27FC236}">
                  <a16:creationId xmlns:a16="http://schemas.microsoft.com/office/drawing/2014/main" id="{9A7B81F0-F092-212D-EE3B-5CA697C78FC4}"/>
                </a:ext>
              </a:extLst>
            </p:cNvPr>
            <p:cNvSpPr>
              <a:spLocks/>
            </p:cNvSpPr>
            <p:nvPr/>
          </p:nvSpPr>
          <p:spPr>
            <a:xfrm>
              <a:off x="3581400" y="2438400"/>
              <a:ext cx="2209800" cy="2209800"/>
            </a:xfrm>
            <a:prstGeom prst="rect">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4" descr="Diagnostic Analytics – Finnapps">
              <a:extLst>
                <a:ext uri="{FF2B5EF4-FFF2-40B4-BE49-F238E27FC236}">
                  <a16:creationId xmlns:a16="http://schemas.microsoft.com/office/drawing/2014/main" id="{4EC333CC-F6FC-B7EB-E68B-473C37EA37E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7083"/>
            <a:stretch>
              <a:fillRect/>
            </a:stretch>
          </p:blipFill>
          <p:spPr bwMode="auto">
            <a:xfrm>
              <a:off x="3429000" y="2971800"/>
              <a:ext cx="2479489" cy="1371600"/>
            </a:xfrm>
            <a:prstGeom prst="rect">
              <a:avLst/>
            </a:prstGeom>
            <a:ln>
              <a:noFill/>
            </a:ln>
            <a:effectLst/>
            <a:extLst>
              <a:ext uri="{909E8E84-426E-40DD-AFC4-6F175D3DCCD1}">
                <a14:hiddenFill xmlns:a14="http://schemas.microsoft.com/office/drawing/2010/main">
                  <a:solidFill>
                    <a:srgbClr val="FFFFFF"/>
                  </a:solidFill>
                </a14:hiddenFill>
              </a:ext>
            </a:extLst>
          </p:spPr>
        </p:pic>
      </p:grpSp>
      <p:grpSp>
        <p:nvGrpSpPr>
          <p:cNvPr id="12" name="Group 11">
            <a:extLst>
              <a:ext uri="{FF2B5EF4-FFF2-40B4-BE49-F238E27FC236}">
                <a16:creationId xmlns:a16="http://schemas.microsoft.com/office/drawing/2014/main" id="{5AFF36C2-4023-EABB-8A03-0A23F7B18600}"/>
              </a:ext>
            </a:extLst>
          </p:cNvPr>
          <p:cNvGrpSpPr/>
          <p:nvPr/>
        </p:nvGrpSpPr>
        <p:grpSpPr>
          <a:xfrm>
            <a:off x="6400800" y="2438400"/>
            <a:ext cx="2209800" cy="2209800"/>
            <a:chOff x="6400800" y="2438400"/>
            <a:chExt cx="2209800" cy="2209800"/>
          </a:xfrm>
        </p:grpSpPr>
        <p:sp>
          <p:nvSpPr>
            <p:cNvPr id="9" name="Rectangle 8">
              <a:extLst>
                <a:ext uri="{FF2B5EF4-FFF2-40B4-BE49-F238E27FC236}">
                  <a16:creationId xmlns:a16="http://schemas.microsoft.com/office/drawing/2014/main" id="{D2D88825-ABB0-3C30-A9BA-41FA292E1827}"/>
                </a:ext>
              </a:extLst>
            </p:cNvPr>
            <p:cNvSpPr>
              <a:spLocks/>
            </p:cNvSpPr>
            <p:nvPr/>
          </p:nvSpPr>
          <p:spPr>
            <a:xfrm>
              <a:off x="6400800" y="2438400"/>
              <a:ext cx="2209800" cy="2209800"/>
            </a:xfrm>
            <a:prstGeom prst="rect">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6" descr="A Comprehensive 10 Minute Guide on Using Predictive Analytics for Mobile  Apps">
              <a:extLst>
                <a:ext uri="{FF2B5EF4-FFF2-40B4-BE49-F238E27FC236}">
                  <a16:creationId xmlns:a16="http://schemas.microsoft.com/office/drawing/2014/main" id="{BA2C1382-9095-DE81-F9B7-9E406DF37AB6}"/>
                </a:ext>
              </a:extLst>
            </p:cNvPr>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ackgroundRemoval t="10000" b="90000" l="10000" r="90000">
                          <a14:foregroundMark x1="32417" y1="52000" x2="32417" y2="52000"/>
                          <a14:foregroundMark x1="52500" y1="12308" x2="52500" y2="12308"/>
                          <a14:foregroundMark x1="62000" y1="19385" x2="62000" y2="19385"/>
                          <a14:foregroundMark x1="63083" y1="24769" x2="63083" y2="24769"/>
                          <a14:foregroundMark x1="66167" y1="23077" x2="66167" y2="23077"/>
                          <a14:foregroundMark x1="62000" y1="31077" x2="62000" y2="31077"/>
                          <a14:foregroundMark x1="62833" y1="31077" x2="62833" y2="31077"/>
                          <a14:foregroundMark x1="57500" y1="19077" x2="57500" y2="19077"/>
                          <a14:foregroundMark x1="45583" y1="19231" x2="45583" y2="19231"/>
                          <a14:foregroundMark x1="46000" y1="16615" x2="46000" y2="16615"/>
                          <a14:foregroundMark x1="45750" y1="20154" x2="45750" y2="20154"/>
                          <a14:foregroundMark x1="51083" y1="27846" x2="51083" y2="27846"/>
                          <a14:foregroundMark x1="46333" y1="20154" x2="46333" y2="20154"/>
                          <a14:foregroundMark x1="46417" y1="16615" x2="46417" y2="16615"/>
                          <a14:foregroundMark x1="62000" y1="32000" x2="62000" y2="32000"/>
                          <a14:foregroundMark x1="54583" y1="24615" x2="54583" y2="24615"/>
                          <a14:foregroundMark x1="50750" y1="21692" x2="50750" y2="21692"/>
                        </a14:backgroundRemoval>
                      </a14:imgEffect>
                    </a14:imgLayer>
                  </a14:imgProps>
                </a:ext>
                <a:ext uri="{28A0092B-C50C-407E-A947-70E740481C1C}">
                  <a14:useLocalDpi xmlns:a14="http://schemas.microsoft.com/office/drawing/2010/main" val="0"/>
                </a:ext>
              </a:extLst>
            </a:blip>
            <a:srcRect l="28544" t="5787" r="28833" b="11282"/>
            <a:stretch/>
          </p:blipFill>
          <p:spPr bwMode="auto">
            <a:xfrm>
              <a:off x="6553200" y="2590800"/>
              <a:ext cx="1841470" cy="1940764"/>
            </a:xfrm>
            <a:prstGeom prst="rect">
              <a:avLst/>
            </a:prstGeom>
            <a:ln>
              <a:noFill/>
            </a:ln>
            <a:effectLst/>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6EF8C609-142A-DB7B-48AC-0176A99E96CE}"/>
              </a:ext>
            </a:extLst>
          </p:cNvPr>
          <p:cNvGrpSpPr/>
          <p:nvPr/>
        </p:nvGrpSpPr>
        <p:grpSpPr>
          <a:xfrm>
            <a:off x="9220200" y="2438400"/>
            <a:ext cx="2209800" cy="2209800"/>
            <a:chOff x="9220200" y="2438400"/>
            <a:chExt cx="2209800" cy="2209800"/>
          </a:xfrm>
        </p:grpSpPr>
        <p:sp>
          <p:nvSpPr>
            <p:cNvPr id="10" name="Rectangle 9">
              <a:extLst>
                <a:ext uri="{FF2B5EF4-FFF2-40B4-BE49-F238E27FC236}">
                  <a16:creationId xmlns:a16="http://schemas.microsoft.com/office/drawing/2014/main" id="{750E4CC4-BED7-FD97-C8E7-D5CAD6804477}"/>
                </a:ext>
              </a:extLst>
            </p:cNvPr>
            <p:cNvSpPr>
              <a:spLocks/>
            </p:cNvSpPr>
            <p:nvPr/>
          </p:nvSpPr>
          <p:spPr>
            <a:xfrm>
              <a:off x="9220200" y="2438400"/>
              <a:ext cx="2209800" cy="2209800"/>
            </a:xfrm>
            <a:prstGeom prst="rect">
              <a:avLst/>
            </a:prstGeom>
            <a:solidFill>
              <a:schemeClr val="bg1"/>
            </a:solidFill>
            <a:ln w="9525">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8" descr="Use Predictive and Prescriptive Analytics to Control Benefits Costs &amp;  Improve Member Health">
              <a:extLst>
                <a:ext uri="{FF2B5EF4-FFF2-40B4-BE49-F238E27FC236}">
                  <a16:creationId xmlns:a16="http://schemas.microsoft.com/office/drawing/2014/main" id="{3B018FCC-3482-72C4-9787-4A980E9631F4}"/>
                </a:ext>
              </a:extLst>
            </p:cNvPr>
            <p:cNvPicPr>
              <a:picLocks noChangeAspect="1" noChangeArrowheads="1"/>
            </p:cNvPicPr>
            <p:nvPr/>
          </p:nvPicPr>
          <p:blipFill rotWithShape="1">
            <a:blip r:embed="rId8" cstate="print">
              <a:extLst>
                <a:ext uri="{BEBA8EAE-BF5A-486C-A8C5-ECC9F3942E4B}">
                  <a14:imgProps xmlns:a14="http://schemas.microsoft.com/office/drawing/2010/main">
                    <a14:imgLayer r:embed="rId9">
                      <a14:imgEffect>
                        <a14:backgroundRemoval t="5621" b="93677" l="9961" r="89844">
                          <a14:foregroundMark x1="36426" y1="28806" x2="36426" y2="28806"/>
                          <a14:foregroundMark x1="36133" y1="23653" x2="36133" y2="23653"/>
                          <a14:foregroundMark x1="60742" y1="92037" x2="60742" y2="92037"/>
                          <a14:foregroundMark x1="69141" y1="90632" x2="69141" y2="90632"/>
                          <a14:foregroundMark x1="65332" y1="76112" x2="65332" y2="76112"/>
                          <a14:foregroundMark x1="61328" y1="71897" x2="61328" y2="71897"/>
                          <a14:foregroundMark x1="57715" y1="79859" x2="57715" y2="79859"/>
                          <a14:foregroundMark x1="56836" y1="80796" x2="56836" y2="80796"/>
                          <a14:foregroundMark x1="44922" y1="84309" x2="44922" y2="84309"/>
                          <a14:foregroundMark x1="44043" y1="85948" x2="44043" y2="85948"/>
                          <a14:foregroundMark x1="32910" y1="76581" x2="32910" y2="76581"/>
                          <a14:foregroundMark x1="54980" y1="28103" x2="54980" y2="28103"/>
                          <a14:foregroundMark x1="54590" y1="18970" x2="54590" y2="18970"/>
                          <a14:foregroundMark x1="58301" y1="22482" x2="58301" y2="22482"/>
                          <a14:foregroundMark x1="64453" y1="63934" x2="64453" y2="63934"/>
                          <a14:foregroundMark x1="56641" y1="36066" x2="56641" y2="36066"/>
                          <a14:foregroundMark x1="38281" y1="21311" x2="38281" y2="21311"/>
                          <a14:foregroundMark x1="44727" y1="20843" x2="44727" y2="20843"/>
                          <a14:foregroundMark x1="46777" y1="12881" x2="46777" y2="12881"/>
                          <a14:foregroundMark x1="26953" y1="68150" x2="26953" y2="68150"/>
                          <a14:foregroundMark x1="45117" y1="14754" x2="45117" y2="14754"/>
                          <a14:foregroundMark x1="46680" y1="5621" x2="46680" y2="5621"/>
                          <a14:foregroundMark x1="65723" y1="93677" x2="65723" y2="93677"/>
                          <a14:foregroundMark x1="28418" y1="55269" x2="28418" y2="55269"/>
                          <a14:foregroundMark x1="26465" y1="50585" x2="26465" y2="50585"/>
                          <a14:foregroundMark x1="41211" y1="85246" x2="41211" y2="85246"/>
                        </a14:backgroundRemoval>
                      </a14:imgEffect>
                    </a14:imgLayer>
                  </a14:imgProps>
                </a:ext>
                <a:ext uri="{28A0092B-C50C-407E-A947-70E740481C1C}">
                  <a14:useLocalDpi xmlns:a14="http://schemas.microsoft.com/office/drawing/2010/main" val="0"/>
                </a:ext>
              </a:extLst>
            </a:blip>
            <a:srcRect l="24722" r="24352" b="2873"/>
            <a:stretch/>
          </p:blipFill>
          <p:spPr bwMode="auto">
            <a:xfrm flipH="1">
              <a:off x="9316008" y="2743200"/>
              <a:ext cx="1997200" cy="1588454"/>
            </a:xfrm>
            <a:prstGeom prst="rect">
              <a:avLst/>
            </a:prstGeom>
            <a:ln>
              <a:noFill/>
            </a:ln>
            <a:effectLst/>
            <a:extLst>
              <a:ext uri="{909E8E84-426E-40DD-AFC4-6F175D3DCCD1}">
                <a14:hiddenFill xmlns:a14="http://schemas.microsoft.com/office/drawing/2010/main">
                  <a:solidFill>
                    <a:srgbClr val="FFFFFF"/>
                  </a:solidFill>
                </a14:hiddenFill>
              </a:ext>
            </a:extLst>
          </p:spPr>
        </p:pic>
      </p:grpSp>
      <p:sp>
        <p:nvSpPr>
          <p:cNvPr id="2" name="Rectangle 1">
            <a:extLst>
              <a:ext uri="{FF2B5EF4-FFF2-40B4-BE49-F238E27FC236}">
                <a16:creationId xmlns:a16="http://schemas.microsoft.com/office/drawing/2014/main" id="{D5EE440F-0D5B-698D-3493-356D46DABD1F}"/>
              </a:ext>
            </a:extLst>
          </p:cNvPr>
          <p:cNvSpPr/>
          <p:nvPr/>
        </p:nvSpPr>
        <p:spPr>
          <a:xfrm>
            <a:off x="663965" y="4813278"/>
            <a:ext cx="2381653" cy="646331"/>
          </a:xfrm>
          <a:prstGeom prst="rect">
            <a:avLst/>
          </a:prstGeom>
          <a:solidFill>
            <a:srgbClr val="0070C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Arial" panose="020B0604020202020204" pitchFamily="34" charset="0"/>
                <a:cs typeface="Arial" panose="020B0604020202020204" pitchFamily="34" charset="0"/>
              </a:rPr>
              <a:t>Descriptive Analytics</a:t>
            </a:r>
          </a:p>
        </p:txBody>
      </p:sp>
      <p:sp>
        <p:nvSpPr>
          <p:cNvPr id="3" name="Rectangle 2">
            <a:extLst>
              <a:ext uri="{FF2B5EF4-FFF2-40B4-BE49-F238E27FC236}">
                <a16:creationId xmlns:a16="http://schemas.microsoft.com/office/drawing/2014/main" id="{3FF11F56-9F20-1E7C-50C4-D4657F18C62D}"/>
              </a:ext>
            </a:extLst>
          </p:cNvPr>
          <p:cNvSpPr/>
          <p:nvPr/>
        </p:nvSpPr>
        <p:spPr>
          <a:xfrm>
            <a:off x="3491437" y="4813278"/>
            <a:ext cx="2381653" cy="646331"/>
          </a:xfrm>
          <a:prstGeom prst="rect">
            <a:avLst/>
          </a:prstGeom>
          <a:solidFill>
            <a:srgbClr val="0070C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Arial" panose="020B0604020202020204" pitchFamily="34" charset="0"/>
                <a:cs typeface="Arial" panose="020B0604020202020204" pitchFamily="34" charset="0"/>
              </a:rPr>
              <a:t>Diagnostic Analytics</a:t>
            </a:r>
          </a:p>
        </p:txBody>
      </p:sp>
      <p:sp>
        <p:nvSpPr>
          <p:cNvPr id="4" name="Rectangle 3">
            <a:extLst>
              <a:ext uri="{FF2B5EF4-FFF2-40B4-BE49-F238E27FC236}">
                <a16:creationId xmlns:a16="http://schemas.microsoft.com/office/drawing/2014/main" id="{E5BF97B2-4E51-A826-A32A-F7E3C741F764}"/>
              </a:ext>
            </a:extLst>
          </p:cNvPr>
          <p:cNvSpPr/>
          <p:nvPr/>
        </p:nvSpPr>
        <p:spPr>
          <a:xfrm>
            <a:off x="6318909" y="4813278"/>
            <a:ext cx="2381653" cy="646331"/>
          </a:xfrm>
          <a:prstGeom prst="rect">
            <a:avLst/>
          </a:prstGeom>
          <a:solidFill>
            <a:srgbClr val="0070C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Arial" panose="020B0604020202020204" pitchFamily="34" charset="0"/>
                <a:cs typeface="Arial" panose="020B0604020202020204" pitchFamily="34" charset="0"/>
              </a:rPr>
              <a:t>Predictive Analytics</a:t>
            </a:r>
          </a:p>
        </p:txBody>
      </p:sp>
      <p:sp>
        <p:nvSpPr>
          <p:cNvPr id="5" name="Rectangle 4">
            <a:extLst>
              <a:ext uri="{FF2B5EF4-FFF2-40B4-BE49-F238E27FC236}">
                <a16:creationId xmlns:a16="http://schemas.microsoft.com/office/drawing/2014/main" id="{70D790B4-A57F-C015-B17A-6329BCF6191A}"/>
              </a:ext>
            </a:extLst>
          </p:cNvPr>
          <p:cNvSpPr/>
          <p:nvPr/>
        </p:nvSpPr>
        <p:spPr>
          <a:xfrm>
            <a:off x="9146382" y="4813278"/>
            <a:ext cx="2381653" cy="646331"/>
          </a:xfrm>
          <a:prstGeom prst="rect">
            <a:avLst/>
          </a:prstGeom>
          <a:solidFill>
            <a:srgbClr val="0070C0"/>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atin typeface="Arial" panose="020B0604020202020204" pitchFamily="34" charset="0"/>
                <a:cs typeface="Arial" panose="020B0604020202020204" pitchFamily="34" charset="0"/>
              </a:rPr>
              <a:t>Prescriptive Analytics</a:t>
            </a:r>
          </a:p>
        </p:txBody>
      </p:sp>
    </p:spTree>
    <p:extLst>
      <p:ext uri="{BB962C8B-B14F-4D97-AF65-F5344CB8AC3E}">
        <p14:creationId xmlns:p14="http://schemas.microsoft.com/office/powerpoint/2010/main" val="9257821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FD4929-DC57-B677-3FD2-4B4F6BCB80FD}"/>
              </a:ext>
            </a:extLst>
          </p:cNvPr>
          <p:cNvSpPr>
            <a:spLocks noChangeArrowheads="1"/>
          </p:cNvSpPr>
          <p:nvPr/>
        </p:nvSpPr>
        <p:spPr bwMode="auto">
          <a:xfrm>
            <a:off x="228600" y="722204"/>
            <a:ext cx="3526543" cy="49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04137">
              <a:lnSpc>
                <a:spcPct val="150000"/>
              </a:lnSpc>
              <a:spcBef>
                <a:spcPts val="1200"/>
              </a:spcBef>
              <a:spcAft>
                <a:spcPts val="800"/>
              </a:spcAft>
            </a:pPr>
            <a:r>
              <a:rPr lang="en-US" sz="2000" b="1" dirty="0">
                <a:solidFill>
                  <a:srgbClr val="223366"/>
                </a:solidFill>
                <a:latin typeface="Arial" panose="020B0604020202020204" pitchFamily="34" charset="0"/>
                <a:ea typeface="+mj-ea"/>
                <a:cs typeface="Arial" panose="020B0604020202020204" pitchFamily="34" charset="0"/>
              </a:rPr>
              <a:t>Types of Data </a:t>
            </a:r>
            <a:endParaRPr lang="en-IN" sz="2000" b="1" dirty="0">
              <a:solidFill>
                <a:srgbClr val="223366"/>
              </a:solidFill>
              <a:latin typeface="Arial" panose="020B0604020202020204" pitchFamily="34" charset="0"/>
              <a:ea typeface="+mj-ea"/>
              <a:cs typeface="Arial" panose="020B0604020202020204" pitchFamily="34" charset="0"/>
            </a:endParaRPr>
          </a:p>
        </p:txBody>
      </p:sp>
      <p:sp>
        <p:nvSpPr>
          <p:cNvPr id="5" name="Rectangle 3">
            <a:extLst>
              <a:ext uri="{FF2B5EF4-FFF2-40B4-BE49-F238E27FC236}">
                <a16:creationId xmlns:a16="http://schemas.microsoft.com/office/drawing/2014/main" id="{20C00BD4-8D8A-7453-1B23-73EA4A5DAB59}"/>
              </a:ext>
            </a:extLst>
          </p:cNvPr>
          <p:cNvSpPr>
            <a:spLocks noChangeArrowheads="1"/>
          </p:cNvSpPr>
          <p:nvPr/>
        </p:nvSpPr>
        <p:spPr bwMode="auto">
          <a:xfrm>
            <a:off x="1066800" y="6400800"/>
            <a:ext cx="150419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sz="1200" dirty="0">
                <a:solidFill>
                  <a:srgbClr val="0000FF"/>
                </a:solidFill>
                <a:ea typeface="Calibri"/>
                <a:cs typeface="Shruti"/>
                <a:hlinkClick r:id="rId3">
                  <a:extLst>
                    <a:ext uri="{A12FA001-AC4F-418D-AE19-62706E023703}">
                      <ahyp:hlinkClr xmlns:ahyp="http://schemas.microsoft.com/office/drawing/2018/hyperlinkcolor" val="tx"/>
                    </a:ext>
                  </a:extLst>
                </a:hlinkClick>
              </a:rPr>
              <a:t>Image: Types of data</a:t>
            </a:r>
            <a:endParaRPr lang="en-US" altLang="en-US" sz="1200" dirty="0">
              <a:solidFill>
                <a:srgbClr val="0000FF"/>
              </a:solidFill>
              <a:ea typeface="Calibri"/>
              <a:cs typeface="Shruti"/>
            </a:endParaRPr>
          </a:p>
        </p:txBody>
      </p:sp>
      <p:sp>
        <p:nvSpPr>
          <p:cNvPr id="6" name="TextBox 5">
            <a:extLst>
              <a:ext uri="{FF2B5EF4-FFF2-40B4-BE49-F238E27FC236}">
                <a16:creationId xmlns:a16="http://schemas.microsoft.com/office/drawing/2014/main" id="{D33E2915-3F65-931F-7771-043DFB7E165C}"/>
              </a:ext>
            </a:extLst>
          </p:cNvPr>
          <p:cNvSpPr txBox="1"/>
          <p:nvPr/>
        </p:nvSpPr>
        <p:spPr>
          <a:xfrm>
            <a:off x="367673" y="1219200"/>
            <a:ext cx="11367127" cy="487313"/>
          </a:xfrm>
          <a:prstGeom prst="rect">
            <a:avLst/>
          </a:prstGeom>
          <a:noFill/>
        </p:spPr>
        <p:txBody>
          <a:bodyPr wrap="square" lIns="121920" tIns="60960" rIns="121920" bIns="60960" anchor="t">
            <a:spAutoFit/>
          </a:bodyPr>
          <a:lstStyle/>
          <a:p>
            <a:pPr fontAlgn="base">
              <a:lnSpc>
                <a:spcPct val="150000"/>
              </a:lnSpc>
            </a:pPr>
            <a:r>
              <a:rPr lang="en-IN" dirty="0">
                <a:latin typeface="Arial" panose="020B0604020202020204" pitchFamily="34" charset="0"/>
                <a:ea typeface="Times New Roman" panose="02020603050405020304" pitchFamily="18" charset="0"/>
                <a:cs typeface="Arial" panose="020B0604020202020204" pitchFamily="34" charset="0"/>
              </a:rPr>
              <a:t>“</a:t>
            </a:r>
            <a:r>
              <a:rPr lang="en-IN" i="1" dirty="0">
                <a:latin typeface="Arial" panose="020B0604020202020204" pitchFamily="34" charset="0"/>
                <a:ea typeface="Times New Roman" panose="02020603050405020304" pitchFamily="18" charset="0"/>
                <a:cs typeface="Arial" panose="020B0604020202020204" pitchFamily="34" charset="0"/>
              </a:rPr>
              <a:t>Artificial intelligence is your rocket ship and data is the fuel.</a:t>
            </a:r>
            <a:r>
              <a:rPr lang="en-IN" dirty="0">
                <a:latin typeface="Arial" panose="020B0604020202020204" pitchFamily="34" charset="0"/>
                <a:ea typeface="Times New Roman" panose="02020603050405020304" pitchFamily="18" charset="0"/>
                <a:cs typeface="Arial" panose="020B0604020202020204" pitchFamily="34" charset="0"/>
              </a:rPr>
              <a:t>”- Michael Dell (founder of Dell Technologies)</a:t>
            </a:r>
          </a:p>
        </p:txBody>
      </p:sp>
      <p:sp>
        <p:nvSpPr>
          <p:cNvPr id="7" name="TextBox 6">
            <a:extLst>
              <a:ext uri="{FF2B5EF4-FFF2-40B4-BE49-F238E27FC236}">
                <a16:creationId xmlns:a16="http://schemas.microsoft.com/office/drawing/2014/main" id="{CD99978C-8AD8-7EFE-DDD7-5B2FD5E23FB5}"/>
              </a:ext>
            </a:extLst>
          </p:cNvPr>
          <p:cNvSpPr txBox="1"/>
          <p:nvPr/>
        </p:nvSpPr>
        <p:spPr>
          <a:xfrm>
            <a:off x="336520" y="1676400"/>
            <a:ext cx="5759480" cy="1990288"/>
          </a:xfrm>
          <a:prstGeom prst="rect">
            <a:avLst/>
          </a:prstGeom>
          <a:noFill/>
        </p:spPr>
        <p:txBody>
          <a:bodyPr wrap="square" lIns="121920" tIns="60960" rIns="121920" bIns="60960" anchor="t">
            <a:spAutoFit/>
          </a:bodyPr>
          <a:lstStyle/>
          <a:p>
            <a:pPr>
              <a:spcBef>
                <a:spcPts val="800"/>
              </a:spcBef>
              <a:spcAft>
                <a:spcPts val="800"/>
              </a:spcAft>
            </a:pPr>
            <a:r>
              <a:rPr lang="en-US" b="1" dirty="0">
                <a:solidFill>
                  <a:srgbClr val="202124"/>
                </a:solidFill>
                <a:latin typeface="Arial" panose="020B0604020202020204" pitchFamily="34" charset="0"/>
                <a:cs typeface="Arial" panose="020B0604020202020204" pitchFamily="34" charset="0"/>
              </a:rPr>
              <a:t>Data Types in AI</a:t>
            </a:r>
          </a:p>
          <a:p>
            <a:pPr marL="231642" indent="-231642">
              <a:spcAft>
                <a:spcPts val="800"/>
              </a:spcAft>
              <a:buClr>
                <a:srgbClr val="213163"/>
              </a:buClr>
              <a:buFont typeface="Arial" panose="020B0604020202020204" pitchFamily="34" charset="0"/>
              <a:buChar char="•"/>
            </a:pPr>
            <a:r>
              <a:rPr lang="en-US" dirty="0">
                <a:solidFill>
                  <a:srgbClr val="202124"/>
                </a:solidFill>
                <a:latin typeface="Arial" panose="020B0604020202020204" pitchFamily="34" charset="0"/>
                <a:cs typeface="Arial" panose="020B0604020202020204" pitchFamily="34" charset="0"/>
              </a:rPr>
              <a:t>Numeric Data. Numeric data is any data that can be represented in numerical form. </a:t>
            </a:r>
          </a:p>
          <a:p>
            <a:pPr marL="231642" indent="-231642">
              <a:spcAft>
                <a:spcPts val="800"/>
              </a:spcAft>
              <a:buClr>
                <a:srgbClr val="213163"/>
              </a:buClr>
              <a:buFont typeface="Arial" panose="020B0604020202020204" pitchFamily="34" charset="0"/>
              <a:buChar char="•"/>
            </a:pPr>
            <a:r>
              <a:rPr lang="en-US" dirty="0">
                <a:solidFill>
                  <a:srgbClr val="202124"/>
                </a:solidFill>
                <a:latin typeface="Arial" panose="020B0604020202020204" pitchFamily="34" charset="0"/>
                <a:cs typeface="Arial" panose="020B0604020202020204" pitchFamily="34" charset="0"/>
              </a:rPr>
              <a:t>Categorical Data. Categorical data is a type of data that is used to group observations into distinct categories. </a:t>
            </a:r>
          </a:p>
        </p:txBody>
      </p:sp>
      <p:pic>
        <p:nvPicPr>
          <p:cNvPr id="2" name="Picture 1" descr="https://i.ytimg.com/vi/jhNSUOmJ0nI/maxresdefault.jpg">
            <a:extLst>
              <a:ext uri="{FF2B5EF4-FFF2-40B4-BE49-F238E27FC236}">
                <a16:creationId xmlns:a16="http://schemas.microsoft.com/office/drawing/2014/main" id="{3F4A8285-9E1B-024A-950F-19575DD2911E}"/>
              </a:ext>
            </a:extLst>
          </p:cNvPr>
          <p:cNvPicPr>
            <a:picLocks noChangeAspect="1"/>
          </p:cNvPicPr>
          <p:nvPr/>
        </p:nvPicPr>
        <p:blipFill>
          <a:blip r:embed="rId4"/>
          <a:stretch>
            <a:fillRect/>
          </a:stretch>
        </p:blipFill>
        <p:spPr>
          <a:xfrm>
            <a:off x="6386147" y="1960685"/>
            <a:ext cx="5433647" cy="3053863"/>
          </a:xfrm>
          <a:prstGeom prst="rect">
            <a:avLst/>
          </a:prstGeom>
        </p:spPr>
      </p:pic>
      <p:cxnSp>
        <p:nvCxnSpPr>
          <p:cNvPr id="9" name="Straight Connector 8">
            <a:extLst>
              <a:ext uri="{FF2B5EF4-FFF2-40B4-BE49-F238E27FC236}">
                <a16:creationId xmlns:a16="http://schemas.microsoft.com/office/drawing/2014/main" id="{E42749EA-6353-9787-AEA5-25962E0F7623}"/>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Google Shape;62;g5fab984687_2_0">
            <a:extLst>
              <a:ext uri="{FF2B5EF4-FFF2-40B4-BE49-F238E27FC236}">
                <a16:creationId xmlns:a16="http://schemas.microsoft.com/office/drawing/2014/main" id="{36308BA3-14C4-6E78-385B-B8623EEF0E82}"/>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nvGrpSpPr>
          <p:cNvPr id="36" name="Group 35">
            <a:extLst>
              <a:ext uri="{FF2B5EF4-FFF2-40B4-BE49-F238E27FC236}">
                <a16:creationId xmlns:a16="http://schemas.microsoft.com/office/drawing/2014/main" id="{353133BC-2934-7109-F1A4-387E88AE80C0}"/>
              </a:ext>
            </a:extLst>
          </p:cNvPr>
          <p:cNvGrpSpPr/>
          <p:nvPr/>
        </p:nvGrpSpPr>
        <p:grpSpPr>
          <a:xfrm>
            <a:off x="1905000" y="3448050"/>
            <a:ext cx="2819400" cy="2743200"/>
            <a:chOff x="1905000" y="3448050"/>
            <a:chExt cx="2819400" cy="2743200"/>
          </a:xfrm>
        </p:grpSpPr>
        <p:grpSp>
          <p:nvGrpSpPr>
            <p:cNvPr id="13" name="Group 12">
              <a:extLst>
                <a:ext uri="{FF2B5EF4-FFF2-40B4-BE49-F238E27FC236}">
                  <a16:creationId xmlns:a16="http://schemas.microsoft.com/office/drawing/2014/main" id="{1923FF5F-B629-C721-A2EF-F2CAD63AA734}"/>
                </a:ext>
              </a:extLst>
            </p:cNvPr>
            <p:cNvGrpSpPr/>
            <p:nvPr/>
          </p:nvGrpSpPr>
          <p:grpSpPr>
            <a:xfrm>
              <a:off x="1905000" y="3448050"/>
              <a:ext cx="2819400" cy="457200"/>
              <a:chOff x="4495800" y="5486400"/>
              <a:chExt cx="2819400" cy="457200"/>
            </a:xfrm>
          </p:grpSpPr>
          <p:grpSp>
            <p:nvGrpSpPr>
              <p:cNvPr id="11" name="Group 10">
                <a:extLst>
                  <a:ext uri="{FF2B5EF4-FFF2-40B4-BE49-F238E27FC236}">
                    <a16:creationId xmlns:a16="http://schemas.microsoft.com/office/drawing/2014/main" id="{AD0BDA95-3F59-ACC1-6851-6E32B2BC4ADF}"/>
                  </a:ext>
                </a:extLst>
              </p:cNvPr>
              <p:cNvGrpSpPr/>
              <p:nvPr/>
            </p:nvGrpSpPr>
            <p:grpSpPr>
              <a:xfrm>
                <a:off x="4495800" y="5486400"/>
                <a:ext cx="2819400" cy="457200"/>
                <a:chOff x="4495800" y="5486400"/>
                <a:chExt cx="2819400" cy="457200"/>
              </a:xfrm>
            </p:grpSpPr>
            <p:sp>
              <p:nvSpPr>
                <p:cNvPr id="8" name="Rectangle: Rounded Corners 7">
                  <a:extLst>
                    <a:ext uri="{FF2B5EF4-FFF2-40B4-BE49-F238E27FC236}">
                      <a16:creationId xmlns:a16="http://schemas.microsoft.com/office/drawing/2014/main" id="{29945119-0CC9-72B1-7C50-953D0A362BC6}"/>
                    </a:ext>
                  </a:extLst>
                </p:cNvPr>
                <p:cNvSpPr/>
                <p:nvPr/>
              </p:nvSpPr>
              <p:spPr>
                <a:xfrm>
                  <a:off x="4495800" y="5486400"/>
                  <a:ext cx="2819400" cy="457200"/>
                </a:xfrm>
                <a:prstGeom prst="roundRect">
                  <a:avLst/>
                </a:prstGeom>
                <a:solidFill>
                  <a:srgbClr val="FDD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D03E3AF0-EC43-32F2-E1BC-2E2517D88498}"/>
                    </a:ext>
                  </a:extLst>
                </p:cNvPr>
                <p:cNvSpPr/>
                <p:nvPr/>
              </p:nvSpPr>
              <p:spPr>
                <a:xfrm>
                  <a:off x="4572000" y="5524500"/>
                  <a:ext cx="2667000" cy="381000"/>
                </a:xfrm>
                <a:prstGeom prst="roundRect">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a:extLst>
                  <a:ext uri="{FF2B5EF4-FFF2-40B4-BE49-F238E27FC236}">
                    <a16:creationId xmlns:a16="http://schemas.microsoft.com/office/drawing/2014/main" id="{F4042FB5-A1D2-003A-BB84-3C9301D812F6}"/>
                  </a:ext>
                </a:extLst>
              </p:cNvPr>
              <p:cNvSpPr txBox="1"/>
              <p:nvPr/>
            </p:nvSpPr>
            <p:spPr>
              <a:xfrm>
                <a:off x="4572000" y="5530334"/>
                <a:ext cx="1600200" cy="369332"/>
              </a:xfrm>
              <a:prstGeom prst="rect">
                <a:avLst/>
              </a:prstGeom>
              <a:noFill/>
            </p:spPr>
            <p:txBody>
              <a:bodyPr wrap="square" rtlCol="0">
                <a:spAutoFit/>
              </a:bodyPr>
              <a:lstStyle/>
              <a:p>
                <a:r>
                  <a:rPr lang="en-US" dirty="0">
                    <a:solidFill>
                      <a:srgbClr val="202124"/>
                    </a:solidFill>
                    <a:latin typeface="Arial" panose="020B0604020202020204" pitchFamily="34" charset="0"/>
                    <a:cs typeface="Arial" panose="020B0604020202020204" pitchFamily="34" charset="0"/>
                  </a:rPr>
                  <a:t>Image Data</a:t>
                </a:r>
                <a:endParaRPr lang="en-US" dirty="0"/>
              </a:p>
            </p:txBody>
          </p:sp>
        </p:grpSp>
        <p:grpSp>
          <p:nvGrpSpPr>
            <p:cNvPr id="16" name="Group 15">
              <a:extLst>
                <a:ext uri="{FF2B5EF4-FFF2-40B4-BE49-F238E27FC236}">
                  <a16:creationId xmlns:a16="http://schemas.microsoft.com/office/drawing/2014/main" id="{4C42D7FE-3E74-855C-A040-9E5C17CA9DD4}"/>
                </a:ext>
              </a:extLst>
            </p:cNvPr>
            <p:cNvGrpSpPr/>
            <p:nvPr/>
          </p:nvGrpSpPr>
          <p:grpSpPr>
            <a:xfrm>
              <a:off x="1905000" y="4019550"/>
              <a:ext cx="2819400" cy="457200"/>
              <a:chOff x="4495800" y="5486400"/>
              <a:chExt cx="2819400" cy="457200"/>
            </a:xfrm>
          </p:grpSpPr>
          <p:grpSp>
            <p:nvGrpSpPr>
              <p:cNvPr id="17" name="Group 16">
                <a:extLst>
                  <a:ext uri="{FF2B5EF4-FFF2-40B4-BE49-F238E27FC236}">
                    <a16:creationId xmlns:a16="http://schemas.microsoft.com/office/drawing/2014/main" id="{EFD9272F-14FC-7367-1A48-A8DDB116F297}"/>
                  </a:ext>
                </a:extLst>
              </p:cNvPr>
              <p:cNvGrpSpPr/>
              <p:nvPr/>
            </p:nvGrpSpPr>
            <p:grpSpPr>
              <a:xfrm>
                <a:off x="4495800" y="5486400"/>
                <a:ext cx="2819400" cy="457200"/>
                <a:chOff x="4495800" y="5486400"/>
                <a:chExt cx="2819400" cy="457200"/>
              </a:xfrm>
            </p:grpSpPr>
            <p:sp>
              <p:nvSpPr>
                <p:cNvPr id="19" name="Rectangle: Rounded Corners 18">
                  <a:extLst>
                    <a:ext uri="{FF2B5EF4-FFF2-40B4-BE49-F238E27FC236}">
                      <a16:creationId xmlns:a16="http://schemas.microsoft.com/office/drawing/2014/main" id="{8A6F1310-BC40-3FA5-48CD-D41835011D2E}"/>
                    </a:ext>
                  </a:extLst>
                </p:cNvPr>
                <p:cNvSpPr/>
                <p:nvPr/>
              </p:nvSpPr>
              <p:spPr>
                <a:xfrm>
                  <a:off x="4495800" y="5486400"/>
                  <a:ext cx="2819400" cy="457200"/>
                </a:xfrm>
                <a:prstGeom prst="roundRect">
                  <a:avLst/>
                </a:prstGeom>
                <a:solidFill>
                  <a:srgbClr val="FDD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039FAA50-198C-76B7-3420-025BBAF73958}"/>
                    </a:ext>
                  </a:extLst>
                </p:cNvPr>
                <p:cNvSpPr/>
                <p:nvPr/>
              </p:nvSpPr>
              <p:spPr>
                <a:xfrm>
                  <a:off x="4572000" y="5524500"/>
                  <a:ext cx="2667000" cy="381000"/>
                </a:xfrm>
                <a:prstGeom prst="roundRect">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TextBox 17">
                <a:extLst>
                  <a:ext uri="{FF2B5EF4-FFF2-40B4-BE49-F238E27FC236}">
                    <a16:creationId xmlns:a16="http://schemas.microsoft.com/office/drawing/2014/main" id="{DD411403-528C-1AB8-C4E3-76E078261776}"/>
                  </a:ext>
                </a:extLst>
              </p:cNvPr>
              <p:cNvSpPr txBox="1"/>
              <p:nvPr/>
            </p:nvSpPr>
            <p:spPr>
              <a:xfrm>
                <a:off x="4572000" y="5530334"/>
                <a:ext cx="1600200" cy="369332"/>
              </a:xfrm>
              <a:prstGeom prst="rect">
                <a:avLst/>
              </a:prstGeom>
              <a:noFill/>
            </p:spPr>
            <p:txBody>
              <a:bodyPr wrap="square" rtlCol="0">
                <a:spAutoFit/>
              </a:bodyPr>
              <a:lstStyle/>
              <a:p>
                <a:r>
                  <a:rPr lang="en-US" dirty="0">
                    <a:solidFill>
                      <a:srgbClr val="202124"/>
                    </a:solidFill>
                    <a:latin typeface="Arial" panose="020B0604020202020204" pitchFamily="34" charset="0"/>
                    <a:cs typeface="Arial" panose="020B0604020202020204" pitchFamily="34" charset="0"/>
                  </a:rPr>
                  <a:t>Text Data</a:t>
                </a:r>
                <a:endParaRPr lang="en-US" dirty="0"/>
              </a:p>
            </p:txBody>
          </p:sp>
        </p:grpSp>
        <p:grpSp>
          <p:nvGrpSpPr>
            <p:cNvPr id="21" name="Group 20">
              <a:extLst>
                <a:ext uri="{FF2B5EF4-FFF2-40B4-BE49-F238E27FC236}">
                  <a16:creationId xmlns:a16="http://schemas.microsoft.com/office/drawing/2014/main" id="{FE5A3DB0-9FA5-2FD8-5ED4-7E619DB567E8}"/>
                </a:ext>
              </a:extLst>
            </p:cNvPr>
            <p:cNvGrpSpPr/>
            <p:nvPr/>
          </p:nvGrpSpPr>
          <p:grpSpPr>
            <a:xfrm>
              <a:off x="1905000" y="4591050"/>
              <a:ext cx="2819400" cy="457200"/>
              <a:chOff x="4495800" y="5486400"/>
              <a:chExt cx="2819400" cy="457200"/>
            </a:xfrm>
          </p:grpSpPr>
          <p:grpSp>
            <p:nvGrpSpPr>
              <p:cNvPr id="22" name="Group 21">
                <a:extLst>
                  <a:ext uri="{FF2B5EF4-FFF2-40B4-BE49-F238E27FC236}">
                    <a16:creationId xmlns:a16="http://schemas.microsoft.com/office/drawing/2014/main" id="{EE564D92-D9E9-5EE2-E632-A019FE096864}"/>
                  </a:ext>
                </a:extLst>
              </p:cNvPr>
              <p:cNvGrpSpPr/>
              <p:nvPr/>
            </p:nvGrpSpPr>
            <p:grpSpPr>
              <a:xfrm>
                <a:off x="4495800" y="5486400"/>
                <a:ext cx="2819400" cy="457200"/>
                <a:chOff x="4495800" y="5486400"/>
                <a:chExt cx="2819400" cy="457200"/>
              </a:xfrm>
            </p:grpSpPr>
            <p:sp>
              <p:nvSpPr>
                <p:cNvPr id="24" name="Rectangle: Rounded Corners 23">
                  <a:extLst>
                    <a:ext uri="{FF2B5EF4-FFF2-40B4-BE49-F238E27FC236}">
                      <a16:creationId xmlns:a16="http://schemas.microsoft.com/office/drawing/2014/main" id="{CD5E9F22-0C56-6055-768A-F6E546B39759}"/>
                    </a:ext>
                  </a:extLst>
                </p:cNvPr>
                <p:cNvSpPr/>
                <p:nvPr/>
              </p:nvSpPr>
              <p:spPr>
                <a:xfrm>
                  <a:off x="4495800" y="5486400"/>
                  <a:ext cx="2819400" cy="457200"/>
                </a:xfrm>
                <a:prstGeom prst="roundRect">
                  <a:avLst/>
                </a:prstGeom>
                <a:solidFill>
                  <a:srgbClr val="FDD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641484F8-117D-2B88-394D-71DE39B21EB0}"/>
                    </a:ext>
                  </a:extLst>
                </p:cNvPr>
                <p:cNvSpPr/>
                <p:nvPr/>
              </p:nvSpPr>
              <p:spPr>
                <a:xfrm>
                  <a:off x="4572000" y="5524500"/>
                  <a:ext cx="2667000" cy="381000"/>
                </a:xfrm>
                <a:prstGeom prst="roundRect">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5B9A908B-465A-FFD0-1D7D-2C117AEC0A0E}"/>
                  </a:ext>
                </a:extLst>
              </p:cNvPr>
              <p:cNvSpPr txBox="1"/>
              <p:nvPr/>
            </p:nvSpPr>
            <p:spPr>
              <a:xfrm>
                <a:off x="4572000" y="5530334"/>
                <a:ext cx="2438400" cy="369332"/>
              </a:xfrm>
              <a:prstGeom prst="rect">
                <a:avLst/>
              </a:prstGeom>
              <a:noFill/>
            </p:spPr>
            <p:txBody>
              <a:bodyPr wrap="square" rtlCol="0">
                <a:spAutoFit/>
              </a:bodyPr>
              <a:lstStyle/>
              <a:p>
                <a:r>
                  <a:rPr lang="en-US" dirty="0">
                    <a:solidFill>
                      <a:srgbClr val="202124"/>
                    </a:solidFill>
                    <a:latin typeface="Arial" panose="020B0604020202020204" pitchFamily="34" charset="0"/>
                    <a:cs typeface="Arial" panose="020B0604020202020204" pitchFamily="34" charset="0"/>
                  </a:rPr>
                  <a:t>Time Series Data</a:t>
                </a:r>
                <a:endParaRPr lang="en-US" dirty="0"/>
              </a:p>
            </p:txBody>
          </p:sp>
        </p:grpSp>
        <p:grpSp>
          <p:nvGrpSpPr>
            <p:cNvPr id="26" name="Group 25">
              <a:extLst>
                <a:ext uri="{FF2B5EF4-FFF2-40B4-BE49-F238E27FC236}">
                  <a16:creationId xmlns:a16="http://schemas.microsoft.com/office/drawing/2014/main" id="{EE0B09AA-0926-F67E-6AEE-D27CDB8FFEF7}"/>
                </a:ext>
              </a:extLst>
            </p:cNvPr>
            <p:cNvGrpSpPr/>
            <p:nvPr/>
          </p:nvGrpSpPr>
          <p:grpSpPr>
            <a:xfrm>
              <a:off x="1905000" y="5162550"/>
              <a:ext cx="2819400" cy="457200"/>
              <a:chOff x="4495800" y="5486400"/>
              <a:chExt cx="2819400" cy="457200"/>
            </a:xfrm>
          </p:grpSpPr>
          <p:grpSp>
            <p:nvGrpSpPr>
              <p:cNvPr id="27" name="Group 26">
                <a:extLst>
                  <a:ext uri="{FF2B5EF4-FFF2-40B4-BE49-F238E27FC236}">
                    <a16:creationId xmlns:a16="http://schemas.microsoft.com/office/drawing/2014/main" id="{DA187700-74AC-470F-C205-196BAE850A37}"/>
                  </a:ext>
                </a:extLst>
              </p:cNvPr>
              <p:cNvGrpSpPr/>
              <p:nvPr/>
            </p:nvGrpSpPr>
            <p:grpSpPr>
              <a:xfrm>
                <a:off x="4495800" y="5486400"/>
                <a:ext cx="2819400" cy="457200"/>
                <a:chOff x="4495800" y="5486400"/>
                <a:chExt cx="2819400" cy="457200"/>
              </a:xfrm>
            </p:grpSpPr>
            <p:sp>
              <p:nvSpPr>
                <p:cNvPr id="29" name="Rectangle: Rounded Corners 28">
                  <a:extLst>
                    <a:ext uri="{FF2B5EF4-FFF2-40B4-BE49-F238E27FC236}">
                      <a16:creationId xmlns:a16="http://schemas.microsoft.com/office/drawing/2014/main" id="{3F367986-5D5E-44D1-E80F-4907F785B4D4}"/>
                    </a:ext>
                  </a:extLst>
                </p:cNvPr>
                <p:cNvSpPr/>
                <p:nvPr/>
              </p:nvSpPr>
              <p:spPr>
                <a:xfrm>
                  <a:off x="4495800" y="5486400"/>
                  <a:ext cx="2819400" cy="457200"/>
                </a:xfrm>
                <a:prstGeom prst="roundRect">
                  <a:avLst/>
                </a:prstGeom>
                <a:solidFill>
                  <a:srgbClr val="FDD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Rounded Corners 29">
                  <a:extLst>
                    <a:ext uri="{FF2B5EF4-FFF2-40B4-BE49-F238E27FC236}">
                      <a16:creationId xmlns:a16="http://schemas.microsoft.com/office/drawing/2014/main" id="{50BC2491-FEFD-6466-724D-19F8D653E7DA}"/>
                    </a:ext>
                  </a:extLst>
                </p:cNvPr>
                <p:cNvSpPr/>
                <p:nvPr/>
              </p:nvSpPr>
              <p:spPr>
                <a:xfrm>
                  <a:off x="4572000" y="5524500"/>
                  <a:ext cx="2667000" cy="381000"/>
                </a:xfrm>
                <a:prstGeom prst="roundRect">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TextBox 27">
                <a:extLst>
                  <a:ext uri="{FF2B5EF4-FFF2-40B4-BE49-F238E27FC236}">
                    <a16:creationId xmlns:a16="http://schemas.microsoft.com/office/drawing/2014/main" id="{5108529D-EE83-75CA-C6C3-568CFE442F38}"/>
                  </a:ext>
                </a:extLst>
              </p:cNvPr>
              <p:cNvSpPr txBox="1"/>
              <p:nvPr/>
            </p:nvSpPr>
            <p:spPr>
              <a:xfrm>
                <a:off x="4572000" y="5530334"/>
                <a:ext cx="2438400" cy="369332"/>
              </a:xfrm>
              <a:prstGeom prst="rect">
                <a:avLst/>
              </a:prstGeom>
              <a:noFill/>
            </p:spPr>
            <p:txBody>
              <a:bodyPr wrap="square" rtlCol="0">
                <a:spAutoFit/>
              </a:bodyPr>
              <a:lstStyle/>
              <a:p>
                <a:r>
                  <a:rPr lang="en-US" dirty="0">
                    <a:solidFill>
                      <a:srgbClr val="202124"/>
                    </a:solidFill>
                    <a:latin typeface="Arial" panose="020B0604020202020204" pitchFamily="34" charset="0"/>
                    <a:cs typeface="Arial" panose="020B0604020202020204" pitchFamily="34" charset="0"/>
                  </a:rPr>
                  <a:t>Audio Data</a:t>
                </a:r>
                <a:endParaRPr lang="en-US" dirty="0"/>
              </a:p>
            </p:txBody>
          </p:sp>
        </p:grpSp>
        <p:grpSp>
          <p:nvGrpSpPr>
            <p:cNvPr id="31" name="Group 30">
              <a:extLst>
                <a:ext uri="{FF2B5EF4-FFF2-40B4-BE49-F238E27FC236}">
                  <a16:creationId xmlns:a16="http://schemas.microsoft.com/office/drawing/2014/main" id="{69221F7C-4D35-1573-6FC1-18B626A9F2B0}"/>
                </a:ext>
              </a:extLst>
            </p:cNvPr>
            <p:cNvGrpSpPr/>
            <p:nvPr/>
          </p:nvGrpSpPr>
          <p:grpSpPr>
            <a:xfrm>
              <a:off x="1905000" y="5734050"/>
              <a:ext cx="2819400" cy="457200"/>
              <a:chOff x="4495800" y="5486400"/>
              <a:chExt cx="2819400" cy="457200"/>
            </a:xfrm>
          </p:grpSpPr>
          <p:grpSp>
            <p:nvGrpSpPr>
              <p:cNvPr id="32" name="Group 31">
                <a:extLst>
                  <a:ext uri="{FF2B5EF4-FFF2-40B4-BE49-F238E27FC236}">
                    <a16:creationId xmlns:a16="http://schemas.microsoft.com/office/drawing/2014/main" id="{ECD569C9-7690-8B4A-7BA5-3F4D81F66464}"/>
                  </a:ext>
                </a:extLst>
              </p:cNvPr>
              <p:cNvGrpSpPr/>
              <p:nvPr/>
            </p:nvGrpSpPr>
            <p:grpSpPr>
              <a:xfrm>
                <a:off x="4495800" y="5486400"/>
                <a:ext cx="2819400" cy="457200"/>
                <a:chOff x="4495800" y="5486400"/>
                <a:chExt cx="2819400" cy="457200"/>
              </a:xfrm>
            </p:grpSpPr>
            <p:sp>
              <p:nvSpPr>
                <p:cNvPr id="34" name="Rectangle: Rounded Corners 33">
                  <a:extLst>
                    <a:ext uri="{FF2B5EF4-FFF2-40B4-BE49-F238E27FC236}">
                      <a16:creationId xmlns:a16="http://schemas.microsoft.com/office/drawing/2014/main" id="{AD1F1670-5420-D586-EFA5-8D1DF9997D78}"/>
                    </a:ext>
                  </a:extLst>
                </p:cNvPr>
                <p:cNvSpPr/>
                <p:nvPr/>
              </p:nvSpPr>
              <p:spPr>
                <a:xfrm>
                  <a:off x="4495800" y="5486400"/>
                  <a:ext cx="2819400" cy="457200"/>
                </a:xfrm>
                <a:prstGeom prst="roundRect">
                  <a:avLst/>
                </a:prstGeom>
                <a:solidFill>
                  <a:srgbClr val="FDD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Rounded Corners 34">
                  <a:extLst>
                    <a:ext uri="{FF2B5EF4-FFF2-40B4-BE49-F238E27FC236}">
                      <a16:creationId xmlns:a16="http://schemas.microsoft.com/office/drawing/2014/main" id="{AA1A6756-A685-7CCE-F84E-0A6EA07CFE68}"/>
                    </a:ext>
                  </a:extLst>
                </p:cNvPr>
                <p:cNvSpPr/>
                <p:nvPr/>
              </p:nvSpPr>
              <p:spPr>
                <a:xfrm>
                  <a:off x="4572000" y="5524500"/>
                  <a:ext cx="2667000" cy="381000"/>
                </a:xfrm>
                <a:prstGeom prst="roundRect">
                  <a:avLst/>
                </a:prstGeom>
                <a:noFill/>
                <a:ln w="95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88FE9AF4-3101-DCC1-9823-7702BC0AD2B4}"/>
                  </a:ext>
                </a:extLst>
              </p:cNvPr>
              <p:cNvSpPr txBox="1"/>
              <p:nvPr/>
            </p:nvSpPr>
            <p:spPr>
              <a:xfrm>
                <a:off x="4572000" y="5530334"/>
                <a:ext cx="2438400" cy="369332"/>
              </a:xfrm>
              <a:prstGeom prst="rect">
                <a:avLst/>
              </a:prstGeom>
              <a:noFill/>
            </p:spPr>
            <p:txBody>
              <a:bodyPr wrap="square" rtlCol="0">
                <a:spAutoFit/>
              </a:bodyPr>
              <a:lstStyle/>
              <a:p>
                <a:r>
                  <a:rPr lang="en-US" dirty="0">
                    <a:solidFill>
                      <a:srgbClr val="202124"/>
                    </a:solidFill>
                    <a:latin typeface="Arial" panose="020B0604020202020204" pitchFamily="34" charset="0"/>
                    <a:cs typeface="Arial" panose="020B0604020202020204" pitchFamily="34" charset="0"/>
                  </a:rPr>
                  <a:t>Sensor Data</a:t>
                </a:r>
                <a:endParaRPr lang="en-US" dirty="0"/>
              </a:p>
            </p:txBody>
          </p:sp>
        </p:grpSp>
      </p:grpSp>
    </p:spTree>
    <p:extLst>
      <p:ext uri="{BB962C8B-B14F-4D97-AF65-F5344CB8AC3E}">
        <p14:creationId xmlns:p14="http://schemas.microsoft.com/office/powerpoint/2010/main" val="20622169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FD4929-DC57-B677-3FD2-4B4F6BCB80FD}"/>
              </a:ext>
            </a:extLst>
          </p:cNvPr>
          <p:cNvSpPr>
            <a:spLocks noChangeArrowheads="1"/>
          </p:cNvSpPr>
          <p:nvPr/>
        </p:nvSpPr>
        <p:spPr bwMode="auto">
          <a:xfrm>
            <a:off x="251544" y="791397"/>
            <a:ext cx="2251899" cy="412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Autofit/>
          </a:bodyPr>
          <a:lstStyle/>
          <a:p>
            <a:pPr marL="104137" algn="just">
              <a:lnSpc>
                <a:spcPct val="150000"/>
              </a:lnSpc>
              <a:spcBef>
                <a:spcPts val="1200"/>
              </a:spcBef>
              <a:spcAft>
                <a:spcPts val="800"/>
              </a:spcAft>
            </a:pPr>
            <a:r>
              <a:rPr lang="en-US" sz="2000" b="1" dirty="0">
                <a:solidFill>
                  <a:srgbClr val="223366"/>
                </a:solidFill>
                <a:latin typeface="Arial" panose="020B0604020202020204" pitchFamily="34" charset="0"/>
                <a:ea typeface="+mj-ea"/>
                <a:cs typeface="Arial" panose="020B0604020202020204" pitchFamily="34" charset="0"/>
              </a:rPr>
              <a:t>Types of Data</a:t>
            </a:r>
            <a:endParaRPr lang="en-IN" sz="2000" b="1" dirty="0">
              <a:solidFill>
                <a:srgbClr val="223366"/>
              </a:solidFill>
              <a:latin typeface="Arial" panose="020B0604020202020204" pitchFamily="34" charset="0"/>
              <a:ea typeface="+mj-ea"/>
              <a:cs typeface="Arial" panose="020B0604020202020204" pitchFamily="34" charset="0"/>
            </a:endParaRPr>
          </a:p>
        </p:txBody>
      </p:sp>
      <p:sp>
        <p:nvSpPr>
          <p:cNvPr id="5" name="Rectangle 3">
            <a:extLst>
              <a:ext uri="{FF2B5EF4-FFF2-40B4-BE49-F238E27FC236}">
                <a16:creationId xmlns:a16="http://schemas.microsoft.com/office/drawing/2014/main" id="{20C00BD4-8D8A-7453-1B23-73EA4A5DAB59}"/>
              </a:ext>
            </a:extLst>
          </p:cNvPr>
          <p:cNvSpPr>
            <a:spLocks noChangeArrowheads="1"/>
          </p:cNvSpPr>
          <p:nvPr/>
        </p:nvSpPr>
        <p:spPr bwMode="auto">
          <a:xfrm>
            <a:off x="361919" y="1307068"/>
            <a:ext cx="29672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b="1" dirty="0">
                <a:latin typeface="Arial" panose="020B0604020202020204" pitchFamily="34" charset="0"/>
                <a:ea typeface="Calibri"/>
                <a:cs typeface="Arial" panose="020B0604020202020204" pitchFamily="34" charset="0"/>
              </a:rPr>
              <a:t>Tabular Data</a:t>
            </a:r>
          </a:p>
        </p:txBody>
      </p:sp>
      <p:grpSp>
        <p:nvGrpSpPr>
          <p:cNvPr id="2" name="Group 1">
            <a:extLst>
              <a:ext uri="{FF2B5EF4-FFF2-40B4-BE49-F238E27FC236}">
                <a16:creationId xmlns:a16="http://schemas.microsoft.com/office/drawing/2014/main" id="{B10F204D-9F00-2B5E-4915-3AE060B9DC4F}"/>
              </a:ext>
            </a:extLst>
          </p:cNvPr>
          <p:cNvGrpSpPr/>
          <p:nvPr/>
        </p:nvGrpSpPr>
        <p:grpSpPr>
          <a:xfrm>
            <a:off x="6477000" y="1524000"/>
            <a:ext cx="4967869" cy="3996154"/>
            <a:chOff x="6477000" y="1524000"/>
            <a:chExt cx="4967869" cy="3996154"/>
          </a:xfrm>
        </p:grpSpPr>
        <p:pic>
          <p:nvPicPr>
            <p:cNvPr id="8" name="Picture 7">
              <a:extLst>
                <a:ext uri="{FF2B5EF4-FFF2-40B4-BE49-F238E27FC236}">
                  <a16:creationId xmlns:a16="http://schemas.microsoft.com/office/drawing/2014/main" id="{5E339DAB-7FEA-408B-9A59-90B43EF3857D}"/>
                </a:ext>
              </a:extLst>
            </p:cNvPr>
            <p:cNvPicPr>
              <a:picLocks noChangeAspect="1"/>
            </p:cNvPicPr>
            <p:nvPr/>
          </p:nvPicPr>
          <p:blipFill>
            <a:blip r:embed="rId3"/>
            <a:stretch>
              <a:fillRect/>
            </a:stretch>
          </p:blipFill>
          <p:spPr>
            <a:xfrm>
              <a:off x="6477000" y="1524000"/>
              <a:ext cx="4967869" cy="3610975"/>
            </a:xfrm>
            <a:prstGeom prst="rect">
              <a:avLst/>
            </a:prstGeom>
          </p:spPr>
        </p:pic>
        <p:sp>
          <p:nvSpPr>
            <p:cNvPr id="10" name="Rectangle 3">
              <a:extLst>
                <a:ext uri="{FF2B5EF4-FFF2-40B4-BE49-F238E27FC236}">
                  <a16:creationId xmlns:a16="http://schemas.microsoft.com/office/drawing/2014/main" id="{942F3076-8487-E496-EC7E-CB6265B145B3}"/>
                </a:ext>
              </a:extLst>
            </p:cNvPr>
            <p:cNvSpPr>
              <a:spLocks noChangeArrowheads="1"/>
            </p:cNvSpPr>
            <p:nvPr/>
          </p:nvSpPr>
          <p:spPr bwMode="auto">
            <a:xfrm>
              <a:off x="8237435" y="5181600"/>
              <a:ext cx="144699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defTabSz="914377" eaLnBrk="0" fontAlgn="base" hangingPunct="0">
                <a:spcBef>
                  <a:spcPct val="0"/>
                </a:spcBef>
                <a:spcAft>
                  <a:spcPct val="0"/>
                </a:spcAft>
              </a:pPr>
              <a:r>
                <a:rPr lang="en-US" altLang="en-US" sz="1600" dirty="0">
                  <a:solidFill>
                    <a:srgbClr val="002060"/>
                  </a:solidFill>
                  <a:latin typeface="Arial" panose="020B0604020202020204" pitchFamily="34" charset="0"/>
                  <a:ea typeface="Times New Roman" panose="02020603050405020304" pitchFamily="18" charset="0"/>
                </a:rPr>
                <a:t> </a:t>
              </a:r>
              <a:r>
                <a:rPr lang="en-US" altLang="en-US" sz="1600" b="1" dirty="0">
                  <a:solidFill>
                    <a:srgbClr val="002060"/>
                  </a:solidFill>
                  <a:latin typeface="Arial" panose="020B0604020202020204" pitchFamily="34" charset="0"/>
                  <a:ea typeface="Calibri" panose="020F0502020204030204" pitchFamily="34" charset="0"/>
                  <a:cs typeface="Shruti" panose="020B0502040204020203" pitchFamily="34" charset="0"/>
                </a:rPr>
                <a:t>Tabular data</a:t>
              </a:r>
              <a:endParaRPr lang="en-US" altLang="en-US" sz="1600" dirty="0">
                <a:solidFill>
                  <a:srgbClr val="002060"/>
                </a:solidFill>
                <a:latin typeface="Arial" panose="020B0604020202020204" pitchFamily="34" charset="0"/>
              </a:endParaRPr>
            </a:p>
          </p:txBody>
        </p:sp>
      </p:grpSp>
      <p:sp>
        <p:nvSpPr>
          <p:cNvPr id="13" name="TextBox 12">
            <a:extLst>
              <a:ext uri="{FF2B5EF4-FFF2-40B4-BE49-F238E27FC236}">
                <a16:creationId xmlns:a16="http://schemas.microsoft.com/office/drawing/2014/main" id="{C788E0C1-52E1-0992-00B5-FD50A340A416}"/>
              </a:ext>
            </a:extLst>
          </p:cNvPr>
          <p:cNvSpPr txBox="1"/>
          <p:nvPr/>
        </p:nvSpPr>
        <p:spPr>
          <a:xfrm>
            <a:off x="331441" y="1759715"/>
            <a:ext cx="5916959" cy="1713290"/>
          </a:xfrm>
          <a:prstGeom prst="rect">
            <a:avLst/>
          </a:prstGeom>
          <a:noFill/>
        </p:spPr>
        <p:txBody>
          <a:bodyPr wrap="square" lIns="121920" tIns="60960" rIns="121920" bIns="60960" anchor="t">
            <a:spAutoFit/>
          </a:bodyPr>
          <a:lstStyle/>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ea typeface="Times New Roman" panose="02020603050405020304" pitchFamily="18" charset="0"/>
                <a:cs typeface="Arial" panose="020B0604020202020204" pitchFamily="34" charset="0"/>
              </a:rPr>
              <a:t>Structured data. </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ea typeface="Times New Roman" panose="02020603050405020304" pitchFamily="18" charset="0"/>
                <a:cs typeface="Arial" panose="020B0604020202020204" pitchFamily="34" charset="0"/>
              </a:rPr>
              <a:t>Formats: CSV(Comma-Separated Values) files, Excel spreadsheets, or relational databases.</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ea typeface="Times New Roman" panose="02020603050405020304" pitchFamily="18" charset="0"/>
                <a:cs typeface="Arial" panose="020B0604020202020204" pitchFamily="34" charset="0"/>
              </a:rPr>
              <a:t>Row represents an individual instance or observation, Column corresponds to a specific attribute or feature.</a:t>
            </a:r>
          </a:p>
        </p:txBody>
      </p:sp>
    </p:spTree>
    <p:extLst>
      <p:ext uri="{BB962C8B-B14F-4D97-AF65-F5344CB8AC3E}">
        <p14:creationId xmlns:p14="http://schemas.microsoft.com/office/powerpoint/2010/main" val="3979888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3E490A7C-C917-081B-DA89-98EAAC1FF77C}"/>
                  </a:ext>
                </a:extLst>
              </p14:cNvPr>
              <p14:cNvContentPartPr/>
              <p14:nvPr/>
            </p14:nvContentPartPr>
            <p14:xfrm>
              <a:off x="3060369" y="4198421"/>
              <a:ext cx="12371" cy="12371"/>
            </p14:xfrm>
          </p:contentPart>
        </mc:Choice>
        <mc:Fallback xmlns="">
          <p:pic>
            <p:nvPicPr>
              <p:cNvPr id="11" name="Ink 10">
                <a:extLst>
                  <a:ext uri="{FF2B5EF4-FFF2-40B4-BE49-F238E27FC236}">
                    <a16:creationId xmlns:a16="http://schemas.microsoft.com/office/drawing/2014/main" id="{3E490A7C-C917-081B-DA89-98EAAC1FF77C}"/>
                  </a:ext>
                </a:extLst>
              </p:cNvPr>
              <p:cNvPicPr/>
              <p:nvPr/>
            </p:nvPicPr>
            <p:blipFill>
              <a:blip r:embed="rId4"/>
              <a:stretch>
                <a:fillRect/>
              </a:stretch>
            </p:blipFill>
            <p:spPr>
              <a:xfrm>
                <a:off x="2441819" y="3579871"/>
                <a:ext cx="1237100" cy="1237100"/>
              </a:xfrm>
              <a:prstGeom prst="rect">
                <a:avLst/>
              </a:prstGeom>
            </p:spPr>
          </p:pic>
        </mc:Fallback>
      </mc:AlternateContent>
      <p:sp>
        <p:nvSpPr>
          <p:cNvPr id="3" name="Rectangle 2">
            <a:extLst>
              <a:ext uri="{FF2B5EF4-FFF2-40B4-BE49-F238E27FC236}">
                <a16:creationId xmlns:a16="http://schemas.microsoft.com/office/drawing/2014/main" id="{19FD4929-DC57-B677-3FD2-4B4F6BCB80FD}"/>
              </a:ext>
            </a:extLst>
          </p:cNvPr>
          <p:cNvSpPr>
            <a:spLocks noChangeArrowheads="1"/>
          </p:cNvSpPr>
          <p:nvPr/>
        </p:nvSpPr>
        <p:spPr bwMode="auto">
          <a:xfrm>
            <a:off x="275705" y="685800"/>
            <a:ext cx="2251899" cy="625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a:bodyPr>
          <a:lstStyle/>
          <a:p>
            <a:pPr marL="104137" algn="just">
              <a:lnSpc>
                <a:spcPct val="150000"/>
              </a:lnSpc>
              <a:spcBef>
                <a:spcPts val="1200"/>
              </a:spcBef>
              <a:spcAft>
                <a:spcPts val="800"/>
              </a:spcAft>
            </a:pPr>
            <a:r>
              <a:rPr lang="en-US" sz="2000" b="1" dirty="0">
                <a:solidFill>
                  <a:srgbClr val="223366"/>
                </a:solidFill>
                <a:latin typeface="Arial" panose="020B0604020202020204" pitchFamily="34" charset="0"/>
                <a:ea typeface="+mj-ea"/>
                <a:cs typeface="Arial" panose="020B0604020202020204" pitchFamily="34" charset="0"/>
              </a:rPr>
              <a:t>Types of Data: </a:t>
            </a:r>
            <a:endParaRPr lang="en-IN" sz="2000" b="1" dirty="0">
              <a:solidFill>
                <a:srgbClr val="223366"/>
              </a:solidFill>
              <a:latin typeface="Arial" panose="020B0604020202020204" pitchFamily="34" charset="0"/>
              <a:ea typeface="+mj-ea"/>
              <a:cs typeface="Arial" panose="020B0604020202020204" pitchFamily="34" charset="0"/>
            </a:endParaRPr>
          </a:p>
        </p:txBody>
      </p:sp>
      <p:sp>
        <p:nvSpPr>
          <p:cNvPr id="5" name="Rectangle 3">
            <a:extLst>
              <a:ext uri="{FF2B5EF4-FFF2-40B4-BE49-F238E27FC236}">
                <a16:creationId xmlns:a16="http://schemas.microsoft.com/office/drawing/2014/main" id="{20C00BD4-8D8A-7453-1B23-73EA4A5DAB59}"/>
              </a:ext>
            </a:extLst>
          </p:cNvPr>
          <p:cNvSpPr>
            <a:spLocks noChangeArrowheads="1"/>
          </p:cNvSpPr>
          <p:nvPr/>
        </p:nvSpPr>
        <p:spPr bwMode="auto">
          <a:xfrm>
            <a:off x="381000" y="1295400"/>
            <a:ext cx="29672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b="1" dirty="0">
                <a:latin typeface="Arial" panose="020B0604020202020204" pitchFamily="34" charset="0"/>
                <a:ea typeface="Calibri"/>
                <a:cs typeface="Arial" panose="020B0604020202020204" pitchFamily="34" charset="0"/>
              </a:rPr>
              <a:t>Text Data</a:t>
            </a:r>
          </a:p>
        </p:txBody>
      </p:sp>
      <p:sp>
        <p:nvSpPr>
          <p:cNvPr id="10" name="Rectangle 3">
            <a:extLst>
              <a:ext uri="{FF2B5EF4-FFF2-40B4-BE49-F238E27FC236}">
                <a16:creationId xmlns:a16="http://schemas.microsoft.com/office/drawing/2014/main" id="{942F3076-8487-E496-EC7E-CB6265B145B3}"/>
              </a:ext>
            </a:extLst>
          </p:cNvPr>
          <p:cNvSpPr>
            <a:spLocks noChangeArrowheads="1"/>
          </p:cNvSpPr>
          <p:nvPr/>
        </p:nvSpPr>
        <p:spPr bwMode="auto">
          <a:xfrm>
            <a:off x="1013602" y="6396917"/>
            <a:ext cx="7862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sz="1200" dirty="0">
                <a:solidFill>
                  <a:srgbClr val="0000FF"/>
                </a:solidFill>
                <a:latin typeface="+mj-lt"/>
                <a:ea typeface="Times New Roman" panose="02020603050405020304" pitchFamily="18" charset="0"/>
              </a:rPr>
              <a:t> </a:t>
            </a:r>
            <a:r>
              <a:rPr lang="en-US" altLang="en-US" sz="1200" dirty="0">
                <a:solidFill>
                  <a:srgbClr val="0000FF"/>
                </a:solidFill>
                <a:latin typeface="+mj-lt"/>
                <a:ea typeface="Calibri" panose="020F0502020204030204" pitchFamily="34" charset="0"/>
                <a:cs typeface="Shruti" panose="020B0502040204020203" pitchFamily="34" charset="0"/>
                <a:hlinkClick r:id="rId5">
                  <a:extLst>
                    <a:ext uri="{A12FA001-AC4F-418D-AE19-62706E023703}">
                      <ahyp:hlinkClr xmlns:ahyp="http://schemas.microsoft.com/office/drawing/2018/hyperlinkcolor" val="tx"/>
                    </a:ext>
                  </a:extLst>
                </a:hlinkClick>
              </a:rPr>
              <a:t>Text data</a:t>
            </a:r>
            <a:endParaRPr lang="en-US" altLang="en-US" sz="1200" dirty="0">
              <a:solidFill>
                <a:srgbClr val="0000FF"/>
              </a:solidFill>
              <a:latin typeface="+mj-lt"/>
            </a:endParaRPr>
          </a:p>
        </p:txBody>
      </p:sp>
      <p:sp>
        <p:nvSpPr>
          <p:cNvPr id="6" name="TextBox 5">
            <a:extLst>
              <a:ext uri="{FF2B5EF4-FFF2-40B4-BE49-F238E27FC236}">
                <a16:creationId xmlns:a16="http://schemas.microsoft.com/office/drawing/2014/main" id="{722A2CB0-8D50-839D-1E22-3B8BD3D38093}"/>
              </a:ext>
            </a:extLst>
          </p:cNvPr>
          <p:cNvSpPr txBox="1"/>
          <p:nvPr/>
        </p:nvSpPr>
        <p:spPr>
          <a:xfrm>
            <a:off x="350521" y="1727370"/>
            <a:ext cx="5916960" cy="3026470"/>
          </a:xfrm>
          <a:prstGeom prst="rect">
            <a:avLst/>
          </a:prstGeom>
          <a:noFill/>
        </p:spPr>
        <p:txBody>
          <a:bodyPr wrap="square" lIns="121920" tIns="60960" rIns="121920" bIns="60960" anchor="t">
            <a:spAutoFit/>
          </a:bodyPr>
          <a:lstStyle/>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Data is made up of words and sentences. </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For sentiment analysis and text classification. </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Include speech transcripts, emails, articles, social media posts, customer reviews, and other forms of unstructured text. </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Trained using natural language processing (NLP) algorithms to analyse text and extract relevant information from it. </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Unstructured. </a:t>
            </a:r>
            <a:r>
              <a:rPr lang="en-US" dirty="0">
                <a:latin typeface="Arial" panose="020B0604020202020204" pitchFamily="34" charset="0"/>
                <a:cs typeface="Arial" panose="020B0604020202020204" pitchFamily="34" charset="0"/>
              </a:rPr>
              <a:t>in nature</a:t>
            </a:r>
          </a:p>
        </p:txBody>
      </p:sp>
      <p:pic>
        <p:nvPicPr>
          <p:cNvPr id="1026" name="Picture 2" descr="Text Mining Example | solver">
            <a:extLst>
              <a:ext uri="{FF2B5EF4-FFF2-40B4-BE49-F238E27FC236}">
                <a16:creationId xmlns:a16="http://schemas.microsoft.com/office/drawing/2014/main" id="{7EAF4D02-F0DD-B14E-C4DC-47376213339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24134" y="1580361"/>
            <a:ext cx="5782127" cy="3061561"/>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Connector 6">
            <a:extLst>
              <a:ext uri="{FF2B5EF4-FFF2-40B4-BE49-F238E27FC236}">
                <a16:creationId xmlns:a16="http://schemas.microsoft.com/office/drawing/2014/main" id="{1F67589D-3DD9-955A-EA4C-CA6F4CEF33F0}"/>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Google Shape;62;g5fab984687_2_0">
            <a:extLst>
              <a:ext uri="{FF2B5EF4-FFF2-40B4-BE49-F238E27FC236}">
                <a16:creationId xmlns:a16="http://schemas.microsoft.com/office/drawing/2014/main" id="{8E95C0BD-EC9D-1FE8-6D3E-D7A749F92720}"/>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extLst>
      <p:ext uri="{BB962C8B-B14F-4D97-AF65-F5344CB8AC3E}">
        <p14:creationId xmlns:p14="http://schemas.microsoft.com/office/powerpoint/2010/main" val="23202238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3">
            <p14:nvContentPartPr>
              <p14:cNvPr id="11" name="Ink 10">
                <a:extLst>
                  <a:ext uri="{FF2B5EF4-FFF2-40B4-BE49-F238E27FC236}">
                    <a16:creationId xmlns:a16="http://schemas.microsoft.com/office/drawing/2014/main" id="{3E490A7C-C917-081B-DA89-98EAAC1FF77C}"/>
                  </a:ext>
                </a:extLst>
              </p14:cNvPr>
              <p14:cNvContentPartPr/>
              <p14:nvPr/>
            </p14:nvContentPartPr>
            <p14:xfrm>
              <a:off x="3060369" y="4198421"/>
              <a:ext cx="12371" cy="12371"/>
            </p14:xfrm>
          </p:contentPart>
        </mc:Choice>
        <mc:Fallback xmlns="">
          <p:pic>
            <p:nvPicPr>
              <p:cNvPr id="11" name="Ink 10">
                <a:extLst>
                  <a:ext uri="{FF2B5EF4-FFF2-40B4-BE49-F238E27FC236}">
                    <a16:creationId xmlns:a16="http://schemas.microsoft.com/office/drawing/2014/main" id="{3E490A7C-C917-081B-DA89-98EAAC1FF77C}"/>
                  </a:ext>
                </a:extLst>
              </p:cNvPr>
              <p:cNvPicPr/>
              <p:nvPr/>
            </p:nvPicPr>
            <p:blipFill>
              <a:blip r:embed="rId4"/>
              <a:stretch>
                <a:fillRect/>
              </a:stretch>
            </p:blipFill>
            <p:spPr>
              <a:xfrm>
                <a:off x="2441819" y="3579871"/>
                <a:ext cx="1237100" cy="1237100"/>
              </a:xfrm>
              <a:prstGeom prst="rect">
                <a:avLst/>
              </a:prstGeom>
            </p:spPr>
          </p:pic>
        </mc:Fallback>
      </mc:AlternateContent>
      <p:sp>
        <p:nvSpPr>
          <p:cNvPr id="5" name="Rectangle 3">
            <a:extLst>
              <a:ext uri="{FF2B5EF4-FFF2-40B4-BE49-F238E27FC236}">
                <a16:creationId xmlns:a16="http://schemas.microsoft.com/office/drawing/2014/main" id="{20C00BD4-8D8A-7453-1B23-73EA4A5DAB59}"/>
              </a:ext>
            </a:extLst>
          </p:cNvPr>
          <p:cNvSpPr>
            <a:spLocks noChangeArrowheads="1"/>
          </p:cNvSpPr>
          <p:nvPr/>
        </p:nvSpPr>
        <p:spPr bwMode="auto">
          <a:xfrm>
            <a:off x="372080" y="1307068"/>
            <a:ext cx="296728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377" eaLnBrk="0" fontAlgn="base" hangingPunct="0">
              <a:spcBef>
                <a:spcPct val="0"/>
              </a:spcBef>
              <a:spcAft>
                <a:spcPct val="0"/>
              </a:spcAft>
            </a:pPr>
            <a:r>
              <a:rPr lang="en-US" altLang="en-US" b="1" dirty="0">
                <a:latin typeface="Arial" panose="020B0604020202020204" pitchFamily="34" charset="0"/>
                <a:ea typeface="Calibri"/>
                <a:cs typeface="Arial" panose="020B0604020202020204" pitchFamily="34" charset="0"/>
              </a:rPr>
              <a:t>Visual Data</a:t>
            </a:r>
          </a:p>
        </p:txBody>
      </p:sp>
      <p:sp>
        <p:nvSpPr>
          <p:cNvPr id="10" name="Rectangle 3">
            <a:extLst>
              <a:ext uri="{FF2B5EF4-FFF2-40B4-BE49-F238E27FC236}">
                <a16:creationId xmlns:a16="http://schemas.microsoft.com/office/drawing/2014/main" id="{942F3076-8487-E496-EC7E-CB6265B145B3}"/>
              </a:ext>
            </a:extLst>
          </p:cNvPr>
          <p:cNvSpPr>
            <a:spLocks noChangeArrowheads="1"/>
          </p:cNvSpPr>
          <p:nvPr/>
        </p:nvSpPr>
        <p:spPr bwMode="auto">
          <a:xfrm>
            <a:off x="8343058" y="4419600"/>
            <a:ext cx="16544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ctr" defTabSz="914377" eaLnBrk="0" fontAlgn="base" hangingPunct="0">
              <a:spcBef>
                <a:spcPct val="0"/>
              </a:spcBef>
              <a:spcAft>
                <a:spcPct val="0"/>
              </a:spcAft>
            </a:pPr>
            <a:r>
              <a:rPr lang="en-US" altLang="en-US" sz="1600" dirty="0">
                <a:solidFill>
                  <a:srgbClr val="002060"/>
                </a:solidFill>
                <a:latin typeface="Arial" panose="020B0604020202020204" pitchFamily="34" charset="0"/>
                <a:ea typeface="Times New Roman" panose="02020603050405020304" pitchFamily="18" charset="0"/>
              </a:rPr>
              <a:t> </a:t>
            </a:r>
            <a:r>
              <a:rPr lang="en-US" altLang="en-US" sz="1600" b="1" dirty="0">
                <a:solidFill>
                  <a:srgbClr val="002060"/>
                </a:solidFill>
                <a:latin typeface="Arial" panose="020B0604020202020204" pitchFamily="34" charset="0"/>
                <a:ea typeface="Calibri" panose="020F0502020204030204" pitchFamily="34" charset="0"/>
                <a:cs typeface="Shruti" panose="020B0502040204020203" pitchFamily="34" charset="0"/>
              </a:rPr>
              <a:t>CIFAR Dataset</a:t>
            </a:r>
            <a:endParaRPr lang="en-US" altLang="en-US" sz="1600" dirty="0">
              <a:solidFill>
                <a:srgbClr val="002060"/>
              </a:solidFill>
              <a:latin typeface="Arial" panose="020B0604020202020204" pitchFamily="34" charset="0"/>
            </a:endParaRPr>
          </a:p>
        </p:txBody>
      </p:sp>
      <p:sp>
        <p:nvSpPr>
          <p:cNvPr id="6" name="TextBox 5">
            <a:extLst>
              <a:ext uri="{FF2B5EF4-FFF2-40B4-BE49-F238E27FC236}">
                <a16:creationId xmlns:a16="http://schemas.microsoft.com/office/drawing/2014/main" id="{DD9B35AD-25E0-996A-9798-9F73F0D94AC3}"/>
              </a:ext>
            </a:extLst>
          </p:cNvPr>
          <p:cNvSpPr txBox="1"/>
          <p:nvPr/>
        </p:nvSpPr>
        <p:spPr>
          <a:xfrm>
            <a:off x="334565" y="1676400"/>
            <a:ext cx="5761435" cy="2923877"/>
          </a:xfrm>
          <a:prstGeom prst="rect">
            <a:avLst/>
          </a:prstGeom>
          <a:noFill/>
        </p:spPr>
        <p:txBody>
          <a:bodyPr wrap="square" lIns="121920" tIns="60960" rIns="121920" bIns="60960" anchor="t">
            <a:spAutoFit/>
          </a:bodyPr>
          <a:lstStyle/>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Any form of data that is represented visually, such as images, videos, or graphical representations. </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Moderation is needed for image and video data</a:t>
            </a:r>
          </a:p>
          <a:p>
            <a:pPr marL="231642" indent="-231642" fontAlgn="base">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Image moderation : unsuitable or harmful object detection, such as weapons, drug paraphernalia and excessive/gratuitous nudity, etc. </a:t>
            </a:r>
          </a:p>
          <a:p>
            <a:pPr marL="231642" indent="-231642">
              <a:spcAft>
                <a:spcPts val="800"/>
              </a:spcAft>
              <a:buClr>
                <a:srgbClr val="213163"/>
              </a:buClr>
              <a:buFont typeface="Arial" panose="020B0604020202020204" pitchFamily="34" charset="0"/>
              <a:buChar char="•"/>
            </a:pPr>
            <a:r>
              <a:rPr lang="en-IN" dirty="0">
                <a:latin typeface="Arial" panose="020B0604020202020204" pitchFamily="34" charset="0"/>
                <a:cs typeface="Arial" panose="020B0604020202020204" pitchFamily="34" charset="0"/>
              </a:rPr>
              <a:t>Video moderation uses the same technologies, analysing the video frame by frame for offending visuals. </a:t>
            </a:r>
          </a:p>
        </p:txBody>
      </p:sp>
      <p:sp>
        <p:nvSpPr>
          <p:cNvPr id="14" name="AutoShape 10" descr="CIFAR 10 Dataset - Machine Learning Datasets">
            <a:extLst>
              <a:ext uri="{FF2B5EF4-FFF2-40B4-BE49-F238E27FC236}">
                <a16:creationId xmlns:a16="http://schemas.microsoft.com/office/drawing/2014/main" id="{87DCDBD1-3E7F-950C-5222-A22A0F636EC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sz="1400"/>
          </a:p>
        </p:txBody>
      </p:sp>
      <p:pic>
        <p:nvPicPr>
          <p:cNvPr id="17" name="Picture 16">
            <a:extLst>
              <a:ext uri="{FF2B5EF4-FFF2-40B4-BE49-F238E27FC236}">
                <a16:creationId xmlns:a16="http://schemas.microsoft.com/office/drawing/2014/main" id="{A7572A7F-9EDF-CB9A-1429-393E55101F38}"/>
              </a:ext>
            </a:extLst>
          </p:cNvPr>
          <p:cNvPicPr>
            <a:picLocks noChangeAspect="1"/>
          </p:cNvPicPr>
          <p:nvPr/>
        </p:nvPicPr>
        <p:blipFill>
          <a:blip r:embed="rId5"/>
          <a:stretch>
            <a:fillRect/>
          </a:stretch>
        </p:blipFill>
        <p:spPr>
          <a:xfrm>
            <a:off x="6400800" y="1600200"/>
            <a:ext cx="5539009" cy="2722164"/>
          </a:xfrm>
          <a:prstGeom prst="rect">
            <a:avLst/>
          </a:prstGeom>
        </p:spPr>
      </p:pic>
      <p:sp>
        <p:nvSpPr>
          <p:cNvPr id="4" name="Rectangle 3">
            <a:extLst>
              <a:ext uri="{FF2B5EF4-FFF2-40B4-BE49-F238E27FC236}">
                <a16:creationId xmlns:a16="http://schemas.microsoft.com/office/drawing/2014/main" id="{E04562ED-D1E7-617F-602C-EE48B3BF93D9}"/>
              </a:ext>
            </a:extLst>
          </p:cNvPr>
          <p:cNvSpPr>
            <a:spLocks noChangeArrowheads="1"/>
          </p:cNvSpPr>
          <p:nvPr/>
        </p:nvSpPr>
        <p:spPr bwMode="auto">
          <a:xfrm>
            <a:off x="257780" y="750356"/>
            <a:ext cx="2022861" cy="496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04137">
              <a:lnSpc>
                <a:spcPct val="150000"/>
              </a:lnSpc>
              <a:spcBef>
                <a:spcPts val="1200"/>
              </a:spcBef>
              <a:spcAft>
                <a:spcPts val="800"/>
              </a:spcAft>
            </a:pPr>
            <a:r>
              <a:rPr lang="en-US" sz="2000" b="1" dirty="0">
                <a:solidFill>
                  <a:srgbClr val="223366"/>
                </a:solidFill>
                <a:latin typeface="Arial" panose="020B0604020202020204" pitchFamily="34" charset="0"/>
                <a:ea typeface="+mj-ea"/>
                <a:cs typeface="Arial" panose="020B0604020202020204" pitchFamily="34" charset="0"/>
              </a:rPr>
              <a:t>Types of Data </a:t>
            </a:r>
            <a:endParaRPr lang="en-IN" sz="2000" b="1" dirty="0">
              <a:solidFill>
                <a:srgbClr val="223366"/>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872824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7"/>
          <p:cNvSpPr txBox="1"/>
          <p:nvPr/>
        </p:nvSpPr>
        <p:spPr>
          <a:xfrm>
            <a:off x="493607" y="1360297"/>
            <a:ext cx="5602393" cy="2570790"/>
          </a:xfrm>
          <a:prstGeom prst="rect">
            <a:avLst/>
          </a:prstGeom>
        </p:spPr>
        <p:txBody>
          <a:bodyPr vert="horz" wrap="square" lIns="0" tIns="16087" rIns="0" bIns="0" rtlCol="0">
            <a:spAutoFit/>
          </a:bodyPr>
          <a:lstStyle/>
          <a:p>
            <a:pPr marL="246888" indent="-246888">
              <a:spcAft>
                <a:spcPts val="800"/>
              </a:spcAft>
            </a:pPr>
            <a:r>
              <a:rPr sz="1800" spc="-7" dirty="0">
                <a:latin typeface="Arial" panose="020B0604020202020204" pitchFamily="34" charset="0"/>
                <a:cs typeface="Arial" panose="020B0604020202020204" pitchFamily="34" charset="0"/>
              </a:rPr>
              <a:t>Technically,</a:t>
            </a:r>
            <a:r>
              <a:rPr sz="1800" spc="-4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The</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primary</a:t>
            </a:r>
            <a:r>
              <a:rPr sz="1800" spc="-3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motive</a:t>
            </a:r>
            <a:r>
              <a:rPr sz="1800" spc="-1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of</a:t>
            </a:r>
            <a:r>
              <a:rPr sz="1800" spc="-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EDA</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is</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to</a:t>
            </a:r>
            <a:endParaRPr lang="en-US" sz="1800" dirty="0">
              <a:latin typeface="Arial" panose="020B06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sz="1800" spc="-7" dirty="0">
                <a:latin typeface="Arial" panose="020B0604020202020204" pitchFamily="34" charset="0"/>
                <a:cs typeface="Arial" panose="020B0604020202020204" pitchFamily="34" charset="0"/>
              </a:rPr>
              <a:t>Examine</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distribution</a:t>
            </a:r>
            <a:endParaRPr lang="en-US" sz="1800" dirty="0">
              <a:latin typeface="Arial" panose="020B06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sz="1800" dirty="0">
                <a:latin typeface="Arial" panose="020B0604020202020204" pitchFamily="34" charset="0"/>
                <a:cs typeface="Arial" panose="020B0604020202020204" pitchFamily="34" charset="0"/>
              </a:rPr>
              <a:t>Handling</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missing</a:t>
            </a:r>
            <a:r>
              <a:rPr sz="1800" spc="-5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values</a:t>
            </a:r>
            <a:r>
              <a:rPr sz="1800" spc="-1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of</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dataset</a:t>
            </a:r>
            <a:endParaRPr lang="en-US" sz="1800" dirty="0">
              <a:latin typeface="Arial" panose="020B06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sz="1800" dirty="0">
                <a:latin typeface="Arial" panose="020B0604020202020204" pitchFamily="34" charset="0"/>
                <a:cs typeface="Arial" panose="020B0604020202020204" pitchFamily="34" charset="0"/>
              </a:rPr>
              <a:t>Handling</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a:t>
            </a:r>
            <a:r>
              <a:rPr sz="1800" spc="-7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outliers</a:t>
            </a:r>
            <a:endParaRPr lang="en-US" sz="1800" dirty="0">
              <a:latin typeface="Arial" panose="020B06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sz="1800" spc="-7" dirty="0">
                <a:latin typeface="Arial" panose="020B0604020202020204" pitchFamily="34" charset="0"/>
                <a:cs typeface="Arial" panose="020B0604020202020204" pitchFamily="34" charset="0"/>
              </a:rPr>
              <a:t>Removing</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duplicate</a:t>
            </a:r>
            <a:r>
              <a:rPr sz="1800" spc="-8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endParaRPr lang="en-US" sz="1800" dirty="0">
              <a:latin typeface="Arial" panose="020B06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sz="1800" dirty="0">
                <a:latin typeface="Arial" panose="020B0604020202020204" pitchFamily="34" charset="0"/>
                <a:cs typeface="Arial" panose="020B0604020202020204" pitchFamily="34" charset="0"/>
              </a:rPr>
              <a:t>Encoding</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categorical</a:t>
            </a:r>
            <a:r>
              <a:rPr sz="1800" spc="-7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variables</a:t>
            </a:r>
            <a:endParaRPr lang="en-US" sz="1800" dirty="0">
              <a:latin typeface="Arial" panose="020B0604020202020204" pitchFamily="34" charset="0"/>
              <a:cs typeface="Arial" panose="020B0604020202020204" pitchFamily="34" charset="0"/>
            </a:endParaRPr>
          </a:p>
          <a:p>
            <a:pPr marL="228600" indent="-228600">
              <a:spcAft>
                <a:spcPts val="800"/>
              </a:spcAft>
              <a:buFont typeface="Arial" panose="020B0604020202020204" pitchFamily="34" charset="0"/>
              <a:buChar char="•"/>
            </a:pPr>
            <a:r>
              <a:rPr sz="1800" spc="-7" dirty="0">
                <a:latin typeface="Arial" panose="020B0604020202020204" pitchFamily="34" charset="0"/>
                <a:cs typeface="Arial" panose="020B0604020202020204" pitchFamily="34" charset="0"/>
              </a:rPr>
              <a:t>Normalizing</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and</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Scaling</a:t>
            </a:r>
          </a:p>
        </p:txBody>
      </p:sp>
      <p:pic>
        <p:nvPicPr>
          <p:cNvPr id="10" name="object 8"/>
          <p:cNvPicPr/>
          <p:nvPr/>
        </p:nvPicPr>
        <p:blipFill rotWithShape="1">
          <a:blip r:embed="rId3" cstate="print"/>
          <a:srcRect r="7707" b="6749"/>
          <a:stretch/>
        </p:blipFill>
        <p:spPr>
          <a:xfrm>
            <a:off x="6248400" y="1600200"/>
            <a:ext cx="5609420" cy="2488234"/>
          </a:xfrm>
          <a:prstGeom prst="rect">
            <a:avLst/>
          </a:prstGeom>
        </p:spPr>
      </p:pic>
      <p:sp>
        <p:nvSpPr>
          <p:cNvPr id="12" name="Google Shape;61;g5fab984687_2_0">
            <a:extLst>
              <a:ext uri="{FF2B5EF4-FFF2-40B4-BE49-F238E27FC236}">
                <a16:creationId xmlns:a16="http://schemas.microsoft.com/office/drawing/2014/main" id="{F9DCDBAB-214C-7B09-DC80-9C9CE8CBAC68}"/>
              </a:ext>
            </a:extLst>
          </p:cNvPr>
          <p:cNvSpPr txBox="1">
            <a:spLocks/>
          </p:cNvSpPr>
          <p:nvPr/>
        </p:nvSpPr>
        <p:spPr>
          <a:xfrm>
            <a:off x="398357" y="779991"/>
            <a:ext cx="3914776" cy="429684"/>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buSzPts val="2800"/>
            </a:pPr>
            <a:r>
              <a:rPr lang="en-IN" sz="2000" b="1" dirty="0">
                <a:solidFill>
                  <a:srgbClr val="213163"/>
                </a:solidFill>
              </a:rPr>
              <a:t>What is EDA?</a:t>
            </a:r>
          </a:p>
        </p:txBody>
      </p:sp>
      <p:sp>
        <p:nvSpPr>
          <p:cNvPr id="13" name="TextBox 12">
            <a:extLst>
              <a:ext uri="{FF2B5EF4-FFF2-40B4-BE49-F238E27FC236}">
                <a16:creationId xmlns:a16="http://schemas.microsoft.com/office/drawing/2014/main" id="{4A029B91-AEC3-6206-BFB1-08F24340118C}"/>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https://www.seekpng.com/ipng/u2w7y3r5a9y3u2a9_data-analytics-exploratory-data-analysis-icon/</a:t>
            </a:r>
            <a:endParaRPr lang="en-IN" sz="1200" dirty="0">
              <a:solidFill>
                <a:srgbClr val="0000FF"/>
              </a:solidFill>
              <a:latin typeface="+mj-lt"/>
            </a:endParaRPr>
          </a:p>
        </p:txBody>
      </p:sp>
      <p:cxnSp>
        <p:nvCxnSpPr>
          <p:cNvPr id="17" name="Straight Connector 16">
            <a:extLst>
              <a:ext uri="{FF2B5EF4-FFF2-40B4-BE49-F238E27FC236}">
                <a16:creationId xmlns:a16="http://schemas.microsoft.com/office/drawing/2014/main" id="{3BFA9EAB-4B92-9B2F-FB97-A9AAC1CC356D}"/>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Google Shape;62;g5fab984687_2_0">
            <a:extLst>
              <a:ext uri="{FF2B5EF4-FFF2-40B4-BE49-F238E27FC236}">
                <a16:creationId xmlns:a16="http://schemas.microsoft.com/office/drawing/2014/main" id="{0E1DDA4C-2767-FB44-DD6F-F98883283365}"/>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idx="4294967295"/>
          </p:nvPr>
        </p:nvSpPr>
        <p:spPr>
          <a:xfrm>
            <a:off x="438150" y="886040"/>
            <a:ext cx="5810250" cy="325730"/>
          </a:xfrm>
          <a:prstGeom prst="rect">
            <a:avLst/>
          </a:prstGeom>
        </p:spPr>
        <p:txBody>
          <a:bodyPr vert="horz" wrap="square" lIns="0" tIns="17780" rIns="0" bIns="0" rtlCol="0">
            <a:spAutoFit/>
          </a:bodyPr>
          <a:lstStyle/>
          <a:p>
            <a:pPr marL="16933" algn="l">
              <a:spcBef>
                <a:spcPts val="140"/>
              </a:spcBef>
            </a:pPr>
            <a:r>
              <a:rPr sz="2000" b="1" dirty="0">
                <a:solidFill>
                  <a:srgbClr val="203062"/>
                </a:solidFill>
                <a:latin typeface="Arial" panose="020B0604020202020204" pitchFamily="34" charset="0"/>
                <a:cs typeface="Arial" panose="020B0604020202020204" pitchFamily="34" charset="0"/>
              </a:rPr>
              <a:t>Importance</a:t>
            </a:r>
            <a:r>
              <a:rPr sz="2000" b="1" spc="-87" dirty="0">
                <a:solidFill>
                  <a:srgbClr val="203062"/>
                </a:solidFill>
                <a:latin typeface="Arial" panose="020B0604020202020204" pitchFamily="34" charset="0"/>
                <a:cs typeface="Arial" panose="020B0604020202020204" pitchFamily="34" charset="0"/>
              </a:rPr>
              <a:t> </a:t>
            </a:r>
            <a:r>
              <a:rPr sz="2000" b="1" dirty="0">
                <a:solidFill>
                  <a:srgbClr val="203062"/>
                </a:solidFill>
                <a:latin typeface="Arial" panose="020B0604020202020204" pitchFamily="34" charset="0"/>
                <a:cs typeface="Arial" panose="020B0604020202020204" pitchFamily="34" charset="0"/>
              </a:rPr>
              <a:t>of</a:t>
            </a:r>
            <a:r>
              <a:rPr sz="2000" b="1" spc="-47" dirty="0">
                <a:solidFill>
                  <a:srgbClr val="203062"/>
                </a:solidFill>
                <a:latin typeface="Arial" panose="020B0604020202020204" pitchFamily="34" charset="0"/>
                <a:cs typeface="Arial" panose="020B0604020202020204" pitchFamily="34" charset="0"/>
              </a:rPr>
              <a:t> </a:t>
            </a:r>
            <a:r>
              <a:rPr sz="2000" b="1" spc="-7" dirty="0">
                <a:solidFill>
                  <a:srgbClr val="203062"/>
                </a:solidFill>
                <a:latin typeface="Arial" panose="020B0604020202020204" pitchFamily="34" charset="0"/>
                <a:cs typeface="Arial" panose="020B0604020202020204" pitchFamily="34" charset="0"/>
              </a:rPr>
              <a:t>EDA</a:t>
            </a:r>
            <a:endParaRPr sz="2000" dirty="0">
              <a:latin typeface="Arial" panose="020B0604020202020204" pitchFamily="34" charset="0"/>
              <a:cs typeface="Arial" panose="020B0604020202020204" pitchFamily="34" charset="0"/>
            </a:endParaRPr>
          </a:p>
        </p:txBody>
      </p:sp>
      <p:pic>
        <p:nvPicPr>
          <p:cNvPr id="12" name="object 12"/>
          <p:cNvPicPr/>
          <p:nvPr/>
        </p:nvPicPr>
        <p:blipFill>
          <a:blip r:embed="rId3" cstate="print"/>
          <a:stretch>
            <a:fillRect/>
          </a:stretch>
        </p:blipFill>
        <p:spPr>
          <a:xfrm>
            <a:off x="2290762" y="1866900"/>
            <a:ext cx="7610475" cy="3124200"/>
          </a:xfrm>
          <a:prstGeom prst="rect">
            <a:avLst/>
          </a:prstGeom>
        </p:spPr>
      </p:pic>
      <p:sp>
        <p:nvSpPr>
          <p:cNvPr id="2" name="TextBox 1">
            <a:extLst>
              <a:ext uri="{FF2B5EF4-FFF2-40B4-BE49-F238E27FC236}">
                <a16:creationId xmlns:a16="http://schemas.microsoft.com/office/drawing/2014/main" id="{29A1FE31-3241-95A4-C5B7-7DFA48607EFC}"/>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https://www.interviewbit.com/blog/applications-of-big-data/</a:t>
            </a:r>
            <a:endParaRPr lang="en-IN" sz="1200" dirty="0">
              <a:solidFill>
                <a:srgbClr val="0000FF"/>
              </a:solidFill>
              <a:latin typeface="+mj-lt"/>
            </a:endParaRPr>
          </a:p>
        </p:txBody>
      </p:sp>
      <p:cxnSp>
        <p:nvCxnSpPr>
          <p:cNvPr id="4" name="Straight Connector 3">
            <a:extLst>
              <a:ext uri="{FF2B5EF4-FFF2-40B4-BE49-F238E27FC236}">
                <a16:creationId xmlns:a16="http://schemas.microsoft.com/office/drawing/2014/main" id="{4445D286-3D4E-7DAA-40FD-B970FAB65D25}"/>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 name="Google Shape;62;g5fab984687_2_0">
            <a:extLst>
              <a:ext uri="{FF2B5EF4-FFF2-40B4-BE49-F238E27FC236}">
                <a16:creationId xmlns:a16="http://schemas.microsoft.com/office/drawing/2014/main" id="{985396C4-6BAA-8253-1CE4-7214FAAA63DB}"/>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Exploratory Data Analysis (EDA) steps">
            <a:extLst>
              <a:ext uri="{FF2B5EF4-FFF2-40B4-BE49-F238E27FC236}">
                <a16:creationId xmlns:a16="http://schemas.microsoft.com/office/drawing/2014/main" id="{B1D0E169-66BF-3D20-9408-0B5CE467971D}"/>
              </a:ext>
            </a:extLst>
          </p:cNvPr>
          <p:cNvPicPr>
            <a:picLocks noChangeAspect="1"/>
          </p:cNvPicPr>
          <p:nvPr/>
        </p:nvPicPr>
        <p:blipFill rotWithShape="1">
          <a:blip r:embed="rId3"/>
          <a:srcRect l="689" t="2394" r="906"/>
          <a:stretch/>
        </p:blipFill>
        <p:spPr>
          <a:xfrm>
            <a:off x="1762125" y="1809750"/>
            <a:ext cx="8648700" cy="3647121"/>
          </a:xfrm>
          <a:prstGeom prst="rect">
            <a:avLst/>
          </a:prstGeom>
        </p:spPr>
      </p:pic>
      <p:sp>
        <p:nvSpPr>
          <p:cNvPr id="3" name="TextBox 2">
            <a:extLst>
              <a:ext uri="{FF2B5EF4-FFF2-40B4-BE49-F238E27FC236}">
                <a16:creationId xmlns:a16="http://schemas.microsoft.com/office/drawing/2014/main" id="{8D90480C-94B1-14EF-EE00-4831F3FF6C8C}"/>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https://medium.com/@subhransunayak726/exploratory-data-analysis-eda-in-python-the-complete-guide-9d940cdf58d7</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6B128987-5373-6930-B7FC-EA2CFEE77251}"/>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object 11">
            <a:extLst>
              <a:ext uri="{FF2B5EF4-FFF2-40B4-BE49-F238E27FC236}">
                <a16:creationId xmlns:a16="http://schemas.microsoft.com/office/drawing/2014/main" id="{6EC3DFB5-2FFB-A199-AF05-44F9D1E0EF29}"/>
              </a:ext>
            </a:extLst>
          </p:cNvPr>
          <p:cNvSpPr txBox="1">
            <a:spLocks/>
          </p:cNvSpPr>
          <p:nvPr/>
        </p:nvSpPr>
        <p:spPr>
          <a:xfrm>
            <a:off x="438150" y="886040"/>
            <a:ext cx="5810250" cy="325730"/>
          </a:xfrm>
          <a:prstGeom prst="rect">
            <a:avLst/>
          </a:prstGeom>
        </p:spPr>
        <p:txBody>
          <a:bodyPr vert="horz" wrap="square" lIns="0" tIns="17780"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16933">
              <a:spcBef>
                <a:spcPts val="140"/>
              </a:spcBef>
            </a:pPr>
            <a:r>
              <a:rPr lang="en-US" sz="2000" b="1" dirty="0">
                <a:solidFill>
                  <a:srgbClr val="203062"/>
                </a:solidFill>
                <a:latin typeface="Arial" panose="020B0604020202020204" pitchFamily="34" charset="0"/>
                <a:cs typeface="Arial" panose="020B0604020202020204" pitchFamily="34" charset="0"/>
              </a:rPr>
              <a:t>A Typical EDA Process</a:t>
            </a:r>
          </a:p>
        </p:txBody>
      </p:sp>
      <p:sp>
        <p:nvSpPr>
          <p:cNvPr id="2" name="Google Shape;62;g5fab984687_2_0">
            <a:extLst>
              <a:ext uri="{FF2B5EF4-FFF2-40B4-BE49-F238E27FC236}">
                <a16:creationId xmlns:a16="http://schemas.microsoft.com/office/drawing/2014/main" id="{5E964BAA-4A6F-201E-D348-82A095C9D6D4}"/>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044C88-3923-B24F-B935-7D006514D624}"/>
              </a:ext>
            </a:extLst>
          </p:cNvPr>
          <p:cNvSpPr txBox="1"/>
          <p:nvPr/>
        </p:nvSpPr>
        <p:spPr>
          <a:xfrm>
            <a:off x="381000" y="853896"/>
            <a:ext cx="104176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Activity Time: Consider the problem and discuss about Data Analysis steps involved</a:t>
            </a:r>
          </a:p>
        </p:txBody>
      </p:sp>
      <p:sp>
        <p:nvSpPr>
          <p:cNvPr id="4" name="TextBox 3">
            <a:extLst>
              <a:ext uri="{FF2B5EF4-FFF2-40B4-BE49-F238E27FC236}">
                <a16:creationId xmlns:a16="http://schemas.microsoft.com/office/drawing/2014/main" id="{A0608918-929E-37DB-8FC0-CA20BF70E6D9}"/>
              </a:ext>
            </a:extLst>
          </p:cNvPr>
          <p:cNvSpPr txBox="1"/>
          <p:nvPr/>
        </p:nvSpPr>
        <p:spPr>
          <a:xfrm>
            <a:off x="381000" y="1349256"/>
            <a:ext cx="11714532" cy="10259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800"/>
              </a:spcAft>
            </a:pPr>
            <a:r>
              <a:rPr lang="en-US" sz="1800" b="1" dirty="0">
                <a:latin typeface="Arial" panose="020B0604020202020204" pitchFamily="34" charset="0"/>
                <a:cs typeface="Arial" panose="020B0604020202020204" pitchFamily="34" charset="0"/>
              </a:rPr>
              <a:t>Scenario: Employee Data Analysis </a:t>
            </a:r>
            <a:endParaRPr lang="en-US" sz="1800" dirty="0">
              <a:latin typeface="Arial" panose="020B0604020202020204" pitchFamily="34" charset="0"/>
              <a:cs typeface="Arial" panose="020B0604020202020204" pitchFamily="34" charset="0"/>
            </a:endParaRPr>
          </a:p>
          <a:p>
            <a:pPr>
              <a:spcAft>
                <a:spcPts val="800"/>
              </a:spcAft>
            </a:pPr>
            <a:r>
              <a:rPr lang="en-US" sz="1800" b="1" dirty="0">
                <a:latin typeface="Arial" panose="020B0604020202020204" pitchFamily="34" charset="0"/>
                <a:cs typeface="Arial" panose="020B0604020202020204" pitchFamily="34" charset="0"/>
              </a:rPr>
              <a:t>Question:</a:t>
            </a:r>
            <a:r>
              <a:rPr lang="en-US" sz="1800" dirty="0">
                <a:latin typeface="Arial" panose="020B0604020202020204" pitchFamily="34" charset="0"/>
                <a:cs typeface="Arial" panose="020B0604020202020204" pitchFamily="34" charset="0"/>
              </a:rPr>
              <a:t> You have access to a dataset of employee information, including </a:t>
            </a:r>
            <a:r>
              <a:rPr lang="en-US" sz="1800" b="1" dirty="0" err="1">
                <a:latin typeface="Arial" panose="020B0604020202020204" pitchFamily="34" charset="0"/>
                <a:cs typeface="Arial" panose="020B0604020202020204" pitchFamily="34" charset="0"/>
              </a:rPr>
              <a:t>EmployeeID</a:t>
            </a:r>
            <a:r>
              <a:rPr lang="en-US" sz="1800" b="1" dirty="0">
                <a:latin typeface="Arial" panose="020B0604020202020204" pitchFamily="34" charset="0"/>
                <a:cs typeface="Arial" panose="020B0604020202020204" pitchFamily="34" charset="0"/>
              </a:rPr>
              <a:t>, Department, Salary, and </a:t>
            </a:r>
            <a:r>
              <a:rPr lang="en-US" sz="1800" b="1" dirty="0" err="1">
                <a:latin typeface="Arial" panose="020B0604020202020204" pitchFamily="34" charset="0"/>
                <a:cs typeface="Arial" panose="020B0604020202020204" pitchFamily="34" charset="0"/>
              </a:rPr>
              <a:t>YearsAtCompany</a:t>
            </a:r>
            <a:r>
              <a:rPr lang="en-US" sz="1800" dirty="0">
                <a:latin typeface="Arial" panose="020B0604020202020204" pitchFamily="34" charset="0"/>
                <a:cs typeface="Arial" panose="020B0604020202020204" pitchFamily="34" charset="0"/>
              </a:rPr>
              <a:t>. Explain the EDA process you would undertake to understand this data.</a:t>
            </a:r>
          </a:p>
        </p:txBody>
      </p:sp>
      <p:pic>
        <p:nvPicPr>
          <p:cNvPr id="5" name="Picture 4" descr="Raising Hands Class Stock Illustrations – 203 Raising Hands Class Stock  Illustrations, Vectors &amp; Clipart - Dreamstime">
            <a:extLst>
              <a:ext uri="{FF2B5EF4-FFF2-40B4-BE49-F238E27FC236}">
                <a16:creationId xmlns:a16="http://schemas.microsoft.com/office/drawing/2014/main" id="{CC409FB1-E1B7-1470-F300-393051AB0387}"/>
              </a:ext>
            </a:extLst>
          </p:cNvPr>
          <p:cNvPicPr>
            <a:picLocks noChangeAspect="1"/>
          </p:cNvPicPr>
          <p:nvPr/>
        </p:nvPicPr>
        <p:blipFill>
          <a:blip r:embed="rId3"/>
          <a:stretch>
            <a:fillRect/>
          </a:stretch>
        </p:blipFill>
        <p:spPr>
          <a:xfrm>
            <a:off x="3925775" y="3429000"/>
            <a:ext cx="4340450" cy="2076450"/>
          </a:xfrm>
          <a:prstGeom prst="rect">
            <a:avLst/>
          </a:prstGeom>
        </p:spPr>
      </p:pic>
    </p:spTree>
    <p:extLst>
      <p:ext uri="{BB962C8B-B14F-4D97-AF65-F5344CB8AC3E}">
        <p14:creationId xmlns:p14="http://schemas.microsoft.com/office/powerpoint/2010/main" val="4123726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869B5D2E-1429-C250-2F43-ED170E054982}"/>
              </a:ext>
            </a:extLst>
          </p:cNvPr>
          <p:cNvGrpSpPr/>
          <p:nvPr/>
        </p:nvGrpSpPr>
        <p:grpSpPr>
          <a:xfrm>
            <a:off x="3227071" y="1773514"/>
            <a:ext cx="5737857" cy="4106501"/>
            <a:chOff x="3227071" y="1773514"/>
            <a:chExt cx="5737857" cy="4106501"/>
          </a:xfrm>
          <a:solidFill>
            <a:schemeClr val="bg2"/>
          </a:solidFill>
        </p:grpSpPr>
        <p:grpSp>
          <p:nvGrpSpPr>
            <p:cNvPr id="4" name="Group 3">
              <a:extLst>
                <a:ext uri="{FF2B5EF4-FFF2-40B4-BE49-F238E27FC236}">
                  <a16:creationId xmlns:a16="http://schemas.microsoft.com/office/drawing/2014/main" id="{430E1106-6ECB-237A-00DA-750E996A4B34}"/>
                </a:ext>
              </a:extLst>
            </p:cNvPr>
            <p:cNvGrpSpPr/>
            <p:nvPr/>
          </p:nvGrpSpPr>
          <p:grpSpPr>
            <a:xfrm>
              <a:off x="3227071" y="1773514"/>
              <a:ext cx="5737857" cy="4106501"/>
              <a:chOff x="3021923" y="1640164"/>
              <a:chExt cx="5737857" cy="4106501"/>
            </a:xfrm>
            <a:grpFill/>
          </p:grpSpPr>
          <p:grpSp>
            <p:nvGrpSpPr>
              <p:cNvPr id="7" name="object 7"/>
              <p:cNvGrpSpPr/>
              <p:nvPr/>
            </p:nvGrpSpPr>
            <p:grpSpPr>
              <a:xfrm>
                <a:off x="4245185" y="1640164"/>
                <a:ext cx="3020907" cy="2295313"/>
                <a:chOff x="3183889" y="1230122"/>
                <a:chExt cx="2265680" cy="1721485"/>
              </a:xfrm>
              <a:grpFill/>
            </p:grpSpPr>
            <p:sp>
              <p:nvSpPr>
                <p:cNvPr id="8" name="object 8"/>
                <p:cNvSpPr/>
                <p:nvPr/>
              </p:nvSpPr>
              <p:spPr>
                <a:xfrm>
                  <a:off x="3196589" y="2405633"/>
                  <a:ext cx="2240280" cy="533400"/>
                </a:xfrm>
                <a:custGeom>
                  <a:avLst/>
                  <a:gdLst/>
                  <a:ahLst/>
                  <a:cxnLst/>
                  <a:rect l="l" t="t" r="r" b="b"/>
                  <a:pathLst>
                    <a:path w="2240279" h="533400">
                      <a:moveTo>
                        <a:pt x="1120139" y="0"/>
                      </a:moveTo>
                      <a:lnTo>
                        <a:pt x="1120139" y="363220"/>
                      </a:lnTo>
                      <a:lnTo>
                        <a:pt x="2240153" y="363220"/>
                      </a:lnTo>
                      <a:lnTo>
                        <a:pt x="2240153" y="533019"/>
                      </a:lnTo>
                    </a:path>
                    <a:path w="2240279" h="533400">
                      <a:moveTo>
                        <a:pt x="1120013" y="0"/>
                      </a:moveTo>
                      <a:lnTo>
                        <a:pt x="1120013" y="363220"/>
                      </a:lnTo>
                      <a:lnTo>
                        <a:pt x="0" y="363220"/>
                      </a:lnTo>
                      <a:lnTo>
                        <a:pt x="0" y="533019"/>
                      </a:lnTo>
                    </a:path>
                  </a:pathLst>
                </a:custGeom>
                <a:grpFill/>
                <a:ln w="25400">
                  <a:solidFill>
                    <a:srgbClr val="CA8730"/>
                  </a:solidFill>
                </a:ln>
              </p:spPr>
              <p:txBody>
                <a:bodyPr wrap="square" lIns="0" tIns="0" rIns="0" bIns="0" rtlCol="0"/>
                <a:lstStyle/>
                <a:p>
                  <a:endParaRPr sz="2489"/>
                </a:p>
              </p:txBody>
            </p:sp>
            <p:sp>
              <p:nvSpPr>
                <p:cNvPr id="9" name="object 9"/>
                <p:cNvSpPr/>
                <p:nvPr/>
              </p:nvSpPr>
              <p:spPr>
                <a:xfrm>
                  <a:off x="3399281" y="1242822"/>
                  <a:ext cx="1833880" cy="1163320"/>
                </a:xfrm>
                <a:custGeom>
                  <a:avLst/>
                  <a:gdLst/>
                  <a:ahLst/>
                  <a:cxnLst/>
                  <a:rect l="l" t="t" r="r" b="b"/>
                  <a:pathLst>
                    <a:path w="1833879" h="1163320">
                      <a:moveTo>
                        <a:pt x="1717039" y="0"/>
                      </a:moveTo>
                      <a:lnTo>
                        <a:pt x="116331" y="0"/>
                      </a:lnTo>
                      <a:lnTo>
                        <a:pt x="71044" y="9140"/>
                      </a:lnTo>
                      <a:lnTo>
                        <a:pt x="34067" y="34067"/>
                      </a:lnTo>
                      <a:lnTo>
                        <a:pt x="9140" y="71044"/>
                      </a:lnTo>
                      <a:lnTo>
                        <a:pt x="0" y="116331"/>
                      </a:lnTo>
                      <a:lnTo>
                        <a:pt x="0" y="1046479"/>
                      </a:lnTo>
                      <a:lnTo>
                        <a:pt x="9140" y="1091767"/>
                      </a:lnTo>
                      <a:lnTo>
                        <a:pt x="34067" y="1128744"/>
                      </a:lnTo>
                      <a:lnTo>
                        <a:pt x="71044" y="1153671"/>
                      </a:lnTo>
                      <a:lnTo>
                        <a:pt x="116331" y="1162811"/>
                      </a:lnTo>
                      <a:lnTo>
                        <a:pt x="1717039" y="1162811"/>
                      </a:lnTo>
                      <a:lnTo>
                        <a:pt x="1762327" y="1153671"/>
                      </a:lnTo>
                      <a:lnTo>
                        <a:pt x="1799304" y="1128744"/>
                      </a:lnTo>
                      <a:lnTo>
                        <a:pt x="1824231" y="1091767"/>
                      </a:lnTo>
                      <a:lnTo>
                        <a:pt x="1833371" y="1046479"/>
                      </a:lnTo>
                      <a:lnTo>
                        <a:pt x="1833371" y="116331"/>
                      </a:lnTo>
                      <a:lnTo>
                        <a:pt x="1824231" y="71044"/>
                      </a:lnTo>
                      <a:lnTo>
                        <a:pt x="1799304" y="34067"/>
                      </a:lnTo>
                      <a:lnTo>
                        <a:pt x="1762327" y="9140"/>
                      </a:lnTo>
                      <a:lnTo>
                        <a:pt x="1717039" y="0"/>
                      </a:lnTo>
                      <a:close/>
                    </a:path>
                  </a:pathLst>
                </a:custGeom>
                <a:grpFill/>
              </p:spPr>
              <p:txBody>
                <a:bodyPr wrap="square" lIns="0" tIns="0" rIns="0" bIns="0" rtlCol="0"/>
                <a:lstStyle/>
                <a:p>
                  <a:endParaRPr sz="2489"/>
                </a:p>
              </p:txBody>
            </p:sp>
            <p:sp>
              <p:nvSpPr>
                <p:cNvPr id="10" name="object 10"/>
                <p:cNvSpPr/>
                <p:nvPr/>
              </p:nvSpPr>
              <p:spPr>
                <a:xfrm>
                  <a:off x="3399281" y="1242822"/>
                  <a:ext cx="1833880" cy="1163320"/>
                </a:xfrm>
                <a:custGeom>
                  <a:avLst/>
                  <a:gdLst/>
                  <a:ahLst/>
                  <a:cxnLst/>
                  <a:rect l="l" t="t" r="r" b="b"/>
                  <a:pathLst>
                    <a:path w="1833879" h="1163320">
                      <a:moveTo>
                        <a:pt x="0" y="116331"/>
                      </a:moveTo>
                      <a:lnTo>
                        <a:pt x="9140" y="71044"/>
                      </a:lnTo>
                      <a:lnTo>
                        <a:pt x="34067" y="34067"/>
                      </a:lnTo>
                      <a:lnTo>
                        <a:pt x="71044" y="9140"/>
                      </a:lnTo>
                      <a:lnTo>
                        <a:pt x="116331" y="0"/>
                      </a:lnTo>
                      <a:lnTo>
                        <a:pt x="1717039" y="0"/>
                      </a:lnTo>
                      <a:lnTo>
                        <a:pt x="1762327" y="9140"/>
                      </a:lnTo>
                      <a:lnTo>
                        <a:pt x="1799304" y="34067"/>
                      </a:lnTo>
                      <a:lnTo>
                        <a:pt x="1824231" y="71044"/>
                      </a:lnTo>
                      <a:lnTo>
                        <a:pt x="1833371" y="116331"/>
                      </a:lnTo>
                      <a:lnTo>
                        <a:pt x="1833371" y="1046479"/>
                      </a:lnTo>
                      <a:lnTo>
                        <a:pt x="1824231" y="1091767"/>
                      </a:lnTo>
                      <a:lnTo>
                        <a:pt x="1799304" y="1128744"/>
                      </a:lnTo>
                      <a:lnTo>
                        <a:pt x="1762327" y="1153671"/>
                      </a:lnTo>
                      <a:lnTo>
                        <a:pt x="1717039" y="1162811"/>
                      </a:lnTo>
                      <a:lnTo>
                        <a:pt x="116331" y="1162811"/>
                      </a:lnTo>
                      <a:lnTo>
                        <a:pt x="71044" y="1153671"/>
                      </a:lnTo>
                      <a:lnTo>
                        <a:pt x="34067" y="1128744"/>
                      </a:lnTo>
                      <a:lnTo>
                        <a:pt x="9140" y="1091767"/>
                      </a:lnTo>
                      <a:lnTo>
                        <a:pt x="0" y="1046479"/>
                      </a:lnTo>
                      <a:lnTo>
                        <a:pt x="0" y="116331"/>
                      </a:lnTo>
                      <a:close/>
                    </a:path>
                  </a:pathLst>
                </a:custGeom>
                <a:grpFill/>
                <a:ln w="25400">
                  <a:solidFill>
                    <a:srgbClr val="FFFFFF"/>
                  </a:solidFill>
                </a:ln>
              </p:spPr>
              <p:txBody>
                <a:bodyPr wrap="square" lIns="0" tIns="0" rIns="0" bIns="0" rtlCol="0"/>
                <a:lstStyle/>
                <a:p>
                  <a:endParaRPr sz="2489"/>
                </a:p>
              </p:txBody>
            </p:sp>
            <p:sp>
              <p:nvSpPr>
                <p:cNvPr id="11" name="object 11"/>
                <p:cNvSpPr/>
                <p:nvPr/>
              </p:nvSpPr>
              <p:spPr>
                <a:xfrm>
                  <a:off x="3603497" y="1436370"/>
                  <a:ext cx="1833880" cy="1163320"/>
                </a:xfrm>
                <a:custGeom>
                  <a:avLst/>
                  <a:gdLst/>
                  <a:ahLst/>
                  <a:cxnLst/>
                  <a:rect l="l" t="t" r="r" b="b"/>
                  <a:pathLst>
                    <a:path w="1833879" h="1163320">
                      <a:moveTo>
                        <a:pt x="1717039" y="0"/>
                      </a:moveTo>
                      <a:lnTo>
                        <a:pt x="116331" y="0"/>
                      </a:lnTo>
                      <a:lnTo>
                        <a:pt x="71044" y="9140"/>
                      </a:lnTo>
                      <a:lnTo>
                        <a:pt x="34067" y="34067"/>
                      </a:lnTo>
                      <a:lnTo>
                        <a:pt x="9140" y="71044"/>
                      </a:lnTo>
                      <a:lnTo>
                        <a:pt x="0" y="116331"/>
                      </a:lnTo>
                      <a:lnTo>
                        <a:pt x="0" y="1046479"/>
                      </a:lnTo>
                      <a:lnTo>
                        <a:pt x="9140" y="1091767"/>
                      </a:lnTo>
                      <a:lnTo>
                        <a:pt x="34067" y="1128744"/>
                      </a:lnTo>
                      <a:lnTo>
                        <a:pt x="71044" y="1153671"/>
                      </a:lnTo>
                      <a:lnTo>
                        <a:pt x="116331" y="1162811"/>
                      </a:lnTo>
                      <a:lnTo>
                        <a:pt x="1717039" y="1162811"/>
                      </a:lnTo>
                      <a:lnTo>
                        <a:pt x="1762327" y="1153671"/>
                      </a:lnTo>
                      <a:lnTo>
                        <a:pt x="1799304" y="1128744"/>
                      </a:lnTo>
                      <a:lnTo>
                        <a:pt x="1824231" y="1091767"/>
                      </a:lnTo>
                      <a:lnTo>
                        <a:pt x="1833372" y="1046479"/>
                      </a:lnTo>
                      <a:lnTo>
                        <a:pt x="1833372" y="116331"/>
                      </a:lnTo>
                      <a:lnTo>
                        <a:pt x="1824231" y="71044"/>
                      </a:lnTo>
                      <a:lnTo>
                        <a:pt x="1799304" y="34067"/>
                      </a:lnTo>
                      <a:lnTo>
                        <a:pt x="1762327" y="9140"/>
                      </a:lnTo>
                      <a:lnTo>
                        <a:pt x="1717039" y="0"/>
                      </a:lnTo>
                      <a:close/>
                    </a:path>
                  </a:pathLst>
                </a:custGeom>
                <a:grpFill/>
              </p:spPr>
              <p:txBody>
                <a:bodyPr wrap="square" lIns="0" tIns="0" rIns="0" bIns="0" rtlCol="0"/>
                <a:lstStyle/>
                <a:p>
                  <a:endParaRPr sz="2489"/>
                </a:p>
              </p:txBody>
            </p:sp>
            <p:sp>
              <p:nvSpPr>
                <p:cNvPr id="12" name="object 12"/>
                <p:cNvSpPr/>
                <p:nvPr/>
              </p:nvSpPr>
              <p:spPr>
                <a:xfrm>
                  <a:off x="3603497" y="1436370"/>
                  <a:ext cx="1833880" cy="1163320"/>
                </a:xfrm>
                <a:custGeom>
                  <a:avLst/>
                  <a:gdLst/>
                  <a:ahLst/>
                  <a:cxnLst/>
                  <a:rect l="l" t="t" r="r" b="b"/>
                  <a:pathLst>
                    <a:path w="1833879" h="1163320">
                      <a:moveTo>
                        <a:pt x="0" y="116331"/>
                      </a:moveTo>
                      <a:lnTo>
                        <a:pt x="9140" y="71044"/>
                      </a:lnTo>
                      <a:lnTo>
                        <a:pt x="34067" y="34067"/>
                      </a:lnTo>
                      <a:lnTo>
                        <a:pt x="71044" y="9140"/>
                      </a:lnTo>
                      <a:lnTo>
                        <a:pt x="116331" y="0"/>
                      </a:lnTo>
                      <a:lnTo>
                        <a:pt x="1717039" y="0"/>
                      </a:lnTo>
                      <a:lnTo>
                        <a:pt x="1762327" y="9140"/>
                      </a:lnTo>
                      <a:lnTo>
                        <a:pt x="1799304" y="34067"/>
                      </a:lnTo>
                      <a:lnTo>
                        <a:pt x="1824231" y="71044"/>
                      </a:lnTo>
                      <a:lnTo>
                        <a:pt x="1833372" y="116331"/>
                      </a:lnTo>
                      <a:lnTo>
                        <a:pt x="1833372" y="1046479"/>
                      </a:lnTo>
                      <a:lnTo>
                        <a:pt x="1824231" y="1091767"/>
                      </a:lnTo>
                      <a:lnTo>
                        <a:pt x="1799304" y="1128744"/>
                      </a:lnTo>
                      <a:lnTo>
                        <a:pt x="1762327" y="1153671"/>
                      </a:lnTo>
                      <a:lnTo>
                        <a:pt x="1717039" y="1162811"/>
                      </a:lnTo>
                      <a:lnTo>
                        <a:pt x="116331" y="1162811"/>
                      </a:lnTo>
                      <a:lnTo>
                        <a:pt x="71044" y="1153671"/>
                      </a:lnTo>
                      <a:lnTo>
                        <a:pt x="34067" y="1128744"/>
                      </a:lnTo>
                      <a:lnTo>
                        <a:pt x="9140" y="1091767"/>
                      </a:lnTo>
                      <a:lnTo>
                        <a:pt x="0" y="1046479"/>
                      </a:lnTo>
                      <a:lnTo>
                        <a:pt x="0" y="116331"/>
                      </a:lnTo>
                      <a:close/>
                    </a:path>
                  </a:pathLst>
                </a:custGeom>
                <a:grpFill/>
                <a:ln w="25400">
                  <a:solidFill>
                    <a:srgbClr val="FFAB40"/>
                  </a:solidFill>
                </a:ln>
              </p:spPr>
              <p:txBody>
                <a:bodyPr wrap="square" lIns="0" tIns="0" rIns="0" bIns="0" rtlCol="0"/>
                <a:lstStyle/>
                <a:p>
                  <a:endParaRPr sz="2489"/>
                </a:p>
              </p:txBody>
            </p:sp>
          </p:grpSp>
          <p:grpSp>
            <p:nvGrpSpPr>
              <p:cNvPr id="14" name="object 14"/>
              <p:cNvGrpSpPr/>
              <p:nvPr/>
            </p:nvGrpSpPr>
            <p:grpSpPr>
              <a:xfrm>
                <a:off x="3021923" y="3901778"/>
                <a:ext cx="2750819" cy="1844887"/>
                <a:chOff x="2266442" y="2926333"/>
                <a:chExt cx="2063114" cy="1383665"/>
              </a:xfrm>
              <a:grpFill/>
            </p:grpSpPr>
            <p:sp>
              <p:nvSpPr>
                <p:cNvPr id="15" name="object 15"/>
                <p:cNvSpPr/>
                <p:nvPr/>
              </p:nvSpPr>
              <p:spPr>
                <a:xfrm>
                  <a:off x="2279142" y="2939033"/>
                  <a:ext cx="1833880" cy="1164590"/>
                </a:xfrm>
                <a:custGeom>
                  <a:avLst/>
                  <a:gdLst/>
                  <a:ahLst/>
                  <a:cxnLst/>
                  <a:rect l="l" t="t" r="r" b="b"/>
                  <a:pathLst>
                    <a:path w="1833879" h="1164589">
                      <a:moveTo>
                        <a:pt x="1716912" y="0"/>
                      </a:moveTo>
                      <a:lnTo>
                        <a:pt x="116458" y="0"/>
                      </a:lnTo>
                      <a:lnTo>
                        <a:pt x="71098" y="9142"/>
                      </a:lnTo>
                      <a:lnTo>
                        <a:pt x="34083" y="34083"/>
                      </a:lnTo>
                      <a:lnTo>
                        <a:pt x="9142" y="71098"/>
                      </a:lnTo>
                      <a:lnTo>
                        <a:pt x="0" y="116459"/>
                      </a:lnTo>
                      <a:lnTo>
                        <a:pt x="0" y="1047902"/>
                      </a:lnTo>
                      <a:lnTo>
                        <a:pt x="9142" y="1093221"/>
                      </a:lnTo>
                      <a:lnTo>
                        <a:pt x="34083" y="1130231"/>
                      </a:lnTo>
                      <a:lnTo>
                        <a:pt x="71098" y="1155185"/>
                      </a:lnTo>
                      <a:lnTo>
                        <a:pt x="116458" y="1164336"/>
                      </a:lnTo>
                      <a:lnTo>
                        <a:pt x="1716912" y="1164336"/>
                      </a:lnTo>
                      <a:lnTo>
                        <a:pt x="1762273" y="1155185"/>
                      </a:lnTo>
                      <a:lnTo>
                        <a:pt x="1799288" y="1130231"/>
                      </a:lnTo>
                      <a:lnTo>
                        <a:pt x="1824229" y="1093221"/>
                      </a:lnTo>
                      <a:lnTo>
                        <a:pt x="1833371" y="1047902"/>
                      </a:lnTo>
                      <a:lnTo>
                        <a:pt x="1833371" y="116459"/>
                      </a:lnTo>
                      <a:lnTo>
                        <a:pt x="1824229" y="71098"/>
                      </a:lnTo>
                      <a:lnTo>
                        <a:pt x="1799288" y="34083"/>
                      </a:lnTo>
                      <a:lnTo>
                        <a:pt x="1762273" y="9142"/>
                      </a:lnTo>
                      <a:lnTo>
                        <a:pt x="1716912" y="0"/>
                      </a:lnTo>
                      <a:close/>
                    </a:path>
                  </a:pathLst>
                </a:custGeom>
                <a:grpFill/>
              </p:spPr>
              <p:txBody>
                <a:bodyPr wrap="square" lIns="0" tIns="0" rIns="0" bIns="0" rtlCol="0"/>
                <a:lstStyle/>
                <a:p>
                  <a:endParaRPr sz="2489"/>
                </a:p>
              </p:txBody>
            </p:sp>
            <p:sp>
              <p:nvSpPr>
                <p:cNvPr id="16" name="object 16"/>
                <p:cNvSpPr/>
                <p:nvPr/>
              </p:nvSpPr>
              <p:spPr>
                <a:xfrm>
                  <a:off x="2279142" y="2939033"/>
                  <a:ext cx="1833880" cy="1164590"/>
                </a:xfrm>
                <a:custGeom>
                  <a:avLst/>
                  <a:gdLst/>
                  <a:ahLst/>
                  <a:cxnLst/>
                  <a:rect l="l" t="t" r="r" b="b"/>
                  <a:pathLst>
                    <a:path w="1833879" h="1164589">
                      <a:moveTo>
                        <a:pt x="0" y="116459"/>
                      </a:moveTo>
                      <a:lnTo>
                        <a:pt x="9142" y="71098"/>
                      </a:lnTo>
                      <a:lnTo>
                        <a:pt x="34083" y="34083"/>
                      </a:lnTo>
                      <a:lnTo>
                        <a:pt x="71098" y="9142"/>
                      </a:lnTo>
                      <a:lnTo>
                        <a:pt x="116458" y="0"/>
                      </a:lnTo>
                      <a:lnTo>
                        <a:pt x="1716912" y="0"/>
                      </a:lnTo>
                      <a:lnTo>
                        <a:pt x="1762273" y="9142"/>
                      </a:lnTo>
                      <a:lnTo>
                        <a:pt x="1799288" y="34083"/>
                      </a:lnTo>
                      <a:lnTo>
                        <a:pt x="1824229" y="71098"/>
                      </a:lnTo>
                      <a:lnTo>
                        <a:pt x="1833371" y="116459"/>
                      </a:lnTo>
                      <a:lnTo>
                        <a:pt x="1833371" y="1047902"/>
                      </a:lnTo>
                      <a:lnTo>
                        <a:pt x="1824229" y="1093221"/>
                      </a:lnTo>
                      <a:lnTo>
                        <a:pt x="1799288" y="1130231"/>
                      </a:lnTo>
                      <a:lnTo>
                        <a:pt x="1762273" y="1155185"/>
                      </a:lnTo>
                      <a:lnTo>
                        <a:pt x="1716912" y="1164336"/>
                      </a:lnTo>
                      <a:lnTo>
                        <a:pt x="116458" y="1164336"/>
                      </a:lnTo>
                      <a:lnTo>
                        <a:pt x="71098" y="1155185"/>
                      </a:lnTo>
                      <a:lnTo>
                        <a:pt x="34083" y="1130231"/>
                      </a:lnTo>
                      <a:lnTo>
                        <a:pt x="9142" y="1093221"/>
                      </a:lnTo>
                      <a:lnTo>
                        <a:pt x="0" y="1047902"/>
                      </a:lnTo>
                      <a:lnTo>
                        <a:pt x="0" y="116459"/>
                      </a:lnTo>
                      <a:close/>
                    </a:path>
                  </a:pathLst>
                </a:custGeom>
                <a:grpFill/>
                <a:ln w="25400">
                  <a:solidFill>
                    <a:srgbClr val="FFFFFF"/>
                  </a:solidFill>
                </a:ln>
              </p:spPr>
              <p:txBody>
                <a:bodyPr wrap="square" lIns="0" tIns="0" rIns="0" bIns="0" rtlCol="0"/>
                <a:lstStyle/>
                <a:p>
                  <a:endParaRPr sz="2489"/>
                </a:p>
              </p:txBody>
            </p:sp>
            <p:sp>
              <p:nvSpPr>
                <p:cNvPr id="17" name="object 17"/>
                <p:cNvSpPr/>
                <p:nvPr/>
              </p:nvSpPr>
              <p:spPr>
                <a:xfrm>
                  <a:off x="2483358" y="3132581"/>
                  <a:ext cx="1833880" cy="1164590"/>
                </a:xfrm>
                <a:custGeom>
                  <a:avLst/>
                  <a:gdLst/>
                  <a:ahLst/>
                  <a:cxnLst/>
                  <a:rect l="l" t="t" r="r" b="b"/>
                  <a:pathLst>
                    <a:path w="1833879" h="1164589">
                      <a:moveTo>
                        <a:pt x="1716913" y="0"/>
                      </a:moveTo>
                      <a:lnTo>
                        <a:pt x="116459" y="0"/>
                      </a:lnTo>
                      <a:lnTo>
                        <a:pt x="71098" y="9142"/>
                      </a:lnTo>
                      <a:lnTo>
                        <a:pt x="34083" y="34083"/>
                      </a:lnTo>
                      <a:lnTo>
                        <a:pt x="9142" y="71098"/>
                      </a:lnTo>
                      <a:lnTo>
                        <a:pt x="0" y="116459"/>
                      </a:lnTo>
                      <a:lnTo>
                        <a:pt x="0" y="1047902"/>
                      </a:lnTo>
                      <a:lnTo>
                        <a:pt x="9142" y="1093221"/>
                      </a:lnTo>
                      <a:lnTo>
                        <a:pt x="34083" y="1130231"/>
                      </a:lnTo>
                      <a:lnTo>
                        <a:pt x="71098" y="1155185"/>
                      </a:lnTo>
                      <a:lnTo>
                        <a:pt x="116459" y="1164336"/>
                      </a:lnTo>
                      <a:lnTo>
                        <a:pt x="1716913" y="1164336"/>
                      </a:lnTo>
                      <a:lnTo>
                        <a:pt x="1762273" y="1155185"/>
                      </a:lnTo>
                      <a:lnTo>
                        <a:pt x="1799288" y="1130231"/>
                      </a:lnTo>
                      <a:lnTo>
                        <a:pt x="1824229" y="1093221"/>
                      </a:lnTo>
                      <a:lnTo>
                        <a:pt x="1833371" y="1047902"/>
                      </a:lnTo>
                      <a:lnTo>
                        <a:pt x="1833371" y="116459"/>
                      </a:lnTo>
                      <a:lnTo>
                        <a:pt x="1824229" y="71098"/>
                      </a:lnTo>
                      <a:lnTo>
                        <a:pt x="1799288" y="34083"/>
                      </a:lnTo>
                      <a:lnTo>
                        <a:pt x="1762273" y="9142"/>
                      </a:lnTo>
                      <a:lnTo>
                        <a:pt x="1716913" y="0"/>
                      </a:lnTo>
                      <a:close/>
                    </a:path>
                  </a:pathLst>
                </a:custGeom>
                <a:grpFill/>
              </p:spPr>
              <p:txBody>
                <a:bodyPr wrap="square" lIns="0" tIns="0" rIns="0" bIns="0" rtlCol="0"/>
                <a:lstStyle/>
                <a:p>
                  <a:endParaRPr sz="2489"/>
                </a:p>
              </p:txBody>
            </p:sp>
            <p:sp>
              <p:nvSpPr>
                <p:cNvPr id="18" name="object 18"/>
                <p:cNvSpPr/>
                <p:nvPr/>
              </p:nvSpPr>
              <p:spPr>
                <a:xfrm>
                  <a:off x="2483358" y="3132581"/>
                  <a:ext cx="1833880" cy="1164590"/>
                </a:xfrm>
                <a:custGeom>
                  <a:avLst/>
                  <a:gdLst/>
                  <a:ahLst/>
                  <a:cxnLst/>
                  <a:rect l="l" t="t" r="r" b="b"/>
                  <a:pathLst>
                    <a:path w="1833879" h="1164589">
                      <a:moveTo>
                        <a:pt x="0" y="116459"/>
                      </a:moveTo>
                      <a:lnTo>
                        <a:pt x="9142" y="71098"/>
                      </a:lnTo>
                      <a:lnTo>
                        <a:pt x="34083" y="34083"/>
                      </a:lnTo>
                      <a:lnTo>
                        <a:pt x="71098" y="9142"/>
                      </a:lnTo>
                      <a:lnTo>
                        <a:pt x="116459" y="0"/>
                      </a:lnTo>
                      <a:lnTo>
                        <a:pt x="1716913" y="0"/>
                      </a:lnTo>
                      <a:lnTo>
                        <a:pt x="1762273" y="9142"/>
                      </a:lnTo>
                      <a:lnTo>
                        <a:pt x="1799288" y="34083"/>
                      </a:lnTo>
                      <a:lnTo>
                        <a:pt x="1824229" y="71098"/>
                      </a:lnTo>
                      <a:lnTo>
                        <a:pt x="1833371" y="116459"/>
                      </a:lnTo>
                      <a:lnTo>
                        <a:pt x="1833371" y="1047902"/>
                      </a:lnTo>
                      <a:lnTo>
                        <a:pt x="1824229" y="1093221"/>
                      </a:lnTo>
                      <a:lnTo>
                        <a:pt x="1799288" y="1130231"/>
                      </a:lnTo>
                      <a:lnTo>
                        <a:pt x="1762273" y="1155185"/>
                      </a:lnTo>
                      <a:lnTo>
                        <a:pt x="1716913" y="1164336"/>
                      </a:lnTo>
                      <a:lnTo>
                        <a:pt x="116459" y="1164336"/>
                      </a:lnTo>
                      <a:lnTo>
                        <a:pt x="71098" y="1155185"/>
                      </a:lnTo>
                      <a:lnTo>
                        <a:pt x="34083" y="1130231"/>
                      </a:lnTo>
                      <a:lnTo>
                        <a:pt x="9142" y="1093221"/>
                      </a:lnTo>
                      <a:lnTo>
                        <a:pt x="0" y="1047902"/>
                      </a:lnTo>
                      <a:lnTo>
                        <a:pt x="0" y="116459"/>
                      </a:lnTo>
                      <a:close/>
                    </a:path>
                  </a:pathLst>
                </a:custGeom>
                <a:grpFill/>
                <a:ln w="25400">
                  <a:solidFill>
                    <a:srgbClr val="FFAB40"/>
                  </a:solidFill>
                </a:ln>
              </p:spPr>
              <p:txBody>
                <a:bodyPr wrap="square" lIns="0" tIns="0" rIns="0" bIns="0" rtlCol="0"/>
                <a:lstStyle/>
                <a:p>
                  <a:endParaRPr sz="2489"/>
                </a:p>
              </p:txBody>
            </p:sp>
          </p:grpSp>
          <p:grpSp>
            <p:nvGrpSpPr>
              <p:cNvPr id="20" name="object 20"/>
              <p:cNvGrpSpPr/>
              <p:nvPr/>
            </p:nvGrpSpPr>
            <p:grpSpPr>
              <a:xfrm>
                <a:off x="6008961" y="3901778"/>
                <a:ext cx="2750819" cy="1844887"/>
                <a:chOff x="4506721" y="2926333"/>
                <a:chExt cx="2063114" cy="1383665"/>
              </a:xfrm>
              <a:grpFill/>
            </p:grpSpPr>
            <p:sp>
              <p:nvSpPr>
                <p:cNvPr id="21" name="object 21"/>
                <p:cNvSpPr/>
                <p:nvPr/>
              </p:nvSpPr>
              <p:spPr>
                <a:xfrm>
                  <a:off x="4519421" y="2939033"/>
                  <a:ext cx="1833880" cy="1164590"/>
                </a:xfrm>
                <a:custGeom>
                  <a:avLst/>
                  <a:gdLst/>
                  <a:ahLst/>
                  <a:cxnLst/>
                  <a:rect l="l" t="t" r="r" b="b"/>
                  <a:pathLst>
                    <a:path w="1833879" h="1164589">
                      <a:moveTo>
                        <a:pt x="1716913" y="0"/>
                      </a:moveTo>
                      <a:lnTo>
                        <a:pt x="116458" y="0"/>
                      </a:lnTo>
                      <a:lnTo>
                        <a:pt x="71098" y="9142"/>
                      </a:lnTo>
                      <a:lnTo>
                        <a:pt x="34083" y="34083"/>
                      </a:lnTo>
                      <a:lnTo>
                        <a:pt x="9142" y="71098"/>
                      </a:lnTo>
                      <a:lnTo>
                        <a:pt x="0" y="116459"/>
                      </a:lnTo>
                      <a:lnTo>
                        <a:pt x="0" y="1047902"/>
                      </a:lnTo>
                      <a:lnTo>
                        <a:pt x="9142" y="1093221"/>
                      </a:lnTo>
                      <a:lnTo>
                        <a:pt x="34083" y="1130231"/>
                      </a:lnTo>
                      <a:lnTo>
                        <a:pt x="71098" y="1155185"/>
                      </a:lnTo>
                      <a:lnTo>
                        <a:pt x="116458" y="1164336"/>
                      </a:lnTo>
                      <a:lnTo>
                        <a:pt x="1716913" y="1164336"/>
                      </a:lnTo>
                      <a:lnTo>
                        <a:pt x="1762273" y="1155185"/>
                      </a:lnTo>
                      <a:lnTo>
                        <a:pt x="1799288" y="1130231"/>
                      </a:lnTo>
                      <a:lnTo>
                        <a:pt x="1824229" y="1093221"/>
                      </a:lnTo>
                      <a:lnTo>
                        <a:pt x="1833372" y="1047902"/>
                      </a:lnTo>
                      <a:lnTo>
                        <a:pt x="1833372" y="116459"/>
                      </a:lnTo>
                      <a:lnTo>
                        <a:pt x="1824229" y="71098"/>
                      </a:lnTo>
                      <a:lnTo>
                        <a:pt x="1799288" y="34083"/>
                      </a:lnTo>
                      <a:lnTo>
                        <a:pt x="1762273" y="9142"/>
                      </a:lnTo>
                      <a:lnTo>
                        <a:pt x="1716913" y="0"/>
                      </a:lnTo>
                      <a:close/>
                    </a:path>
                  </a:pathLst>
                </a:custGeom>
                <a:grpFill/>
              </p:spPr>
              <p:txBody>
                <a:bodyPr wrap="square" lIns="0" tIns="0" rIns="0" bIns="0" rtlCol="0"/>
                <a:lstStyle/>
                <a:p>
                  <a:endParaRPr sz="2489"/>
                </a:p>
              </p:txBody>
            </p:sp>
            <p:sp>
              <p:nvSpPr>
                <p:cNvPr id="22" name="object 22"/>
                <p:cNvSpPr/>
                <p:nvPr/>
              </p:nvSpPr>
              <p:spPr>
                <a:xfrm>
                  <a:off x="4519421" y="2939033"/>
                  <a:ext cx="1833880" cy="1164590"/>
                </a:xfrm>
                <a:custGeom>
                  <a:avLst/>
                  <a:gdLst/>
                  <a:ahLst/>
                  <a:cxnLst/>
                  <a:rect l="l" t="t" r="r" b="b"/>
                  <a:pathLst>
                    <a:path w="1833879" h="1164589">
                      <a:moveTo>
                        <a:pt x="0" y="116459"/>
                      </a:moveTo>
                      <a:lnTo>
                        <a:pt x="9142" y="71098"/>
                      </a:lnTo>
                      <a:lnTo>
                        <a:pt x="34083" y="34083"/>
                      </a:lnTo>
                      <a:lnTo>
                        <a:pt x="71098" y="9142"/>
                      </a:lnTo>
                      <a:lnTo>
                        <a:pt x="116458" y="0"/>
                      </a:lnTo>
                      <a:lnTo>
                        <a:pt x="1716913" y="0"/>
                      </a:lnTo>
                      <a:lnTo>
                        <a:pt x="1762273" y="9142"/>
                      </a:lnTo>
                      <a:lnTo>
                        <a:pt x="1799288" y="34083"/>
                      </a:lnTo>
                      <a:lnTo>
                        <a:pt x="1824229" y="71098"/>
                      </a:lnTo>
                      <a:lnTo>
                        <a:pt x="1833372" y="116459"/>
                      </a:lnTo>
                      <a:lnTo>
                        <a:pt x="1833372" y="1047902"/>
                      </a:lnTo>
                      <a:lnTo>
                        <a:pt x="1824229" y="1093221"/>
                      </a:lnTo>
                      <a:lnTo>
                        <a:pt x="1799288" y="1130231"/>
                      </a:lnTo>
                      <a:lnTo>
                        <a:pt x="1762273" y="1155185"/>
                      </a:lnTo>
                      <a:lnTo>
                        <a:pt x="1716913" y="1164336"/>
                      </a:lnTo>
                      <a:lnTo>
                        <a:pt x="116458" y="1164336"/>
                      </a:lnTo>
                      <a:lnTo>
                        <a:pt x="71098" y="1155185"/>
                      </a:lnTo>
                      <a:lnTo>
                        <a:pt x="34083" y="1130231"/>
                      </a:lnTo>
                      <a:lnTo>
                        <a:pt x="9142" y="1093221"/>
                      </a:lnTo>
                      <a:lnTo>
                        <a:pt x="0" y="1047902"/>
                      </a:lnTo>
                      <a:lnTo>
                        <a:pt x="0" y="116459"/>
                      </a:lnTo>
                      <a:close/>
                    </a:path>
                  </a:pathLst>
                </a:custGeom>
                <a:grpFill/>
                <a:ln w="25399">
                  <a:solidFill>
                    <a:srgbClr val="FFFFFF"/>
                  </a:solidFill>
                </a:ln>
              </p:spPr>
              <p:txBody>
                <a:bodyPr wrap="square" lIns="0" tIns="0" rIns="0" bIns="0" rtlCol="0"/>
                <a:lstStyle/>
                <a:p>
                  <a:endParaRPr sz="2489"/>
                </a:p>
              </p:txBody>
            </p:sp>
            <p:sp>
              <p:nvSpPr>
                <p:cNvPr id="23" name="object 23"/>
                <p:cNvSpPr/>
                <p:nvPr/>
              </p:nvSpPr>
              <p:spPr>
                <a:xfrm>
                  <a:off x="4723637" y="3132581"/>
                  <a:ext cx="1833880" cy="1164590"/>
                </a:xfrm>
                <a:custGeom>
                  <a:avLst/>
                  <a:gdLst/>
                  <a:ahLst/>
                  <a:cxnLst/>
                  <a:rect l="l" t="t" r="r" b="b"/>
                  <a:pathLst>
                    <a:path w="1833879" h="1164589">
                      <a:moveTo>
                        <a:pt x="1716913" y="0"/>
                      </a:moveTo>
                      <a:lnTo>
                        <a:pt x="116459" y="0"/>
                      </a:lnTo>
                      <a:lnTo>
                        <a:pt x="71098" y="9142"/>
                      </a:lnTo>
                      <a:lnTo>
                        <a:pt x="34083" y="34083"/>
                      </a:lnTo>
                      <a:lnTo>
                        <a:pt x="9142" y="71098"/>
                      </a:lnTo>
                      <a:lnTo>
                        <a:pt x="0" y="116459"/>
                      </a:lnTo>
                      <a:lnTo>
                        <a:pt x="0" y="1047902"/>
                      </a:lnTo>
                      <a:lnTo>
                        <a:pt x="9142" y="1093221"/>
                      </a:lnTo>
                      <a:lnTo>
                        <a:pt x="34083" y="1130231"/>
                      </a:lnTo>
                      <a:lnTo>
                        <a:pt x="71098" y="1155185"/>
                      </a:lnTo>
                      <a:lnTo>
                        <a:pt x="116459" y="1164336"/>
                      </a:lnTo>
                      <a:lnTo>
                        <a:pt x="1716913" y="1164336"/>
                      </a:lnTo>
                      <a:lnTo>
                        <a:pt x="1762273" y="1155185"/>
                      </a:lnTo>
                      <a:lnTo>
                        <a:pt x="1799288" y="1130231"/>
                      </a:lnTo>
                      <a:lnTo>
                        <a:pt x="1824229" y="1093221"/>
                      </a:lnTo>
                      <a:lnTo>
                        <a:pt x="1833371" y="1047902"/>
                      </a:lnTo>
                      <a:lnTo>
                        <a:pt x="1833371" y="116459"/>
                      </a:lnTo>
                      <a:lnTo>
                        <a:pt x="1824229" y="71098"/>
                      </a:lnTo>
                      <a:lnTo>
                        <a:pt x="1799288" y="34083"/>
                      </a:lnTo>
                      <a:lnTo>
                        <a:pt x="1762273" y="9142"/>
                      </a:lnTo>
                      <a:lnTo>
                        <a:pt x="1716913" y="0"/>
                      </a:lnTo>
                      <a:close/>
                    </a:path>
                  </a:pathLst>
                </a:custGeom>
                <a:grpFill/>
              </p:spPr>
              <p:txBody>
                <a:bodyPr wrap="square" lIns="0" tIns="0" rIns="0" bIns="0" rtlCol="0"/>
                <a:lstStyle/>
                <a:p>
                  <a:endParaRPr sz="2489"/>
                </a:p>
              </p:txBody>
            </p:sp>
            <p:sp>
              <p:nvSpPr>
                <p:cNvPr id="24" name="object 24"/>
                <p:cNvSpPr/>
                <p:nvPr/>
              </p:nvSpPr>
              <p:spPr>
                <a:xfrm>
                  <a:off x="4723637" y="3132581"/>
                  <a:ext cx="1833880" cy="1164590"/>
                </a:xfrm>
                <a:custGeom>
                  <a:avLst/>
                  <a:gdLst/>
                  <a:ahLst/>
                  <a:cxnLst/>
                  <a:rect l="l" t="t" r="r" b="b"/>
                  <a:pathLst>
                    <a:path w="1833879" h="1164589">
                      <a:moveTo>
                        <a:pt x="0" y="116459"/>
                      </a:moveTo>
                      <a:lnTo>
                        <a:pt x="9142" y="71098"/>
                      </a:lnTo>
                      <a:lnTo>
                        <a:pt x="34083" y="34083"/>
                      </a:lnTo>
                      <a:lnTo>
                        <a:pt x="71098" y="9142"/>
                      </a:lnTo>
                      <a:lnTo>
                        <a:pt x="116459" y="0"/>
                      </a:lnTo>
                      <a:lnTo>
                        <a:pt x="1716913" y="0"/>
                      </a:lnTo>
                      <a:lnTo>
                        <a:pt x="1762273" y="9142"/>
                      </a:lnTo>
                      <a:lnTo>
                        <a:pt x="1799288" y="34083"/>
                      </a:lnTo>
                      <a:lnTo>
                        <a:pt x="1824229" y="71098"/>
                      </a:lnTo>
                      <a:lnTo>
                        <a:pt x="1833371" y="116459"/>
                      </a:lnTo>
                      <a:lnTo>
                        <a:pt x="1833371" y="1047902"/>
                      </a:lnTo>
                      <a:lnTo>
                        <a:pt x="1824229" y="1093221"/>
                      </a:lnTo>
                      <a:lnTo>
                        <a:pt x="1799288" y="1130231"/>
                      </a:lnTo>
                      <a:lnTo>
                        <a:pt x="1762273" y="1155185"/>
                      </a:lnTo>
                      <a:lnTo>
                        <a:pt x="1716913" y="1164336"/>
                      </a:lnTo>
                      <a:lnTo>
                        <a:pt x="116459" y="1164336"/>
                      </a:lnTo>
                      <a:lnTo>
                        <a:pt x="71098" y="1155185"/>
                      </a:lnTo>
                      <a:lnTo>
                        <a:pt x="34083" y="1130231"/>
                      </a:lnTo>
                      <a:lnTo>
                        <a:pt x="9142" y="1093221"/>
                      </a:lnTo>
                      <a:lnTo>
                        <a:pt x="0" y="1047902"/>
                      </a:lnTo>
                      <a:lnTo>
                        <a:pt x="0" y="116459"/>
                      </a:lnTo>
                      <a:close/>
                    </a:path>
                  </a:pathLst>
                </a:custGeom>
                <a:grpFill/>
                <a:ln w="25400">
                  <a:solidFill>
                    <a:srgbClr val="FFAB40"/>
                  </a:solidFill>
                </a:ln>
              </p:spPr>
              <p:txBody>
                <a:bodyPr wrap="square" lIns="0" tIns="0" rIns="0" bIns="0" rtlCol="0"/>
                <a:lstStyle/>
                <a:p>
                  <a:endParaRPr sz="2489"/>
                </a:p>
              </p:txBody>
            </p:sp>
          </p:grpSp>
        </p:grpSp>
        <p:sp>
          <p:nvSpPr>
            <p:cNvPr id="13" name="object 13"/>
            <p:cNvSpPr txBox="1"/>
            <p:nvPr/>
          </p:nvSpPr>
          <p:spPr>
            <a:xfrm>
              <a:off x="5762074" y="2507658"/>
              <a:ext cx="535093" cy="304421"/>
            </a:xfrm>
            <a:prstGeom prst="rect">
              <a:avLst/>
            </a:prstGeom>
            <a:grpFill/>
          </p:spPr>
          <p:txBody>
            <a:bodyPr vert="horz" wrap="square" lIns="0" tIns="16933" rIns="0" bIns="0" rtlCol="0">
              <a:spAutoFit/>
            </a:bodyPr>
            <a:lstStyle/>
            <a:p>
              <a:pPr marL="16933">
                <a:spcBef>
                  <a:spcPts val="133"/>
                </a:spcBef>
              </a:pPr>
              <a:r>
                <a:rPr b="1"/>
                <a:t>E</a:t>
              </a:r>
              <a:r>
                <a:rPr b="1" spc="-13"/>
                <a:t>D</a:t>
              </a:r>
              <a:r>
                <a:rPr b="1"/>
                <a:t>A</a:t>
              </a:r>
              <a:endParaRPr/>
            </a:p>
          </p:txBody>
        </p:sp>
        <p:sp>
          <p:nvSpPr>
            <p:cNvPr id="19" name="object 19"/>
            <p:cNvSpPr txBox="1"/>
            <p:nvPr/>
          </p:nvSpPr>
          <p:spPr>
            <a:xfrm>
              <a:off x="3829303" y="4648201"/>
              <a:ext cx="1405467" cy="545448"/>
            </a:xfrm>
            <a:prstGeom prst="rect">
              <a:avLst/>
            </a:prstGeom>
            <a:grpFill/>
          </p:spPr>
          <p:txBody>
            <a:bodyPr vert="horz" wrap="square" lIns="0" tIns="57573" rIns="0" bIns="0" rtlCol="0">
              <a:spAutoFit/>
            </a:bodyPr>
            <a:lstStyle/>
            <a:p>
              <a:pPr marL="120224" marR="6773" indent="-104137">
                <a:lnSpc>
                  <a:spcPts val="1933"/>
                </a:lnSpc>
                <a:spcBef>
                  <a:spcPts val="453"/>
                </a:spcBef>
              </a:pPr>
              <a:r>
                <a:rPr b="1"/>
                <a:t>Q</a:t>
              </a:r>
              <a:r>
                <a:rPr b="1" spc="-13"/>
                <a:t>u</a:t>
              </a:r>
              <a:r>
                <a:rPr b="1"/>
                <a:t>a</a:t>
              </a:r>
              <a:r>
                <a:rPr b="1" spc="-13"/>
                <a:t>n</a:t>
              </a:r>
              <a:r>
                <a:rPr b="1"/>
                <a:t>titati</a:t>
              </a:r>
              <a:r>
                <a:rPr b="1" spc="-20"/>
                <a:t>v</a:t>
              </a:r>
              <a:r>
                <a:rPr b="1"/>
                <a:t>e  </a:t>
              </a:r>
              <a:r>
                <a:rPr b="1" spc="-20"/>
                <a:t>Technique</a:t>
              </a:r>
              <a:endParaRPr/>
            </a:p>
          </p:txBody>
        </p:sp>
        <p:sp>
          <p:nvSpPr>
            <p:cNvPr id="25" name="object 25"/>
            <p:cNvSpPr txBox="1"/>
            <p:nvPr/>
          </p:nvSpPr>
          <p:spPr>
            <a:xfrm>
              <a:off x="6922346" y="4770797"/>
              <a:ext cx="1130300" cy="304421"/>
            </a:xfrm>
            <a:prstGeom prst="rect">
              <a:avLst/>
            </a:prstGeom>
            <a:grpFill/>
          </p:spPr>
          <p:txBody>
            <a:bodyPr vert="horz" wrap="square" lIns="0" tIns="16933" rIns="0" bIns="0" rtlCol="0">
              <a:spAutoFit/>
            </a:bodyPr>
            <a:lstStyle/>
            <a:p>
              <a:pPr marL="16933">
                <a:spcBef>
                  <a:spcPts val="133"/>
                </a:spcBef>
              </a:pPr>
              <a:r>
                <a:rPr b="1" spc="-7"/>
                <a:t>Graphical</a:t>
              </a:r>
              <a:endParaRPr/>
            </a:p>
          </p:txBody>
        </p:sp>
      </p:grpSp>
      <p:sp>
        <p:nvSpPr>
          <p:cNvPr id="3" name="TextBox 2">
            <a:extLst>
              <a:ext uri="{FF2B5EF4-FFF2-40B4-BE49-F238E27FC236}">
                <a16:creationId xmlns:a16="http://schemas.microsoft.com/office/drawing/2014/main" id="{EF41E344-E13C-94A8-C6C8-3E7123858048}"/>
              </a:ext>
            </a:extLst>
          </p:cNvPr>
          <p:cNvSpPr txBox="1"/>
          <p:nvPr/>
        </p:nvSpPr>
        <p:spPr>
          <a:xfrm>
            <a:off x="381000" y="853896"/>
            <a:ext cx="104176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EDA Techniques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36381" y="1377888"/>
            <a:ext cx="11603219" cy="570242"/>
          </a:xfrm>
          <a:prstGeom prst="rect">
            <a:avLst/>
          </a:prstGeom>
        </p:spPr>
        <p:txBody>
          <a:bodyPr vert="horz" wrap="square" lIns="0" tIns="16087" rIns="0" bIns="0" rtlCol="0">
            <a:spAutoFit/>
          </a:bodyPr>
          <a:lstStyle/>
          <a:p>
            <a:pPr marR="6773">
              <a:spcAft>
                <a:spcPts val="800"/>
              </a:spcAft>
            </a:pPr>
            <a:r>
              <a:rPr sz="1800" spc="-7" dirty="0">
                <a:latin typeface="Arial" panose="020B0604020202020204" pitchFamily="34" charset="0"/>
                <a:cs typeface="Arial" panose="020B0604020202020204" pitchFamily="34" charset="0"/>
              </a:rPr>
              <a:t>Quantitative</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techniques</a:t>
            </a:r>
            <a:r>
              <a:rPr sz="1800" dirty="0">
                <a:latin typeface="Arial" panose="020B0604020202020204" pitchFamily="34" charset="0"/>
                <a:cs typeface="Arial" panose="020B0604020202020204" pitchFamily="34" charset="0"/>
              </a:rPr>
              <a:t> in</a:t>
            </a:r>
            <a:r>
              <a:rPr sz="1800" spc="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Exploratory</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Data </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Analysis</a:t>
            </a:r>
            <a:r>
              <a:rPr sz="1800" dirty="0">
                <a:latin typeface="Arial" panose="020B0604020202020204" pitchFamily="34" charset="0"/>
                <a:cs typeface="Arial" panose="020B0604020202020204" pitchFamily="34" charset="0"/>
              </a:rPr>
              <a:t> (EDA)</a:t>
            </a:r>
            <a:r>
              <a:rPr sz="1800" spc="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involve</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using</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statistical </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measures</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and</a:t>
            </a:r>
            <a:r>
              <a:rPr sz="180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methods</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to</a:t>
            </a:r>
            <a:r>
              <a:rPr sz="1800" spc="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gain</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insights</a:t>
            </a:r>
            <a:r>
              <a:rPr sz="180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into </a:t>
            </a:r>
            <a:r>
              <a:rPr sz="1800" spc="-50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distribution,</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relationships,</a:t>
            </a:r>
            <a:r>
              <a:rPr sz="1800" spc="-6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and</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patterns.</a:t>
            </a:r>
          </a:p>
        </p:txBody>
      </p:sp>
      <p:pic>
        <p:nvPicPr>
          <p:cNvPr id="8" name="object 8"/>
          <p:cNvPicPr/>
          <p:nvPr/>
        </p:nvPicPr>
        <p:blipFill>
          <a:blip r:embed="rId3" cstate="print"/>
          <a:stretch>
            <a:fillRect/>
          </a:stretch>
        </p:blipFill>
        <p:spPr>
          <a:xfrm>
            <a:off x="3241525" y="2438400"/>
            <a:ext cx="5708949" cy="2986043"/>
          </a:xfrm>
          <a:prstGeom prst="rect">
            <a:avLst/>
          </a:prstGeom>
        </p:spPr>
      </p:pic>
      <p:sp>
        <p:nvSpPr>
          <p:cNvPr id="5" name="TextBox 4">
            <a:extLst>
              <a:ext uri="{FF2B5EF4-FFF2-40B4-BE49-F238E27FC236}">
                <a16:creationId xmlns:a16="http://schemas.microsoft.com/office/drawing/2014/main" id="{05E08A2E-9F81-FF7F-A18B-E75D80BD1B15}"/>
              </a:ext>
            </a:extLst>
          </p:cNvPr>
          <p:cNvSpPr txBox="1"/>
          <p:nvPr/>
        </p:nvSpPr>
        <p:spPr>
          <a:xfrm>
            <a:off x="362284" y="853896"/>
            <a:ext cx="104176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EDA: Quantitative Technique</a:t>
            </a:r>
          </a:p>
        </p:txBody>
      </p:sp>
      <p:sp>
        <p:nvSpPr>
          <p:cNvPr id="6" name="TextBox 5">
            <a:extLst>
              <a:ext uri="{FF2B5EF4-FFF2-40B4-BE49-F238E27FC236}">
                <a16:creationId xmlns:a16="http://schemas.microsoft.com/office/drawing/2014/main" id="{AF25BE6B-9668-1C52-B640-DCC2FEE02C0C}"/>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https://www.analyticsvidhya.com/blog/2021/08/exploratory-data-analysis-and-visualization-techniques-in-data-science/</a:t>
            </a:r>
            <a:endParaRPr lang="en-IN" sz="1200" dirty="0">
              <a:solidFill>
                <a:srgbClr val="0000FF"/>
              </a:solidFill>
              <a:latin typeface="+mj-lt"/>
            </a:endParaRPr>
          </a:p>
        </p:txBody>
      </p:sp>
      <p:cxnSp>
        <p:nvCxnSpPr>
          <p:cNvPr id="10" name="Straight Connector 9">
            <a:extLst>
              <a:ext uri="{FF2B5EF4-FFF2-40B4-BE49-F238E27FC236}">
                <a16:creationId xmlns:a16="http://schemas.microsoft.com/office/drawing/2014/main" id="{F7BDCD6A-4383-7515-11A3-F0C7BB1FB6B9}"/>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Google Shape;62;g5fab984687_2_0">
            <a:extLst>
              <a:ext uri="{FF2B5EF4-FFF2-40B4-BE49-F238E27FC236}">
                <a16:creationId xmlns:a16="http://schemas.microsoft.com/office/drawing/2014/main" id="{9DA5375D-C715-6EC6-EE7F-4B8ACB9DCDF3}"/>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26314" y="1365892"/>
            <a:ext cx="11689486" cy="570242"/>
          </a:xfrm>
          <a:prstGeom prst="rect">
            <a:avLst/>
          </a:prstGeom>
        </p:spPr>
        <p:txBody>
          <a:bodyPr vert="horz" wrap="square" lIns="0" tIns="16087" rIns="0" bIns="0" rtlCol="0">
            <a:spAutoFit/>
          </a:bodyPr>
          <a:lstStyle/>
          <a:p>
            <a:pPr marR="6773">
              <a:spcAft>
                <a:spcPts val="800"/>
              </a:spcAft>
            </a:pPr>
            <a:r>
              <a:rPr sz="1800" spc="-7" dirty="0">
                <a:latin typeface="Arial MT"/>
                <a:cs typeface="Arial MT"/>
              </a:rPr>
              <a:t>Graphical techniques </a:t>
            </a:r>
            <a:r>
              <a:rPr sz="1800" spc="-13" dirty="0">
                <a:latin typeface="Arial MT"/>
                <a:cs typeface="Arial MT"/>
              </a:rPr>
              <a:t>in </a:t>
            </a:r>
            <a:r>
              <a:rPr sz="1800" spc="-7" dirty="0">
                <a:latin typeface="Arial MT"/>
                <a:cs typeface="Arial MT"/>
              </a:rPr>
              <a:t>Exploratory </a:t>
            </a:r>
            <a:r>
              <a:rPr sz="1800" spc="-13" dirty="0">
                <a:latin typeface="Arial MT"/>
                <a:cs typeface="Arial MT"/>
              </a:rPr>
              <a:t>Data </a:t>
            </a:r>
            <a:r>
              <a:rPr sz="1800" spc="-500" dirty="0">
                <a:latin typeface="Arial MT"/>
                <a:cs typeface="Arial MT"/>
              </a:rPr>
              <a:t> </a:t>
            </a:r>
            <a:r>
              <a:rPr sz="1800" spc="-7" dirty="0">
                <a:latin typeface="Arial MT"/>
                <a:cs typeface="Arial MT"/>
              </a:rPr>
              <a:t>Analysis</a:t>
            </a:r>
            <a:r>
              <a:rPr sz="1800" dirty="0">
                <a:latin typeface="Arial MT"/>
                <a:cs typeface="Arial MT"/>
              </a:rPr>
              <a:t> (EDA)</a:t>
            </a:r>
            <a:r>
              <a:rPr sz="1800" spc="7" dirty="0">
                <a:latin typeface="Arial MT"/>
                <a:cs typeface="Arial MT"/>
              </a:rPr>
              <a:t> </a:t>
            </a:r>
            <a:r>
              <a:rPr sz="1800" spc="-13" dirty="0">
                <a:latin typeface="Arial MT"/>
                <a:cs typeface="Arial MT"/>
              </a:rPr>
              <a:t>involve</a:t>
            </a:r>
            <a:r>
              <a:rPr sz="1800" spc="-7" dirty="0">
                <a:latin typeface="Arial MT"/>
                <a:cs typeface="Arial MT"/>
              </a:rPr>
              <a:t> creating</a:t>
            </a:r>
            <a:r>
              <a:rPr sz="1800" dirty="0">
                <a:latin typeface="Arial MT"/>
                <a:cs typeface="Arial MT"/>
              </a:rPr>
              <a:t> </a:t>
            </a:r>
            <a:r>
              <a:rPr sz="1800" spc="-7" dirty="0">
                <a:latin typeface="Arial MT"/>
                <a:cs typeface="Arial MT"/>
              </a:rPr>
              <a:t>visual </a:t>
            </a:r>
            <a:r>
              <a:rPr sz="1800" dirty="0">
                <a:latin typeface="Arial MT"/>
                <a:cs typeface="Arial MT"/>
              </a:rPr>
              <a:t> </a:t>
            </a:r>
            <a:r>
              <a:rPr sz="1800" spc="-7" dirty="0">
                <a:latin typeface="Arial MT"/>
                <a:cs typeface="Arial MT"/>
              </a:rPr>
              <a:t>representations</a:t>
            </a:r>
            <a:r>
              <a:rPr sz="1800" dirty="0">
                <a:latin typeface="Arial MT"/>
                <a:cs typeface="Arial MT"/>
              </a:rPr>
              <a:t> </a:t>
            </a:r>
            <a:r>
              <a:rPr sz="1800" spc="-7" dirty="0">
                <a:latin typeface="Arial MT"/>
                <a:cs typeface="Arial MT"/>
              </a:rPr>
              <a:t>of</a:t>
            </a:r>
            <a:r>
              <a:rPr sz="1800" dirty="0">
                <a:latin typeface="Arial MT"/>
                <a:cs typeface="Arial MT"/>
              </a:rPr>
              <a:t> </a:t>
            </a:r>
            <a:r>
              <a:rPr sz="1800" spc="-7" dirty="0">
                <a:latin typeface="Arial MT"/>
                <a:cs typeface="Arial MT"/>
              </a:rPr>
              <a:t>data</a:t>
            </a:r>
            <a:r>
              <a:rPr sz="1800" dirty="0">
                <a:latin typeface="Arial MT"/>
                <a:cs typeface="Arial MT"/>
              </a:rPr>
              <a:t> </a:t>
            </a:r>
            <a:r>
              <a:rPr sz="1800" spc="-7" dirty="0">
                <a:latin typeface="Arial MT"/>
                <a:cs typeface="Arial MT"/>
              </a:rPr>
              <a:t>to</a:t>
            </a:r>
            <a:r>
              <a:rPr sz="1800" dirty="0">
                <a:latin typeface="Arial MT"/>
                <a:cs typeface="Arial MT"/>
              </a:rPr>
              <a:t> </a:t>
            </a:r>
            <a:r>
              <a:rPr sz="1800" spc="-7" dirty="0">
                <a:latin typeface="Arial MT"/>
                <a:cs typeface="Arial MT"/>
              </a:rPr>
              <a:t>uncover </a:t>
            </a:r>
            <a:r>
              <a:rPr sz="1800" dirty="0">
                <a:latin typeface="Arial MT"/>
                <a:cs typeface="Arial MT"/>
              </a:rPr>
              <a:t> patterns,</a:t>
            </a:r>
            <a:r>
              <a:rPr sz="1800" spc="-67" dirty="0">
                <a:latin typeface="Arial MT"/>
                <a:cs typeface="Arial MT"/>
              </a:rPr>
              <a:t> </a:t>
            </a:r>
            <a:r>
              <a:rPr sz="1800" dirty="0">
                <a:latin typeface="Arial MT"/>
                <a:cs typeface="Arial MT"/>
              </a:rPr>
              <a:t>trends,</a:t>
            </a:r>
            <a:r>
              <a:rPr sz="1800" spc="-53" dirty="0">
                <a:latin typeface="Arial MT"/>
                <a:cs typeface="Arial MT"/>
              </a:rPr>
              <a:t> </a:t>
            </a:r>
            <a:r>
              <a:rPr sz="1800" dirty="0">
                <a:latin typeface="Arial MT"/>
                <a:cs typeface="Arial MT"/>
              </a:rPr>
              <a:t>and</a:t>
            </a:r>
            <a:r>
              <a:rPr sz="1800" spc="-40" dirty="0">
                <a:latin typeface="Arial MT"/>
                <a:cs typeface="Arial MT"/>
              </a:rPr>
              <a:t> </a:t>
            </a:r>
            <a:r>
              <a:rPr sz="1800" dirty="0">
                <a:latin typeface="Arial MT"/>
                <a:cs typeface="Arial MT"/>
              </a:rPr>
              <a:t>relationships.</a:t>
            </a:r>
          </a:p>
        </p:txBody>
      </p:sp>
      <p:pic>
        <p:nvPicPr>
          <p:cNvPr id="8" name="object 8"/>
          <p:cNvPicPr/>
          <p:nvPr/>
        </p:nvPicPr>
        <p:blipFill>
          <a:blip r:embed="rId3" cstate="print"/>
          <a:stretch>
            <a:fillRect/>
          </a:stretch>
        </p:blipFill>
        <p:spPr>
          <a:xfrm>
            <a:off x="3861995" y="2209800"/>
            <a:ext cx="4468009" cy="3907879"/>
          </a:xfrm>
          <a:prstGeom prst="rect">
            <a:avLst/>
          </a:prstGeom>
        </p:spPr>
      </p:pic>
      <p:sp>
        <p:nvSpPr>
          <p:cNvPr id="3" name="TextBox 2">
            <a:extLst>
              <a:ext uri="{FF2B5EF4-FFF2-40B4-BE49-F238E27FC236}">
                <a16:creationId xmlns:a16="http://schemas.microsoft.com/office/drawing/2014/main" id="{69143068-C4C2-DDAC-4962-33833A0700F4}"/>
              </a:ext>
            </a:extLst>
          </p:cNvPr>
          <p:cNvSpPr txBox="1"/>
          <p:nvPr/>
        </p:nvSpPr>
        <p:spPr>
          <a:xfrm>
            <a:off x="1059193"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https://ppcexpo.com/blog/wp-content/uploads/2022/01/exploratory-data-analysis-1.jpg</a:t>
            </a:r>
            <a:endParaRPr lang="en-IN" sz="1200" dirty="0">
              <a:solidFill>
                <a:srgbClr val="0000FF"/>
              </a:solidFill>
              <a:latin typeface="+mj-lt"/>
            </a:endParaRPr>
          </a:p>
        </p:txBody>
      </p:sp>
      <p:cxnSp>
        <p:nvCxnSpPr>
          <p:cNvPr id="10" name="Straight Connector 9">
            <a:extLst>
              <a:ext uri="{FF2B5EF4-FFF2-40B4-BE49-F238E27FC236}">
                <a16:creationId xmlns:a16="http://schemas.microsoft.com/office/drawing/2014/main" id="{AB8B3A30-906B-DA11-20C0-1DF951E60E31}"/>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8977FCF-84DD-B4FF-41B0-76E02B463687}"/>
              </a:ext>
            </a:extLst>
          </p:cNvPr>
          <p:cNvSpPr txBox="1"/>
          <p:nvPr/>
        </p:nvSpPr>
        <p:spPr>
          <a:xfrm>
            <a:off x="374465" y="853896"/>
            <a:ext cx="1041762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EDA: Graphical Technique</a:t>
            </a:r>
          </a:p>
        </p:txBody>
      </p:sp>
      <p:sp>
        <p:nvSpPr>
          <p:cNvPr id="2" name="Google Shape;62;g5fab984687_2_0">
            <a:extLst>
              <a:ext uri="{FF2B5EF4-FFF2-40B4-BE49-F238E27FC236}">
                <a16:creationId xmlns:a16="http://schemas.microsoft.com/office/drawing/2014/main" id="{52D8F31A-4451-E9D7-1966-1CB871FA2192}"/>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11079" y="1388379"/>
            <a:ext cx="5787813" cy="2540012"/>
          </a:xfrm>
          <a:prstGeom prst="rect">
            <a:avLst/>
          </a:prstGeom>
        </p:spPr>
        <p:txBody>
          <a:bodyPr vert="horz" wrap="square" lIns="0" tIns="16087" rIns="0" bIns="0" rtlCol="0" anchor="t">
            <a:spAutoFit/>
          </a:bodyPr>
          <a:lstStyle/>
          <a:p>
            <a:pPr marL="228600" marR="6350" indent="-228600">
              <a:spcAft>
                <a:spcPts val="800"/>
              </a:spcAft>
              <a:buChar char="•"/>
              <a:tabLst>
                <a:tab pos="244681" algn="l"/>
              </a:tabLst>
            </a:pPr>
            <a:r>
              <a:rPr sz="1800" spc="-7" dirty="0">
                <a:latin typeface="Arial" panose="020B0604020202020204" pitchFamily="34" charset="0"/>
                <a:cs typeface="Arial" panose="020B0604020202020204" pitchFamily="34" charset="0"/>
              </a:rPr>
              <a:t>NumPy </a:t>
            </a:r>
            <a:r>
              <a:rPr sz="1800" dirty="0">
                <a:latin typeface="Arial" panose="020B0604020202020204" pitchFamily="34" charset="0"/>
                <a:cs typeface="Arial" panose="020B0604020202020204" pitchFamily="34" charset="0"/>
              </a:rPr>
              <a:t>is </a:t>
            </a:r>
            <a:r>
              <a:rPr sz="1800" spc="-13" dirty="0">
                <a:latin typeface="Arial" panose="020B0604020202020204" pitchFamily="34" charset="0"/>
                <a:cs typeface="Arial" panose="020B0604020202020204" pitchFamily="34" charset="0"/>
              </a:rPr>
              <a:t>an open-source </a:t>
            </a:r>
            <a:r>
              <a:rPr sz="1800" spc="-7" dirty="0">
                <a:latin typeface="Arial" panose="020B0604020202020204" pitchFamily="34" charset="0"/>
                <a:cs typeface="Arial" panose="020B0604020202020204" pitchFamily="34" charset="0"/>
              </a:rPr>
              <a:t>Python library used for </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working</a:t>
            </a:r>
            <a:r>
              <a:rPr sz="1800" spc="-3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with arrays.</a:t>
            </a:r>
            <a:endParaRPr lang="en-US" sz="1800" spc="-7" dirty="0">
              <a:latin typeface="Arial" panose="020B0604020202020204" pitchFamily="34" charset="0"/>
              <a:cs typeface="Arial" panose="020B0604020202020204" pitchFamily="34" charset="0"/>
            </a:endParaRPr>
          </a:p>
          <a:p>
            <a:pPr marL="228600" marR="6350" indent="-228600">
              <a:spcAft>
                <a:spcPts val="800"/>
              </a:spcAft>
              <a:buChar char="•"/>
              <a:tabLst>
                <a:tab pos="244681" algn="l"/>
              </a:tabLst>
            </a:pPr>
            <a:r>
              <a:rPr sz="1800" dirty="0">
                <a:latin typeface="Arial" panose="020B0604020202020204" pitchFamily="34" charset="0"/>
                <a:cs typeface="Arial" panose="020B0604020202020204" pitchFamily="34" charset="0"/>
              </a:rPr>
              <a:t>NumPy</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stands</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for</a:t>
            </a:r>
            <a:r>
              <a:rPr sz="1800" spc="-4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Numerical</a:t>
            </a:r>
            <a:r>
              <a:rPr sz="1800" b="1" spc="-73"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Python.</a:t>
            </a:r>
            <a:endParaRPr sz="1800" dirty="0">
              <a:latin typeface="Arial" panose="020B0604020202020204" pitchFamily="34" charset="0"/>
              <a:cs typeface="Arial" panose="020B0604020202020204" pitchFamily="34" charset="0"/>
            </a:endParaRPr>
          </a:p>
          <a:p>
            <a:pPr marL="228600" marR="6350" indent="-228600">
              <a:spcAft>
                <a:spcPts val="800"/>
              </a:spcAft>
              <a:buChar char="•"/>
              <a:tabLst>
                <a:tab pos="244681" algn="l"/>
              </a:tabLst>
            </a:pPr>
            <a:r>
              <a:rPr sz="1800" spc="-7" dirty="0">
                <a:latin typeface="Arial" panose="020B0604020202020204" pitchFamily="34" charset="0"/>
                <a:cs typeface="Arial" panose="020B0604020202020204" pitchFamily="34" charset="0"/>
              </a:rPr>
              <a:t>The NumPy </a:t>
            </a:r>
            <a:r>
              <a:rPr sz="1800" dirty="0">
                <a:latin typeface="Arial" panose="020B0604020202020204" pitchFamily="34" charset="0"/>
                <a:cs typeface="Arial" panose="020B0604020202020204" pitchFamily="34" charset="0"/>
              </a:rPr>
              <a:t>array is a </a:t>
            </a:r>
            <a:r>
              <a:rPr sz="1800" spc="-7" dirty="0">
                <a:latin typeface="Arial" panose="020B0604020202020204" pitchFamily="34" charset="0"/>
                <a:cs typeface="Arial" panose="020B0604020202020204" pitchFamily="34" charset="0"/>
              </a:rPr>
              <a:t>data structure that efficiently </a:t>
            </a:r>
            <a:r>
              <a:rPr sz="1800" dirty="0">
                <a:latin typeface="Arial" panose="020B0604020202020204" pitchFamily="34" charset="0"/>
                <a:cs typeface="Arial" panose="020B0604020202020204" pitchFamily="34" charset="0"/>
              </a:rPr>
              <a:t> stores</a:t>
            </a:r>
            <a:r>
              <a:rPr sz="1800" spc="-4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and</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accesses</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multidimensional</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arrays.</a:t>
            </a:r>
            <a:endParaRPr sz="1800" dirty="0">
              <a:latin typeface="Arial" panose="020B0604020202020204" pitchFamily="34" charset="0"/>
              <a:cs typeface="Arial" panose="020B0604020202020204" pitchFamily="34" charset="0"/>
            </a:endParaRPr>
          </a:p>
          <a:p>
            <a:pPr marL="228600" marR="7620" indent="-228600">
              <a:spcAft>
                <a:spcPts val="800"/>
              </a:spcAft>
              <a:buChar char="•"/>
              <a:tabLst>
                <a:tab pos="244681" algn="l"/>
              </a:tabLst>
            </a:pPr>
            <a:r>
              <a:rPr sz="1800" spc="-7" dirty="0">
                <a:latin typeface="Arial" panose="020B0604020202020204" pitchFamily="34" charset="0"/>
                <a:cs typeface="Arial" panose="020B0604020202020204" pitchFamily="34" charset="0"/>
              </a:rPr>
              <a:t>NumPy </a:t>
            </a:r>
            <a:r>
              <a:rPr sz="1800" dirty="0">
                <a:latin typeface="Arial" panose="020B0604020202020204" pitchFamily="34" charset="0"/>
                <a:cs typeface="Arial" panose="020B0604020202020204" pitchFamily="34" charset="0"/>
              </a:rPr>
              <a:t>is a </a:t>
            </a:r>
            <a:r>
              <a:rPr sz="1800" spc="-7" dirty="0">
                <a:latin typeface="Arial" panose="020B0604020202020204" pitchFamily="34" charset="0"/>
                <a:cs typeface="Arial" panose="020B0604020202020204" pitchFamily="34" charset="0"/>
              </a:rPr>
              <a:t>Python library and </a:t>
            </a:r>
            <a:r>
              <a:rPr sz="1800" spc="-13" dirty="0">
                <a:latin typeface="Arial" panose="020B0604020202020204" pitchFamily="34" charset="0"/>
                <a:cs typeface="Arial" panose="020B0604020202020204" pitchFamily="34" charset="0"/>
              </a:rPr>
              <a:t>is </a:t>
            </a:r>
            <a:r>
              <a:rPr sz="1800" spc="-7" dirty="0">
                <a:latin typeface="Arial" panose="020B0604020202020204" pitchFamily="34" charset="0"/>
                <a:cs typeface="Arial" panose="020B0604020202020204" pitchFamily="34" charset="0"/>
              </a:rPr>
              <a:t>written partially </a:t>
            </a:r>
            <a:r>
              <a:rPr sz="1800" spc="-20" dirty="0">
                <a:latin typeface="Arial" panose="020B0604020202020204" pitchFamily="34" charset="0"/>
                <a:cs typeface="Arial" panose="020B0604020202020204" pitchFamily="34" charset="0"/>
              </a:rPr>
              <a:t>in </a:t>
            </a:r>
            <a:r>
              <a:rPr sz="1800" spc="-1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Python,</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but</a:t>
            </a:r>
            <a:r>
              <a:rPr sz="180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most</a:t>
            </a:r>
            <a:r>
              <a:rPr sz="1800" spc="-7"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of</a:t>
            </a:r>
            <a:r>
              <a:rPr sz="1800" spc="-7" dirty="0">
                <a:latin typeface="Arial" panose="020B0604020202020204" pitchFamily="34" charset="0"/>
                <a:cs typeface="Arial" panose="020B0604020202020204" pitchFamily="34" charset="0"/>
              </a:rPr>
              <a:t> the</a:t>
            </a:r>
            <a:r>
              <a:rPr sz="180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parts</a:t>
            </a:r>
            <a:r>
              <a:rPr sz="1800" spc="-7" dirty="0">
                <a:latin typeface="Arial" panose="020B0604020202020204" pitchFamily="34" charset="0"/>
                <a:cs typeface="Arial" panose="020B0604020202020204" pitchFamily="34" charset="0"/>
              </a:rPr>
              <a:t> that</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require</a:t>
            </a:r>
            <a:r>
              <a:rPr sz="180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fast </a:t>
            </a:r>
            <a:r>
              <a:rPr sz="1800" spc="-7" dirty="0">
                <a:latin typeface="Arial" panose="020B0604020202020204" pitchFamily="34" charset="0"/>
                <a:cs typeface="Arial" panose="020B0604020202020204" pitchFamily="34" charset="0"/>
              </a:rPr>
              <a:t> computation</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are</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written</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in</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C </a:t>
            </a:r>
            <a:r>
              <a:rPr sz="1800" spc="-7" dirty="0">
                <a:latin typeface="Arial" panose="020B0604020202020204" pitchFamily="34" charset="0"/>
                <a:cs typeface="Arial" panose="020B0604020202020204" pitchFamily="34" charset="0"/>
              </a:rPr>
              <a:t>or</a:t>
            </a:r>
            <a:r>
              <a:rPr sz="1800" spc="-3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C++.</a:t>
            </a:r>
            <a:endParaRPr sz="1800" dirty="0">
              <a:latin typeface="Arial" panose="020B0604020202020204" pitchFamily="34" charset="0"/>
              <a:cs typeface="Arial" panose="020B0604020202020204" pitchFamily="34" charset="0"/>
            </a:endParaRPr>
          </a:p>
        </p:txBody>
      </p:sp>
      <p:pic>
        <p:nvPicPr>
          <p:cNvPr id="8" name="object 8"/>
          <p:cNvPicPr/>
          <p:nvPr/>
        </p:nvPicPr>
        <p:blipFill>
          <a:blip r:embed="rId3" cstate="print"/>
          <a:stretch>
            <a:fillRect/>
          </a:stretch>
        </p:blipFill>
        <p:spPr>
          <a:xfrm>
            <a:off x="6802365" y="1600200"/>
            <a:ext cx="4648727" cy="1748724"/>
          </a:xfrm>
          <a:prstGeom prst="rect">
            <a:avLst/>
          </a:prstGeom>
        </p:spPr>
      </p:pic>
      <p:sp>
        <p:nvSpPr>
          <p:cNvPr id="3" name="TextBox 2">
            <a:extLst>
              <a:ext uri="{FF2B5EF4-FFF2-40B4-BE49-F238E27FC236}">
                <a16:creationId xmlns:a16="http://schemas.microsoft.com/office/drawing/2014/main" id="{132594E1-61AA-4A5B-2058-65068D55E085}"/>
              </a:ext>
            </a:extLst>
          </p:cNvPr>
          <p:cNvSpPr txBox="1"/>
          <p:nvPr/>
        </p:nvSpPr>
        <p:spPr>
          <a:xfrm>
            <a:off x="381000" y="853896"/>
            <a:ext cx="5715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NumPy</a:t>
            </a:r>
          </a:p>
        </p:txBody>
      </p:sp>
      <p:sp>
        <p:nvSpPr>
          <p:cNvPr id="4" name="TextBox 3">
            <a:extLst>
              <a:ext uri="{FF2B5EF4-FFF2-40B4-BE49-F238E27FC236}">
                <a16:creationId xmlns:a16="http://schemas.microsoft.com/office/drawing/2014/main" id="{A961B94B-CAC3-6292-F0AB-6857004C075D}"/>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https://en.wikipedia.org/wiki/NumPy</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8EAE5FF5-F86C-8C78-8981-AD5704F65BA3}"/>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Google Shape;62;g5fab984687_2_0">
            <a:extLst>
              <a:ext uri="{FF2B5EF4-FFF2-40B4-BE49-F238E27FC236}">
                <a16:creationId xmlns:a16="http://schemas.microsoft.com/office/drawing/2014/main" id="{8AA824EC-8FBB-21BA-8BD1-26B175467D11}"/>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09FC-997B-EBFE-D43D-48E3946418F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A51357-77F2-F7E3-07B1-557B38843947}"/>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1A2F4DFA-C949-B41E-E57D-9EF12AE5CCF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FD6245BE-48F2-BB62-D63B-F80AC8163E28}"/>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D75C24AF-4926-8050-0134-5C7C9D2739F5}"/>
              </a:ext>
            </a:extLst>
          </p:cNvPr>
          <p:cNvSpPr txBox="1">
            <a:spLocks/>
          </p:cNvSpPr>
          <p:nvPr/>
        </p:nvSpPr>
        <p:spPr>
          <a:xfrm>
            <a:off x="381000" y="4191000"/>
            <a:ext cx="5791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16: </a:t>
            </a:r>
            <a:r>
              <a:rPr lang="en-US" sz="1800" dirty="0">
                <a:latin typeface="Arial" panose="020B0604020202020204" pitchFamily="34" charset="0"/>
                <a:cs typeface="Arial" panose="020B0604020202020204" pitchFamily="34" charset="0"/>
              </a:rPr>
              <a:t>Implementing </a:t>
            </a:r>
            <a:r>
              <a:rPr lang="en-US" sz="1800" dirty="0" err="1">
                <a:latin typeface="Arial" panose="020B0604020202020204" pitchFamily="34" charset="0"/>
                <a:cs typeface="Arial" panose="020B0604020202020204" pitchFamily="34" charset="0"/>
              </a:rPr>
              <a:t>Numpy</a:t>
            </a:r>
            <a:r>
              <a:rPr lang="en-US" sz="1800" dirty="0">
                <a:latin typeface="Arial" panose="020B0604020202020204" pitchFamily="34" charset="0"/>
                <a:cs typeface="Arial" panose="020B0604020202020204" pitchFamily="34" charset="0"/>
              </a:rPr>
              <a:t> Concepts in Python</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1F34C31A-191C-A74C-27A9-D112C58C62F9}"/>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0786DCCD-41C3-A186-E425-4991CA929A6A}"/>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990E9A28-641D-FAB2-075D-C45B49C17A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406D7F35-E24D-D92A-A29B-05DB51C731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
        <p:nvSpPr>
          <p:cNvPr id="9" name="TextBox 8">
            <a:extLst>
              <a:ext uri="{FF2B5EF4-FFF2-40B4-BE49-F238E27FC236}">
                <a16:creationId xmlns:a16="http://schemas.microsoft.com/office/drawing/2014/main" id="{F6766953-2807-E269-DA16-AC7DACBC7ACD}"/>
              </a:ext>
            </a:extLst>
          </p:cNvPr>
          <p:cNvSpPr txBox="1"/>
          <p:nvPr/>
        </p:nvSpPr>
        <p:spPr>
          <a:xfrm>
            <a:off x="381000" y="4800600"/>
            <a:ext cx="2695576" cy="369332"/>
          </a:xfrm>
          <a:prstGeom prst="rect">
            <a:avLst/>
          </a:prstGeom>
          <a:noFill/>
        </p:spPr>
        <p:txBody>
          <a:bodyPr wrap="square" rtlCol="0">
            <a:spAutoFit/>
          </a:bodyPr>
          <a:lstStyle/>
          <a:p>
            <a:r>
              <a:rPr lang="en-US" sz="1800" b="1" dirty="0">
                <a:latin typeface="Arial" panose="020B0604020202020204" pitchFamily="34" charset="0"/>
                <a:cs typeface="Arial" panose="020B0604020202020204" pitchFamily="34" charset="0"/>
              </a:rPr>
              <a:t>Solution:</a:t>
            </a:r>
            <a:r>
              <a:rPr lang="en-US" sz="1800" b="1" dirty="0">
                <a:solidFill>
                  <a:schemeClr val="tx1"/>
                </a:solidFill>
                <a:latin typeface="Arial" panose="020B0604020202020204" pitchFamily="34" charset="0"/>
                <a:cs typeface="Arial" panose="020B0604020202020204" pitchFamily="34" charset="0"/>
              </a:rPr>
              <a:t> </a:t>
            </a:r>
            <a:r>
              <a:rPr lang="en-US" sz="1800" b="1" dirty="0">
                <a:solidFill>
                  <a:srgbClr val="0000FF"/>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GitHub Link</a:t>
            </a:r>
            <a:endParaRPr lang="en-US" sz="1800" b="1"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815469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4DC6E-DE0A-160F-39C8-56BD1F7B05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5546AE1-E304-F83B-8DA5-EBEBA8C43F21}"/>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Self Practice-1</a:t>
            </a:r>
          </a:p>
        </p:txBody>
      </p:sp>
      <p:sp>
        <p:nvSpPr>
          <p:cNvPr id="10" name="Rectangle 1">
            <a:extLst>
              <a:ext uri="{FF2B5EF4-FFF2-40B4-BE49-F238E27FC236}">
                <a16:creationId xmlns:a16="http://schemas.microsoft.com/office/drawing/2014/main" id="{2CFBE7EC-070B-17B3-89B8-E489A82BAD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04F122CF-D128-B609-0FF7-91E07E4D2549}"/>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64A10E3A-2EAF-8710-82D5-40F2183ADF85}"/>
              </a:ext>
            </a:extLst>
          </p:cNvPr>
          <p:cNvSpPr txBox="1">
            <a:spLocks/>
          </p:cNvSpPr>
          <p:nvPr/>
        </p:nvSpPr>
        <p:spPr>
          <a:xfrm>
            <a:off x="381000" y="4191000"/>
            <a:ext cx="48768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Self Practice 6: </a:t>
            </a:r>
            <a:r>
              <a:rPr lang="en-US" sz="1800" dirty="0" err="1">
                <a:latin typeface="Arial" panose="020B0604020202020204" pitchFamily="34" charset="0"/>
                <a:cs typeface="Arial" panose="020B0604020202020204" pitchFamily="34" charset="0"/>
              </a:rPr>
              <a:t>Numpy</a:t>
            </a:r>
            <a:r>
              <a:rPr lang="en-US" sz="1800" dirty="0">
                <a:latin typeface="Arial" panose="020B0604020202020204" pitchFamily="34" charset="0"/>
                <a:cs typeface="Arial" panose="020B0604020202020204" pitchFamily="34" charset="0"/>
              </a:rPr>
              <a:t> Self-practice</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7712651-C007-B1CA-B8E3-35A385DCA77A}"/>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2C798BA7-41E0-32F7-5312-1C43761B1AB2}"/>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23DEA5F7-374A-826D-ED85-1AC0549E95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EBE171D2-62A9-B0F7-0969-9526084753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
        <p:nvSpPr>
          <p:cNvPr id="9" name="TextBox 8">
            <a:extLst>
              <a:ext uri="{FF2B5EF4-FFF2-40B4-BE49-F238E27FC236}">
                <a16:creationId xmlns:a16="http://schemas.microsoft.com/office/drawing/2014/main" id="{ACA30DC0-0C3D-AE29-977E-5A924C7802E9}"/>
              </a:ext>
            </a:extLst>
          </p:cNvPr>
          <p:cNvSpPr txBox="1"/>
          <p:nvPr/>
        </p:nvSpPr>
        <p:spPr>
          <a:xfrm>
            <a:off x="381000" y="4724400"/>
            <a:ext cx="2695576" cy="369332"/>
          </a:xfrm>
          <a:prstGeom prst="rect">
            <a:avLst/>
          </a:prstGeom>
          <a:noFill/>
        </p:spPr>
        <p:txBody>
          <a:bodyPr wrap="square" rtlCol="0">
            <a:spAutoFit/>
          </a:bodyPr>
          <a:lstStyle/>
          <a:p>
            <a:r>
              <a:rPr lang="en-US" sz="1800" b="1" dirty="0">
                <a:latin typeface="Arial" panose="020B0604020202020204" pitchFamily="34" charset="0"/>
                <a:cs typeface="Arial" panose="020B0604020202020204" pitchFamily="34" charset="0"/>
              </a:rPr>
              <a:t>Solution:</a:t>
            </a:r>
            <a:r>
              <a:rPr lang="en-US" sz="1800" b="1" dirty="0">
                <a:solidFill>
                  <a:schemeClr val="tx1"/>
                </a:solidFill>
                <a:latin typeface="Arial" panose="020B0604020202020204" pitchFamily="34" charset="0"/>
                <a:cs typeface="Arial" panose="020B0604020202020204" pitchFamily="34" charset="0"/>
              </a:rPr>
              <a:t> </a:t>
            </a:r>
            <a:r>
              <a:rPr lang="en-US" sz="1800" b="1" dirty="0">
                <a:solidFill>
                  <a:srgbClr val="0000FF"/>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GitHub Link</a:t>
            </a:r>
            <a:endParaRPr lang="en-US" sz="1800" b="1"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3144888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32265" y="889126"/>
            <a:ext cx="3453935" cy="324021"/>
          </a:xfrm>
          <a:prstGeom prst="rect">
            <a:avLst/>
          </a:prstGeom>
        </p:spPr>
        <p:txBody>
          <a:bodyPr vert="horz" wrap="square" lIns="0" tIns="16087" rIns="0" bIns="0" rtlCol="0">
            <a:spAutoFit/>
          </a:bodyPr>
          <a:lstStyle/>
          <a:p>
            <a:pPr marL="16933">
              <a:spcBef>
                <a:spcPts val="127"/>
              </a:spcBef>
            </a:pPr>
            <a:r>
              <a:rPr sz="2000" b="1" spc="-7" dirty="0">
                <a:solidFill>
                  <a:srgbClr val="001F5F"/>
                </a:solidFill>
                <a:latin typeface="Arial" panose="020B0604020202020204" pitchFamily="34" charset="0"/>
                <a:cs typeface="Arial" panose="020B0604020202020204" pitchFamily="34" charset="0"/>
              </a:rPr>
              <a:t>What</a:t>
            </a:r>
            <a:r>
              <a:rPr sz="2000" b="1" spc="-20" dirty="0">
                <a:solidFill>
                  <a:srgbClr val="001F5F"/>
                </a:solidFill>
                <a:latin typeface="Arial" panose="020B0604020202020204" pitchFamily="34" charset="0"/>
                <a:cs typeface="Arial" panose="020B0604020202020204" pitchFamily="34" charset="0"/>
              </a:rPr>
              <a:t> </a:t>
            </a:r>
            <a:r>
              <a:rPr sz="2000" b="1" spc="-7" dirty="0">
                <a:solidFill>
                  <a:srgbClr val="001F5F"/>
                </a:solidFill>
                <a:latin typeface="Arial" panose="020B0604020202020204" pitchFamily="34" charset="0"/>
                <a:cs typeface="Arial" panose="020B0604020202020204" pitchFamily="34" charset="0"/>
              </a:rPr>
              <a:t>is</a:t>
            </a:r>
            <a:r>
              <a:rPr sz="2000" b="1" dirty="0">
                <a:solidFill>
                  <a:srgbClr val="001F5F"/>
                </a:solidFill>
                <a:latin typeface="Arial" panose="020B0604020202020204" pitchFamily="34" charset="0"/>
                <a:cs typeface="Arial" panose="020B0604020202020204" pitchFamily="34" charset="0"/>
              </a:rPr>
              <a:t> </a:t>
            </a:r>
            <a:r>
              <a:rPr sz="2000" b="1" spc="-7" dirty="0">
                <a:solidFill>
                  <a:srgbClr val="001F5F"/>
                </a:solidFill>
                <a:latin typeface="Arial" panose="020B0604020202020204" pitchFamily="34" charset="0"/>
                <a:cs typeface="Arial" panose="020B0604020202020204" pitchFamily="34" charset="0"/>
              </a:rPr>
              <a:t>Data</a:t>
            </a:r>
            <a:r>
              <a:rPr sz="2000" b="1" spc="-20" dirty="0">
                <a:solidFill>
                  <a:srgbClr val="001F5F"/>
                </a:solidFill>
                <a:latin typeface="Arial" panose="020B0604020202020204" pitchFamily="34" charset="0"/>
                <a:cs typeface="Arial" panose="020B0604020202020204" pitchFamily="34" charset="0"/>
              </a:rPr>
              <a:t> </a:t>
            </a:r>
            <a:r>
              <a:rPr sz="2000" b="1" spc="-7" dirty="0">
                <a:solidFill>
                  <a:srgbClr val="001F5F"/>
                </a:solidFill>
                <a:latin typeface="Arial" panose="020B0604020202020204" pitchFamily="34" charset="0"/>
                <a:cs typeface="Arial" panose="020B0604020202020204" pitchFamily="34" charset="0"/>
              </a:rPr>
              <a:t>Visualization?</a:t>
            </a:r>
            <a:endParaRPr sz="2000" dirty="0">
              <a:latin typeface="Arial" panose="020B0604020202020204" pitchFamily="34" charset="0"/>
              <a:cs typeface="Arial" panose="020B0604020202020204" pitchFamily="34" charset="0"/>
            </a:endParaRPr>
          </a:p>
        </p:txBody>
      </p:sp>
      <p:sp>
        <p:nvSpPr>
          <p:cNvPr id="8" name="object 8"/>
          <p:cNvSpPr txBox="1"/>
          <p:nvPr/>
        </p:nvSpPr>
        <p:spPr>
          <a:xfrm>
            <a:off x="438150" y="1371600"/>
            <a:ext cx="11315700" cy="571096"/>
          </a:xfrm>
          <a:prstGeom prst="rect">
            <a:avLst/>
          </a:prstGeom>
        </p:spPr>
        <p:txBody>
          <a:bodyPr vert="horz" wrap="square" lIns="0" tIns="16933" rIns="0" bIns="0" rtlCol="0">
            <a:spAutoFit/>
          </a:bodyPr>
          <a:lstStyle/>
          <a:p>
            <a:pPr marR="6773" indent="-246888">
              <a:spcAft>
                <a:spcPts val="800"/>
              </a:spcAft>
            </a:pPr>
            <a:r>
              <a:rPr sz="1800" spc="-7" dirty="0">
                <a:latin typeface="Arial" panose="020B0604020202020204" pitchFamily="34" charset="0"/>
                <a:cs typeface="Arial" panose="020B0604020202020204" pitchFamily="34" charset="0"/>
              </a:rPr>
              <a:t>Data</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visualization</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deals</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with</a:t>
            </a:r>
            <a:r>
              <a:rPr sz="1800" dirty="0">
                <a:latin typeface="Arial" panose="020B0604020202020204" pitchFamily="34" charset="0"/>
                <a:cs typeface="Arial" panose="020B0604020202020204" pitchFamily="34" charset="0"/>
              </a:rPr>
              <a:t> a</a:t>
            </a:r>
            <a:r>
              <a:rPr sz="1800" spc="5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visual </a:t>
            </a:r>
            <a:r>
              <a:rPr sz="18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representation</a:t>
            </a:r>
            <a:r>
              <a:rPr sz="1800" spc="113"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of</a:t>
            </a:r>
            <a:r>
              <a:rPr sz="1800" spc="1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data</a:t>
            </a:r>
            <a:r>
              <a:rPr sz="1800" spc="13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and</a:t>
            </a:r>
            <a:r>
              <a:rPr sz="1800" spc="133"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is</a:t>
            </a:r>
            <a:r>
              <a:rPr sz="1800" spc="14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part</a:t>
            </a:r>
            <a:r>
              <a:rPr sz="1800" spc="140" dirty="0">
                <a:latin typeface="Arial" panose="020B0604020202020204" pitchFamily="34" charset="0"/>
                <a:cs typeface="Arial" panose="020B0604020202020204" pitchFamily="34" charset="0"/>
              </a:rPr>
              <a:t> </a:t>
            </a:r>
            <a:r>
              <a:rPr sz="1800" spc="-13" dirty="0">
                <a:latin typeface="Arial" panose="020B0604020202020204" pitchFamily="34" charset="0"/>
                <a:cs typeface="Arial" panose="020B0604020202020204" pitchFamily="34" charset="0"/>
              </a:rPr>
              <a:t>of</a:t>
            </a:r>
            <a:r>
              <a:rPr sz="1800" spc="12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data</a:t>
            </a:r>
            <a:r>
              <a:rPr sz="1800" spc="13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analysis. </a:t>
            </a:r>
            <a:r>
              <a:rPr sz="1800" spc="-50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It is the </a:t>
            </a:r>
            <a:r>
              <a:rPr sz="1800" spc="-13" dirty="0">
                <a:latin typeface="Arial" panose="020B0604020202020204" pitchFamily="34" charset="0"/>
                <a:cs typeface="Arial" panose="020B0604020202020204" pitchFamily="34" charset="0"/>
              </a:rPr>
              <a:t>process of </a:t>
            </a:r>
            <a:r>
              <a:rPr sz="1800" spc="-7" dirty="0">
                <a:latin typeface="Arial" panose="020B0604020202020204" pitchFamily="34" charset="0"/>
                <a:cs typeface="Arial" panose="020B0604020202020204" pitchFamily="34" charset="0"/>
              </a:rPr>
              <a:t>translating data into </a:t>
            </a:r>
            <a:r>
              <a:rPr sz="1800" dirty="0">
                <a:latin typeface="Arial" panose="020B0604020202020204" pitchFamily="34" charset="0"/>
                <a:cs typeface="Arial" panose="020B0604020202020204" pitchFamily="34" charset="0"/>
              </a:rPr>
              <a:t>a </a:t>
            </a:r>
            <a:r>
              <a:rPr sz="1800" spc="-7" dirty="0">
                <a:latin typeface="Arial" panose="020B0604020202020204" pitchFamily="34" charset="0"/>
                <a:cs typeface="Arial" panose="020B0604020202020204" pitchFamily="34" charset="0"/>
              </a:rPr>
              <a:t>chart, </a:t>
            </a:r>
            <a:r>
              <a:rPr sz="1800" dirty="0">
                <a:latin typeface="Arial" panose="020B0604020202020204" pitchFamily="34" charset="0"/>
                <a:cs typeface="Arial" panose="020B0604020202020204" pitchFamily="34" charset="0"/>
              </a:rPr>
              <a:t> graph,</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or</a:t>
            </a:r>
            <a:r>
              <a:rPr sz="1800" spc="-1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other</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visual components.</a:t>
            </a:r>
            <a:endParaRPr sz="1800" dirty="0">
              <a:latin typeface="Arial" panose="020B0604020202020204" pitchFamily="34" charset="0"/>
              <a:cs typeface="Arial" panose="020B0604020202020204" pitchFamily="34" charset="0"/>
            </a:endParaRPr>
          </a:p>
        </p:txBody>
      </p:sp>
      <p:pic>
        <p:nvPicPr>
          <p:cNvPr id="9" name="object 9"/>
          <p:cNvPicPr/>
          <p:nvPr/>
        </p:nvPicPr>
        <p:blipFill>
          <a:blip r:embed="rId3" cstate="print"/>
          <a:stretch>
            <a:fillRect/>
          </a:stretch>
        </p:blipFill>
        <p:spPr>
          <a:xfrm>
            <a:off x="3271520" y="2374147"/>
            <a:ext cx="5648960" cy="3342640"/>
          </a:xfrm>
          <a:prstGeom prst="rect">
            <a:avLst/>
          </a:prstGeom>
        </p:spPr>
      </p:pic>
      <p:sp>
        <p:nvSpPr>
          <p:cNvPr id="3" name="TextBox 2">
            <a:extLst>
              <a:ext uri="{FF2B5EF4-FFF2-40B4-BE49-F238E27FC236}">
                <a16:creationId xmlns:a16="http://schemas.microsoft.com/office/drawing/2014/main" id="{340B42EA-909C-EC0C-7CAF-4D1666C1B59C}"/>
              </a:ext>
            </a:extLst>
          </p:cNvPr>
          <p:cNvSpPr txBox="1"/>
          <p:nvPr/>
        </p:nvSpPr>
        <p:spPr>
          <a:xfrm>
            <a:off x="1066800" y="6400800"/>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https://www.techfunnel.com/wp-content/uploads/2020/10/data-visualization.png</a:t>
            </a:r>
            <a:endParaRPr lang="en-IN" sz="1200" dirty="0">
              <a:solidFill>
                <a:srgbClr val="0000FF"/>
              </a:solidFill>
              <a:latin typeface="+mj-lt"/>
            </a:endParaRPr>
          </a:p>
        </p:txBody>
      </p:sp>
      <p:cxnSp>
        <p:nvCxnSpPr>
          <p:cNvPr id="5" name="Straight Connector 4">
            <a:extLst>
              <a:ext uri="{FF2B5EF4-FFF2-40B4-BE49-F238E27FC236}">
                <a16:creationId xmlns:a16="http://schemas.microsoft.com/office/drawing/2014/main" id="{1BDCC530-761A-B61A-0197-AC35A674DB2F}"/>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Google Shape;62;g5fab984687_2_0">
            <a:extLst>
              <a:ext uri="{FF2B5EF4-FFF2-40B4-BE49-F238E27FC236}">
                <a16:creationId xmlns:a16="http://schemas.microsoft.com/office/drawing/2014/main" id="{2E42A039-D3B0-8383-0AC3-86B5FF2C902E}"/>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86802" y="1397297"/>
            <a:ext cx="11705198" cy="590889"/>
          </a:xfrm>
          <a:prstGeom prst="rect">
            <a:avLst/>
          </a:prstGeom>
        </p:spPr>
        <p:txBody>
          <a:bodyPr vert="horz" wrap="square" lIns="0" tIns="16087" rIns="0" bIns="0" rtlCol="0">
            <a:spAutoFit/>
          </a:bodyPr>
          <a:lstStyle/>
          <a:p>
            <a:pPr marR="6773">
              <a:spcAft>
                <a:spcPts val="800"/>
              </a:spcAft>
            </a:pPr>
            <a:r>
              <a:rPr sz="1800" dirty="0">
                <a:latin typeface="Arial" panose="020B0604020202020204" pitchFamily="34" charset="0"/>
                <a:cs typeface="Arial" panose="020B0604020202020204" pitchFamily="34" charset="0"/>
              </a:rPr>
              <a:t>Data</a:t>
            </a:r>
            <a:r>
              <a:rPr sz="1800" spc="-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visualization</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packages</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and</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tools</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are</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required</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to</a:t>
            </a:r>
            <a:r>
              <a:rPr sz="1800" spc="-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provide</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accessible </a:t>
            </a:r>
            <a:r>
              <a:rPr sz="1800" spc="-50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way </a:t>
            </a:r>
            <a:r>
              <a:rPr sz="1800" dirty="0">
                <a:latin typeface="Arial" panose="020B0604020202020204" pitchFamily="34" charset="0"/>
                <a:cs typeface="Arial" panose="020B0604020202020204" pitchFamily="34" charset="0"/>
              </a:rPr>
              <a:t>to </a:t>
            </a:r>
            <a:r>
              <a:rPr sz="1800" spc="-7" dirty="0" err="1">
                <a:latin typeface="Arial" panose="020B0604020202020204" pitchFamily="34" charset="0"/>
                <a:cs typeface="Arial" panose="020B0604020202020204" pitchFamily="34" charset="0"/>
              </a:rPr>
              <a:t>analyse</a:t>
            </a:r>
            <a:r>
              <a:rPr sz="1800" spc="-7" dirty="0">
                <a:latin typeface="Arial" panose="020B0604020202020204" pitchFamily="34" charset="0"/>
                <a:cs typeface="Arial" panose="020B0604020202020204" pitchFamily="34" charset="0"/>
              </a:rPr>
              <a:t> massive </a:t>
            </a:r>
            <a:r>
              <a:rPr sz="1800" dirty="0">
                <a:latin typeface="Arial" panose="020B0604020202020204" pitchFamily="34" charset="0"/>
                <a:cs typeface="Arial" panose="020B0604020202020204" pitchFamily="34" charset="0"/>
              </a:rPr>
              <a:t>amounts of </a:t>
            </a:r>
            <a:r>
              <a:rPr sz="1800" spc="-7" dirty="0">
                <a:latin typeface="Arial" panose="020B0604020202020204" pitchFamily="34" charset="0"/>
                <a:cs typeface="Arial" panose="020B0604020202020204" pitchFamily="34" charset="0"/>
              </a:rPr>
              <a:t>information </a:t>
            </a:r>
            <a:r>
              <a:rPr sz="1800" dirty="0">
                <a:latin typeface="Arial" panose="020B0604020202020204" pitchFamily="34" charset="0"/>
                <a:cs typeface="Arial" panose="020B0604020202020204" pitchFamily="34" charset="0"/>
              </a:rPr>
              <a:t>and </a:t>
            </a:r>
            <a:r>
              <a:rPr sz="1800" spc="-7" dirty="0">
                <a:latin typeface="Arial" panose="020B0604020202020204" pitchFamily="34" charset="0"/>
                <a:cs typeface="Arial" panose="020B0604020202020204" pitchFamily="34" charset="0"/>
              </a:rPr>
              <a:t>understand </a:t>
            </a:r>
            <a:r>
              <a:rPr sz="1800" dirty="0">
                <a:latin typeface="Arial" panose="020B0604020202020204" pitchFamily="34" charset="0"/>
                <a:cs typeface="Arial" panose="020B0604020202020204" pitchFamily="34" charset="0"/>
              </a:rPr>
              <a:t>trends and </a:t>
            </a:r>
            <a:r>
              <a:rPr sz="1800" spc="-50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patterns</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in</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p>
        </p:txBody>
      </p:sp>
      <p:sp>
        <p:nvSpPr>
          <p:cNvPr id="3" name="object 7">
            <a:extLst>
              <a:ext uri="{FF2B5EF4-FFF2-40B4-BE49-F238E27FC236}">
                <a16:creationId xmlns:a16="http://schemas.microsoft.com/office/drawing/2014/main" id="{1C5072BD-3386-EF7B-6FD3-77BF2F77FC9B}"/>
              </a:ext>
            </a:extLst>
          </p:cNvPr>
          <p:cNvSpPr txBox="1"/>
          <p:nvPr/>
        </p:nvSpPr>
        <p:spPr>
          <a:xfrm>
            <a:off x="471088" y="889126"/>
            <a:ext cx="3551767" cy="324021"/>
          </a:xfrm>
          <a:prstGeom prst="rect">
            <a:avLst/>
          </a:prstGeom>
        </p:spPr>
        <p:txBody>
          <a:bodyPr vert="horz" wrap="square" lIns="0" tIns="16087" rIns="0" bIns="0" rtlCol="0">
            <a:spAutoFit/>
          </a:bodyPr>
          <a:lstStyle/>
          <a:p>
            <a:pPr marL="16933">
              <a:spcBef>
                <a:spcPts val="127"/>
              </a:spcBef>
            </a:pPr>
            <a:r>
              <a:rPr lang="en-US" sz="2000" b="1" spc="-7" dirty="0">
                <a:solidFill>
                  <a:srgbClr val="001F5F"/>
                </a:solidFill>
                <a:latin typeface="Arial" panose="020B0604020202020204" pitchFamily="34" charset="0"/>
                <a:cs typeface="Arial" panose="020B0604020202020204" pitchFamily="34" charset="0"/>
              </a:rPr>
              <a:t>Plotting and Visualization</a:t>
            </a:r>
          </a:p>
        </p:txBody>
      </p:sp>
      <p:grpSp>
        <p:nvGrpSpPr>
          <p:cNvPr id="6" name="Group 5">
            <a:extLst>
              <a:ext uri="{FF2B5EF4-FFF2-40B4-BE49-F238E27FC236}">
                <a16:creationId xmlns:a16="http://schemas.microsoft.com/office/drawing/2014/main" id="{8A825615-EC47-6631-6C04-3ED962D834A2}"/>
              </a:ext>
            </a:extLst>
          </p:cNvPr>
          <p:cNvGrpSpPr/>
          <p:nvPr/>
        </p:nvGrpSpPr>
        <p:grpSpPr>
          <a:xfrm>
            <a:off x="1527365" y="2781300"/>
            <a:ext cx="9137270" cy="1685925"/>
            <a:chOff x="1323975" y="2771775"/>
            <a:chExt cx="9137270" cy="1685925"/>
          </a:xfrm>
        </p:grpSpPr>
        <p:pic>
          <p:nvPicPr>
            <p:cNvPr id="8" name="object 8"/>
            <p:cNvPicPr/>
            <p:nvPr/>
          </p:nvPicPr>
          <p:blipFill>
            <a:blip r:embed="rId3" cstate="print"/>
            <a:stretch>
              <a:fillRect/>
            </a:stretch>
          </p:blipFill>
          <p:spPr>
            <a:xfrm>
              <a:off x="1766753" y="3320910"/>
              <a:ext cx="2861988" cy="682905"/>
            </a:xfrm>
            <a:prstGeom prst="rect">
              <a:avLst/>
            </a:prstGeom>
          </p:spPr>
        </p:pic>
        <p:pic>
          <p:nvPicPr>
            <p:cNvPr id="11" name="object 11"/>
            <p:cNvPicPr/>
            <p:nvPr/>
          </p:nvPicPr>
          <p:blipFill>
            <a:blip r:embed="rId4" cstate="print"/>
            <a:stretch>
              <a:fillRect/>
            </a:stretch>
          </p:blipFill>
          <p:spPr>
            <a:xfrm>
              <a:off x="7120480" y="3229900"/>
              <a:ext cx="2933985" cy="674425"/>
            </a:xfrm>
            <a:prstGeom prst="rect">
              <a:avLst/>
            </a:prstGeom>
          </p:spPr>
        </p:pic>
        <p:sp>
          <p:nvSpPr>
            <p:cNvPr id="4" name="Rectangle 3">
              <a:extLst>
                <a:ext uri="{FF2B5EF4-FFF2-40B4-BE49-F238E27FC236}">
                  <a16:creationId xmlns:a16="http://schemas.microsoft.com/office/drawing/2014/main" id="{A8795004-11A9-4B69-5773-C206522D5612}"/>
                </a:ext>
              </a:extLst>
            </p:cNvPr>
            <p:cNvSpPr/>
            <p:nvPr/>
          </p:nvSpPr>
          <p:spPr>
            <a:xfrm>
              <a:off x="1323975" y="2867025"/>
              <a:ext cx="3747545" cy="159067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9E0686C-5708-F905-D182-1EF98557AECB}"/>
                </a:ext>
              </a:extLst>
            </p:cNvPr>
            <p:cNvSpPr/>
            <p:nvPr/>
          </p:nvSpPr>
          <p:spPr>
            <a:xfrm>
              <a:off x="6713700" y="2771775"/>
              <a:ext cx="3747545" cy="1590675"/>
            </a:xfrm>
            <a:prstGeom prst="rect">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57201" y="1361905"/>
            <a:ext cx="11003762" cy="672834"/>
          </a:xfrm>
          <a:prstGeom prst="rect">
            <a:avLst/>
          </a:prstGeom>
        </p:spPr>
        <p:txBody>
          <a:bodyPr vert="horz" wrap="square" lIns="0" tIns="16087" rIns="0" bIns="0" rtlCol="0" anchor="t">
            <a:spAutoFit/>
          </a:bodyPr>
          <a:lstStyle/>
          <a:p>
            <a:pPr>
              <a:spcBef>
                <a:spcPts val="1760"/>
              </a:spcBef>
              <a:spcAft>
                <a:spcPts val="800"/>
              </a:spcAft>
            </a:pPr>
            <a:r>
              <a:rPr sz="1800" dirty="0">
                <a:latin typeface="Arial" panose="020B0604020202020204" pitchFamily="34" charset="0"/>
                <a:cs typeface="Arial" panose="020B0604020202020204" pitchFamily="34" charset="0"/>
              </a:rPr>
              <a:t>Matplotlib</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is one</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of</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the</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most</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popular</a:t>
            </a:r>
            <a:r>
              <a:rPr sz="1800" spc="-6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Python</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packages</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used</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for</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visualization.</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It</a:t>
            </a:r>
            <a:r>
              <a:rPr sz="1800" spc="-1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is</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a:t>
            </a:r>
            <a:r>
              <a:rPr sz="1800" spc="-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cross-</a:t>
            </a:r>
            <a:endParaRPr sz="1800" dirty="0">
              <a:latin typeface="Arial" panose="020B0604020202020204" pitchFamily="34" charset="0"/>
              <a:cs typeface="Arial" panose="020B0604020202020204" pitchFamily="34" charset="0"/>
            </a:endParaRPr>
          </a:p>
          <a:p>
            <a:pPr>
              <a:spcAft>
                <a:spcPts val="800"/>
              </a:spcAft>
            </a:pPr>
            <a:r>
              <a:rPr sz="1800" spc="-7" dirty="0">
                <a:latin typeface="Arial" panose="020B0604020202020204" pitchFamily="34" charset="0"/>
                <a:cs typeface="Arial" panose="020B0604020202020204" pitchFamily="34" charset="0"/>
              </a:rPr>
              <a:t>platform</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library</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for</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making</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2D</a:t>
            </a:r>
            <a:r>
              <a:rPr sz="1800" spc="-1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plots</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from</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in</a:t>
            </a:r>
            <a:r>
              <a:rPr sz="1800" spc="-1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arrays.</a:t>
            </a:r>
            <a:endParaRPr sz="1800" dirty="0">
              <a:latin typeface="Arial" panose="020B0604020202020204" pitchFamily="34" charset="0"/>
              <a:cs typeface="Arial" panose="020B0604020202020204" pitchFamily="34" charset="0"/>
            </a:endParaRPr>
          </a:p>
        </p:txBody>
      </p:sp>
      <p:grpSp>
        <p:nvGrpSpPr>
          <p:cNvPr id="8" name="object 8"/>
          <p:cNvGrpSpPr/>
          <p:nvPr/>
        </p:nvGrpSpPr>
        <p:grpSpPr>
          <a:xfrm>
            <a:off x="2973155" y="2879682"/>
            <a:ext cx="6248400" cy="2003213"/>
            <a:chOff x="2229866" y="2159761"/>
            <a:chExt cx="4686300" cy="1502410"/>
          </a:xfrm>
        </p:grpSpPr>
        <p:pic>
          <p:nvPicPr>
            <p:cNvPr id="9" name="object 9"/>
            <p:cNvPicPr/>
            <p:nvPr/>
          </p:nvPicPr>
          <p:blipFill>
            <a:blip r:embed="rId3" cstate="print"/>
            <a:stretch>
              <a:fillRect/>
            </a:stretch>
          </p:blipFill>
          <p:spPr>
            <a:xfrm>
              <a:off x="2532888" y="2426207"/>
              <a:ext cx="3970902" cy="967739"/>
            </a:xfrm>
            <a:prstGeom prst="rect">
              <a:avLst/>
            </a:prstGeom>
          </p:spPr>
        </p:pic>
        <p:sp>
          <p:nvSpPr>
            <p:cNvPr id="10" name="object 10"/>
            <p:cNvSpPr/>
            <p:nvPr/>
          </p:nvSpPr>
          <p:spPr>
            <a:xfrm>
              <a:off x="2242566" y="2172461"/>
              <a:ext cx="4660900" cy="1477010"/>
            </a:xfrm>
            <a:custGeom>
              <a:avLst/>
              <a:gdLst/>
              <a:ahLst/>
              <a:cxnLst/>
              <a:rect l="l" t="t" r="r" b="b"/>
              <a:pathLst>
                <a:path w="4660900" h="1477010">
                  <a:moveTo>
                    <a:pt x="0" y="1476756"/>
                  </a:moveTo>
                  <a:lnTo>
                    <a:pt x="4660391" y="1476756"/>
                  </a:lnTo>
                  <a:lnTo>
                    <a:pt x="4660391" y="0"/>
                  </a:lnTo>
                  <a:lnTo>
                    <a:pt x="0" y="0"/>
                  </a:lnTo>
                  <a:lnTo>
                    <a:pt x="0" y="1476756"/>
                  </a:lnTo>
                  <a:close/>
                </a:path>
              </a:pathLst>
            </a:custGeom>
            <a:ln w="25400">
              <a:solidFill>
                <a:srgbClr val="585858"/>
              </a:solidFill>
            </a:ln>
          </p:spPr>
          <p:txBody>
            <a:bodyPr wrap="square" lIns="0" tIns="0" rIns="0" bIns="0" rtlCol="0"/>
            <a:lstStyle/>
            <a:p>
              <a:endParaRPr sz="2489"/>
            </a:p>
          </p:txBody>
        </p:sp>
      </p:grpSp>
      <p:sp>
        <p:nvSpPr>
          <p:cNvPr id="3" name="object 7">
            <a:extLst>
              <a:ext uri="{FF2B5EF4-FFF2-40B4-BE49-F238E27FC236}">
                <a16:creationId xmlns:a16="http://schemas.microsoft.com/office/drawing/2014/main" id="{5D862848-C2A4-FB20-BBDA-7EBF079EF59C}"/>
              </a:ext>
            </a:extLst>
          </p:cNvPr>
          <p:cNvSpPr txBox="1"/>
          <p:nvPr/>
        </p:nvSpPr>
        <p:spPr>
          <a:xfrm>
            <a:off x="457200" y="889126"/>
            <a:ext cx="3383653" cy="324021"/>
          </a:xfrm>
          <a:prstGeom prst="rect">
            <a:avLst/>
          </a:prstGeom>
        </p:spPr>
        <p:txBody>
          <a:bodyPr vert="horz" wrap="square" lIns="0" tIns="16087" rIns="0" bIns="0" rtlCol="0">
            <a:spAutoFit/>
          </a:bodyPr>
          <a:lstStyle/>
          <a:p>
            <a:pPr marL="16933">
              <a:spcBef>
                <a:spcPts val="127"/>
              </a:spcBef>
            </a:pPr>
            <a:r>
              <a:rPr lang="en-US" sz="2000" b="1" spc="-7" dirty="0">
                <a:solidFill>
                  <a:srgbClr val="001F5F"/>
                </a:solidFill>
              </a:rPr>
              <a:t>Matplotlib</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CBBFF-4F41-39A6-5D40-5529FE95AD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EA7E1F2-E175-EBE2-610A-9081D46974C9}"/>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11566219-5E6A-955F-E918-C8D9FC7CAF0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F8C53574-E995-AD52-5D69-082E38C3B546}"/>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E0573413-06F0-70E5-F5DE-D39E6A8094BD}"/>
              </a:ext>
            </a:extLst>
          </p:cNvPr>
          <p:cNvSpPr txBox="1">
            <a:spLocks/>
          </p:cNvSpPr>
          <p:nvPr/>
        </p:nvSpPr>
        <p:spPr>
          <a:xfrm>
            <a:off x="381000" y="4191000"/>
            <a:ext cx="73152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kumimoji="0" lang="en-US" sz="1800" b="1" i="0" u="none" strike="noStrike" kern="1200" cap="none" spc="0" normalizeH="0" baseline="0" noProof="0" dirty="0">
                <a:ln>
                  <a:noFill/>
                </a:ln>
                <a:effectLst/>
                <a:uLnTx/>
                <a:uFillTx/>
                <a:latin typeface="Arial" panose="020B0604020202020204" pitchFamily="34" charset="0"/>
                <a:cs typeface="Arial" panose="020B0604020202020204" pitchFamily="34" charset="0"/>
              </a:rPr>
              <a:t>Lab 17: </a:t>
            </a:r>
            <a:r>
              <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rPr>
              <a:t>Type Your Act</a:t>
            </a:r>
            <a:r>
              <a:rPr lang="en-US" sz="1800" dirty="0">
                <a:latin typeface="Arial" panose="020B0604020202020204" pitchFamily="34" charset="0"/>
                <a:cs typeface="Arial" panose="020B0604020202020204" pitchFamily="34" charset="0"/>
              </a:rPr>
              <a:t> Practicing Matplotlib </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12D32984-742C-EDD1-0D3E-F0F890BBC7E4}"/>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B4775E38-FE3E-8471-C640-2FE63E7519C3}"/>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CC89C2EC-7FFA-0871-727C-DD2C2A1F928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B9D80CA6-201B-9208-7BD8-43BE0106EA1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34430496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57200" y="1364001"/>
            <a:ext cx="10164020" cy="672834"/>
          </a:xfrm>
          <a:prstGeom prst="rect">
            <a:avLst/>
          </a:prstGeom>
        </p:spPr>
        <p:txBody>
          <a:bodyPr vert="horz" wrap="square" lIns="0" tIns="16087" rIns="0" bIns="0" rtlCol="0">
            <a:spAutoFit/>
          </a:bodyPr>
          <a:lstStyle/>
          <a:p>
            <a:pPr marL="246888" indent="-246888">
              <a:spcBef>
                <a:spcPts val="1760"/>
              </a:spcBef>
              <a:spcAft>
                <a:spcPts val="800"/>
              </a:spcAft>
            </a:pPr>
            <a:r>
              <a:rPr sz="1800" dirty="0">
                <a:solidFill>
                  <a:srgbClr val="313131"/>
                </a:solidFill>
                <a:latin typeface="Arial" panose="020B0604020202020204" pitchFamily="34" charset="0"/>
                <a:cs typeface="Arial" panose="020B0604020202020204" pitchFamily="34" charset="0"/>
              </a:rPr>
              <a:t>Seaborn</a:t>
            </a:r>
            <a:r>
              <a:rPr sz="1800" spc="-5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is a</a:t>
            </a:r>
            <a:r>
              <a:rPr sz="1800" spc="-13" dirty="0">
                <a:solidFill>
                  <a:srgbClr val="313131"/>
                </a:solidFill>
                <a:latin typeface="Arial" panose="020B0604020202020204" pitchFamily="34" charset="0"/>
                <a:cs typeface="Arial" panose="020B0604020202020204" pitchFamily="34" charset="0"/>
              </a:rPr>
              <a:t> </a:t>
            </a:r>
            <a:r>
              <a:rPr sz="1800" spc="-7" dirty="0">
                <a:solidFill>
                  <a:srgbClr val="313131"/>
                </a:solidFill>
                <a:latin typeface="Arial" panose="020B0604020202020204" pitchFamily="34" charset="0"/>
                <a:cs typeface="Arial" panose="020B0604020202020204" pitchFamily="34" charset="0"/>
              </a:rPr>
              <a:t>Python</a:t>
            </a:r>
            <a:r>
              <a:rPr sz="1800" spc="-1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data</a:t>
            </a:r>
            <a:r>
              <a:rPr sz="1800" spc="-47"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visualization</a:t>
            </a:r>
            <a:r>
              <a:rPr sz="1800" spc="-5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library</a:t>
            </a:r>
            <a:r>
              <a:rPr sz="1800" spc="-47"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based</a:t>
            </a:r>
            <a:r>
              <a:rPr sz="1800" spc="-3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on</a:t>
            </a:r>
            <a:r>
              <a:rPr sz="1800" spc="-1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matplotlib.</a:t>
            </a:r>
            <a:r>
              <a:rPr sz="1800" spc="-5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It</a:t>
            </a:r>
            <a:r>
              <a:rPr sz="1800" spc="-13" dirty="0">
                <a:solidFill>
                  <a:srgbClr val="313131"/>
                </a:solidFill>
                <a:latin typeface="Arial" panose="020B0604020202020204" pitchFamily="34" charset="0"/>
                <a:cs typeface="Arial" panose="020B0604020202020204" pitchFamily="34" charset="0"/>
              </a:rPr>
              <a:t> </a:t>
            </a:r>
            <a:r>
              <a:rPr sz="1800" spc="-7" dirty="0">
                <a:solidFill>
                  <a:srgbClr val="313131"/>
                </a:solidFill>
                <a:latin typeface="Arial" panose="020B0604020202020204" pitchFamily="34" charset="0"/>
                <a:cs typeface="Arial" panose="020B0604020202020204" pitchFamily="34" charset="0"/>
              </a:rPr>
              <a:t>provides</a:t>
            </a:r>
            <a:r>
              <a:rPr sz="1800" spc="-27"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a</a:t>
            </a:r>
            <a:r>
              <a:rPr sz="1800" spc="-7" dirty="0">
                <a:solidFill>
                  <a:srgbClr val="313131"/>
                </a:solidFill>
                <a:latin typeface="Arial" panose="020B0604020202020204" pitchFamily="34" charset="0"/>
                <a:cs typeface="Arial" panose="020B0604020202020204" pitchFamily="34" charset="0"/>
              </a:rPr>
              <a:t> high-level</a:t>
            </a:r>
            <a:r>
              <a:rPr sz="1800" spc="-33"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interface</a:t>
            </a:r>
            <a:endParaRPr sz="1800" dirty="0">
              <a:latin typeface="Arial" panose="020B0604020202020204" pitchFamily="34" charset="0"/>
              <a:cs typeface="Arial" panose="020B0604020202020204" pitchFamily="34" charset="0"/>
            </a:endParaRPr>
          </a:p>
          <a:p>
            <a:pPr>
              <a:spcAft>
                <a:spcPts val="800"/>
              </a:spcAft>
            </a:pPr>
            <a:r>
              <a:rPr sz="1800" dirty="0">
                <a:solidFill>
                  <a:srgbClr val="313131"/>
                </a:solidFill>
                <a:latin typeface="Arial" panose="020B0604020202020204" pitchFamily="34" charset="0"/>
                <a:cs typeface="Arial" panose="020B0604020202020204" pitchFamily="34" charset="0"/>
              </a:rPr>
              <a:t>for</a:t>
            </a:r>
            <a:r>
              <a:rPr sz="1800" spc="-33" dirty="0">
                <a:solidFill>
                  <a:srgbClr val="313131"/>
                </a:solidFill>
                <a:latin typeface="Arial" panose="020B0604020202020204" pitchFamily="34" charset="0"/>
                <a:cs typeface="Arial" panose="020B0604020202020204" pitchFamily="34" charset="0"/>
              </a:rPr>
              <a:t> </a:t>
            </a:r>
            <a:r>
              <a:rPr sz="1800" spc="-7" dirty="0">
                <a:solidFill>
                  <a:srgbClr val="313131"/>
                </a:solidFill>
                <a:latin typeface="Arial" panose="020B0604020202020204" pitchFamily="34" charset="0"/>
                <a:cs typeface="Arial" panose="020B0604020202020204" pitchFamily="34" charset="0"/>
              </a:rPr>
              <a:t>drawing</a:t>
            </a:r>
            <a:r>
              <a:rPr sz="1800" spc="-13" dirty="0">
                <a:solidFill>
                  <a:srgbClr val="313131"/>
                </a:solidFill>
                <a:latin typeface="Arial" panose="020B0604020202020204" pitchFamily="34" charset="0"/>
                <a:cs typeface="Arial" panose="020B0604020202020204" pitchFamily="34" charset="0"/>
              </a:rPr>
              <a:t> </a:t>
            </a:r>
            <a:r>
              <a:rPr sz="1800" spc="-7" dirty="0">
                <a:solidFill>
                  <a:srgbClr val="313131"/>
                </a:solidFill>
                <a:latin typeface="Arial" panose="020B0604020202020204" pitchFamily="34" charset="0"/>
                <a:cs typeface="Arial" panose="020B0604020202020204" pitchFamily="34" charset="0"/>
              </a:rPr>
              <a:t>attractive</a:t>
            </a:r>
            <a:r>
              <a:rPr sz="1800" spc="-27"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and</a:t>
            </a:r>
            <a:r>
              <a:rPr sz="1800" spc="-33" dirty="0">
                <a:solidFill>
                  <a:srgbClr val="313131"/>
                </a:solidFill>
                <a:latin typeface="Arial" panose="020B0604020202020204" pitchFamily="34" charset="0"/>
                <a:cs typeface="Arial" panose="020B0604020202020204" pitchFamily="34" charset="0"/>
              </a:rPr>
              <a:t> </a:t>
            </a:r>
            <a:r>
              <a:rPr sz="1800" spc="-7" dirty="0">
                <a:solidFill>
                  <a:srgbClr val="313131"/>
                </a:solidFill>
                <a:latin typeface="Arial" panose="020B0604020202020204" pitchFamily="34" charset="0"/>
                <a:cs typeface="Arial" panose="020B0604020202020204" pitchFamily="34" charset="0"/>
              </a:rPr>
              <a:t>informative</a:t>
            </a:r>
            <a:r>
              <a:rPr sz="1800" spc="-33" dirty="0">
                <a:solidFill>
                  <a:srgbClr val="313131"/>
                </a:solidFill>
                <a:latin typeface="Arial" panose="020B0604020202020204" pitchFamily="34" charset="0"/>
                <a:cs typeface="Arial" panose="020B0604020202020204" pitchFamily="34" charset="0"/>
              </a:rPr>
              <a:t> </a:t>
            </a:r>
            <a:r>
              <a:rPr sz="1800" spc="-7" dirty="0">
                <a:solidFill>
                  <a:srgbClr val="313131"/>
                </a:solidFill>
                <a:latin typeface="Arial" panose="020B0604020202020204" pitchFamily="34" charset="0"/>
                <a:cs typeface="Arial" panose="020B0604020202020204" pitchFamily="34" charset="0"/>
              </a:rPr>
              <a:t>statistical</a:t>
            </a:r>
            <a:r>
              <a:rPr sz="1800" spc="-47" dirty="0">
                <a:solidFill>
                  <a:srgbClr val="313131"/>
                </a:solidFill>
                <a:latin typeface="Arial" panose="020B0604020202020204" pitchFamily="34" charset="0"/>
                <a:cs typeface="Arial" panose="020B0604020202020204" pitchFamily="34" charset="0"/>
              </a:rPr>
              <a:t> </a:t>
            </a:r>
            <a:r>
              <a:rPr sz="1800" dirty="0">
                <a:solidFill>
                  <a:srgbClr val="313131"/>
                </a:solidFill>
                <a:latin typeface="Arial" panose="020B0604020202020204" pitchFamily="34" charset="0"/>
                <a:cs typeface="Arial" panose="020B0604020202020204" pitchFamily="34" charset="0"/>
              </a:rPr>
              <a:t>graphics.</a:t>
            </a:r>
            <a:endParaRPr sz="1800" dirty="0">
              <a:latin typeface="Arial" panose="020B0604020202020204" pitchFamily="34" charset="0"/>
              <a:cs typeface="Arial" panose="020B0604020202020204" pitchFamily="34" charset="0"/>
            </a:endParaRPr>
          </a:p>
        </p:txBody>
      </p:sp>
      <p:grpSp>
        <p:nvGrpSpPr>
          <p:cNvPr id="8" name="object 8"/>
          <p:cNvGrpSpPr/>
          <p:nvPr/>
        </p:nvGrpSpPr>
        <p:grpSpPr>
          <a:xfrm>
            <a:off x="2973155" y="2879682"/>
            <a:ext cx="6248400" cy="2003213"/>
            <a:chOff x="2229866" y="2159761"/>
            <a:chExt cx="4686300" cy="1502410"/>
          </a:xfrm>
        </p:grpSpPr>
        <p:sp>
          <p:nvSpPr>
            <p:cNvPr id="9" name="object 9"/>
            <p:cNvSpPr/>
            <p:nvPr/>
          </p:nvSpPr>
          <p:spPr>
            <a:xfrm>
              <a:off x="2242566" y="2172461"/>
              <a:ext cx="4660900" cy="1477010"/>
            </a:xfrm>
            <a:custGeom>
              <a:avLst/>
              <a:gdLst/>
              <a:ahLst/>
              <a:cxnLst/>
              <a:rect l="l" t="t" r="r" b="b"/>
              <a:pathLst>
                <a:path w="4660900" h="1477010">
                  <a:moveTo>
                    <a:pt x="0" y="1476756"/>
                  </a:moveTo>
                  <a:lnTo>
                    <a:pt x="4660391" y="1476756"/>
                  </a:lnTo>
                  <a:lnTo>
                    <a:pt x="4660391" y="0"/>
                  </a:lnTo>
                  <a:lnTo>
                    <a:pt x="0" y="0"/>
                  </a:lnTo>
                  <a:lnTo>
                    <a:pt x="0" y="1476756"/>
                  </a:lnTo>
                  <a:close/>
                </a:path>
              </a:pathLst>
            </a:custGeom>
            <a:ln w="25400">
              <a:solidFill>
                <a:srgbClr val="585858"/>
              </a:solidFill>
            </a:ln>
          </p:spPr>
          <p:txBody>
            <a:bodyPr wrap="square" lIns="0" tIns="0" rIns="0" bIns="0" rtlCol="0"/>
            <a:lstStyle/>
            <a:p>
              <a:endParaRPr sz="2489"/>
            </a:p>
          </p:txBody>
        </p:sp>
        <p:pic>
          <p:nvPicPr>
            <p:cNvPr id="10" name="object 10"/>
            <p:cNvPicPr/>
            <p:nvPr/>
          </p:nvPicPr>
          <p:blipFill>
            <a:blip r:embed="rId3" cstate="print"/>
            <a:stretch>
              <a:fillRect/>
            </a:stretch>
          </p:blipFill>
          <p:spPr>
            <a:xfrm>
              <a:off x="3252158" y="2557191"/>
              <a:ext cx="2615529" cy="627727"/>
            </a:xfrm>
            <a:prstGeom prst="rect">
              <a:avLst/>
            </a:prstGeom>
          </p:spPr>
        </p:pic>
      </p:grpSp>
      <p:sp>
        <p:nvSpPr>
          <p:cNvPr id="3" name="object 7">
            <a:extLst>
              <a:ext uri="{FF2B5EF4-FFF2-40B4-BE49-F238E27FC236}">
                <a16:creationId xmlns:a16="http://schemas.microsoft.com/office/drawing/2014/main" id="{D82CD5FD-CA2B-2592-1FA0-F26EB3733863}"/>
              </a:ext>
            </a:extLst>
          </p:cNvPr>
          <p:cNvSpPr txBox="1"/>
          <p:nvPr/>
        </p:nvSpPr>
        <p:spPr>
          <a:xfrm>
            <a:off x="410633" y="889126"/>
            <a:ext cx="3551767" cy="324021"/>
          </a:xfrm>
          <a:prstGeom prst="rect">
            <a:avLst/>
          </a:prstGeom>
        </p:spPr>
        <p:txBody>
          <a:bodyPr vert="horz" wrap="square" lIns="0" tIns="16087" rIns="0" bIns="0" rtlCol="0">
            <a:spAutoFit/>
          </a:bodyPr>
          <a:lstStyle/>
          <a:p>
            <a:pPr marL="16933">
              <a:spcBef>
                <a:spcPts val="127"/>
              </a:spcBef>
            </a:pPr>
            <a:r>
              <a:rPr lang="en-US" sz="2000" b="1" spc="-7" dirty="0">
                <a:solidFill>
                  <a:srgbClr val="001F5F"/>
                </a:solidFill>
                <a:latin typeface="Arial" panose="020B0604020202020204" pitchFamily="34" charset="0"/>
                <a:cs typeface="Arial" panose="020B0604020202020204" pitchFamily="34" charset="0"/>
              </a:rPr>
              <a:t>Seaborn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DA3B-6900-7524-1D43-1B99A766CC4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1D3FE7F-A07E-CF46-6A40-EFA15D946D2F}"/>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7F87366A-C95F-612C-233B-DB09F0DA4B9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E6702EF7-52A7-3BEB-2CA5-5C62AEDCC408}"/>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4A3C2662-EFB0-D2B4-AC0A-7AC557D6D687}"/>
              </a:ext>
            </a:extLst>
          </p:cNvPr>
          <p:cNvSpPr txBox="1">
            <a:spLocks/>
          </p:cNvSpPr>
          <p:nvPr/>
        </p:nvSpPr>
        <p:spPr>
          <a:xfrm>
            <a:off x="381000" y="4191000"/>
            <a:ext cx="3767678"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18: </a:t>
            </a:r>
            <a:r>
              <a:rPr lang="en-US" sz="1800" dirty="0">
                <a:latin typeface="Arial" panose="020B0604020202020204" pitchFamily="34" charset="0"/>
                <a:cs typeface="Arial" panose="020B0604020202020204" pitchFamily="34" charset="0"/>
              </a:rPr>
              <a:t>Practicing Seaborn</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F066B8A1-3327-FF2D-6DAD-70A5B159209C}"/>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4F1AC7F8-2A57-BF4B-C887-6400997189F9}"/>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B2678ED5-2C0F-ECF7-3C78-8C7DF5FFAC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DE67AA59-B1B9-BF7B-1EF6-2EEEFD45DCB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1994603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C281F-7C09-780A-39FB-B6468DA38A1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D791A5B-6037-9B05-61A2-EF5BC0ED893B}"/>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Self Practice-2</a:t>
            </a:r>
          </a:p>
        </p:txBody>
      </p:sp>
      <p:sp>
        <p:nvSpPr>
          <p:cNvPr id="10" name="Rectangle 1">
            <a:extLst>
              <a:ext uri="{FF2B5EF4-FFF2-40B4-BE49-F238E27FC236}">
                <a16:creationId xmlns:a16="http://schemas.microsoft.com/office/drawing/2014/main" id="{93955E79-D07D-1794-6CE4-E80964906B0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BB1A220A-914B-10ED-AFF1-15F0E16E24F9}"/>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CA5A8CD8-CB35-EA14-384A-483835CF185B}"/>
              </a:ext>
            </a:extLst>
          </p:cNvPr>
          <p:cNvSpPr txBox="1">
            <a:spLocks/>
          </p:cNvSpPr>
          <p:nvPr/>
        </p:nvSpPr>
        <p:spPr>
          <a:xfrm>
            <a:off x="381000" y="4191000"/>
            <a:ext cx="6424612"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Self Practice 7: </a:t>
            </a:r>
            <a:r>
              <a:rPr lang="en-US" sz="1800" dirty="0">
                <a:latin typeface="Arial" panose="020B0604020202020204" pitchFamily="34" charset="0"/>
                <a:cs typeface="Arial" panose="020B0604020202020204" pitchFamily="34" charset="0"/>
              </a:rPr>
              <a:t>Self Practicing Matplotlib, and Seaborn</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94A96ADA-E5CD-84B6-1768-C0FFE4C38AE8}"/>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8F6AABC2-1153-D49C-72BA-08ABC2C66A86}"/>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4A6A957E-992C-4B79-D62A-FB70525004C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6AF64119-9A15-006A-5F18-7C71F1754D3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4807653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457200" y="1243778"/>
            <a:ext cx="5822527" cy="5007354"/>
          </a:xfrm>
          <a:prstGeom prst="rect">
            <a:avLst/>
          </a:prstGeom>
        </p:spPr>
        <p:txBody>
          <a:bodyPr vert="horz" wrap="square" lIns="0" tIns="16087" rIns="0" bIns="0" rtlCol="0">
            <a:spAutoFit/>
          </a:bodyPr>
          <a:lstStyle/>
          <a:p>
            <a:pPr marL="246888" marR="372524" indent="-246888">
              <a:spcBef>
                <a:spcPts val="7"/>
              </a:spcBef>
              <a:spcAft>
                <a:spcPts val="800"/>
              </a:spcAft>
              <a:buAutoNum type="arabicPeriod"/>
              <a:tabLst>
                <a:tab pos="558786" algn="l"/>
                <a:tab pos="559631" algn="l"/>
              </a:tabLst>
            </a:pPr>
            <a:r>
              <a:rPr sz="1800" dirty="0">
                <a:latin typeface="Arial" panose="020B0604020202020204" pitchFamily="34" charset="0"/>
                <a:cs typeface="Arial" panose="020B0604020202020204" pitchFamily="34" charset="0"/>
              </a:rPr>
              <a:t>Pandas</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is</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a:t>
            </a:r>
            <a:r>
              <a:rPr sz="1800" spc="-1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Python</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library</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used</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for</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working</a:t>
            </a:r>
            <a:r>
              <a:rPr sz="1800" spc="-1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with </a:t>
            </a:r>
            <a:r>
              <a:rPr sz="1800" spc="-50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sets</a:t>
            </a:r>
            <a:r>
              <a:rPr sz="1800" spc="-4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(csv,</a:t>
            </a:r>
            <a:r>
              <a:rPr sz="1800" dirty="0">
                <a:latin typeface="Arial" panose="020B0604020202020204" pitchFamily="34" charset="0"/>
                <a:cs typeface="Arial" panose="020B0604020202020204" pitchFamily="34" charset="0"/>
              </a:rPr>
              <a:t> </a:t>
            </a:r>
            <a:r>
              <a:rPr sz="1800" spc="-7" dirty="0" err="1">
                <a:latin typeface="Arial" panose="020B0604020202020204" pitchFamily="34" charset="0"/>
                <a:cs typeface="Arial" panose="020B0604020202020204" pitchFamily="34" charset="0"/>
              </a:rPr>
              <a:t>json</a:t>
            </a:r>
            <a:r>
              <a:rPr sz="1800" spc="-7" dirty="0">
                <a:latin typeface="Arial" panose="020B0604020202020204" pitchFamily="34" charset="0"/>
                <a:cs typeface="Arial" panose="020B0604020202020204" pitchFamily="34" charset="0"/>
              </a:rPr>
              <a:t>..,</a:t>
            </a:r>
            <a:r>
              <a:rPr sz="1800" spc="-7" dirty="0" err="1">
                <a:latin typeface="Arial" panose="020B0604020202020204" pitchFamily="34" charset="0"/>
                <a:cs typeface="Arial" panose="020B0604020202020204" pitchFamily="34" charset="0"/>
              </a:rPr>
              <a:t>etc</a:t>
            </a:r>
            <a:r>
              <a:rPr sz="1800" spc="-7" dirty="0">
                <a:latin typeface="Arial" panose="020B0604020202020204" pitchFamily="34" charset="0"/>
                <a:cs typeface="Arial" panose="020B0604020202020204" pitchFamily="34" charset="0"/>
              </a:rPr>
              <a:t>).</a:t>
            </a:r>
            <a:endParaRPr lang="en-US" sz="1800" spc="-7" dirty="0">
              <a:latin typeface="Arial" panose="020B0604020202020204" pitchFamily="34" charset="0"/>
              <a:cs typeface="Arial" panose="020B0604020202020204" pitchFamily="34" charset="0"/>
            </a:endParaRPr>
          </a:p>
          <a:p>
            <a:pPr marL="246888" marR="372524" indent="-246888">
              <a:spcBef>
                <a:spcPts val="7"/>
              </a:spcBef>
              <a:spcAft>
                <a:spcPts val="800"/>
              </a:spcAft>
              <a:buAutoNum type="arabicPeriod"/>
              <a:tabLst>
                <a:tab pos="558786" algn="l"/>
                <a:tab pos="559631" algn="l"/>
              </a:tabLst>
            </a:pPr>
            <a:r>
              <a:rPr sz="1800" dirty="0">
                <a:latin typeface="Arial" panose="020B0604020202020204" pitchFamily="34" charset="0"/>
                <a:cs typeface="Arial" panose="020B0604020202020204" pitchFamily="34" charset="0"/>
              </a:rPr>
              <a:t>It</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has</a:t>
            </a:r>
            <a:r>
              <a:rPr sz="1800" spc="-4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functions</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for</a:t>
            </a:r>
          </a:p>
          <a:p>
            <a:pPr marL="521208" lvl="1" indent="-246888">
              <a:spcBef>
                <a:spcPts val="1120"/>
              </a:spcBef>
              <a:spcAft>
                <a:spcPts val="800"/>
              </a:spcAft>
              <a:buFont typeface="Arial MT"/>
              <a:buChar char="•"/>
              <a:tabLst>
                <a:tab pos="1015975" algn="l"/>
                <a:tab pos="1016821" algn="l"/>
              </a:tabLst>
            </a:pPr>
            <a:endParaRPr lang="en-US" sz="1800" dirty="0">
              <a:latin typeface="Arial" panose="020B0604020202020204" pitchFamily="34" charset="0"/>
              <a:cs typeface="Arial" panose="020B0604020202020204" pitchFamily="34" charset="0"/>
            </a:endParaRPr>
          </a:p>
          <a:p>
            <a:pPr marL="521208" lvl="1" indent="-246888">
              <a:spcBef>
                <a:spcPts val="1120"/>
              </a:spcBef>
              <a:spcAft>
                <a:spcPts val="800"/>
              </a:spcAft>
              <a:buFont typeface="Arial MT"/>
              <a:buChar char="•"/>
              <a:tabLst>
                <a:tab pos="1015975" algn="l"/>
                <a:tab pos="1016821" algn="l"/>
              </a:tabLst>
            </a:pPr>
            <a:endParaRPr lang="en-US" dirty="0">
              <a:latin typeface="Arial" panose="020B0604020202020204" pitchFamily="34" charset="0"/>
              <a:cs typeface="Arial" panose="020B0604020202020204" pitchFamily="34" charset="0"/>
            </a:endParaRPr>
          </a:p>
          <a:p>
            <a:pPr marL="521208" lvl="1" indent="-246888">
              <a:spcBef>
                <a:spcPts val="1120"/>
              </a:spcBef>
              <a:spcAft>
                <a:spcPts val="800"/>
              </a:spcAft>
              <a:buFont typeface="Arial MT"/>
              <a:buChar char="•"/>
              <a:tabLst>
                <a:tab pos="1015975" algn="l"/>
                <a:tab pos="1016821" algn="l"/>
              </a:tabLst>
            </a:pPr>
            <a:endParaRPr lang="en-US" sz="1800" dirty="0">
              <a:latin typeface="Arial" panose="020B0604020202020204" pitchFamily="34" charset="0"/>
              <a:cs typeface="Arial" panose="020B0604020202020204" pitchFamily="34" charset="0"/>
            </a:endParaRPr>
          </a:p>
          <a:p>
            <a:pPr marL="521208" lvl="1" indent="-246888">
              <a:spcBef>
                <a:spcPts val="1120"/>
              </a:spcBef>
              <a:spcAft>
                <a:spcPts val="800"/>
              </a:spcAft>
              <a:buFont typeface="Arial MT"/>
              <a:buChar char="•"/>
              <a:tabLst>
                <a:tab pos="1015975" algn="l"/>
                <a:tab pos="1016821" algn="l"/>
              </a:tabLst>
            </a:pPr>
            <a:endParaRPr lang="en-US" sz="1800" dirty="0">
              <a:latin typeface="Arial" panose="020B0604020202020204" pitchFamily="34" charset="0"/>
              <a:cs typeface="Arial" panose="020B0604020202020204" pitchFamily="34" charset="0"/>
            </a:endParaRPr>
          </a:p>
          <a:p>
            <a:pPr marL="521208" lvl="1" indent="-246888">
              <a:spcAft>
                <a:spcPts val="800"/>
              </a:spcAft>
              <a:buFont typeface="Arial MT"/>
              <a:buChar char="•"/>
              <a:tabLst>
                <a:tab pos="1015975" algn="l"/>
                <a:tab pos="1016821" algn="l"/>
              </a:tabLst>
            </a:pPr>
            <a:endParaRPr lang="en-US" sz="1800" dirty="0">
              <a:latin typeface="Arial" panose="020B0604020202020204" pitchFamily="34" charset="0"/>
              <a:cs typeface="Arial" panose="020B0604020202020204" pitchFamily="34" charset="0"/>
            </a:endParaRPr>
          </a:p>
          <a:p>
            <a:pPr marL="0" lvl="1">
              <a:spcAft>
                <a:spcPts val="800"/>
              </a:spcAft>
              <a:tabLst>
                <a:tab pos="1015975" algn="l"/>
                <a:tab pos="1016821" algn="l"/>
              </a:tabLst>
            </a:pPr>
            <a:r>
              <a:rPr sz="1800" spc="-7" dirty="0">
                <a:latin typeface="Arial" panose="020B0604020202020204" pitchFamily="34" charset="0"/>
                <a:cs typeface="Arial" panose="020B0604020202020204" pitchFamily="34" charset="0"/>
              </a:rPr>
              <a:t>and</a:t>
            </a:r>
            <a:r>
              <a:rPr sz="1800" spc="-3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manipulating</a:t>
            </a:r>
            <a:r>
              <a:rPr sz="1800" spc="-73"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data.</a:t>
            </a:r>
            <a:endParaRPr sz="1800" dirty="0">
              <a:latin typeface="Arial" panose="020B0604020202020204" pitchFamily="34" charset="0"/>
              <a:cs typeface="Arial" panose="020B0604020202020204" pitchFamily="34" charset="0"/>
            </a:endParaRPr>
          </a:p>
          <a:p>
            <a:pPr marL="246888" indent="-246888">
              <a:spcBef>
                <a:spcPts val="1120"/>
              </a:spcBef>
              <a:spcAft>
                <a:spcPts val="800"/>
              </a:spcAft>
              <a:buAutoNum type="arabicPeriod"/>
              <a:tabLst>
                <a:tab pos="558786" algn="l"/>
                <a:tab pos="559631" algn="l"/>
              </a:tabLst>
            </a:pPr>
            <a:r>
              <a:rPr sz="1800" dirty="0">
                <a:latin typeface="Arial" panose="020B0604020202020204" pitchFamily="34" charset="0"/>
                <a:cs typeface="Arial" panose="020B0604020202020204" pitchFamily="34" charset="0"/>
              </a:rPr>
              <a:t>The</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name</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"Pandas"</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has</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reference</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to</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both</a:t>
            </a:r>
            <a:r>
              <a:rPr sz="1800" spc="-2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"Panel</a:t>
            </a:r>
            <a:r>
              <a:rPr lang="en-US" sz="180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and</a:t>
            </a:r>
            <a:r>
              <a:rPr sz="1800" spc="-2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"Python Data</a:t>
            </a:r>
            <a:r>
              <a:rPr sz="1800" spc="-2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Analysis"</a:t>
            </a:r>
            <a:r>
              <a:rPr sz="1800" spc="-2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and</a:t>
            </a:r>
            <a:r>
              <a:rPr sz="1800" spc="-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was</a:t>
            </a:r>
            <a:r>
              <a:rPr sz="1800" spc="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created</a:t>
            </a:r>
            <a:r>
              <a:rPr lang="en-US" sz="1800" dirty="0">
                <a:latin typeface="Arial" panose="020B0604020202020204" pitchFamily="34" charset="0"/>
                <a:cs typeface="Arial" panose="020B0604020202020204" pitchFamily="34" charset="0"/>
              </a:rPr>
              <a:t> </a:t>
            </a:r>
            <a:r>
              <a:rPr lang="en-US" sz="1800" dirty="0">
                <a:latin typeface="Arial MT"/>
                <a:cs typeface="Arial MT"/>
              </a:rPr>
              <a:t>by</a:t>
            </a:r>
            <a:r>
              <a:rPr lang="en-US" sz="1800" spc="-33" dirty="0">
                <a:latin typeface="Arial MT"/>
                <a:cs typeface="Arial MT"/>
              </a:rPr>
              <a:t> </a:t>
            </a:r>
            <a:r>
              <a:rPr lang="en-US" sz="1800" b="1" spc="-7" dirty="0"/>
              <a:t>Wes</a:t>
            </a:r>
            <a:r>
              <a:rPr lang="en-US" sz="1800" b="1" spc="-27" dirty="0"/>
              <a:t> </a:t>
            </a:r>
            <a:r>
              <a:rPr lang="en-US" sz="1800" b="1" spc="-7" dirty="0"/>
              <a:t>McKinney</a:t>
            </a:r>
            <a:r>
              <a:rPr lang="en-US" sz="1800" b="1" spc="-73" dirty="0"/>
              <a:t> </a:t>
            </a:r>
            <a:r>
              <a:rPr lang="en-US" sz="1800" b="1" dirty="0"/>
              <a:t>in</a:t>
            </a:r>
            <a:r>
              <a:rPr lang="en-US" sz="1800" b="1" spc="-27" dirty="0"/>
              <a:t> </a:t>
            </a:r>
            <a:r>
              <a:rPr lang="en-US" sz="1800" b="1" dirty="0"/>
              <a:t>2008.</a:t>
            </a:r>
            <a:endParaRPr lang="en-US" sz="1800" dirty="0"/>
          </a:p>
        </p:txBody>
      </p:sp>
      <p:pic>
        <p:nvPicPr>
          <p:cNvPr id="9" name="object 9"/>
          <p:cNvPicPr/>
          <p:nvPr/>
        </p:nvPicPr>
        <p:blipFill>
          <a:blip r:embed="rId3" cstate="print"/>
          <a:stretch>
            <a:fillRect/>
          </a:stretch>
        </p:blipFill>
        <p:spPr>
          <a:xfrm>
            <a:off x="6635503" y="1711701"/>
            <a:ext cx="4992505" cy="1717299"/>
          </a:xfrm>
          <a:prstGeom prst="rect">
            <a:avLst/>
          </a:prstGeom>
        </p:spPr>
      </p:pic>
      <p:sp>
        <p:nvSpPr>
          <p:cNvPr id="3" name="Title 3">
            <a:extLst>
              <a:ext uri="{FF2B5EF4-FFF2-40B4-BE49-F238E27FC236}">
                <a16:creationId xmlns:a16="http://schemas.microsoft.com/office/drawing/2014/main" id="{9882B88C-8A8B-B57A-7501-0F84DDF93A95}"/>
              </a:ext>
            </a:extLst>
          </p:cNvPr>
          <p:cNvSpPr txBox="1">
            <a:spLocks/>
          </p:cNvSpPr>
          <p:nvPr/>
        </p:nvSpPr>
        <p:spPr>
          <a:xfrm>
            <a:off x="358392" y="838200"/>
            <a:ext cx="1147521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kumimoji="0" lang="en-US" sz="20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Pandas</a:t>
            </a:r>
          </a:p>
        </p:txBody>
      </p:sp>
      <p:sp>
        <p:nvSpPr>
          <p:cNvPr id="4" name="TextBox 3">
            <a:extLst>
              <a:ext uri="{FF2B5EF4-FFF2-40B4-BE49-F238E27FC236}">
                <a16:creationId xmlns:a16="http://schemas.microsoft.com/office/drawing/2014/main" id="{94AE90B0-50E4-1827-4B3F-8D2D20D30AB5}"/>
              </a:ext>
            </a:extLst>
          </p:cNvPr>
          <p:cNvSpPr txBox="1"/>
          <p:nvPr/>
        </p:nvSpPr>
        <p:spPr>
          <a:xfrm>
            <a:off x="905021" y="6384518"/>
            <a:ext cx="11056607" cy="276999"/>
          </a:xfrm>
          <a:prstGeom prst="rect">
            <a:avLst/>
          </a:prstGeom>
          <a:noFill/>
        </p:spPr>
        <p:txBody>
          <a:bodyPr wrap="square" rtlCol="0">
            <a:spAutoFit/>
          </a:bodyPr>
          <a:lstStyle/>
          <a:p>
            <a:r>
              <a:rPr lang="en-IN" sz="1200" dirty="0">
                <a:solidFill>
                  <a:srgbClr val="0000FF"/>
                </a:solidFill>
                <a:latin typeface="+mj-lt"/>
                <a:hlinkClick r:id="rId4">
                  <a:extLst>
                    <a:ext uri="{A12FA001-AC4F-418D-AE19-62706E023703}">
                      <ahyp:hlinkClr xmlns:ahyp="http://schemas.microsoft.com/office/drawing/2018/hyperlinkcolor" val="tx"/>
                    </a:ext>
                  </a:extLst>
                </a:hlinkClick>
              </a:rPr>
              <a:t>https://en.wikipedia.org/wiki/Pandas_%28software%29</a:t>
            </a:r>
            <a:endParaRPr lang="en-IN" sz="1200" dirty="0">
              <a:solidFill>
                <a:srgbClr val="0000FF"/>
              </a:solidFill>
              <a:latin typeface="+mj-lt"/>
            </a:endParaRPr>
          </a:p>
        </p:txBody>
      </p:sp>
      <p:cxnSp>
        <p:nvCxnSpPr>
          <p:cNvPr id="6" name="Straight Connector 5">
            <a:extLst>
              <a:ext uri="{FF2B5EF4-FFF2-40B4-BE49-F238E27FC236}">
                <a16:creationId xmlns:a16="http://schemas.microsoft.com/office/drawing/2014/main" id="{ACC9EAB2-B24A-611D-2C40-172DA8F5A45B}"/>
              </a:ext>
            </a:extLst>
          </p:cNvPr>
          <p:cNvCxnSpPr/>
          <p:nvPr/>
        </p:nvCxnSpPr>
        <p:spPr>
          <a:xfrm>
            <a:off x="0" y="6296065"/>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Google Shape;62;g5fab984687_2_0">
            <a:extLst>
              <a:ext uri="{FF2B5EF4-FFF2-40B4-BE49-F238E27FC236}">
                <a16:creationId xmlns:a16="http://schemas.microsoft.com/office/drawing/2014/main" id="{DF8C5966-CE6B-F09C-D2D8-7F079AD8D0E4}"/>
              </a:ext>
            </a:extLst>
          </p:cNvPr>
          <p:cNvSpPr txBox="1">
            <a:spLocks/>
          </p:cNvSpPr>
          <p:nvPr/>
        </p:nvSpPr>
        <p:spPr>
          <a:xfrm>
            <a:off x="343782" y="6316630"/>
            <a:ext cx="875418" cy="345433"/>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
                <a:srgbClr val="213163"/>
              </a:buClr>
            </a:pPr>
            <a:r>
              <a:rPr lang="en-US" b="1" dirty="0">
                <a:latin typeface="+mj-lt"/>
              </a:rPr>
              <a:t>Source :</a:t>
            </a:r>
          </a:p>
        </p:txBody>
      </p:sp>
      <p:grpSp>
        <p:nvGrpSpPr>
          <p:cNvPr id="14" name="Group 13">
            <a:extLst>
              <a:ext uri="{FF2B5EF4-FFF2-40B4-BE49-F238E27FC236}">
                <a16:creationId xmlns:a16="http://schemas.microsoft.com/office/drawing/2014/main" id="{6D26CD21-9E2A-61D2-04BC-BF017EFE785F}"/>
              </a:ext>
            </a:extLst>
          </p:cNvPr>
          <p:cNvGrpSpPr/>
          <p:nvPr/>
        </p:nvGrpSpPr>
        <p:grpSpPr>
          <a:xfrm>
            <a:off x="2667000" y="3048000"/>
            <a:ext cx="2286000" cy="533400"/>
            <a:chOff x="7620000" y="4648200"/>
            <a:chExt cx="2286000" cy="533400"/>
          </a:xfrm>
        </p:grpSpPr>
        <p:sp>
          <p:nvSpPr>
            <p:cNvPr id="8" name="Rectangle 7">
              <a:extLst>
                <a:ext uri="{FF2B5EF4-FFF2-40B4-BE49-F238E27FC236}">
                  <a16:creationId xmlns:a16="http://schemas.microsoft.com/office/drawing/2014/main" id="{37C431CC-F3F3-F618-AADC-98817E7C5C4A}"/>
                </a:ext>
              </a:extLst>
            </p:cNvPr>
            <p:cNvSpPr/>
            <p:nvPr/>
          </p:nvSpPr>
          <p:spPr>
            <a:xfrm>
              <a:off x="7620000" y="4648200"/>
              <a:ext cx="2286000" cy="533400"/>
            </a:xfrm>
            <a:prstGeom prst="rect">
              <a:avLst/>
            </a:prstGeom>
            <a:solidFill>
              <a:srgbClr val="FDDF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6AF1B1E-3A52-CBDD-BAB2-E98D4D064E06}"/>
                </a:ext>
              </a:extLst>
            </p:cNvPr>
            <p:cNvSpPr txBox="1"/>
            <p:nvPr/>
          </p:nvSpPr>
          <p:spPr>
            <a:xfrm>
              <a:off x="7696200" y="4736068"/>
              <a:ext cx="1828800" cy="369332"/>
            </a:xfrm>
            <a:prstGeom prst="rect">
              <a:avLst/>
            </a:prstGeom>
            <a:noFill/>
          </p:spPr>
          <p:txBody>
            <a:bodyPr wrap="square" rtlCol="0">
              <a:spAutoFit/>
            </a:bodyPr>
            <a:lstStyle/>
            <a:p>
              <a:r>
                <a:rPr lang="en-US" spc="-13" dirty="0">
                  <a:latin typeface="Arial" panose="020B0604020202020204" pitchFamily="34" charset="0"/>
                  <a:cs typeface="Arial" panose="020B0604020202020204" pitchFamily="34" charset="0"/>
                </a:rPr>
                <a:t>Cleaning</a:t>
              </a:r>
              <a:endParaRPr lang="en-US" dirty="0">
                <a:latin typeface="Arial" panose="020B0604020202020204" pitchFamily="34" charset="0"/>
                <a:cs typeface="Arial" panose="020B0604020202020204" pitchFamily="34" charset="0"/>
              </a:endParaRPr>
            </a:p>
          </p:txBody>
        </p:sp>
      </p:grpSp>
      <p:grpSp>
        <p:nvGrpSpPr>
          <p:cNvPr id="13" name="Group 12">
            <a:extLst>
              <a:ext uri="{FF2B5EF4-FFF2-40B4-BE49-F238E27FC236}">
                <a16:creationId xmlns:a16="http://schemas.microsoft.com/office/drawing/2014/main" id="{11F1F7AC-4CDA-2C7F-D7B6-DB778A6A5F12}"/>
              </a:ext>
            </a:extLst>
          </p:cNvPr>
          <p:cNvGrpSpPr/>
          <p:nvPr/>
        </p:nvGrpSpPr>
        <p:grpSpPr>
          <a:xfrm>
            <a:off x="2667000" y="3886200"/>
            <a:ext cx="2286000" cy="533400"/>
            <a:chOff x="7620000" y="5627132"/>
            <a:chExt cx="2286000" cy="533400"/>
          </a:xfrm>
        </p:grpSpPr>
        <p:sp>
          <p:nvSpPr>
            <p:cNvPr id="11" name="Rectangle 10">
              <a:extLst>
                <a:ext uri="{FF2B5EF4-FFF2-40B4-BE49-F238E27FC236}">
                  <a16:creationId xmlns:a16="http://schemas.microsoft.com/office/drawing/2014/main" id="{76865379-DB53-388E-92DB-D9EEBFFA1DA5}"/>
                </a:ext>
              </a:extLst>
            </p:cNvPr>
            <p:cNvSpPr/>
            <p:nvPr/>
          </p:nvSpPr>
          <p:spPr>
            <a:xfrm>
              <a:off x="7620000" y="5627132"/>
              <a:ext cx="2286000" cy="533400"/>
            </a:xfrm>
            <a:prstGeom prst="rect">
              <a:avLst/>
            </a:prstGeom>
            <a:solidFill>
              <a:srgbClr val="FFEDB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470D77D-28B7-8588-84CD-EF2D4E9461F4}"/>
                </a:ext>
              </a:extLst>
            </p:cNvPr>
            <p:cNvSpPr txBox="1"/>
            <p:nvPr/>
          </p:nvSpPr>
          <p:spPr>
            <a:xfrm>
              <a:off x="7696200" y="5715000"/>
              <a:ext cx="1828800" cy="369332"/>
            </a:xfrm>
            <a:prstGeom prst="rect">
              <a:avLst/>
            </a:prstGeom>
            <a:noFill/>
          </p:spPr>
          <p:txBody>
            <a:bodyPr wrap="square" rtlCol="0">
              <a:spAutoFit/>
            </a:bodyPr>
            <a:lstStyle/>
            <a:p>
              <a:r>
                <a:rPr lang="en-US" spc="-13" dirty="0">
                  <a:latin typeface="Arial" panose="020B0604020202020204" pitchFamily="34" charset="0"/>
                  <a:cs typeface="Arial" panose="020B0604020202020204" pitchFamily="34" charset="0"/>
                </a:rPr>
                <a:t>Exploring</a:t>
              </a:r>
              <a:endParaRPr lang="en-US" dirty="0">
                <a:latin typeface="Arial" panose="020B0604020202020204" pitchFamily="34" charset="0"/>
                <a:cs typeface="Arial" panose="020B0604020202020204" pitchFamily="34" charset="0"/>
              </a:endParaRPr>
            </a:p>
          </p:txBody>
        </p:sp>
      </p:grpSp>
      <p:grpSp>
        <p:nvGrpSpPr>
          <p:cNvPr id="15" name="Group 14">
            <a:extLst>
              <a:ext uri="{FF2B5EF4-FFF2-40B4-BE49-F238E27FC236}">
                <a16:creationId xmlns:a16="http://schemas.microsoft.com/office/drawing/2014/main" id="{19FB1011-B335-2915-60C7-B9B392B501A3}"/>
              </a:ext>
            </a:extLst>
          </p:cNvPr>
          <p:cNvGrpSpPr/>
          <p:nvPr/>
        </p:nvGrpSpPr>
        <p:grpSpPr>
          <a:xfrm>
            <a:off x="2667000" y="2209800"/>
            <a:ext cx="2286000" cy="533400"/>
            <a:chOff x="7620000" y="4648200"/>
            <a:chExt cx="2286000" cy="533400"/>
          </a:xfrm>
        </p:grpSpPr>
        <p:sp>
          <p:nvSpPr>
            <p:cNvPr id="16" name="Rectangle 15">
              <a:extLst>
                <a:ext uri="{FF2B5EF4-FFF2-40B4-BE49-F238E27FC236}">
                  <a16:creationId xmlns:a16="http://schemas.microsoft.com/office/drawing/2014/main" id="{B86A3A46-F618-BB21-F003-E7FBC4FDD01C}"/>
                </a:ext>
              </a:extLst>
            </p:cNvPr>
            <p:cNvSpPr/>
            <p:nvPr/>
          </p:nvSpPr>
          <p:spPr>
            <a:xfrm>
              <a:off x="7620000" y="4648200"/>
              <a:ext cx="2286000" cy="533400"/>
            </a:xfrm>
            <a:prstGeom prst="rect">
              <a:avLst/>
            </a:prstGeom>
            <a:solidFill>
              <a:srgbClr val="CDF0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8FE3502-39E3-BEA5-B6AA-D5393DD6BB48}"/>
                </a:ext>
              </a:extLst>
            </p:cNvPr>
            <p:cNvSpPr txBox="1"/>
            <p:nvPr/>
          </p:nvSpPr>
          <p:spPr>
            <a:xfrm>
              <a:off x="7696200" y="4736068"/>
              <a:ext cx="1828800" cy="369332"/>
            </a:xfrm>
            <a:prstGeom prst="rect">
              <a:avLst/>
            </a:prstGeom>
            <a:noFill/>
          </p:spPr>
          <p:txBody>
            <a:bodyPr wrap="square" rtlCol="0">
              <a:spAutoFit/>
            </a:bodyPr>
            <a:lstStyle/>
            <a:p>
              <a:r>
                <a:rPr lang="en-US" spc="-13" dirty="0">
                  <a:latin typeface="Arial" panose="020B0604020202020204" pitchFamily="34" charset="0"/>
                  <a:cs typeface="Arial" panose="020B0604020202020204" pitchFamily="34" charset="0"/>
                </a:rPr>
                <a:t>Analyzing</a:t>
              </a:r>
              <a:endParaRPr lang="en-US" dirty="0">
                <a:latin typeface="Arial" panose="020B0604020202020204" pitchFamily="34" charset="0"/>
                <a:cs typeface="Arial" panose="020B0604020202020204" pitchFamily="34" charset="0"/>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E7277-BFEE-2201-8565-66157111537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CD49EA9-50BB-B99A-583C-F795120C425F}"/>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443DD61B-7826-0554-DDFA-8696AFA9DF7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D29BC22B-EF9B-DB8E-F3E8-160C2DB68035}"/>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A97F953C-DB6C-5A4C-290C-18FF6B60152E}"/>
              </a:ext>
            </a:extLst>
          </p:cNvPr>
          <p:cNvSpPr txBox="1">
            <a:spLocks/>
          </p:cNvSpPr>
          <p:nvPr/>
        </p:nvSpPr>
        <p:spPr>
          <a:xfrm>
            <a:off x="381000" y="4191000"/>
            <a:ext cx="3767678"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19: </a:t>
            </a:r>
            <a:r>
              <a:rPr lang="en-US" sz="1800" dirty="0">
                <a:latin typeface="Arial" panose="020B0604020202020204" pitchFamily="34" charset="0"/>
                <a:cs typeface="Arial" panose="020B0604020202020204" pitchFamily="34" charset="0"/>
              </a:rPr>
              <a:t>Practicing Pandas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A5F2FB8F-06F0-D9BF-7557-C8863D65364E}"/>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5A60729F-0048-423C-2F13-EBB792BB51DE}"/>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65F1E2F9-F0B6-8F6C-1482-8B4442F8384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CD20FB80-DCBE-642A-8372-B5D72E79FE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10346862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16503-BFF3-0795-72E8-CD1F7D5021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6FBB2E-EDD5-821C-EB7D-C47AAD606335}"/>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Self Practice-3</a:t>
            </a:r>
          </a:p>
        </p:txBody>
      </p:sp>
      <p:sp>
        <p:nvSpPr>
          <p:cNvPr id="10" name="Rectangle 1">
            <a:extLst>
              <a:ext uri="{FF2B5EF4-FFF2-40B4-BE49-F238E27FC236}">
                <a16:creationId xmlns:a16="http://schemas.microsoft.com/office/drawing/2014/main" id="{741C2D3B-F3E0-29B4-E912-6A16911956B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D2BB50A4-2A15-E6A5-A84E-9A3FB2AD73F8}"/>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0F6F9785-E47D-5C5B-DA88-F070E276AF05}"/>
              </a:ext>
            </a:extLst>
          </p:cNvPr>
          <p:cNvSpPr txBox="1">
            <a:spLocks/>
          </p:cNvSpPr>
          <p:nvPr/>
        </p:nvSpPr>
        <p:spPr>
          <a:xfrm>
            <a:off x="381000" y="4191000"/>
            <a:ext cx="3767678"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Self Practice 8: </a:t>
            </a:r>
            <a:r>
              <a:rPr lang="en-US" sz="1800" dirty="0">
                <a:latin typeface="Arial" panose="020B0604020202020204" pitchFamily="34" charset="0"/>
                <a:cs typeface="Arial" panose="020B0604020202020204" pitchFamily="34" charset="0"/>
              </a:rPr>
              <a:t>Pandas</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B876DAD0-7C3F-1403-66CD-D1D149281CF9}"/>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944DB29D-CB67-7BA7-7BE7-15FFF414C60B}"/>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C64A8D74-8DE2-8939-6F7A-A787958C38C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FFC63BC9-FBFF-C420-88E9-6117F1B1BF7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17685977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7EAE42-0E0B-4B91-5CF9-BDA38E72501A}"/>
              </a:ext>
            </a:extLst>
          </p:cNvPr>
          <p:cNvSpPr txBox="1"/>
          <p:nvPr/>
        </p:nvSpPr>
        <p:spPr>
          <a:xfrm>
            <a:off x="381000" y="846365"/>
            <a:ext cx="6124574"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Story telling with Data</a:t>
            </a:r>
          </a:p>
        </p:txBody>
      </p:sp>
      <p:sp>
        <p:nvSpPr>
          <p:cNvPr id="4" name="TextBox 3">
            <a:extLst>
              <a:ext uri="{FF2B5EF4-FFF2-40B4-BE49-F238E27FC236}">
                <a16:creationId xmlns:a16="http://schemas.microsoft.com/office/drawing/2014/main" id="{8932C89F-C273-5793-22CF-C9113C39B053}"/>
              </a:ext>
            </a:extLst>
          </p:cNvPr>
          <p:cNvSpPr txBox="1"/>
          <p:nvPr/>
        </p:nvSpPr>
        <p:spPr>
          <a:xfrm>
            <a:off x="359964" y="1338801"/>
            <a:ext cx="5736035" cy="25135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spcAft>
                <a:spcPts val="800"/>
              </a:spcAft>
              <a:buChar char="•"/>
            </a:pPr>
            <a:r>
              <a:rPr lang="en-US" sz="1800" dirty="0">
                <a:latin typeface="Arial" panose="020B0604020202020204" pitchFamily="34" charset="0"/>
                <a:cs typeface="Arial" panose="020B0604020202020204" pitchFamily="34" charset="0"/>
              </a:rPr>
              <a:t>Storytelling is the art of conveying a message or information through a narrative. </a:t>
            </a:r>
          </a:p>
          <a:p>
            <a:pPr marL="228600" indent="-228600">
              <a:spcAft>
                <a:spcPts val="800"/>
              </a:spcAft>
              <a:buChar char="•"/>
            </a:pPr>
            <a:r>
              <a:rPr lang="en-US" sz="1800" dirty="0">
                <a:latin typeface="Arial" panose="020B0604020202020204" pitchFamily="34" charset="0"/>
                <a:cs typeface="Arial" panose="020B0604020202020204" pitchFamily="34" charset="0"/>
              </a:rPr>
              <a:t>It has been a fundamental part of human culture for thousands of years, serving as a means to entertain, educate, preserve culture, and instill values. </a:t>
            </a:r>
          </a:p>
          <a:p>
            <a:pPr marL="228600" indent="-228600">
              <a:spcAft>
                <a:spcPts val="800"/>
              </a:spcAft>
              <a:buChar char="•"/>
            </a:pPr>
            <a:r>
              <a:rPr lang="en-US" sz="1800" dirty="0">
                <a:latin typeface="Arial" panose="020B0604020202020204" pitchFamily="34" charset="0"/>
                <a:cs typeface="Arial" panose="020B0604020202020204" pitchFamily="34" charset="0"/>
              </a:rPr>
              <a:t>In the context of data, storytelling involves weaving data points into a narrative that communicates insights and compels the audience to take action.</a:t>
            </a:r>
          </a:p>
        </p:txBody>
      </p:sp>
      <p:sp>
        <p:nvSpPr>
          <p:cNvPr id="8" name="Freeform 2">
            <a:extLst>
              <a:ext uri="{FF2B5EF4-FFF2-40B4-BE49-F238E27FC236}">
                <a16:creationId xmlns:a16="http://schemas.microsoft.com/office/drawing/2014/main" id="{37D382B3-415D-17B0-95DC-03380B14F4AF}"/>
              </a:ext>
            </a:extLst>
          </p:cNvPr>
          <p:cNvSpPr/>
          <p:nvPr/>
        </p:nvSpPr>
        <p:spPr>
          <a:xfrm>
            <a:off x="6934200" y="1600200"/>
            <a:ext cx="4256532" cy="4360084"/>
          </a:xfrm>
          <a:custGeom>
            <a:avLst/>
            <a:gdLst/>
            <a:ahLst/>
            <a:cxnLst/>
            <a:rect l="l" t="t" r="r" b="b"/>
            <a:pathLst>
              <a:path w="8034147" h="8229600">
                <a:moveTo>
                  <a:pt x="0" y="0"/>
                </a:moveTo>
                <a:lnTo>
                  <a:pt x="8034147" y="0"/>
                </a:lnTo>
                <a:lnTo>
                  <a:pt x="8034147" y="8229600"/>
                </a:lnTo>
                <a:lnTo>
                  <a:pt x="0" y="8229600"/>
                </a:lnTo>
                <a:lnTo>
                  <a:pt x="0" y="0"/>
                </a:lnTo>
                <a:close/>
              </a:path>
            </a:pathLst>
          </a:custGeom>
          <a:blipFill>
            <a:blip r:embed="rId3"/>
            <a:stretch>
              <a:fillRect/>
            </a:stretch>
          </a:blipFill>
        </p:spPr>
        <p:txBody>
          <a:bodyPr/>
          <a:lstStyle/>
          <a:p>
            <a:endParaRPr lang="en-US"/>
          </a:p>
        </p:txBody>
      </p:sp>
    </p:spTree>
    <p:extLst>
      <p:ext uri="{BB962C8B-B14F-4D97-AF65-F5344CB8AC3E}">
        <p14:creationId xmlns:p14="http://schemas.microsoft.com/office/powerpoint/2010/main" val="34113256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AF68F9-54C3-C4A2-34F1-8232E9770641}"/>
              </a:ext>
            </a:extLst>
          </p:cNvPr>
          <p:cNvSpPr txBox="1"/>
          <p:nvPr/>
        </p:nvSpPr>
        <p:spPr>
          <a:xfrm>
            <a:off x="381000" y="838200"/>
            <a:ext cx="515815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solidFill>
                  <a:srgbClr val="002060"/>
                </a:solidFill>
                <a:latin typeface="Arial" panose="020B0604020202020204" pitchFamily="34" charset="0"/>
                <a:cs typeface="Arial" panose="020B0604020202020204" pitchFamily="34" charset="0"/>
              </a:rPr>
              <a:t>How to Create Data Stories?</a:t>
            </a:r>
          </a:p>
        </p:txBody>
      </p:sp>
      <p:graphicFrame>
        <p:nvGraphicFramePr>
          <p:cNvPr id="3" name="Diagram 2">
            <a:extLst>
              <a:ext uri="{FF2B5EF4-FFF2-40B4-BE49-F238E27FC236}">
                <a16:creationId xmlns:a16="http://schemas.microsoft.com/office/drawing/2014/main" id="{F4CAF03C-53CB-7C73-7959-474516B0032B}"/>
              </a:ext>
            </a:extLst>
          </p:cNvPr>
          <p:cNvGraphicFramePr/>
          <p:nvPr>
            <p:extLst>
              <p:ext uri="{D42A27DB-BD31-4B8C-83A1-F6EECF244321}">
                <p14:modId xmlns:p14="http://schemas.microsoft.com/office/powerpoint/2010/main" val="3093775076"/>
              </p:ext>
            </p:extLst>
          </p:nvPr>
        </p:nvGraphicFramePr>
        <p:xfrm>
          <a:off x="304801" y="1377461"/>
          <a:ext cx="11734797" cy="45719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25625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838200"/>
            <a:ext cx="114707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lang="en-US" sz="2000" b="1" dirty="0">
                <a:solidFill>
                  <a:srgbClr val="002060"/>
                </a:solidFill>
                <a:latin typeface="Arial" panose="020B0604020202020204" pitchFamily="34" charset="0"/>
                <a:cs typeface="Arial" panose="020B0604020202020204" pitchFamily="34" charset="0"/>
              </a:rPr>
              <a:t>Lab Activity: Class Work</a:t>
            </a:r>
          </a:p>
        </p:txBody>
      </p:sp>
      <p:sp>
        <p:nvSpPr>
          <p:cNvPr id="10" name="Rectangle 1">
            <a:extLst>
              <a:ext uri="{FF2B5EF4-FFF2-40B4-BE49-F238E27FC236}">
                <a16:creationId xmlns:a16="http://schemas.microsoft.com/office/drawing/2014/main" id="{8222A006-8F04-CCEF-0DC5-52D42FF3962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4">
            <a:extLst>
              <a:ext uri="{FF2B5EF4-FFF2-40B4-BE49-F238E27FC236}">
                <a16:creationId xmlns:a16="http://schemas.microsoft.com/office/drawing/2014/main" id="{E22443E5-46B9-51A7-245F-13EE243145BF}"/>
              </a:ext>
            </a:extLst>
          </p:cNvPr>
          <p:cNvSpPr/>
          <p:nvPr/>
        </p:nvSpPr>
        <p:spPr>
          <a:xfrm>
            <a:off x="0" y="3657600"/>
            <a:ext cx="12192000" cy="1981200"/>
          </a:xfrm>
          <a:prstGeom prst="rect">
            <a:avLst/>
          </a:prstGeom>
          <a:solidFill>
            <a:srgbClr val="D8F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4">
            <a:extLst>
              <a:ext uri="{FF2B5EF4-FFF2-40B4-BE49-F238E27FC236}">
                <a16:creationId xmlns:a16="http://schemas.microsoft.com/office/drawing/2014/main" id="{21B89CD7-B53D-C4BE-D409-15C0D13545AB}"/>
              </a:ext>
            </a:extLst>
          </p:cNvPr>
          <p:cNvSpPr txBox="1">
            <a:spLocks/>
          </p:cNvSpPr>
          <p:nvPr/>
        </p:nvSpPr>
        <p:spPr>
          <a:xfrm>
            <a:off x="381000" y="4191000"/>
            <a:ext cx="8153400" cy="369332"/>
          </a:xfrm>
          <a:prstGeom prst="rect">
            <a:avLst/>
          </a:prstGeom>
        </p:spPr>
        <p:txBody>
          <a:bodyPr wrap="square">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0" indent="0" defTabSz="914400">
              <a:spcBef>
                <a:spcPts val="0"/>
              </a:spcBef>
              <a:spcAft>
                <a:spcPts val="800"/>
              </a:spcAft>
              <a:buNone/>
              <a:defRPr/>
            </a:pPr>
            <a:r>
              <a:rPr lang="en-US" sz="1800" b="1" dirty="0">
                <a:latin typeface="Arial" panose="020B0604020202020204" pitchFamily="34" charset="0"/>
                <a:cs typeface="Arial" panose="020B0604020202020204" pitchFamily="34" charset="0"/>
              </a:rPr>
              <a:t>Lab 20: </a:t>
            </a:r>
            <a:r>
              <a:rPr lang="en-US" sz="1800" dirty="0">
                <a:latin typeface="Arial" panose="020B0604020202020204" pitchFamily="34" charset="0"/>
                <a:cs typeface="Arial" panose="020B0604020202020204" pitchFamily="34" charset="0"/>
              </a:rPr>
              <a:t>End-to-End Story Telling project on real-world dataset</a:t>
            </a:r>
            <a:endParaRPr kumimoji="0" lang="en-US" sz="1800"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pSp>
        <p:nvGrpSpPr>
          <p:cNvPr id="2" name="Group 1">
            <a:extLst>
              <a:ext uri="{FF2B5EF4-FFF2-40B4-BE49-F238E27FC236}">
                <a16:creationId xmlns:a16="http://schemas.microsoft.com/office/drawing/2014/main" id="{72D37B67-7946-996A-8BA6-07D086880EED}"/>
              </a:ext>
            </a:extLst>
          </p:cNvPr>
          <p:cNvGrpSpPr/>
          <p:nvPr/>
        </p:nvGrpSpPr>
        <p:grpSpPr>
          <a:xfrm>
            <a:off x="8077200" y="1447800"/>
            <a:ext cx="3733800" cy="3886200"/>
            <a:chOff x="8153400" y="1447800"/>
            <a:chExt cx="3733800" cy="3886200"/>
          </a:xfrm>
        </p:grpSpPr>
        <p:sp>
          <p:nvSpPr>
            <p:cNvPr id="3" name="Oval 2">
              <a:extLst>
                <a:ext uri="{FF2B5EF4-FFF2-40B4-BE49-F238E27FC236}">
                  <a16:creationId xmlns:a16="http://schemas.microsoft.com/office/drawing/2014/main" id="{9C048CBF-7A5D-0411-7807-6AC2FC5CE319}"/>
                </a:ext>
              </a:extLst>
            </p:cNvPr>
            <p:cNvSpPr/>
            <p:nvPr/>
          </p:nvSpPr>
          <p:spPr>
            <a:xfrm>
              <a:off x="8305800" y="2057400"/>
              <a:ext cx="3276600" cy="3276600"/>
            </a:xfrm>
            <a:prstGeom prst="ellipse">
              <a:avLst/>
            </a:prstGeom>
            <a:solidFill>
              <a:schemeClr val="bg1"/>
            </a:solidFill>
            <a:ln>
              <a:solidFill>
                <a:srgbClr val="C6DE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light bulb with rays of light coming out of it&#10;&#10;Description automatically generated">
              <a:extLst>
                <a:ext uri="{FF2B5EF4-FFF2-40B4-BE49-F238E27FC236}">
                  <a16:creationId xmlns:a16="http://schemas.microsoft.com/office/drawing/2014/main" id="{19199B51-C8F9-FEF7-27CE-B6F30CA805C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3000" y="1447800"/>
              <a:ext cx="2403549" cy="2883402"/>
            </a:xfrm>
            <a:prstGeom prst="rect">
              <a:avLst/>
            </a:prstGeom>
          </p:spPr>
        </p:pic>
        <p:pic>
          <p:nvPicPr>
            <p:cNvPr id="7" name="Picture 6" descr="A black and white image of an open book&#10;&#10;Description automatically generated">
              <a:extLst>
                <a:ext uri="{FF2B5EF4-FFF2-40B4-BE49-F238E27FC236}">
                  <a16:creationId xmlns:a16="http://schemas.microsoft.com/office/drawing/2014/main" id="{1C6B87C5-F17A-77CC-3CA0-E6F52FBE665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3400" y="3962400"/>
              <a:ext cx="3733800" cy="810329"/>
            </a:xfrm>
            <a:prstGeom prst="rect">
              <a:avLst/>
            </a:prstGeom>
          </p:spPr>
        </p:pic>
      </p:grpSp>
    </p:spTree>
    <p:custDataLst>
      <p:tags r:id="rId1"/>
    </p:custDataLst>
    <p:extLst>
      <p:ext uri="{BB962C8B-B14F-4D97-AF65-F5344CB8AC3E}">
        <p14:creationId xmlns:p14="http://schemas.microsoft.com/office/powerpoint/2010/main" val="23856970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40229" y="825600"/>
            <a:ext cx="11775571"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Summary</a:t>
            </a:r>
          </a:p>
        </p:txBody>
      </p:sp>
      <p:sp>
        <p:nvSpPr>
          <p:cNvPr id="2" name="Text Placeholder 4">
            <a:extLst>
              <a:ext uri="{FF2B5EF4-FFF2-40B4-BE49-F238E27FC236}">
                <a16:creationId xmlns:a16="http://schemas.microsoft.com/office/drawing/2014/main" id="{976EDFFF-7E60-F4A2-ECDA-81CD89054335}"/>
              </a:ext>
            </a:extLst>
          </p:cNvPr>
          <p:cNvSpPr txBox="1">
            <a:spLocks/>
          </p:cNvSpPr>
          <p:nvPr/>
        </p:nvSpPr>
        <p:spPr>
          <a:xfrm>
            <a:off x="457200" y="1371600"/>
            <a:ext cx="5811058" cy="3069558"/>
          </a:xfrm>
          <a:prstGeom prst="rect">
            <a:avLst/>
          </a:prstGeom>
        </p:spPr>
        <p:txBody>
          <a:bodyPr lIns="0" tIns="0" rIns="0" bIns="0">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spcBef>
                <a:spcPts val="0"/>
              </a:spcBef>
              <a:spcAft>
                <a:spcPts val="800"/>
              </a:spcAft>
              <a:buFont typeface="Arial" pitchFamily="34" charset="0"/>
              <a:buNone/>
            </a:pPr>
            <a:r>
              <a:rPr lang="en-US" sz="1800" b="1" dirty="0">
                <a:latin typeface="Arial" panose="020B0604020202020204" pitchFamily="34" charset="0"/>
                <a:cs typeface="Arial" panose="020B0604020202020204" pitchFamily="34" charset="0"/>
              </a:rPr>
              <a:t>You will learn in this Chapter:</a:t>
            </a:r>
          </a:p>
          <a:p>
            <a:pPr marL="228600" indent="-228600">
              <a:spcBef>
                <a:spcPts val="0"/>
              </a:spcBef>
              <a:spcAft>
                <a:spcPts val="800"/>
              </a:spcAft>
            </a:pPr>
            <a:r>
              <a:rPr lang="en-US" sz="1800" spc="13" dirty="0">
                <a:latin typeface="Arial" panose="020B0604020202020204" pitchFamily="34" charset="0"/>
                <a:cs typeface="Arial" panose="020B0604020202020204" pitchFamily="34" charset="0"/>
              </a:rPr>
              <a:t>We</a:t>
            </a:r>
            <a:r>
              <a:rPr lang="en-US" sz="1800" spc="-4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studied</a:t>
            </a:r>
            <a:r>
              <a:rPr lang="en-US" sz="1800" spc="-4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about</a:t>
            </a:r>
            <a:r>
              <a:rPr lang="en-US" sz="1800" spc="-53"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a:t>
            </a:r>
            <a:r>
              <a:rPr lang="en-US" sz="1800" spc="-2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meaning</a:t>
            </a:r>
            <a:r>
              <a:rPr lang="en-US" sz="1800" spc="-47"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of</a:t>
            </a:r>
            <a:r>
              <a:rPr lang="en-US" sz="180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exploratory</a:t>
            </a:r>
            <a:r>
              <a:rPr lang="en-US" sz="1800" spc="-47"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data</a:t>
            </a:r>
            <a:r>
              <a:rPr lang="en-US" sz="1800" spc="-33"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analysis.</a:t>
            </a:r>
          </a:p>
          <a:p>
            <a:pPr marL="228600" indent="-228600">
              <a:spcAft>
                <a:spcPts val="800"/>
              </a:spcAft>
              <a:buClr>
                <a:srgbClr val="203062"/>
              </a:buClr>
              <a:tabLst>
                <a:tab pos="342045" algn="l"/>
                <a:tab pos="342891" algn="l"/>
              </a:tabLst>
            </a:pPr>
            <a:r>
              <a:rPr lang="en-US" sz="1800" spc="13" dirty="0">
                <a:latin typeface="Arial" panose="020B0604020202020204" pitchFamily="34" charset="0"/>
                <a:cs typeface="Arial" panose="020B0604020202020204" pitchFamily="34" charset="0"/>
              </a:rPr>
              <a:t>We</a:t>
            </a:r>
            <a:r>
              <a:rPr lang="en-US" sz="1800" spc="-47"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have</a:t>
            </a:r>
            <a:r>
              <a:rPr lang="en-US" sz="1800" spc="7"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understood</a:t>
            </a:r>
            <a:r>
              <a:rPr lang="en-US" sz="1800" spc="-53"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the</a:t>
            </a:r>
            <a:r>
              <a:rPr lang="en-US" sz="1800" spc="-27"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necessity</a:t>
            </a:r>
            <a:r>
              <a:rPr lang="en-US" sz="1800" spc="-4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of</a:t>
            </a:r>
            <a:r>
              <a:rPr lang="en-US" sz="1800" spc="-13"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exploratory</a:t>
            </a:r>
            <a:r>
              <a:rPr lang="en-US" sz="1800" spc="-47"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data</a:t>
            </a:r>
            <a:r>
              <a:rPr lang="en-US" sz="1800" spc="-33"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analysis</a:t>
            </a:r>
            <a:r>
              <a:rPr lang="en-US" sz="1800" spc="7"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on</a:t>
            </a:r>
            <a:r>
              <a:rPr lang="en-US" sz="1800" spc="-2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a new</a:t>
            </a:r>
            <a:r>
              <a:rPr lang="en-US" sz="1800" spc="-13"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dataset.</a:t>
            </a:r>
          </a:p>
          <a:p>
            <a:pPr marL="228600" indent="-228600">
              <a:spcAft>
                <a:spcPts val="800"/>
              </a:spcAft>
              <a:buClr>
                <a:srgbClr val="203062"/>
              </a:buClr>
              <a:tabLst>
                <a:tab pos="342045" algn="l"/>
                <a:tab pos="342891" algn="l"/>
              </a:tabLst>
            </a:pPr>
            <a:r>
              <a:rPr lang="en-US" sz="1800" spc="13" dirty="0">
                <a:latin typeface="Arial" panose="020B0604020202020204" pitchFamily="34" charset="0"/>
                <a:cs typeface="Arial" panose="020B0604020202020204" pitchFamily="34" charset="0"/>
              </a:rPr>
              <a:t>We</a:t>
            </a:r>
            <a:r>
              <a:rPr lang="en-US" sz="1800" spc="-47"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have</a:t>
            </a:r>
            <a:r>
              <a:rPr lang="en-US" sz="1800" spc="7"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used</a:t>
            </a:r>
            <a:r>
              <a:rPr lang="en-US" sz="1800" spc="-4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different</a:t>
            </a:r>
            <a:r>
              <a:rPr lang="en-US" sz="1800" spc="-6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types</a:t>
            </a:r>
            <a:r>
              <a:rPr lang="en-US" sz="180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of</a:t>
            </a:r>
            <a:r>
              <a:rPr lang="en-US" sz="1800" spc="-20"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tools</a:t>
            </a:r>
            <a:r>
              <a:rPr lang="en-US" sz="1800" spc="-33"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and</a:t>
            </a:r>
            <a:r>
              <a:rPr lang="en-US" sz="1800" spc="-27" dirty="0">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techniques</a:t>
            </a:r>
            <a:r>
              <a:rPr lang="en-US" sz="1800" spc="-47"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of</a:t>
            </a:r>
            <a:r>
              <a:rPr lang="en-US" sz="1800" spc="-2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EDA</a:t>
            </a:r>
            <a:endParaRPr lang="en-US" sz="1800" dirty="0">
              <a:latin typeface="Arial" panose="020B0604020202020204" pitchFamily="34" charset="0"/>
              <a:cs typeface="Arial" panose="020B0604020202020204" pitchFamily="34" charset="0"/>
            </a:endParaRPr>
          </a:p>
          <a:p>
            <a:pPr marL="228600" indent="-228600">
              <a:spcAft>
                <a:spcPts val="800"/>
              </a:spcAft>
              <a:buClr>
                <a:srgbClr val="203062"/>
              </a:buClr>
              <a:tabLst>
                <a:tab pos="342045" algn="l"/>
                <a:tab pos="342891" algn="l"/>
              </a:tabLst>
            </a:pPr>
            <a:r>
              <a:rPr lang="en-US" sz="1800" spc="7" dirty="0">
                <a:latin typeface="Arial" panose="020B0604020202020204" pitchFamily="34" charset="0"/>
                <a:cs typeface="Arial" panose="020B0604020202020204" pitchFamily="34" charset="0"/>
              </a:rPr>
              <a:t>We</a:t>
            </a:r>
            <a:r>
              <a:rPr lang="en-US" sz="1800" spc="133"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have</a:t>
            </a:r>
            <a:r>
              <a:rPr lang="en-US" sz="1800" spc="152"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understood</a:t>
            </a:r>
            <a:r>
              <a:rPr lang="en-US" sz="1800" spc="16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how</a:t>
            </a:r>
            <a:r>
              <a:rPr lang="en-US" sz="1800" spc="14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to</a:t>
            </a:r>
            <a:r>
              <a:rPr lang="en-US" sz="1800" spc="152"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use</a:t>
            </a:r>
            <a:r>
              <a:rPr lang="en-US" sz="1800" spc="140" dirty="0">
                <a:latin typeface="Arial" panose="020B0604020202020204" pitchFamily="34" charset="0"/>
                <a:cs typeface="Arial" panose="020B0604020202020204" pitchFamily="34" charset="0"/>
              </a:rPr>
              <a:t> </a:t>
            </a:r>
            <a:r>
              <a:rPr lang="en-US" sz="1800" spc="-13" dirty="0">
                <a:latin typeface="Arial" panose="020B0604020202020204" pitchFamily="34" charset="0"/>
                <a:cs typeface="Arial" panose="020B0604020202020204" pitchFamily="34" charset="0"/>
              </a:rPr>
              <a:t>pandas</a:t>
            </a:r>
            <a:r>
              <a:rPr lang="en-US" sz="1800" spc="16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and</a:t>
            </a:r>
            <a:r>
              <a:rPr lang="en-US" sz="1800" spc="133"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sleep</a:t>
            </a:r>
            <a:r>
              <a:rPr lang="en-US" sz="1800" spc="14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on</a:t>
            </a:r>
            <a:r>
              <a:rPr lang="en-US" sz="1800" spc="152"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libraries</a:t>
            </a:r>
            <a:r>
              <a:rPr lang="en-US" sz="1800" spc="14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for</a:t>
            </a:r>
            <a:r>
              <a:rPr lang="en-US" sz="1800" spc="160"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exploratory</a:t>
            </a:r>
            <a:r>
              <a:rPr lang="en-US" sz="1800" spc="147" dirty="0">
                <a:latin typeface="Arial" panose="020B0604020202020204" pitchFamily="34" charset="0"/>
                <a:cs typeface="Arial" panose="020B0604020202020204" pitchFamily="34" charset="0"/>
              </a:rPr>
              <a:t> </a:t>
            </a:r>
            <a:r>
              <a:rPr lang="en-US" sz="1800" spc="-7" dirty="0">
                <a:latin typeface="Arial" panose="020B0604020202020204" pitchFamily="34" charset="0"/>
                <a:cs typeface="Arial" panose="020B0604020202020204" pitchFamily="34" charset="0"/>
              </a:rPr>
              <a:t>data analysis.</a:t>
            </a:r>
            <a:endParaRPr lang="en-US" sz="1800" dirty="0">
              <a:latin typeface="Arial" panose="020B0604020202020204" pitchFamily="34" charset="0"/>
              <a:cs typeface="Arial" panose="020B0604020202020204" pitchFamily="34" charset="0"/>
            </a:endParaRPr>
          </a:p>
        </p:txBody>
      </p:sp>
      <p:pic>
        <p:nvPicPr>
          <p:cNvPr id="5" name="Picture 4" descr="A clipboard with a light bulb next to a stack of books&#10;&#10;Description automatically generated">
            <a:extLst>
              <a:ext uri="{FF2B5EF4-FFF2-40B4-BE49-F238E27FC236}">
                <a16:creationId xmlns:a16="http://schemas.microsoft.com/office/drawing/2014/main" id="{77816D8C-B924-3963-F351-258D1A7809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43194" y="1295400"/>
            <a:ext cx="4979736" cy="4191000"/>
          </a:xfrm>
          <a:prstGeom prst="rect">
            <a:avLst/>
          </a:prstGeom>
        </p:spPr>
      </p:pic>
    </p:spTree>
    <p:custDataLst>
      <p:tags r:id="rId1"/>
    </p:custDataLst>
    <p:extLst>
      <p:ext uri="{BB962C8B-B14F-4D97-AF65-F5344CB8AC3E}">
        <p14:creationId xmlns:p14="http://schemas.microsoft.com/office/powerpoint/2010/main" val="363740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BA32B3C-D9C8-65B6-1442-8DF6B935E489}"/>
              </a:ext>
            </a:extLst>
          </p:cNvPr>
          <p:cNvSpPr txBox="1">
            <a:spLocks/>
          </p:cNvSpPr>
          <p:nvPr/>
        </p:nvSpPr>
        <p:spPr>
          <a:xfrm>
            <a:off x="381001" y="838200"/>
            <a:ext cx="11125200"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r>
              <a:rPr lang="en-US" sz="2000" b="1" dirty="0">
                <a:solidFill>
                  <a:srgbClr val="002060"/>
                </a:solidFill>
                <a:latin typeface="Arial" panose="020B0604020202020204" pitchFamily="34" charset="0"/>
                <a:cs typeface="Arial" panose="020B0604020202020204" pitchFamily="34" charset="0"/>
              </a:rPr>
              <a:t>Reference</a:t>
            </a:r>
          </a:p>
        </p:txBody>
      </p:sp>
      <p:sp>
        <p:nvSpPr>
          <p:cNvPr id="8" name="Text Placeholder 4">
            <a:extLst>
              <a:ext uri="{FF2B5EF4-FFF2-40B4-BE49-F238E27FC236}">
                <a16:creationId xmlns:a16="http://schemas.microsoft.com/office/drawing/2014/main" id="{8FB8E816-E868-A86A-9AC1-52D61C79325A}"/>
              </a:ext>
            </a:extLst>
          </p:cNvPr>
          <p:cNvSpPr txBox="1">
            <a:spLocks/>
          </p:cNvSpPr>
          <p:nvPr/>
        </p:nvSpPr>
        <p:spPr>
          <a:xfrm>
            <a:off x="457200" y="1324372"/>
            <a:ext cx="9818226" cy="2257028"/>
          </a:xfrm>
          <a:prstGeom prst="rect">
            <a:avLst/>
          </a:prstGeom>
        </p:spPr>
        <p:txBody>
          <a:bodyPr lIns="0" tIns="0" rIns="0" bIns="0">
            <a:spAutoFit/>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228600" indent="-228600">
              <a:spcBef>
                <a:spcPts val="2100"/>
              </a:spcBef>
              <a:spcAft>
                <a:spcPts val="800"/>
              </a:spcAft>
              <a:buClr>
                <a:srgbClr val="203062"/>
              </a:buClr>
              <a:tabLst>
                <a:tab pos="292093" algn="l"/>
              </a:tabLst>
            </a:pP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Exploratory</a:t>
            </a:r>
            <a:r>
              <a:rPr lang="en-US" sz="1800" u="sng" spc="-27"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Data</a:t>
            </a:r>
            <a:r>
              <a:rPr lang="en-US" sz="1800" u="sng" spc="-27"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Analysis</a:t>
            </a:r>
            <a:r>
              <a:rPr lang="en-US" sz="1800" u="sng" spc="-20"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(EDA)</a:t>
            </a: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Types</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and</a:t>
            </a:r>
            <a:r>
              <a:rPr lang="en-US" sz="1800" u="sng" spc="-40"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Tools -</a:t>
            </a:r>
            <a:r>
              <a:rPr lang="en-US" sz="1800" u="sng" spc="-20" dirty="0">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 </a:t>
            </a:r>
            <a:r>
              <a:rPr lang="en-US" sz="1800" u="sng" dirty="0" err="1">
                <a:solidFill>
                  <a:srgbClr val="0000FF"/>
                </a:solidFill>
                <a:uFill>
                  <a:solidFill>
                    <a:srgbClr val="0000FF"/>
                  </a:solidFill>
                </a:u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GeeksforGeeks</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860"/>
              </a:spcBef>
              <a:spcAft>
                <a:spcPts val="800"/>
              </a:spcAft>
              <a:buClr>
                <a:srgbClr val="203062"/>
              </a:buClr>
              <a:tabLst>
                <a:tab pos="292093" algn="l"/>
              </a:tabLst>
            </a:pP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Exploratory</a:t>
            </a:r>
            <a:r>
              <a:rPr lang="en-US" sz="1800" u="sng" spc="-13"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Data</a:t>
            </a: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Analysis</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(EDA):</a:t>
            </a:r>
            <a:r>
              <a:rPr lang="en-US" sz="1800" u="sng" spc="-13"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a:t>
            </a: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Types,</a:t>
            </a:r>
            <a:r>
              <a:rPr lang="en-US" sz="1800" u="sng" spc="-13"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Tools,</a:t>
            </a:r>
            <a:r>
              <a:rPr lang="en-US" sz="1800" u="sng" spc="-13"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Process</a:t>
            </a:r>
            <a:r>
              <a:rPr lang="en-US" sz="1800" u="sng" spc="-40"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 </a:t>
            </a: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(knowledgehut.com)</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867"/>
              </a:spcBef>
              <a:spcAft>
                <a:spcPts val="800"/>
              </a:spcAft>
              <a:buClr>
                <a:srgbClr val="203062"/>
              </a:buClr>
              <a:tabLst>
                <a:tab pos="292093" algn="l"/>
              </a:tabLst>
            </a:pP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Exploratory</a:t>
            </a:r>
            <a:r>
              <a:rPr lang="en-US" sz="1800" u="sng" spc="-60"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Data</a:t>
            </a:r>
            <a:r>
              <a:rPr lang="en-US" sz="1800" u="sng" spc="-53"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Analysis</a:t>
            </a:r>
            <a:r>
              <a:rPr lang="en-US" sz="1800" u="sng" spc="-40"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 </a:t>
            </a:r>
            <a:r>
              <a:rPr lang="en-US" sz="1800" u="sng" dirty="0">
                <a:solidFill>
                  <a:srgbClr val="0000FF"/>
                </a:solidFill>
                <a:uFill>
                  <a:solidFill>
                    <a:srgbClr val="0000FF"/>
                  </a:solidFill>
                </a:u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(nist.gov)</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867"/>
              </a:spcBef>
              <a:spcAft>
                <a:spcPts val="800"/>
              </a:spcAft>
              <a:buClr>
                <a:srgbClr val="203062"/>
              </a:buClr>
              <a:tabLst>
                <a:tab pos="292093" algn="l"/>
              </a:tabLst>
            </a:pP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https://towardsdatascience.com/web-scraping-basics-82f8b5acd45c</a:t>
            </a:r>
            <a:endParaRPr lang="en-US" sz="1800" dirty="0">
              <a:solidFill>
                <a:srgbClr val="0000FF"/>
              </a:solidFill>
              <a:latin typeface="Arial" panose="020B0604020202020204" pitchFamily="34" charset="0"/>
              <a:cs typeface="Arial" panose="020B0604020202020204" pitchFamily="34" charset="0"/>
            </a:endParaRPr>
          </a:p>
          <a:p>
            <a:pPr marL="228600" indent="-228600">
              <a:spcBef>
                <a:spcPts val="867"/>
              </a:spcBef>
              <a:spcAft>
                <a:spcPts val="800"/>
              </a:spcAft>
              <a:buClr>
                <a:srgbClr val="203062"/>
              </a:buClr>
              <a:tabLst>
                <a:tab pos="292093" algn="l"/>
              </a:tabLst>
            </a:pPr>
            <a:r>
              <a:rPr lang="en-US" sz="1800" u="sng" spc="-7" dirty="0">
                <a:solidFill>
                  <a:srgbClr val="0000FF"/>
                </a:solidFill>
                <a:uFill>
                  <a:solidFill>
                    <a:srgbClr val="0000FF"/>
                  </a:solidFill>
                </a:u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https://www.analyticsvidhya.com/blog/2021/06/web-scraping-with-python-beautifulsoup-library/</a:t>
            </a:r>
            <a:endParaRPr lang="en-US" sz="1800" dirty="0">
              <a:solidFill>
                <a:srgbClr val="0000FF"/>
              </a:solidFill>
              <a:latin typeface="Arial" panose="020B0604020202020204" pitchFamily="34" charset="0"/>
              <a:cs typeface="Arial" panose="020B0604020202020204" pitchFamily="34" charset="0"/>
            </a:endParaRPr>
          </a:p>
        </p:txBody>
      </p:sp>
    </p:spTree>
    <p:custDataLst>
      <p:tags r:id="rId1"/>
    </p:custDataLst>
    <p:extLst>
      <p:ext uri="{BB962C8B-B14F-4D97-AF65-F5344CB8AC3E}">
        <p14:creationId xmlns:p14="http://schemas.microsoft.com/office/powerpoint/2010/main" val="2074378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8048F51-16C4-428B-5DF8-0D8D28F5087B}"/>
              </a:ext>
            </a:extLst>
          </p:cNvPr>
          <p:cNvGrpSpPr/>
          <p:nvPr/>
        </p:nvGrpSpPr>
        <p:grpSpPr>
          <a:xfrm>
            <a:off x="3332319" y="990600"/>
            <a:ext cx="5527361" cy="5562600"/>
            <a:chOff x="3332319" y="990600"/>
            <a:chExt cx="5527361" cy="5562600"/>
          </a:xfrm>
        </p:grpSpPr>
        <p:grpSp>
          <p:nvGrpSpPr>
            <p:cNvPr id="8" name="Group 7">
              <a:extLst>
                <a:ext uri="{FF2B5EF4-FFF2-40B4-BE49-F238E27FC236}">
                  <a16:creationId xmlns:a16="http://schemas.microsoft.com/office/drawing/2014/main" id="{6F53B5EE-6171-7DE5-0242-EC6881A55B79}"/>
                </a:ext>
              </a:extLst>
            </p:cNvPr>
            <p:cNvGrpSpPr/>
            <p:nvPr/>
          </p:nvGrpSpPr>
          <p:grpSpPr>
            <a:xfrm>
              <a:off x="3332319" y="990600"/>
              <a:ext cx="5527361" cy="5562600"/>
              <a:chOff x="3332319" y="990600"/>
              <a:chExt cx="5527361" cy="5562600"/>
            </a:xfrm>
          </p:grpSpPr>
          <p:sp>
            <p:nvSpPr>
              <p:cNvPr id="5" name="Oval 4">
                <a:extLst>
                  <a:ext uri="{FF2B5EF4-FFF2-40B4-BE49-F238E27FC236}">
                    <a16:creationId xmlns:a16="http://schemas.microsoft.com/office/drawing/2014/main" id="{F66ACF79-924A-70DC-A413-DA3D08D84896}"/>
                  </a:ext>
                </a:extLst>
              </p:cNvPr>
              <p:cNvSpPr/>
              <p:nvPr/>
            </p:nvSpPr>
            <p:spPr>
              <a:xfrm>
                <a:off x="3429000" y="1066800"/>
                <a:ext cx="5334000" cy="5334000"/>
              </a:xfrm>
              <a:prstGeom prst="ellipse">
                <a:avLst/>
              </a:prstGeom>
              <a:solidFill>
                <a:srgbClr val="01295E"/>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background with many small dots&#10;&#10;Description automatically generated">
                <a:extLst>
                  <a:ext uri="{FF2B5EF4-FFF2-40B4-BE49-F238E27FC236}">
                    <a16:creationId xmlns:a16="http://schemas.microsoft.com/office/drawing/2014/main" id="{72661990-E7F3-D891-2F4C-C49B1FCD6D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32319" y="990600"/>
                <a:ext cx="5527361" cy="5562600"/>
              </a:xfrm>
              <a:prstGeom prst="rect">
                <a:avLst/>
              </a:prstGeom>
            </p:spPr>
          </p:pic>
        </p:grpSp>
        <p:sp>
          <p:nvSpPr>
            <p:cNvPr id="9" name="TextBox 8">
              <a:extLst>
                <a:ext uri="{FF2B5EF4-FFF2-40B4-BE49-F238E27FC236}">
                  <a16:creationId xmlns:a16="http://schemas.microsoft.com/office/drawing/2014/main" id="{281797E8-A128-C5CB-D3F9-E7E08B1EAE9F}"/>
                </a:ext>
              </a:extLst>
            </p:cNvPr>
            <p:cNvSpPr txBox="1"/>
            <p:nvPr/>
          </p:nvSpPr>
          <p:spPr>
            <a:xfrm>
              <a:off x="3962400" y="2852678"/>
              <a:ext cx="3352800" cy="1631216"/>
            </a:xfrm>
            <a:prstGeom prst="rect">
              <a:avLst/>
            </a:prstGeom>
            <a:noFill/>
            <a:effectLst>
              <a:glow rad="152400">
                <a:schemeClr val="accent3">
                  <a:satMod val="175000"/>
                </a:schemeClr>
              </a:glow>
              <a:softEdge rad="1041400"/>
            </a:effectLst>
            <a:scene3d>
              <a:camera prst="orthographicFront"/>
              <a:lightRig rig="threePt" dir="t"/>
            </a:scene3d>
            <a:sp3d extrusionH="76200">
              <a:bevelT prst="relaxedInset"/>
              <a:bevelB w="101600" prst="riblet"/>
              <a:extrusionClr>
                <a:srgbClr val="FFC000"/>
              </a:extrusionClr>
            </a:sp3d>
          </p:spPr>
          <p:txBody>
            <a:bodyPr wrap="square" rtlCol="0">
              <a:spAutoFit/>
              <a:sp3d extrusionH="57150">
                <a:bevelT w="12700"/>
                <a:bevelB w="12700" h="82550"/>
                <a:extrusionClr>
                  <a:srgbClr val="FFFF00"/>
                </a:extrusionClr>
              </a:sp3d>
            </a:bodyPr>
            <a:lstStyle/>
            <a:p>
              <a:pPr algn="ctr"/>
              <a:r>
                <a:rPr lang="en-US" sz="10000" dirty="0">
                  <a:solidFill>
                    <a:schemeClr val="bg1"/>
                  </a:solidFill>
                  <a:effectLst>
                    <a:glow rad="1905000">
                      <a:srgbClr val="93B8F5">
                        <a:alpha val="34902"/>
                      </a:srgbClr>
                    </a:glow>
                  </a:effectLst>
                  <a:latin typeface="Jumbox" pitchFamily="2" charset="0"/>
                </a:rPr>
                <a:t>QUIZ</a:t>
              </a:r>
            </a:p>
          </p:txBody>
        </p:sp>
        <p:sp>
          <p:nvSpPr>
            <p:cNvPr id="11" name="TextBox 10">
              <a:extLst>
                <a:ext uri="{FF2B5EF4-FFF2-40B4-BE49-F238E27FC236}">
                  <a16:creationId xmlns:a16="http://schemas.microsoft.com/office/drawing/2014/main" id="{13060314-0941-488A-5EC9-82745FC7EE26}"/>
                </a:ext>
              </a:extLst>
            </p:cNvPr>
            <p:cNvSpPr txBox="1"/>
            <p:nvPr/>
          </p:nvSpPr>
          <p:spPr>
            <a:xfrm>
              <a:off x="6629400" y="1785878"/>
              <a:ext cx="1463862" cy="2862322"/>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18000" dirty="0">
                  <a:solidFill>
                    <a:schemeClr val="bg1"/>
                  </a:solidFill>
                  <a:latin typeface="Arial Nova" panose="020B0504020202020204" pitchFamily="34" charset="0"/>
                </a:rPr>
                <a:t>?</a:t>
              </a:r>
            </a:p>
          </p:txBody>
        </p:sp>
      </p:grpSp>
    </p:spTree>
    <p:custDataLst>
      <p:tags r:id="rId1"/>
    </p:custDataLst>
    <p:extLst>
      <p:ext uri="{BB962C8B-B14F-4D97-AF65-F5344CB8AC3E}">
        <p14:creationId xmlns:p14="http://schemas.microsoft.com/office/powerpoint/2010/main" val="62280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5640876-E65C-7C3B-8BEA-96B97C8F84BA}"/>
              </a:ext>
            </a:extLst>
          </p:cNvPr>
          <p:cNvGrpSpPr/>
          <p:nvPr/>
        </p:nvGrpSpPr>
        <p:grpSpPr>
          <a:xfrm>
            <a:off x="0" y="5311236"/>
            <a:ext cx="12192000" cy="1545663"/>
            <a:chOff x="0" y="4953000"/>
            <a:chExt cx="12192000" cy="1524000"/>
          </a:xfrm>
        </p:grpSpPr>
        <p:sp>
          <p:nvSpPr>
            <p:cNvPr id="9" name="Rectangle 8">
              <a:extLst>
                <a:ext uri="{FF2B5EF4-FFF2-40B4-BE49-F238E27FC236}">
                  <a16:creationId xmlns:a16="http://schemas.microsoft.com/office/drawing/2014/main" id="{19D6A48B-83CB-DE68-C3E7-2968720922C3}"/>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35C296D6-27BB-FF28-1F02-4AE754B3E5F2}"/>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bject 7"/>
          <p:cNvSpPr txBox="1"/>
          <p:nvPr/>
        </p:nvSpPr>
        <p:spPr>
          <a:xfrm>
            <a:off x="467360" y="1368031"/>
            <a:ext cx="8295640" cy="2191198"/>
          </a:xfrm>
          <a:prstGeom prst="rect">
            <a:avLst/>
          </a:prstGeom>
        </p:spPr>
        <p:txBody>
          <a:bodyPr vert="horz" wrap="square" lIns="0" tIns="16087" rIns="0" bIns="0" rtlCol="0">
            <a:spAutoFit/>
          </a:bodyPr>
          <a:lstStyle/>
          <a:p>
            <a:pPr marL="365760" indent="-365760">
              <a:spcBef>
                <a:spcPts val="1813"/>
              </a:spcBef>
              <a:spcAft>
                <a:spcPts val="800"/>
              </a:spcAft>
            </a:pPr>
            <a:r>
              <a:rPr lang="en-US" sz="1800" b="1" spc="-7" dirty="0">
                <a:latin typeface="Arial" panose="020B0604020202020204" pitchFamily="34" charset="0"/>
                <a:cs typeface="Arial" panose="020B0604020202020204" pitchFamily="34" charset="0"/>
              </a:rPr>
              <a:t>1. </a:t>
            </a:r>
            <a:r>
              <a:rPr sz="1800" b="1" spc="-7" dirty="0">
                <a:latin typeface="Arial" panose="020B0604020202020204" pitchFamily="34" charset="0"/>
                <a:cs typeface="Arial" panose="020B0604020202020204" pitchFamily="34" charset="0"/>
              </a:rPr>
              <a:t>What</a:t>
            </a:r>
            <a:r>
              <a:rPr sz="1800" b="1" spc="-2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is</a:t>
            </a:r>
            <a:r>
              <a:rPr sz="1800" b="1" spc="-7" dirty="0">
                <a:latin typeface="Arial" panose="020B0604020202020204" pitchFamily="34" charset="0"/>
                <a:cs typeface="Arial" panose="020B0604020202020204" pitchFamily="34" charset="0"/>
              </a:rPr>
              <a:t> the</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primary</a:t>
            </a:r>
            <a:r>
              <a:rPr sz="1800" b="1" spc="-40"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goal</a:t>
            </a:r>
            <a:r>
              <a:rPr sz="1800" b="1" spc="-13"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of</a:t>
            </a:r>
            <a:r>
              <a:rPr sz="1800" b="1"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Exploratory</a:t>
            </a:r>
            <a:r>
              <a:rPr sz="1800" b="1" spc="-53"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Data</a:t>
            </a:r>
            <a:r>
              <a:rPr sz="1800" b="1" spc="-13" dirty="0">
                <a:latin typeface="Arial" panose="020B0604020202020204" pitchFamily="34" charset="0"/>
                <a:cs typeface="Arial" panose="020B0604020202020204" pitchFamily="34" charset="0"/>
              </a:rPr>
              <a:t> Analysis</a:t>
            </a:r>
            <a:r>
              <a:rPr sz="1800" b="1" spc="60" dirty="0">
                <a:latin typeface="Arial" panose="020B0604020202020204" pitchFamily="34" charset="0"/>
                <a:cs typeface="Arial" panose="020B0604020202020204" pitchFamily="34" charset="0"/>
              </a:rPr>
              <a:t> </a:t>
            </a:r>
            <a:r>
              <a:rPr sz="1800" b="1" spc="-13" dirty="0">
                <a:latin typeface="Arial" panose="020B0604020202020204" pitchFamily="34" charset="0"/>
                <a:cs typeface="Arial" panose="020B0604020202020204" pitchFamily="34" charset="0"/>
              </a:rPr>
              <a:t>(EDA)?</a:t>
            </a:r>
            <a:endParaRPr lang="en-US" sz="1800" b="1" spc="-13" dirty="0">
              <a:latin typeface="Arial" panose="020B0604020202020204" pitchFamily="34" charset="0"/>
              <a:cs typeface="Arial" panose="020B0604020202020204" pitchFamily="34" charset="0"/>
            </a:endParaRPr>
          </a:p>
          <a:p>
            <a:pPr marL="365760" indent="-365760">
              <a:spcAft>
                <a:spcPts val="800"/>
              </a:spcAft>
              <a:tabLst>
                <a:tab pos="301406" algn="l"/>
              </a:tabLst>
            </a:pPr>
            <a:endParaRPr lang="en-US" sz="1800" dirty="0">
              <a:latin typeface="Arial" panose="020B0604020202020204" pitchFamily="34" charset="0"/>
              <a:cs typeface="Arial" panose="020B0604020202020204" pitchFamily="34" charset="0"/>
            </a:endParaRPr>
          </a:p>
          <a:p>
            <a:pPr marL="283464" indent="-283464">
              <a:spcAft>
                <a:spcPts val="800"/>
              </a:spcAft>
              <a:buFont typeface="+mj-lt"/>
              <a:buAutoNum type="alphaLcParenR"/>
              <a:tabLst>
                <a:tab pos="301406" algn="l"/>
              </a:tabLst>
            </a:pPr>
            <a:r>
              <a:rPr sz="1800" dirty="0">
                <a:latin typeface="Arial" panose="020B0604020202020204" pitchFamily="34" charset="0"/>
                <a:cs typeface="Arial" panose="020B0604020202020204" pitchFamily="34" charset="0"/>
              </a:rPr>
              <a:t>Building</a:t>
            </a:r>
            <a:r>
              <a:rPr sz="1800" spc="-4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predictive</a:t>
            </a:r>
            <a:r>
              <a:rPr sz="1800" spc="-4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models</a:t>
            </a:r>
          </a:p>
          <a:p>
            <a:pPr marL="283464" indent="-283464">
              <a:spcAft>
                <a:spcPts val="800"/>
              </a:spcAft>
              <a:buFont typeface="+mj-lt"/>
              <a:buAutoNum type="alphaLcParenR"/>
              <a:tabLst>
                <a:tab pos="301406" algn="l"/>
              </a:tabLst>
            </a:pPr>
            <a:r>
              <a:rPr sz="1800" spc="-7" dirty="0">
                <a:latin typeface="Arial" panose="020B0604020202020204" pitchFamily="34" charset="0"/>
                <a:cs typeface="Arial" panose="020B0604020202020204" pitchFamily="34" charset="0"/>
              </a:rPr>
              <a:t>Data</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visualization</a:t>
            </a:r>
          </a:p>
          <a:p>
            <a:pPr marL="283464" indent="-283464">
              <a:spcAft>
                <a:spcPts val="800"/>
              </a:spcAft>
              <a:buFont typeface="+mj-lt"/>
              <a:buAutoNum type="alphaLcParenR"/>
              <a:tabLst>
                <a:tab pos="288706" algn="l"/>
              </a:tabLst>
            </a:pPr>
            <a:r>
              <a:rPr sz="1800" dirty="0">
                <a:latin typeface="Arial" panose="020B0604020202020204" pitchFamily="34" charset="0"/>
                <a:cs typeface="Arial" panose="020B0604020202020204" pitchFamily="34" charset="0"/>
              </a:rPr>
              <a:t>Extracting</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insights</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from</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data</a:t>
            </a:r>
            <a:endParaRPr lang="en-US" sz="1800" dirty="0">
              <a:latin typeface="Arial" panose="020B0604020202020204" pitchFamily="34" charset="0"/>
              <a:cs typeface="Arial" panose="020B0604020202020204" pitchFamily="34" charset="0"/>
            </a:endParaRPr>
          </a:p>
          <a:p>
            <a:pPr marL="283464" indent="-283464">
              <a:spcAft>
                <a:spcPts val="800"/>
              </a:spcAft>
              <a:buFont typeface="+mj-lt"/>
              <a:buAutoNum type="alphaLcParenR"/>
              <a:tabLst>
                <a:tab pos="288706" algn="l"/>
              </a:tabLst>
            </a:pPr>
            <a:r>
              <a:rPr sz="1800" spc="-7" dirty="0">
                <a:latin typeface="Arial" panose="020B0604020202020204" pitchFamily="34" charset="0"/>
                <a:cs typeface="Arial" panose="020B0604020202020204" pitchFamily="34" charset="0"/>
              </a:rPr>
              <a:t>Data</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cleaning</a:t>
            </a:r>
          </a:p>
        </p:txBody>
      </p:sp>
      <p:sp>
        <p:nvSpPr>
          <p:cNvPr id="3" name="Title 3">
            <a:extLst>
              <a:ext uri="{FF2B5EF4-FFF2-40B4-BE49-F238E27FC236}">
                <a16:creationId xmlns:a16="http://schemas.microsoft.com/office/drawing/2014/main" id="{7068FFB1-75CF-B400-D312-A9A66E4147D9}"/>
              </a:ext>
            </a:extLst>
          </p:cNvPr>
          <p:cNvSpPr txBox="1">
            <a:spLocks/>
          </p:cNvSpPr>
          <p:nvPr/>
        </p:nvSpPr>
        <p:spPr>
          <a:xfrm>
            <a:off x="360614" y="857641"/>
            <a:ext cx="573538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kumimoji="0" lang="en-US" sz="20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Quiz</a:t>
            </a:r>
          </a:p>
        </p:txBody>
      </p:sp>
      <p:sp>
        <p:nvSpPr>
          <p:cNvPr id="5" name="TextBox 4">
            <a:extLst>
              <a:ext uri="{FF2B5EF4-FFF2-40B4-BE49-F238E27FC236}">
                <a16:creationId xmlns:a16="http://schemas.microsoft.com/office/drawing/2014/main" id="{DF74AECE-A7A2-8AA5-69E4-1BE2CED36AF3}"/>
              </a:ext>
            </a:extLst>
          </p:cNvPr>
          <p:cNvSpPr txBox="1"/>
          <p:nvPr/>
        </p:nvSpPr>
        <p:spPr>
          <a:xfrm>
            <a:off x="457200" y="5738336"/>
            <a:ext cx="9493167"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C</a:t>
            </a:r>
          </a:p>
          <a:p>
            <a:r>
              <a:rPr lang="en-US" sz="2000" dirty="0">
                <a:latin typeface="Arial" panose="020B0604020202020204" pitchFamily="34" charset="0"/>
                <a:cs typeface="Arial" panose="020B0604020202020204" pitchFamily="34" charset="0"/>
              </a:rPr>
              <a:t>Extracting insights from data</a:t>
            </a:r>
          </a:p>
        </p:txBody>
      </p:sp>
      <p:pic>
        <p:nvPicPr>
          <p:cNvPr id="2" name="Picture 1" descr="A black background with a black square&#10;&#10;Description automatically generated with medium confidence">
            <a:extLst>
              <a:ext uri="{FF2B5EF4-FFF2-40B4-BE49-F238E27FC236}">
                <a16:creationId xmlns:a16="http://schemas.microsoft.com/office/drawing/2014/main" id="{798D637C-51FA-E094-AE3B-9EAE0147B18A}"/>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8" name="TextBox 7">
            <a:extLst>
              <a:ext uri="{FF2B5EF4-FFF2-40B4-BE49-F238E27FC236}">
                <a16:creationId xmlns:a16="http://schemas.microsoft.com/office/drawing/2014/main" id="{8546E4CE-94B2-F81D-06F8-0A9F2213A8ED}"/>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spTree>
    <p:extLst>
      <p:ext uri="{BB962C8B-B14F-4D97-AF65-F5344CB8AC3E}">
        <p14:creationId xmlns:p14="http://schemas.microsoft.com/office/powerpoint/2010/main" val="106508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35C9101-C789-7B5F-9D34-621DCAAB65AC}"/>
              </a:ext>
            </a:extLst>
          </p:cNvPr>
          <p:cNvGrpSpPr/>
          <p:nvPr/>
        </p:nvGrpSpPr>
        <p:grpSpPr>
          <a:xfrm>
            <a:off x="0" y="5311236"/>
            <a:ext cx="12192000" cy="1545663"/>
            <a:chOff x="0" y="4953000"/>
            <a:chExt cx="12192000" cy="1524000"/>
          </a:xfrm>
        </p:grpSpPr>
        <p:sp>
          <p:nvSpPr>
            <p:cNvPr id="10" name="Rectangle 9">
              <a:extLst>
                <a:ext uri="{FF2B5EF4-FFF2-40B4-BE49-F238E27FC236}">
                  <a16:creationId xmlns:a16="http://schemas.microsoft.com/office/drawing/2014/main" id="{071FB11A-EE17-923B-1579-8A4B1EF353F1}"/>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EFC40A86-E911-0660-F193-3295DEEEADF6}"/>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bject 7"/>
          <p:cNvSpPr txBox="1"/>
          <p:nvPr/>
        </p:nvSpPr>
        <p:spPr>
          <a:xfrm>
            <a:off x="457199" y="1368851"/>
            <a:ext cx="7416485" cy="2191198"/>
          </a:xfrm>
          <a:prstGeom prst="rect">
            <a:avLst/>
          </a:prstGeom>
        </p:spPr>
        <p:txBody>
          <a:bodyPr vert="horz" wrap="square" lIns="0" tIns="16087" rIns="0" bIns="0" rtlCol="0">
            <a:spAutoFit/>
          </a:bodyPr>
          <a:lstStyle/>
          <a:p>
            <a:pPr marL="365760" indent="-365760">
              <a:spcBef>
                <a:spcPts val="1813"/>
              </a:spcBef>
              <a:spcAft>
                <a:spcPts val="800"/>
              </a:spcAft>
            </a:pPr>
            <a:r>
              <a:rPr lang="en-US" sz="1800" b="1" dirty="0">
                <a:latin typeface="Arial" panose="020B0604020202020204" pitchFamily="34" charset="0"/>
                <a:cs typeface="Arial" panose="020B0604020202020204" pitchFamily="34" charset="0"/>
              </a:rPr>
              <a:t>2. </a:t>
            </a:r>
            <a:r>
              <a:rPr sz="1800" b="1" dirty="0">
                <a:latin typeface="Arial" panose="020B0604020202020204" pitchFamily="34" charset="0"/>
                <a:cs typeface="Arial" panose="020B0604020202020204" pitchFamily="34" charset="0"/>
              </a:rPr>
              <a:t>Which</a:t>
            </a:r>
            <a:r>
              <a:rPr sz="1800" b="1" spc="-2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of</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the</a:t>
            </a:r>
            <a:r>
              <a:rPr sz="1800" b="1" spc="-2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following</a:t>
            </a:r>
            <a:r>
              <a:rPr sz="1800" b="1" spc="-6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is</a:t>
            </a:r>
            <a:r>
              <a:rPr sz="1800" b="1" spc="-2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NOT</a:t>
            </a:r>
            <a:r>
              <a:rPr sz="1800" b="1" spc="-2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a</a:t>
            </a:r>
            <a:r>
              <a:rPr sz="1800" b="1" spc="-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common</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step</a:t>
            </a:r>
            <a:r>
              <a:rPr sz="1800" b="1" spc="-4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in</a:t>
            </a:r>
            <a:r>
              <a:rPr sz="1800" b="1" spc="-13" dirty="0">
                <a:latin typeface="Arial" panose="020B0604020202020204" pitchFamily="34" charset="0"/>
                <a:cs typeface="Arial" panose="020B0604020202020204" pitchFamily="34" charset="0"/>
              </a:rPr>
              <a:t> EDA?</a:t>
            </a:r>
            <a:endParaRPr lang="en-US" b="1" spc="-13" dirty="0">
              <a:latin typeface="Arial" panose="020B0604020202020204" pitchFamily="34" charset="0"/>
              <a:cs typeface="Arial" panose="020B0604020202020204" pitchFamily="34" charset="0"/>
            </a:endParaRPr>
          </a:p>
          <a:p>
            <a:pPr>
              <a:spcAft>
                <a:spcPts val="800"/>
              </a:spcAft>
            </a:pP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323419" algn="l"/>
              </a:tabLst>
            </a:pPr>
            <a:r>
              <a:rPr sz="1800" dirty="0">
                <a:latin typeface="Arial" panose="020B0604020202020204" pitchFamily="34" charset="0"/>
                <a:cs typeface="Arial" panose="020B0604020202020204" pitchFamily="34" charset="0"/>
              </a:rPr>
              <a:t>Summary</a:t>
            </a:r>
            <a:r>
              <a:rPr sz="1800" spc="-5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statistics</a:t>
            </a:r>
          </a:p>
          <a:p>
            <a:pPr marL="283464" indent="-283464">
              <a:spcAft>
                <a:spcPts val="800"/>
              </a:spcAft>
              <a:buAutoNum type="alphaLcParenR"/>
              <a:tabLst>
                <a:tab pos="323419" algn="l"/>
              </a:tabLst>
            </a:pPr>
            <a:r>
              <a:rPr sz="1800" dirty="0">
                <a:latin typeface="Arial" panose="020B0604020202020204" pitchFamily="34" charset="0"/>
                <a:cs typeface="Arial" panose="020B0604020202020204" pitchFamily="34" charset="0"/>
              </a:rPr>
              <a:t>Data</a:t>
            </a:r>
            <a:r>
              <a:rPr sz="1800" spc="-6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transformation</a:t>
            </a:r>
          </a:p>
          <a:p>
            <a:pPr marL="283464" indent="-283464">
              <a:spcAft>
                <a:spcPts val="800"/>
              </a:spcAft>
              <a:buAutoNum type="alphaLcParenR"/>
              <a:tabLst>
                <a:tab pos="310719" algn="l"/>
              </a:tabLst>
            </a:pPr>
            <a:r>
              <a:rPr sz="1800" dirty="0">
                <a:latin typeface="Arial" panose="020B0604020202020204" pitchFamily="34" charset="0"/>
                <a:cs typeface="Arial" panose="020B0604020202020204" pitchFamily="34" charset="0"/>
              </a:rPr>
              <a:t>Hypothesis</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testing</a:t>
            </a:r>
          </a:p>
          <a:p>
            <a:pPr marL="283464" indent="-283464">
              <a:spcAft>
                <a:spcPts val="800"/>
              </a:spcAft>
              <a:buAutoNum type="alphaLcParenR"/>
              <a:tabLst>
                <a:tab pos="323419" algn="l"/>
              </a:tabLst>
            </a:pPr>
            <a:r>
              <a:rPr sz="1800" dirty="0">
                <a:latin typeface="Arial" panose="020B0604020202020204" pitchFamily="34" charset="0"/>
                <a:cs typeface="Arial" panose="020B0604020202020204" pitchFamily="34" charset="0"/>
              </a:rPr>
              <a:t>Implementing</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predictive</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models</a:t>
            </a:r>
          </a:p>
        </p:txBody>
      </p:sp>
      <p:sp>
        <p:nvSpPr>
          <p:cNvPr id="4" name="TextBox 3">
            <a:extLst>
              <a:ext uri="{FF2B5EF4-FFF2-40B4-BE49-F238E27FC236}">
                <a16:creationId xmlns:a16="http://schemas.microsoft.com/office/drawing/2014/main" id="{B2A77798-F4FC-F9ED-5C0D-BED9163CC773}"/>
              </a:ext>
            </a:extLst>
          </p:cNvPr>
          <p:cNvSpPr txBox="1"/>
          <p:nvPr/>
        </p:nvSpPr>
        <p:spPr>
          <a:xfrm>
            <a:off x="457200" y="5738336"/>
            <a:ext cx="9493166"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D</a:t>
            </a:r>
          </a:p>
          <a:p>
            <a:r>
              <a:rPr lang="en-US" sz="2000" dirty="0">
                <a:latin typeface="Arial" panose="020B0604020202020204" pitchFamily="34" charset="0"/>
                <a:cs typeface="Arial" panose="020B0604020202020204" pitchFamily="34" charset="0"/>
              </a:rPr>
              <a:t>Implementing predictive models</a:t>
            </a:r>
          </a:p>
        </p:txBody>
      </p:sp>
      <p:pic>
        <p:nvPicPr>
          <p:cNvPr id="2" name="Picture 1" descr="A black background with a black square&#10;&#10;Description automatically generated with medium confidence">
            <a:extLst>
              <a:ext uri="{FF2B5EF4-FFF2-40B4-BE49-F238E27FC236}">
                <a16:creationId xmlns:a16="http://schemas.microsoft.com/office/drawing/2014/main" id="{1C7FC79E-89E7-7E3B-2D11-11712C5FE7BE}"/>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8" name="TextBox 7">
            <a:extLst>
              <a:ext uri="{FF2B5EF4-FFF2-40B4-BE49-F238E27FC236}">
                <a16:creationId xmlns:a16="http://schemas.microsoft.com/office/drawing/2014/main" id="{06D5FF8B-5E02-FCEF-3B6B-BB217BE4B922}"/>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sp>
        <p:nvSpPr>
          <p:cNvPr id="5" name="Title 3">
            <a:extLst>
              <a:ext uri="{FF2B5EF4-FFF2-40B4-BE49-F238E27FC236}">
                <a16:creationId xmlns:a16="http://schemas.microsoft.com/office/drawing/2014/main" id="{8B931828-522A-C824-22C6-EF8C1E588F63}"/>
              </a:ext>
            </a:extLst>
          </p:cNvPr>
          <p:cNvSpPr txBox="1">
            <a:spLocks/>
          </p:cNvSpPr>
          <p:nvPr/>
        </p:nvSpPr>
        <p:spPr>
          <a:xfrm>
            <a:off x="360614" y="857641"/>
            <a:ext cx="573538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kumimoji="0" lang="en-US" sz="20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Quiz</a:t>
            </a:r>
          </a:p>
        </p:txBody>
      </p:sp>
    </p:spTree>
    <p:extLst>
      <p:ext uri="{BB962C8B-B14F-4D97-AF65-F5344CB8AC3E}">
        <p14:creationId xmlns:p14="http://schemas.microsoft.com/office/powerpoint/2010/main" val="1311330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F53BDCA3-8941-9E00-1FC3-B0F89D850722}"/>
              </a:ext>
            </a:extLst>
          </p:cNvPr>
          <p:cNvGrpSpPr/>
          <p:nvPr/>
        </p:nvGrpSpPr>
        <p:grpSpPr>
          <a:xfrm>
            <a:off x="0" y="5311236"/>
            <a:ext cx="12192000" cy="1545663"/>
            <a:chOff x="0" y="4953000"/>
            <a:chExt cx="12192000" cy="1524000"/>
          </a:xfrm>
        </p:grpSpPr>
        <p:sp>
          <p:nvSpPr>
            <p:cNvPr id="10" name="Rectangle 9">
              <a:extLst>
                <a:ext uri="{FF2B5EF4-FFF2-40B4-BE49-F238E27FC236}">
                  <a16:creationId xmlns:a16="http://schemas.microsoft.com/office/drawing/2014/main" id="{B0984352-0EAA-BA5B-DA5B-446B16080079}"/>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D0D08064-38E8-3129-B190-7B50FDCDD41E}"/>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bject 7"/>
          <p:cNvSpPr txBox="1"/>
          <p:nvPr/>
        </p:nvSpPr>
        <p:spPr>
          <a:xfrm>
            <a:off x="457200" y="1365783"/>
            <a:ext cx="9493166" cy="2191198"/>
          </a:xfrm>
          <a:prstGeom prst="rect">
            <a:avLst/>
          </a:prstGeom>
        </p:spPr>
        <p:txBody>
          <a:bodyPr vert="horz" wrap="square" lIns="0" tIns="16087" rIns="0" bIns="0" rtlCol="0" anchor="t">
            <a:spAutoFit/>
          </a:bodyPr>
          <a:lstStyle/>
          <a:p>
            <a:pPr marL="365760" marR="6350" indent="-365760">
              <a:spcAft>
                <a:spcPts val="800"/>
              </a:spcAft>
            </a:pPr>
            <a:r>
              <a:rPr sz="1800" b="1" dirty="0">
                <a:latin typeface="Arial" panose="020B0604020202020204" pitchFamily="34" charset="0"/>
                <a:cs typeface="Arial" panose="020B0604020202020204" pitchFamily="34" charset="0"/>
              </a:rPr>
              <a:t>3</a:t>
            </a:r>
            <a:r>
              <a:rPr lang="en-US" sz="1800" b="1"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What </a:t>
            </a:r>
            <a:r>
              <a:rPr sz="1800" b="1" spc="-20" dirty="0">
                <a:latin typeface="Arial" panose="020B0604020202020204" pitchFamily="34" charset="0"/>
                <a:cs typeface="Arial" panose="020B0604020202020204" pitchFamily="34" charset="0"/>
              </a:rPr>
              <a:t>type </a:t>
            </a:r>
            <a:r>
              <a:rPr sz="1800" b="1" spc="-7" dirty="0">
                <a:latin typeface="Arial" panose="020B0604020202020204" pitchFamily="34" charset="0"/>
                <a:cs typeface="Arial" panose="020B0604020202020204" pitchFamily="34" charset="0"/>
              </a:rPr>
              <a:t>of visualization </a:t>
            </a:r>
            <a:r>
              <a:rPr sz="1800" b="1" dirty="0">
                <a:latin typeface="Arial" panose="020B0604020202020204" pitchFamily="34" charset="0"/>
                <a:cs typeface="Arial" panose="020B0604020202020204" pitchFamily="34" charset="0"/>
              </a:rPr>
              <a:t>is </a:t>
            </a:r>
            <a:r>
              <a:rPr sz="1800" b="1" spc="-7" dirty="0">
                <a:latin typeface="Arial" panose="020B0604020202020204" pitchFamily="34" charset="0"/>
                <a:cs typeface="Arial" panose="020B0604020202020204" pitchFamily="34" charset="0"/>
              </a:rPr>
              <a:t>useful for </a:t>
            </a:r>
            <a:r>
              <a:rPr sz="1800" b="1" spc="-13" dirty="0">
                <a:latin typeface="Arial" panose="020B0604020202020204" pitchFamily="34" charset="0"/>
                <a:cs typeface="Arial" panose="020B0604020202020204" pitchFamily="34" charset="0"/>
              </a:rPr>
              <a:t>displaying </a:t>
            </a:r>
            <a:r>
              <a:rPr sz="1800" b="1" spc="-7" dirty="0">
                <a:latin typeface="Arial" panose="020B0604020202020204" pitchFamily="34" charset="0"/>
                <a:cs typeface="Arial" panose="020B0604020202020204" pitchFamily="34" charset="0"/>
              </a:rPr>
              <a:t>the distribution of categorical </a:t>
            </a:r>
            <a:r>
              <a:rPr sz="1800" b="1" spc="-50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data?</a:t>
            </a:r>
            <a:endParaRPr sz="1800" dirty="0">
              <a:latin typeface="Arial" panose="020B0604020202020204" pitchFamily="34" charset="0"/>
              <a:cs typeface="Arial" panose="020B0604020202020204" pitchFamily="34" charset="0"/>
            </a:endParaRPr>
          </a:p>
          <a:p>
            <a:pPr marL="365760" indent="-365760">
              <a:spcBef>
                <a:spcPts val="20"/>
              </a:spcBef>
              <a:spcAft>
                <a:spcPts val="800"/>
              </a:spcAft>
            </a:pP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673928" algn="l"/>
              </a:tabLst>
            </a:pPr>
            <a:r>
              <a:rPr sz="1800" dirty="0">
                <a:latin typeface="Arial" panose="020B0604020202020204" pitchFamily="34" charset="0"/>
                <a:cs typeface="Arial" panose="020B0604020202020204" pitchFamily="34" charset="0"/>
              </a:rPr>
              <a:t>Scatter</a:t>
            </a:r>
            <a:r>
              <a:rPr sz="1800" spc="-107"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plot</a:t>
            </a:r>
          </a:p>
          <a:p>
            <a:pPr marL="283464" indent="-283464">
              <a:spcAft>
                <a:spcPts val="800"/>
              </a:spcAft>
              <a:buAutoNum type="alphaLcParenR"/>
              <a:tabLst>
                <a:tab pos="673928" algn="l"/>
              </a:tabLst>
            </a:pPr>
            <a:r>
              <a:rPr sz="1800" dirty="0">
                <a:latin typeface="Arial" panose="020B0604020202020204" pitchFamily="34" charset="0"/>
                <a:cs typeface="Arial" panose="020B0604020202020204" pitchFamily="34" charset="0"/>
              </a:rPr>
              <a:t>Line</a:t>
            </a:r>
            <a:r>
              <a:rPr sz="1800" spc="-8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plot</a:t>
            </a:r>
          </a:p>
          <a:p>
            <a:pPr marL="283464" indent="-283464">
              <a:spcAft>
                <a:spcPts val="800"/>
              </a:spcAft>
              <a:buAutoNum type="alphaLcParenR"/>
              <a:tabLst>
                <a:tab pos="661229" algn="l"/>
              </a:tabLst>
            </a:pPr>
            <a:r>
              <a:rPr sz="1800" dirty="0">
                <a:latin typeface="Arial" panose="020B0604020202020204" pitchFamily="34" charset="0"/>
                <a:cs typeface="Arial" panose="020B0604020202020204" pitchFamily="34" charset="0"/>
              </a:rPr>
              <a:t>Histogram</a:t>
            </a:r>
          </a:p>
          <a:p>
            <a:pPr marL="283464" indent="-283464">
              <a:spcAft>
                <a:spcPts val="800"/>
              </a:spcAft>
              <a:buAutoNum type="alphaLcParenR"/>
              <a:tabLst>
                <a:tab pos="673928" algn="l"/>
              </a:tabLst>
            </a:pPr>
            <a:r>
              <a:rPr sz="1800" dirty="0">
                <a:latin typeface="Arial" panose="020B0604020202020204" pitchFamily="34" charset="0"/>
                <a:cs typeface="Arial" panose="020B0604020202020204" pitchFamily="34" charset="0"/>
              </a:rPr>
              <a:t>Box</a:t>
            </a:r>
            <a:r>
              <a:rPr sz="1800" spc="-60"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plot</a:t>
            </a:r>
          </a:p>
        </p:txBody>
      </p:sp>
      <p:sp>
        <p:nvSpPr>
          <p:cNvPr id="4" name="TextBox 3">
            <a:extLst>
              <a:ext uri="{FF2B5EF4-FFF2-40B4-BE49-F238E27FC236}">
                <a16:creationId xmlns:a16="http://schemas.microsoft.com/office/drawing/2014/main" id="{D41C98CC-605E-C713-2F81-C9E71DD6B051}"/>
              </a:ext>
            </a:extLst>
          </p:cNvPr>
          <p:cNvSpPr txBox="1"/>
          <p:nvPr/>
        </p:nvSpPr>
        <p:spPr>
          <a:xfrm>
            <a:off x="457200" y="5715000"/>
            <a:ext cx="9445542"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C</a:t>
            </a:r>
          </a:p>
          <a:p>
            <a:r>
              <a:rPr lang="en-US" sz="2000" dirty="0">
                <a:latin typeface="Arial" panose="020B0604020202020204" pitchFamily="34" charset="0"/>
                <a:cs typeface="Arial" panose="020B0604020202020204" pitchFamily="34" charset="0"/>
              </a:rPr>
              <a:t>Histogram</a:t>
            </a:r>
          </a:p>
        </p:txBody>
      </p:sp>
      <p:pic>
        <p:nvPicPr>
          <p:cNvPr id="2" name="Picture 1" descr="A black background with a black square&#10;&#10;Description automatically generated with medium confidence">
            <a:extLst>
              <a:ext uri="{FF2B5EF4-FFF2-40B4-BE49-F238E27FC236}">
                <a16:creationId xmlns:a16="http://schemas.microsoft.com/office/drawing/2014/main" id="{C03B6797-4EA5-9A01-5633-BABAC8D502B8}"/>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8" name="TextBox 7">
            <a:extLst>
              <a:ext uri="{FF2B5EF4-FFF2-40B4-BE49-F238E27FC236}">
                <a16:creationId xmlns:a16="http://schemas.microsoft.com/office/drawing/2014/main" id="{55C95D42-CB9B-2674-B886-5A76D912CF8F}"/>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sp>
        <p:nvSpPr>
          <p:cNvPr id="5" name="Title 3">
            <a:extLst>
              <a:ext uri="{FF2B5EF4-FFF2-40B4-BE49-F238E27FC236}">
                <a16:creationId xmlns:a16="http://schemas.microsoft.com/office/drawing/2014/main" id="{4B460DBE-C726-B5B3-C8FC-84A838B945FF}"/>
              </a:ext>
            </a:extLst>
          </p:cNvPr>
          <p:cNvSpPr txBox="1">
            <a:spLocks/>
          </p:cNvSpPr>
          <p:nvPr/>
        </p:nvSpPr>
        <p:spPr>
          <a:xfrm>
            <a:off x="360614" y="857641"/>
            <a:ext cx="573538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kumimoji="0" lang="en-US" sz="20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Quiz</a:t>
            </a:r>
          </a:p>
        </p:txBody>
      </p:sp>
    </p:spTree>
    <p:extLst>
      <p:ext uri="{BB962C8B-B14F-4D97-AF65-F5344CB8AC3E}">
        <p14:creationId xmlns:p14="http://schemas.microsoft.com/office/powerpoint/2010/main" val="193029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5CDF107-AA56-69C8-F9ED-F96E24FE66F4}"/>
              </a:ext>
            </a:extLst>
          </p:cNvPr>
          <p:cNvGrpSpPr/>
          <p:nvPr/>
        </p:nvGrpSpPr>
        <p:grpSpPr>
          <a:xfrm>
            <a:off x="0" y="5311236"/>
            <a:ext cx="12192000" cy="1545663"/>
            <a:chOff x="0" y="4953000"/>
            <a:chExt cx="12192000" cy="1524000"/>
          </a:xfrm>
        </p:grpSpPr>
        <p:sp>
          <p:nvSpPr>
            <p:cNvPr id="10" name="Rectangle 9">
              <a:extLst>
                <a:ext uri="{FF2B5EF4-FFF2-40B4-BE49-F238E27FC236}">
                  <a16:creationId xmlns:a16="http://schemas.microsoft.com/office/drawing/2014/main" id="{F7DC17F2-20ED-07FB-E64D-0E98FFDC9B70}"/>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F4709347-1A21-433B-B21F-6B28CE0CD84F}"/>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object 8"/>
          <p:cNvSpPr txBox="1"/>
          <p:nvPr/>
        </p:nvSpPr>
        <p:spPr>
          <a:xfrm>
            <a:off x="457200" y="1363769"/>
            <a:ext cx="8820150" cy="2192908"/>
          </a:xfrm>
          <a:prstGeom prst="rect">
            <a:avLst/>
          </a:prstGeom>
        </p:spPr>
        <p:txBody>
          <a:bodyPr vert="horz" wrap="square" lIns="0" tIns="17780" rIns="0" bIns="0" rtlCol="0">
            <a:spAutoFit/>
          </a:bodyPr>
          <a:lstStyle/>
          <a:p>
            <a:pPr marL="365760" indent="-365760">
              <a:spcBef>
                <a:spcPts val="140"/>
              </a:spcBef>
              <a:spcAft>
                <a:spcPts val="800"/>
              </a:spcAft>
            </a:pPr>
            <a:r>
              <a:rPr lang="en-US" sz="1800" b="1" spc="-7" dirty="0">
                <a:latin typeface="Arial" panose="020B0604020202020204" pitchFamily="34" charset="0"/>
                <a:cs typeface="Arial" panose="020B0604020202020204" pitchFamily="34" charset="0"/>
              </a:rPr>
              <a:t>4. </a:t>
            </a:r>
            <a:r>
              <a:rPr sz="1800" b="1" spc="-7" dirty="0">
                <a:latin typeface="Arial" panose="020B0604020202020204" pitchFamily="34" charset="0"/>
                <a:cs typeface="Arial" panose="020B0604020202020204" pitchFamily="34" charset="0"/>
              </a:rPr>
              <a:t>Which</a:t>
            </a:r>
            <a:r>
              <a:rPr sz="1800" b="1" dirty="0">
                <a:latin typeface="Arial" panose="020B0604020202020204" pitchFamily="34" charset="0"/>
                <a:cs typeface="Arial" panose="020B0604020202020204" pitchFamily="34" charset="0"/>
              </a:rPr>
              <a:t> EDA</a:t>
            </a:r>
            <a:r>
              <a:rPr sz="1800" b="1" spc="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technique</a:t>
            </a:r>
            <a:r>
              <a:rPr sz="1800" b="1" spc="-5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is</a:t>
            </a:r>
            <a:r>
              <a:rPr sz="1800" b="1" spc="27"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useful</a:t>
            </a:r>
            <a:r>
              <a:rPr sz="1800" b="1" spc="-40"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for</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identifying</a:t>
            </a:r>
            <a:r>
              <a:rPr sz="1800" b="1" spc="-4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outliers</a:t>
            </a:r>
            <a:r>
              <a:rPr sz="1800" b="1" spc="-2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in a</a:t>
            </a:r>
            <a:r>
              <a:rPr sz="1800" b="1" spc="-7" dirty="0">
                <a:latin typeface="Arial" panose="020B0604020202020204" pitchFamily="34" charset="0"/>
                <a:cs typeface="Arial" panose="020B0604020202020204" pitchFamily="34" charset="0"/>
              </a:rPr>
              <a:t> dataset?</a:t>
            </a:r>
            <a:endParaRPr sz="1800" dirty="0">
              <a:latin typeface="Arial" panose="020B0604020202020204" pitchFamily="34" charset="0"/>
              <a:cs typeface="Arial" panose="020B0604020202020204" pitchFamily="34" charset="0"/>
            </a:endParaRPr>
          </a:p>
          <a:p>
            <a:pPr marL="365760" indent="-365760">
              <a:spcBef>
                <a:spcPts val="40"/>
              </a:spcBef>
              <a:spcAft>
                <a:spcPts val="800"/>
              </a:spcAft>
            </a:pP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256534" algn="l"/>
              </a:tabLst>
            </a:pPr>
            <a:r>
              <a:rPr sz="1800" spc="-7" dirty="0">
                <a:latin typeface="Arial" panose="020B0604020202020204" pitchFamily="34" charset="0"/>
                <a:cs typeface="Arial" panose="020B0604020202020204" pitchFamily="34" charset="0"/>
              </a:rPr>
              <a:t>Correlation</a:t>
            </a:r>
            <a:r>
              <a:rPr sz="1800" spc="-33" dirty="0">
                <a:latin typeface="Arial" panose="020B0604020202020204" pitchFamily="34" charset="0"/>
                <a:cs typeface="Arial" panose="020B0604020202020204" pitchFamily="34" charset="0"/>
              </a:rPr>
              <a:t> </a:t>
            </a:r>
            <a:r>
              <a:rPr sz="1800" dirty="0">
                <a:latin typeface="Arial" panose="020B0604020202020204" pitchFamily="34" charset="0"/>
                <a:cs typeface="Arial" panose="020B0604020202020204" pitchFamily="34" charset="0"/>
              </a:rPr>
              <a:t>analysis</a:t>
            </a:r>
          </a:p>
          <a:p>
            <a:pPr marL="283464" indent="-283464">
              <a:spcAft>
                <a:spcPts val="800"/>
              </a:spcAft>
              <a:buAutoNum type="alphaLcParenR"/>
              <a:tabLst>
                <a:tab pos="266693" algn="l"/>
              </a:tabLst>
            </a:pPr>
            <a:r>
              <a:rPr sz="1800" spc="-7" dirty="0">
                <a:latin typeface="Arial" panose="020B0604020202020204" pitchFamily="34" charset="0"/>
                <a:cs typeface="Arial" panose="020B0604020202020204" pitchFamily="34" charset="0"/>
              </a:rPr>
              <a:t>Time</a:t>
            </a:r>
            <a:r>
              <a:rPr sz="1800" spc="-27"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series decomposition</a:t>
            </a: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240447" algn="l"/>
              </a:tabLst>
            </a:pPr>
            <a:r>
              <a:rPr sz="1800" dirty="0">
                <a:latin typeface="Arial" panose="020B0604020202020204" pitchFamily="34" charset="0"/>
                <a:cs typeface="Arial" panose="020B0604020202020204" pitchFamily="34" charset="0"/>
              </a:rPr>
              <a:t>Box</a:t>
            </a:r>
            <a:r>
              <a:rPr sz="1800" spc="-6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plot</a:t>
            </a: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266693" algn="l"/>
              </a:tabLst>
            </a:pPr>
            <a:r>
              <a:rPr sz="1800" spc="-7" dirty="0">
                <a:latin typeface="Arial" panose="020B0604020202020204" pitchFamily="34" charset="0"/>
                <a:cs typeface="Arial" panose="020B0604020202020204" pitchFamily="34" charset="0"/>
              </a:rPr>
              <a:t>Hypothesis</a:t>
            </a:r>
            <a:r>
              <a:rPr sz="1800" spc="-20" dirty="0">
                <a:latin typeface="Arial" panose="020B0604020202020204" pitchFamily="34" charset="0"/>
                <a:cs typeface="Arial" panose="020B0604020202020204" pitchFamily="34" charset="0"/>
              </a:rPr>
              <a:t> </a:t>
            </a:r>
            <a:r>
              <a:rPr sz="1800" spc="-7" dirty="0">
                <a:latin typeface="Arial" panose="020B0604020202020204" pitchFamily="34" charset="0"/>
                <a:cs typeface="Arial" panose="020B0604020202020204" pitchFamily="34" charset="0"/>
              </a:rPr>
              <a:t>testing</a:t>
            </a:r>
            <a:endParaRPr sz="18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273F64F-E3EC-813E-71CD-FDE5C557C3EF}"/>
              </a:ext>
            </a:extLst>
          </p:cNvPr>
          <p:cNvSpPr txBox="1"/>
          <p:nvPr/>
        </p:nvSpPr>
        <p:spPr>
          <a:xfrm>
            <a:off x="457200" y="5715000"/>
            <a:ext cx="9493167"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C</a:t>
            </a:r>
          </a:p>
          <a:p>
            <a:r>
              <a:rPr lang="en-US" sz="2000" dirty="0">
                <a:latin typeface="Arial" panose="020B0604020202020204" pitchFamily="34" charset="0"/>
                <a:cs typeface="Arial" panose="020B0604020202020204" pitchFamily="34" charset="0"/>
              </a:rPr>
              <a:t>Box plot</a:t>
            </a:r>
          </a:p>
        </p:txBody>
      </p:sp>
      <p:pic>
        <p:nvPicPr>
          <p:cNvPr id="2" name="Picture 1" descr="A black background with a black square&#10;&#10;Description automatically generated with medium confidence">
            <a:extLst>
              <a:ext uri="{FF2B5EF4-FFF2-40B4-BE49-F238E27FC236}">
                <a16:creationId xmlns:a16="http://schemas.microsoft.com/office/drawing/2014/main" id="{3E0A5E8E-976F-1063-492A-003E6E67DE08}"/>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7" name="TextBox 6">
            <a:extLst>
              <a:ext uri="{FF2B5EF4-FFF2-40B4-BE49-F238E27FC236}">
                <a16:creationId xmlns:a16="http://schemas.microsoft.com/office/drawing/2014/main" id="{18C3F62E-A710-6E21-645F-0B1C3852DF79}"/>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sp>
        <p:nvSpPr>
          <p:cNvPr id="6" name="Title 3">
            <a:extLst>
              <a:ext uri="{FF2B5EF4-FFF2-40B4-BE49-F238E27FC236}">
                <a16:creationId xmlns:a16="http://schemas.microsoft.com/office/drawing/2014/main" id="{107ADBC9-7A92-2B13-2D25-C34F5D0DFDDC}"/>
              </a:ext>
            </a:extLst>
          </p:cNvPr>
          <p:cNvSpPr txBox="1">
            <a:spLocks/>
          </p:cNvSpPr>
          <p:nvPr/>
        </p:nvSpPr>
        <p:spPr>
          <a:xfrm>
            <a:off x="360614" y="857641"/>
            <a:ext cx="573538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kumimoji="0" lang="en-US" sz="20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Quiz</a:t>
            </a:r>
          </a:p>
        </p:txBody>
      </p:sp>
    </p:spTree>
    <p:extLst>
      <p:ext uri="{BB962C8B-B14F-4D97-AF65-F5344CB8AC3E}">
        <p14:creationId xmlns:p14="http://schemas.microsoft.com/office/powerpoint/2010/main" val="866452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2B0910F-6582-CA6B-17FC-12D87B01A084}"/>
              </a:ext>
            </a:extLst>
          </p:cNvPr>
          <p:cNvGrpSpPr/>
          <p:nvPr/>
        </p:nvGrpSpPr>
        <p:grpSpPr>
          <a:xfrm>
            <a:off x="0" y="5311236"/>
            <a:ext cx="12192000" cy="1545663"/>
            <a:chOff x="0" y="4953000"/>
            <a:chExt cx="12192000" cy="1524000"/>
          </a:xfrm>
        </p:grpSpPr>
        <p:sp>
          <p:nvSpPr>
            <p:cNvPr id="10" name="Rectangle 9">
              <a:extLst>
                <a:ext uri="{FF2B5EF4-FFF2-40B4-BE49-F238E27FC236}">
                  <a16:creationId xmlns:a16="http://schemas.microsoft.com/office/drawing/2014/main" id="{400D5E83-EB6F-EA29-2C75-B15E80AE178B}"/>
                </a:ext>
              </a:extLst>
            </p:cNvPr>
            <p:cNvSpPr/>
            <p:nvPr/>
          </p:nvSpPr>
          <p:spPr>
            <a:xfrm>
              <a:off x="0" y="4953000"/>
              <a:ext cx="12192000" cy="1524000"/>
            </a:xfrm>
            <a:prstGeom prst="rect">
              <a:avLst/>
            </a:prstGeom>
            <a:solidFill>
              <a:srgbClr val="D8F1FF">
                <a:alpha val="4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052EB18E-2D33-704B-5C50-872AB696C42F}"/>
                </a:ext>
              </a:extLst>
            </p:cNvPr>
            <p:cNvSpPr/>
            <p:nvPr/>
          </p:nvSpPr>
          <p:spPr>
            <a:xfrm>
              <a:off x="495300" y="5105400"/>
              <a:ext cx="11201400" cy="1219200"/>
            </a:xfrm>
            <a:prstGeom prst="round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object 7"/>
          <p:cNvSpPr txBox="1"/>
          <p:nvPr/>
        </p:nvSpPr>
        <p:spPr>
          <a:xfrm>
            <a:off x="457199" y="1367808"/>
            <a:ext cx="7620001" cy="2468197"/>
          </a:xfrm>
          <a:prstGeom prst="rect">
            <a:avLst/>
          </a:prstGeom>
        </p:spPr>
        <p:txBody>
          <a:bodyPr vert="horz" wrap="square" lIns="0" tIns="16087" rIns="0" bIns="0" rtlCol="0">
            <a:spAutoFit/>
          </a:bodyPr>
          <a:lstStyle/>
          <a:p>
            <a:pPr>
              <a:spcAft>
                <a:spcPts val="800"/>
              </a:spcAft>
            </a:pPr>
            <a:r>
              <a:rPr lang="en-US" sz="1800" b="1" dirty="0">
                <a:latin typeface="Arial" panose="020B0604020202020204" pitchFamily="34" charset="0"/>
                <a:cs typeface="Arial" panose="020B0604020202020204" pitchFamily="34" charset="0"/>
              </a:rPr>
              <a:t>5. </a:t>
            </a:r>
            <a:r>
              <a:rPr sz="1800" b="1" dirty="0">
                <a:latin typeface="Arial" panose="020B0604020202020204" pitchFamily="34" charset="0"/>
                <a:cs typeface="Arial" panose="020B0604020202020204" pitchFamily="34" charset="0"/>
              </a:rPr>
              <a:t>Which</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library</a:t>
            </a:r>
            <a:r>
              <a:rPr sz="1800" b="1" spc="-3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is</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commonly</a:t>
            </a:r>
            <a:r>
              <a:rPr sz="1800" b="1" spc="-3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used for</a:t>
            </a:r>
            <a:r>
              <a:rPr sz="1800" b="1" spc="-1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creating</a:t>
            </a:r>
            <a:r>
              <a:rPr sz="1800" b="1" spc="-60"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interactive</a:t>
            </a:r>
            <a:r>
              <a:rPr sz="1800" b="1" spc="-2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and</a:t>
            </a:r>
            <a:r>
              <a:rPr sz="1800" b="1" spc="-2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informative</a:t>
            </a:r>
            <a:r>
              <a:rPr sz="1800" b="1" spc="-27" dirty="0">
                <a:latin typeface="Arial" panose="020B0604020202020204" pitchFamily="34" charset="0"/>
                <a:cs typeface="Arial" panose="020B0604020202020204" pitchFamily="34" charset="0"/>
              </a:rPr>
              <a:t> </a:t>
            </a:r>
            <a:r>
              <a:rPr sz="1800" b="1" spc="-7" dirty="0">
                <a:latin typeface="Arial" panose="020B0604020202020204" pitchFamily="34" charset="0"/>
                <a:cs typeface="Arial" panose="020B0604020202020204" pitchFamily="34" charset="0"/>
              </a:rPr>
              <a:t>statistical</a:t>
            </a:r>
            <a:r>
              <a:rPr lang="en-US" sz="1800" b="1" spc="-7"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graphics</a:t>
            </a:r>
            <a:r>
              <a:rPr sz="1800" b="1" spc="-73" dirty="0">
                <a:latin typeface="Arial" panose="020B0604020202020204" pitchFamily="34" charset="0"/>
                <a:cs typeface="Arial" panose="020B0604020202020204" pitchFamily="34" charset="0"/>
              </a:rPr>
              <a:t> </a:t>
            </a:r>
            <a:r>
              <a:rPr sz="1800" b="1" dirty="0">
                <a:latin typeface="Arial" panose="020B0604020202020204" pitchFamily="34" charset="0"/>
                <a:cs typeface="Arial" panose="020B0604020202020204" pitchFamily="34" charset="0"/>
              </a:rPr>
              <a:t>in</a:t>
            </a:r>
            <a:r>
              <a:rPr sz="1800" b="1" spc="-60" dirty="0">
                <a:latin typeface="Arial" panose="020B0604020202020204" pitchFamily="34" charset="0"/>
                <a:cs typeface="Arial" panose="020B0604020202020204" pitchFamily="34" charset="0"/>
              </a:rPr>
              <a:t> </a:t>
            </a:r>
            <a:r>
              <a:rPr sz="1800" b="1" spc="-13" dirty="0">
                <a:latin typeface="Arial" panose="020B0604020202020204" pitchFamily="34" charset="0"/>
                <a:cs typeface="Arial" panose="020B0604020202020204" pitchFamily="34" charset="0"/>
              </a:rPr>
              <a:t>EDA?</a:t>
            </a:r>
            <a:endParaRPr sz="1800" dirty="0">
              <a:latin typeface="Arial" panose="020B0604020202020204" pitchFamily="34" charset="0"/>
              <a:cs typeface="Arial" panose="020B0604020202020204" pitchFamily="34" charset="0"/>
            </a:endParaRPr>
          </a:p>
          <a:p>
            <a:pPr marL="365760" indent="-365760">
              <a:spcBef>
                <a:spcPts val="20"/>
              </a:spcBef>
              <a:spcAft>
                <a:spcPts val="800"/>
              </a:spcAft>
            </a:pP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730655" algn="l"/>
              </a:tabLst>
            </a:pPr>
            <a:r>
              <a:rPr sz="1800" dirty="0">
                <a:latin typeface="Arial" panose="020B0604020202020204" pitchFamily="34" charset="0"/>
                <a:cs typeface="Arial" panose="020B0604020202020204" pitchFamily="34" charset="0"/>
              </a:rPr>
              <a:t>Matplotlib</a:t>
            </a:r>
          </a:p>
          <a:p>
            <a:pPr marL="283464" indent="-283464">
              <a:spcAft>
                <a:spcPts val="800"/>
              </a:spcAft>
              <a:buAutoNum type="alphaLcParenR"/>
              <a:tabLst>
                <a:tab pos="730655" algn="l"/>
              </a:tabLst>
            </a:pPr>
            <a:r>
              <a:rPr sz="1800" dirty="0">
                <a:latin typeface="Arial" panose="020B0604020202020204" pitchFamily="34" charset="0"/>
                <a:cs typeface="Arial" panose="020B0604020202020204" pitchFamily="34" charset="0"/>
              </a:rPr>
              <a:t>Seaborn</a:t>
            </a:r>
          </a:p>
          <a:p>
            <a:pPr marL="283464" indent="-283464">
              <a:spcAft>
                <a:spcPts val="800"/>
              </a:spcAft>
              <a:buAutoNum type="alphaLcParenR"/>
              <a:tabLst>
                <a:tab pos="717955" algn="l"/>
              </a:tabLst>
            </a:pPr>
            <a:r>
              <a:rPr sz="1800" spc="-7" dirty="0" err="1">
                <a:latin typeface="Arial" panose="020B0604020202020204" pitchFamily="34" charset="0"/>
                <a:cs typeface="Arial" panose="020B0604020202020204" pitchFamily="34" charset="0"/>
              </a:rPr>
              <a:t>Numpy</a:t>
            </a:r>
            <a:endParaRPr sz="1800" dirty="0">
              <a:latin typeface="Arial" panose="020B0604020202020204" pitchFamily="34" charset="0"/>
              <a:cs typeface="Arial" panose="020B0604020202020204" pitchFamily="34" charset="0"/>
            </a:endParaRPr>
          </a:p>
          <a:p>
            <a:pPr marL="283464" indent="-283464">
              <a:spcAft>
                <a:spcPts val="800"/>
              </a:spcAft>
              <a:buAutoNum type="alphaLcParenR"/>
              <a:tabLst>
                <a:tab pos="730655" algn="l"/>
              </a:tabLst>
            </a:pPr>
            <a:r>
              <a:rPr sz="1800" dirty="0">
                <a:latin typeface="Arial" panose="020B0604020202020204" pitchFamily="34" charset="0"/>
                <a:cs typeface="Arial" panose="020B0604020202020204" pitchFamily="34" charset="0"/>
              </a:rPr>
              <a:t>Scikit-learn</a:t>
            </a:r>
          </a:p>
        </p:txBody>
      </p:sp>
      <p:sp>
        <p:nvSpPr>
          <p:cNvPr id="4" name="TextBox 3">
            <a:extLst>
              <a:ext uri="{FF2B5EF4-FFF2-40B4-BE49-F238E27FC236}">
                <a16:creationId xmlns:a16="http://schemas.microsoft.com/office/drawing/2014/main" id="{0797BAD1-4C7E-DF2A-5192-E17F5C4E49D8}"/>
              </a:ext>
            </a:extLst>
          </p:cNvPr>
          <p:cNvSpPr txBox="1"/>
          <p:nvPr/>
        </p:nvSpPr>
        <p:spPr>
          <a:xfrm>
            <a:off x="533400" y="5715000"/>
            <a:ext cx="9416966" cy="738664"/>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IN" sz="2000" b="1" dirty="0">
                <a:latin typeface="Arial" panose="020B0604020202020204" pitchFamily="34" charset="0"/>
                <a:cs typeface="Arial" panose="020B0604020202020204" pitchFamily="34" charset="0"/>
              </a:rPr>
              <a:t>Answer: B</a:t>
            </a:r>
          </a:p>
          <a:p>
            <a:r>
              <a:rPr lang="en-US" sz="2000" dirty="0">
                <a:latin typeface="Arial" panose="020B0604020202020204" pitchFamily="34" charset="0"/>
                <a:cs typeface="Arial" panose="020B0604020202020204" pitchFamily="34" charset="0"/>
              </a:rPr>
              <a:t>Seaborn</a:t>
            </a:r>
          </a:p>
        </p:txBody>
      </p:sp>
      <p:pic>
        <p:nvPicPr>
          <p:cNvPr id="2" name="Picture 1" descr="A black background with a black square&#10;&#10;Description automatically generated with medium confidence">
            <a:extLst>
              <a:ext uri="{FF2B5EF4-FFF2-40B4-BE49-F238E27FC236}">
                <a16:creationId xmlns:a16="http://schemas.microsoft.com/office/drawing/2014/main" id="{9E4A4F01-E506-5800-2B35-AE026C1E3FAE}"/>
              </a:ext>
            </a:extLst>
          </p:cNvPr>
          <p:cNvPicPr>
            <a:picLocks noChangeAspect="1"/>
          </p:cNvPicPr>
          <p:nvPr/>
        </p:nvPicPr>
        <p:blipFill>
          <a:blip r:embed="rId3">
            <a:alphaModFix amt="13000"/>
            <a:extLst>
              <a:ext uri="{28A0092B-C50C-407E-A947-70E740481C1C}">
                <a14:useLocalDpi xmlns:a14="http://schemas.microsoft.com/office/drawing/2010/main" val="0"/>
              </a:ext>
            </a:extLst>
          </a:blip>
          <a:stretch>
            <a:fillRect/>
          </a:stretch>
        </p:blipFill>
        <p:spPr>
          <a:xfrm>
            <a:off x="6705600" y="1219200"/>
            <a:ext cx="5338763" cy="5358319"/>
          </a:xfrm>
          <a:prstGeom prst="rect">
            <a:avLst/>
          </a:prstGeom>
        </p:spPr>
      </p:pic>
      <p:sp>
        <p:nvSpPr>
          <p:cNvPr id="8" name="TextBox 7">
            <a:extLst>
              <a:ext uri="{FF2B5EF4-FFF2-40B4-BE49-F238E27FC236}">
                <a16:creationId xmlns:a16="http://schemas.microsoft.com/office/drawing/2014/main" id="{25881877-F8B5-8AFB-B406-4F32BCF32272}"/>
              </a:ext>
            </a:extLst>
          </p:cNvPr>
          <p:cNvSpPr txBox="1"/>
          <p:nvPr/>
        </p:nvSpPr>
        <p:spPr>
          <a:xfrm>
            <a:off x="8382000" y="1094125"/>
            <a:ext cx="1747594" cy="3477875"/>
          </a:xfrm>
          <a:prstGeom prst="rect">
            <a:avLst/>
          </a:prstGeom>
          <a:noFill/>
          <a:effectLst>
            <a:outerShdw blurRad="50800" dist="38100" dir="5400000" algn="t" rotWithShape="0">
              <a:prstClr val="black">
                <a:alpha val="40000"/>
              </a:prstClr>
            </a:outerShdw>
          </a:effectLst>
        </p:spPr>
        <p:txBody>
          <a:bodyPr wrap="none" rtlCol="0">
            <a:spAutoFit/>
          </a:bodyPr>
          <a:lstStyle/>
          <a:p>
            <a:r>
              <a:rPr lang="en-US" sz="22000" dirty="0">
                <a:solidFill>
                  <a:schemeClr val="bg1"/>
                </a:solidFill>
                <a:latin typeface="Arial Nova" panose="020B0504020202020204" pitchFamily="34" charset="0"/>
              </a:rPr>
              <a:t>?</a:t>
            </a:r>
          </a:p>
        </p:txBody>
      </p:sp>
      <p:sp>
        <p:nvSpPr>
          <p:cNvPr id="5" name="Title 3">
            <a:extLst>
              <a:ext uri="{FF2B5EF4-FFF2-40B4-BE49-F238E27FC236}">
                <a16:creationId xmlns:a16="http://schemas.microsoft.com/office/drawing/2014/main" id="{1DBB8809-793A-9345-F143-4B54A96F4F26}"/>
              </a:ext>
            </a:extLst>
          </p:cNvPr>
          <p:cNvSpPr txBox="1">
            <a:spLocks/>
          </p:cNvSpPr>
          <p:nvPr/>
        </p:nvSpPr>
        <p:spPr>
          <a:xfrm>
            <a:off x="360614" y="857641"/>
            <a:ext cx="5735386" cy="393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pPr algn="l">
              <a:buClrTx/>
              <a:defRPr/>
            </a:pPr>
            <a:r>
              <a:rPr kumimoji="0" lang="en-US" sz="2000" b="1" i="0" u="none" strike="noStrike" kern="1200" cap="none" spc="0" normalizeH="0" baseline="0" noProof="0" dirty="0">
                <a:ln>
                  <a:noFill/>
                </a:ln>
                <a:solidFill>
                  <a:srgbClr val="002060"/>
                </a:solidFill>
                <a:effectLst/>
                <a:uLnTx/>
                <a:uFillTx/>
                <a:latin typeface="Arial" panose="020B0604020202020204" pitchFamily="34" charset="0"/>
                <a:cs typeface="Arial" panose="020B0604020202020204" pitchFamily="34" charset="0"/>
              </a:rPr>
              <a:t>Quiz</a:t>
            </a:r>
          </a:p>
        </p:txBody>
      </p:sp>
    </p:spTree>
    <p:extLst>
      <p:ext uri="{BB962C8B-B14F-4D97-AF65-F5344CB8AC3E}">
        <p14:creationId xmlns:p14="http://schemas.microsoft.com/office/powerpoint/2010/main" val="885684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3">
            <a:extLst>
              <a:ext uri="{FF2B5EF4-FFF2-40B4-BE49-F238E27FC236}">
                <a16:creationId xmlns:a16="http://schemas.microsoft.com/office/drawing/2014/main" id="{0E178734-7E1D-0740-E039-E64D8B06102C}"/>
              </a:ext>
            </a:extLst>
          </p:cNvPr>
          <p:cNvSpPr txBox="1">
            <a:spLocks/>
          </p:cNvSpPr>
          <p:nvPr/>
        </p:nvSpPr>
        <p:spPr>
          <a:xfrm>
            <a:off x="4230058" y="2971800"/>
            <a:ext cx="3770942" cy="990600"/>
          </a:xfrm>
          <a:prstGeom prst="rect">
            <a:avLst/>
          </a:prstGeom>
        </p:spPr>
        <p:txBody>
          <a:bodyPr/>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5000" b="1" dirty="0">
                <a:solidFill>
                  <a:srgbClr val="002060"/>
                </a:solidFill>
                <a:latin typeface="Arial" panose="020B0604020202020204" pitchFamily="34" charset="0"/>
                <a:cs typeface="Arial" panose="020B0604020202020204" pitchFamily="34" charset="0"/>
              </a:rPr>
              <a:t>Thank You</a:t>
            </a:r>
          </a:p>
        </p:txBody>
      </p:sp>
    </p:spTree>
    <p:custDataLst>
      <p:tags r:id="rId1"/>
    </p:custDataLst>
    <p:extLst>
      <p:ext uri="{BB962C8B-B14F-4D97-AF65-F5344CB8AC3E}">
        <p14:creationId xmlns:p14="http://schemas.microsoft.com/office/powerpoint/2010/main" val="421902401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AtrwQcKn"/>
  <p:tag name="ARTICULATE_DESIGN_ID_OFFICE THEME" val="H4K34OPr"/>
  <p:tag name="ARTICULATE_SLIDE_COUNT" val="1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1544</TotalTime>
  <Words>7132</Words>
  <Application>Microsoft Office PowerPoint</Application>
  <PresentationFormat>Widescreen</PresentationFormat>
  <Paragraphs>569</Paragraphs>
  <Slides>45</Slides>
  <Notes>39</Notes>
  <HiddenSlides>0</HiddenSlides>
  <MMClips>1</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45</vt:i4>
      </vt:variant>
    </vt:vector>
  </HeadingPairs>
  <TitlesOfParts>
    <vt:vector size="55" baseType="lpstr">
      <vt:lpstr>Calibri</vt:lpstr>
      <vt:lpstr>Arial Nova</vt:lpstr>
      <vt:lpstr>Jumbox</vt:lpstr>
      <vt:lpstr>Arial</vt:lpstr>
      <vt:lpstr>Times New Roman</vt:lpstr>
      <vt:lpstr>Arial,Sans-Serif</vt:lpstr>
      <vt:lpstr>Aptos</vt:lpstr>
      <vt:lpstr>Arial MT</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Data Analytics?</vt:lpstr>
      <vt:lpstr>Types of  Data Analytics</vt:lpstr>
      <vt:lpstr>PowerPoint Presentation</vt:lpstr>
      <vt:lpstr>PowerPoint Presentation</vt:lpstr>
      <vt:lpstr>PowerPoint Presentation</vt:lpstr>
      <vt:lpstr>PowerPoint Presentation</vt:lpstr>
      <vt:lpstr>PowerPoint Presentation</vt:lpstr>
      <vt:lpstr>Importance of 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Edunet Foundation</dc:creator>
  <cp:lastModifiedBy>Prita Pradhan</cp:lastModifiedBy>
  <cp:revision>59</cp:revision>
  <dcterms:created xsi:type="dcterms:W3CDTF">2006-08-16T00:00:00Z</dcterms:created>
  <dcterms:modified xsi:type="dcterms:W3CDTF">2025-08-05T11:41:48Z</dcterms:modified>
  <dc:identifier>DAGQ6RW-XsE</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FD2CBB57-EE5C-4151-B8A1-1A86815BD362</vt:lpwstr>
  </property>
  <property fmtid="{D5CDD505-2E9C-101B-9397-08002B2CF9AE}" pid="3" name="ArticulatePath">
    <vt:lpwstr>https://edunetfoundationorg-my.sharepoint.com/personal/kaisar_edunetfoundation_org/Documents/Beutified ppt/Unused Asset/2025/AICW/AI Saksham</vt:lpwstr>
  </property>
</Properties>
</file>