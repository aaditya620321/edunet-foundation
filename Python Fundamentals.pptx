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6.xml" ContentType="application/vnd.openxmlformats-officedocument.presentationml.tags+xml"/>
  <Override PartName="/ppt/notesSlides/notesSlide22.xml" ContentType="application/vnd.openxmlformats-officedocument.presentationml.notesSlide+xml"/>
  <Override PartName="/ppt/tags/tag1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8.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9.xml" ContentType="application/vnd.openxmlformats-officedocument.presentationml.tags+xml"/>
  <Override PartName="/ppt/notesSlides/notesSlide40.xml" ContentType="application/vnd.openxmlformats-officedocument.presentationml.notesSlide+xml"/>
  <Override PartName="/ppt/tags/tag20.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21.xml" ContentType="application/vnd.openxmlformats-officedocument.presentationml.tags+xml"/>
  <Override PartName="/ppt/notesSlides/notesSlide52.xml" ContentType="application/vnd.openxmlformats-officedocument.presentationml.notesSlide+xml"/>
  <Override PartName="/ppt/tags/tag22.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3.xml" ContentType="application/vnd.openxmlformats-officedocument.presentationml.tags+xml"/>
  <Override PartName="/ppt/notesSlides/notesSlide61.xml" ContentType="application/vnd.openxmlformats-officedocument.presentationml.notesSlide+xml"/>
  <Override PartName="/ppt/tags/tag24.xml" ContentType="application/vnd.openxmlformats-officedocument.presentationml.tags+xml"/>
  <Override PartName="/ppt/notesSlides/notesSlide62.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63.xml" ContentType="application/vnd.openxmlformats-officedocument.presentationml.notesSlide+xml"/>
  <Override PartName="/ppt/tags/tag28.xml" ContentType="application/vnd.openxmlformats-officedocument.presentationml.tags+xml"/>
  <Override PartName="/ppt/notesSlides/notesSlide64.xml" ContentType="application/vnd.openxmlformats-officedocument.presentationml.notesSlide+xml"/>
  <Override PartName="/ppt/tags/tag29.xml" ContentType="application/vnd.openxmlformats-officedocument.presentationml.tags+xml"/>
  <Override PartName="/ppt/notesSlides/notesSlide65.xml" ContentType="application/vnd.openxmlformats-officedocument.presentationml.notesSlide+xml"/>
  <Override PartName="/ppt/tags/tag30.xml" ContentType="application/vnd.openxmlformats-officedocument.presentationml.tags+xml"/>
  <Override PartName="/ppt/notesSlides/notesSlide66.xml" ContentType="application/vnd.openxmlformats-officedocument.presentationml.notesSlide+xml"/>
  <Override PartName="/ppt/tags/tag3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2"/>
  </p:sldMasterIdLst>
  <p:notesMasterIdLst>
    <p:notesMasterId r:id="rId75"/>
  </p:notesMasterIdLst>
  <p:sldIdLst>
    <p:sldId id="275" r:id="rId3"/>
    <p:sldId id="273" r:id="rId4"/>
    <p:sldId id="260" r:id="rId5"/>
    <p:sldId id="261" r:id="rId6"/>
    <p:sldId id="262" r:id="rId7"/>
    <p:sldId id="268" r:id="rId8"/>
    <p:sldId id="431" r:id="rId9"/>
    <p:sldId id="346" r:id="rId10"/>
    <p:sldId id="442" r:id="rId11"/>
    <p:sldId id="443" r:id="rId12"/>
    <p:sldId id="677" r:id="rId13"/>
    <p:sldId id="678" r:id="rId14"/>
    <p:sldId id="444" r:id="rId15"/>
    <p:sldId id="352" r:id="rId16"/>
    <p:sldId id="1260" r:id="rId17"/>
    <p:sldId id="1274" r:id="rId18"/>
    <p:sldId id="445" r:id="rId19"/>
    <p:sldId id="449" r:id="rId20"/>
    <p:sldId id="1261" r:id="rId21"/>
    <p:sldId id="354" r:id="rId22"/>
    <p:sldId id="451" r:id="rId23"/>
    <p:sldId id="1262" r:id="rId24"/>
    <p:sldId id="447" r:id="rId25"/>
    <p:sldId id="452" r:id="rId26"/>
    <p:sldId id="1263" r:id="rId27"/>
    <p:sldId id="1264" r:id="rId28"/>
    <p:sldId id="458" r:id="rId29"/>
    <p:sldId id="459" r:id="rId30"/>
    <p:sldId id="453" r:id="rId31"/>
    <p:sldId id="456" r:id="rId32"/>
    <p:sldId id="455" r:id="rId33"/>
    <p:sldId id="1265" r:id="rId34"/>
    <p:sldId id="396" r:id="rId35"/>
    <p:sldId id="397" r:id="rId36"/>
    <p:sldId id="457" r:id="rId37"/>
    <p:sldId id="399" r:id="rId38"/>
    <p:sldId id="460" r:id="rId39"/>
    <p:sldId id="461" r:id="rId40"/>
    <p:sldId id="462" r:id="rId41"/>
    <p:sldId id="404" r:id="rId42"/>
    <p:sldId id="463" r:id="rId43"/>
    <p:sldId id="464" r:id="rId44"/>
    <p:sldId id="1266" r:id="rId45"/>
    <p:sldId id="1267" r:id="rId46"/>
    <p:sldId id="450" r:id="rId47"/>
    <p:sldId id="474" r:id="rId48"/>
    <p:sldId id="467" r:id="rId49"/>
    <p:sldId id="475" r:id="rId50"/>
    <p:sldId id="472" r:id="rId51"/>
    <p:sldId id="476" r:id="rId52"/>
    <p:sldId id="473" r:id="rId53"/>
    <p:sldId id="477" r:id="rId54"/>
    <p:sldId id="433" r:id="rId55"/>
    <p:sldId id="478" r:id="rId56"/>
    <p:sldId id="1268" r:id="rId57"/>
    <p:sldId id="1269" r:id="rId58"/>
    <p:sldId id="408" r:id="rId59"/>
    <p:sldId id="410" r:id="rId60"/>
    <p:sldId id="412" r:id="rId61"/>
    <p:sldId id="413" r:id="rId62"/>
    <p:sldId id="414" r:id="rId63"/>
    <p:sldId id="415" r:id="rId64"/>
    <p:sldId id="479" r:id="rId65"/>
    <p:sldId id="1270" r:id="rId66"/>
    <p:sldId id="264" r:id="rId67"/>
    <p:sldId id="263" r:id="rId68"/>
    <p:sldId id="265" r:id="rId69"/>
    <p:sldId id="266" r:id="rId70"/>
    <p:sldId id="1271" r:id="rId71"/>
    <p:sldId id="1272" r:id="rId72"/>
    <p:sldId id="1273" r:id="rId73"/>
    <p:sldId id="267" r:id="rId74"/>
  </p:sldIdLst>
  <p:sldSz cx="12192000" cy="6858000"/>
  <p:notesSz cx="6858000" cy="9144000"/>
  <p:embeddedFontLst>
    <p:embeddedFont>
      <p:font typeface="Arial Nova" panose="020B0504020202020204" pitchFamily="34" charset="0"/>
      <p:regular r:id="rId76"/>
      <p:bold r:id="rId77"/>
      <p:italic r:id="rId78"/>
      <p:boldItalic r:id="rId79"/>
    </p:embeddedFont>
    <p:embeddedFont>
      <p:font typeface="Jumbox" pitchFamily="2" charset="0"/>
      <p:regular r:id="rId80"/>
      <p:bold r:id="rId81"/>
    </p:embeddedFont>
    <p:embeddedFont>
      <p:font typeface="Lato" panose="020F0502020204030203" pitchFamily="34" charset="0"/>
      <p:regular r:id="rId82"/>
      <p:bold r:id="rId83"/>
      <p:italic r:id="rId84"/>
      <p:boldItalic r:id="rId85"/>
    </p:embeddedFont>
  </p:embeddedFontLst>
  <p:custDataLst>
    <p:tags r:id="rId8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3" orient="horz" pos="1008" userDrawn="1">
          <p15:clr>
            <a:srgbClr val="A4A3A4"/>
          </p15:clr>
        </p15:guide>
        <p15:guide id="5"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F8CBAC"/>
    <a:srgbClr val="F2F2F2"/>
    <a:srgbClr val="D7E3FD"/>
    <a:srgbClr val="CDF0FF"/>
    <a:srgbClr val="FFB900"/>
    <a:srgbClr val="00A4EF"/>
    <a:srgbClr val="BFDAFD"/>
    <a:srgbClr val="032A60"/>
    <a:srgbClr val="F250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1B77D-847F-46D2-90A1-6B484F317349}" v="18" dt="2025-07-01T11:41:33.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5097" autoAdjust="0"/>
  </p:normalViewPr>
  <p:slideViewPr>
    <p:cSldViewPr>
      <p:cViewPr varScale="1">
        <p:scale>
          <a:sx n="80" d="100"/>
          <a:sy n="80" d="100"/>
        </p:scale>
        <p:origin x="557" y="62"/>
      </p:cViewPr>
      <p:guideLst>
        <p:guide orient="horz" pos="720"/>
        <p:guide orient="horz" pos="1008"/>
        <p:guide pos="28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4.fntdata"/><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fntdata"/><Relationship Id="rId7" Type="http://schemas.openxmlformats.org/officeDocument/2006/relationships/slide" Target="slides/slide5.xml"/><Relationship Id="rId71" Type="http://schemas.openxmlformats.org/officeDocument/2006/relationships/slide" Target="slides/slide69.xml"/><Relationship Id="rId92" Type="http://schemas.microsoft.com/office/2015/10/relationships/revisionInfo" Target="revisionInfo.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font" Target="fonts/font7.fntdata"/><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mi Mishra" userId="6469e6c3-66fa-4f4f-9c10-a71ac4161bf2" providerId="ADAL" clId="{FFC1B77D-847F-46D2-90A1-6B484F317349}"/>
    <pc:docChg chg="undo custSel addSld delSld modSld">
      <pc:chgData name="Rashmi Mishra" userId="6469e6c3-66fa-4f4f-9c10-a71ac4161bf2" providerId="ADAL" clId="{FFC1B77D-847F-46D2-90A1-6B484F317349}" dt="2025-07-01T11:41:47.434" v="118" actId="20577"/>
      <pc:docMkLst>
        <pc:docMk/>
      </pc:docMkLst>
      <pc:sldChg chg="addSp delSp modSp add del mod">
        <pc:chgData name="Rashmi Mishra" userId="6469e6c3-66fa-4f4f-9c10-a71ac4161bf2" providerId="ADAL" clId="{FFC1B77D-847F-46D2-90A1-6B484F317349}" dt="2025-07-01T11:41:33.693" v="114"/>
        <pc:sldMkLst>
          <pc:docMk/>
          <pc:sldMk cId="1013712468" sldId="260"/>
        </pc:sldMkLst>
        <pc:spChg chg="add mod">
          <ac:chgData name="Rashmi Mishra" userId="6469e6c3-66fa-4f4f-9c10-a71ac4161bf2" providerId="ADAL" clId="{FFC1B77D-847F-46D2-90A1-6B484F317349}" dt="2025-07-01T11:41:01.435" v="112"/>
          <ac:spMkLst>
            <pc:docMk/>
            <pc:sldMk cId="1013712468" sldId="260"/>
            <ac:spMk id="2" creationId="{1A30063F-7109-2258-5DE7-90C80C8606F6}"/>
          </ac:spMkLst>
        </pc:spChg>
        <pc:spChg chg="mod">
          <ac:chgData name="Rashmi Mishra" userId="6469e6c3-66fa-4f4f-9c10-a71ac4161bf2" providerId="ADAL" clId="{FFC1B77D-847F-46D2-90A1-6B484F317349}" dt="2025-07-01T11:40:27.114" v="106"/>
          <ac:spMkLst>
            <pc:docMk/>
            <pc:sldMk cId="1013712468" sldId="260"/>
            <ac:spMk id="6" creationId="{7778965E-99B1-D995-AE5E-70A0A030AE79}"/>
          </ac:spMkLst>
        </pc:spChg>
        <pc:spChg chg="mod">
          <ac:chgData name="Rashmi Mishra" userId="6469e6c3-66fa-4f4f-9c10-a71ac4161bf2" providerId="ADAL" clId="{FFC1B77D-847F-46D2-90A1-6B484F317349}" dt="2025-07-01T11:40:27.114" v="106"/>
          <ac:spMkLst>
            <pc:docMk/>
            <pc:sldMk cId="1013712468" sldId="260"/>
            <ac:spMk id="11" creationId="{2FB57802-C72F-FAD1-F0DA-12B0927410ED}"/>
          </ac:spMkLst>
        </pc:spChg>
        <pc:spChg chg="del">
          <ac:chgData name="Rashmi Mishra" userId="6469e6c3-66fa-4f4f-9c10-a71ac4161bf2" providerId="ADAL" clId="{FFC1B77D-847F-46D2-90A1-6B484F317349}" dt="2025-07-01T05:21:13.232" v="1" actId="478"/>
          <ac:spMkLst>
            <pc:docMk/>
            <pc:sldMk cId="1013712468" sldId="260"/>
            <ac:spMk id="12" creationId="{69547ACA-E29A-0C2A-98F2-27003371141A}"/>
          </ac:spMkLst>
        </pc:spChg>
        <pc:spChg chg="add mod">
          <ac:chgData name="Rashmi Mishra" userId="6469e6c3-66fa-4f4f-9c10-a71ac4161bf2" providerId="ADAL" clId="{FFC1B77D-847F-46D2-90A1-6B484F317349}" dt="2025-07-01T11:40:44.197" v="110" actId="1076"/>
          <ac:spMkLst>
            <pc:docMk/>
            <pc:sldMk cId="1013712468" sldId="260"/>
            <ac:spMk id="12" creationId="{786A0B2D-21D7-C1B5-1572-8453F095F7D9}"/>
          </ac:spMkLst>
        </pc:spChg>
        <pc:spChg chg="mod">
          <ac:chgData name="Rashmi Mishra" userId="6469e6c3-66fa-4f4f-9c10-a71ac4161bf2" providerId="ADAL" clId="{FFC1B77D-847F-46D2-90A1-6B484F317349}" dt="2025-07-01T05:21:09.363" v="0"/>
          <ac:spMkLst>
            <pc:docMk/>
            <pc:sldMk cId="1013712468" sldId="260"/>
            <ac:spMk id="43" creationId="{7663B9BC-14B8-5C0D-CE9B-544C40E396E8}"/>
          </ac:spMkLst>
        </pc:spChg>
        <pc:spChg chg="mod">
          <ac:chgData name="Rashmi Mishra" userId="6469e6c3-66fa-4f4f-9c10-a71ac4161bf2" providerId="ADAL" clId="{FFC1B77D-847F-46D2-90A1-6B484F317349}" dt="2025-07-01T11:40:48.436" v="111" actId="1076"/>
          <ac:spMkLst>
            <pc:docMk/>
            <pc:sldMk cId="1013712468" sldId="260"/>
            <ac:spMk id="53" creationId="{01555075-FE4A-A23F-DF26-D1607ECA2F41}"/>
          </ac:spMkLst>
        </pc:spChg>
        <pc:spChg chg="del">
          <ac:chgData name="Rashmi Mishra" userId="6469e6c3-66fa-4f4f-9c10-a71ac4161bf2" providerId="ADAL" clId="{FFC1B77D-847F-46D2-90A1-6B484F317349}" dt="2025-07-01T05:21:18.192" v="3" actId="478"/>
          <ac:spMkLst>
            <pc:docMk/>
            <pc:sldMk cId="1013712468" sldId="260"/>
            <ac:spMk id="55" creationId="{54577313-9596-A5FE-C8C7-C76B080062E5}"/>
          </ac:spMkLst>
        </pc:spChg>
        <pc:spChg chg="mod">
          <ac:chgData name="Rashmi Mishra" userId="6469e6c3-66fa-4f4f-9c10-a71ac4161bf2" providerId="ADAL" clId="{FFC1B77D-847F-46D2-90A1-6B484F317349}" dt="2025-07-01T05:21:41.825" v="26" actId="20577"/>
          <ac:spMkLst>
            <pc:docMk/>
            <pc:sldMk cId="1013712468" sldId="260"/>
            <ac:spMk id="61" creationId="{D790FED8-CA16-6FFA-B2D9-B8497F9B8568}"/>
          </ac:spMkLst>
        </pc:spChg>
        <pc:grpChg chg="add mod">
          <ac:chgData name="Rashmi Mishra" userId="6469e6c3-66fa-4f4f-9c10-a71ac4161bf2" providerId="ADAL" clId="{FFC1B77D-847F-46D2-90A1-6B484F317349}" dt="2025-07-01T11:40:31.940" v="107" actId="1076"/>
          <ac:grpSpMkLst>
            <pc:docMk/>
            <pc:sldMk cId="1013712468" sldId="260"/>
            <ac:grpSpMk id="4" creationId="{90D6D0DB-3E50-3E5A-800E-59E1F2209F13}"/>
          </ac:grpSpMkLst>
        </pc:grpChg>
        <pc:grpChg chg="del">
          <ac:chgData name="Rashmi Mishra" userId="6469e6c3-66fa-4f4f-9c10-a71ac4161bf2" providerId="ADAL" clId="{FFC1B77D-847F-46D2-90A1-6B484F317349}" dt="2025-07-01T05:21:15.836" v="2" actId="478"/>
          <ac:grpSpMkLst>
            <pc:docMk/>
            <pc:sldMk cId="1013712468" sldId="260"/>
            <ac:grpSpMk id="14" creationId="{64133AD2-82C3-65D1-2EB4-BA11FA7682E5}"/>
          </ac:grpSpMkLst>
        </pc:grpChg>
        <pc:grpChg chg="del">
          <ac:chgData name="Rashmi Mishra" userId="6469e6c3-66fa-4f4f-9c10-a71ac4161bf2" providerId="ADAL" clId="{FFC1B77D-847F-46D2-90A1-6B484F317349}" dt="2025-07-01T05:21:19.585" v="4" actId="478"/>
          <ac:grpSpMkLst>
            <pc:docMk/>
            <pc:sldMk cId="1013712468" sldId="260"/>
            <ac:grpSpMk id="57" creationId="{AE9CB6B7-0676-3732-C76E-81BB5F0C4042}"/>
          </ac:grpSpMkLst>
        </pc:grpChg>
      </pc:sldChg>
      <pc:sldChg chg="modSp mod">
        <pc:chgData name="Rashmi Mishra" userId="6469e6c3-66fa-4f4f-9c10-a71ac4161bf2" providerId="ADAL" clId="{FFC1B77D-847F-46D2-90A1-6B484F317349}" dt="2025-07-01T11:41:47.434" v="118" actId="20577"/>
        <pc:sldMkLst>
          <pc:docMk/>
          <pc:sldMk cId="1630480339" sldId="261"/>
        </pc:sldMkLst>
        <pc:spChg chg="mod">
          <ac:chgData name="Rashmi Mishra" userId="6469e6c3-66fa-4f4f-9c10-a71ac4161bf2" providerId="ADAL" clId="{FFC1B77D-847F-46D2-90A1-6B484F317349}" dt="2025-07-01T11:41:47.434" v="118" actId="20577"/>
          <ac:spMkLst>
            <pc:docMk/>
            <pc:sldMk cId="1630480339" sldId="261"/>
            <ac:spMk id="5" creationId="{2F96954A-20FB-1A6D-3798-4069831ED5C7}"/>
          </ac:spMkLst>
        </pc:spChg>
      </pc:sldChg>
      <pc:sldChg chg="modSp mod">
        <pc:chgData name="Rashmi Mishra" userId="6469e6c3-66fa-4f4f-9c10-a71ac4161bf2" providerId="ADAL" clId="{FFC1B77D-847F-46D2-90A1-6B484F317349}" dt="2025-07-01T05:23:14.631" v="41" actId="6549"/>
        <pc:sldMkLst>
          <pc:docMk/>
          <pc:sldMk cId="3247350826" sldId="262"/>
        </pc:sldMkLst>
        <pc:spChg chg="mod">
          <ac:chgData name="Rashmi Mishra" userId="6469e6c3-66fa-4f4f-9c10-a71ac4161bf2" providerId="ADAL" clId="{FFC1B77D-847F-46D2-90A1-6B484F317349}" dt="2025-07-01T05:23:14.631" v="41" actId="6549"/>
          <ac:spMkLst>
            <pc:docMk/>
            <pc:sldMk cId="3247350826" sldId="262"/>
            <ac:spMk id="2" creationId="{9835D79F-345C-6435-F4A9-FE2A9E806174}"/>
          </ac:spMkLst>
        </pc:spChg>
      </pc:sldChg>
      <pc:sldChg chg="addSp delSp modSp mod">
        <pc:chgData name="Rashmi Mishra" userId="6469e6c3-66fa-4f4f-9c10-a71ac4161bf2" providerId="ADAL" clId="{FFC1B77D-847F-46D2-90A1-6B484F317349}" dt="2025-07-01T05:24:08.654" v="59" actId="12"/>
        <pc:sldMkLst>
          <pc:docMk/>
          <pc:sldMk cId="2849240956" sldId="268"/>
        </pc:sldMkLst>
        <pc:spChg chg="mod">
          <ac:chgData name="Rashmi Mishra" userId="6469e6c3-66fa-4f4f-9c10-a71ac4161bf2" providerId="ADAL" clId="{FFC1B77D-847F-46D2-90A1-6B484F317349}" dt="2025-07-01T05:24:08.654" v="59" actId="12"/>
          <ac:spMkLst>
            <pc:docMk/>
            <pc:sldMk cId="2849240956" sldId="268"/>
            <ac:spMk id="2" creationId="{9835D79F-345C-6435-F4A9-FE2A9E806174}"/>
          </ac:spMkLst>
        </pc:spChg>
        <pc:spChg chg="add mod">
          <ac:chgData name="Rashmi Mishra" userId="6469e6c3-66fa-4f4f-9c10-a71ac4161bf2" providerId="ADAL" clId="{FFC1B77D-847F-46D2-90A1-6B484F317349}" dt="2025-07-01T05:23:47.304" v="48"/>
          <ac:spMkLst>
            <pc:docMk/>
            <pc:sldMk cId="2849240956" sldId="268"/>
            <ac:spMk id="7" creationId="{0AC598E5-2DD9-52FF-8784-EC1975105910}"/>
          </ac:spMkLst>
        </pc:spChg>
        <pc:spChg chg="add del mod">
          <ac:chgData name="Rashmi Mishra" userId="6469e6c3-66fa-4f4f-9c10-a71ac4161bf2" providerId="ADAL" clId="{FFC1B77D-847F-46D2-90A1-6B484F317349}" dt="2025-07-01T05:23:59.675" v="54" actId="478"/>
          <ac:spMkLst>
            <pc:docMk/>
            <pc:sldMk cId="2849240956" sldId="268"/>
            <ac:spMk id="8" creationId="{43B96C92-BCC4-4DEA-1E7C-7101D0B52248}"/>
          </ac:spMkLst>
        </pc:spChg>
      </pc:sldChg>
      <pc:sldChg chg="delSp modSp mod">
        <pc:chgData name="Rashmi Mishra" userId="6469e6c3-66fa-4f4f-9c10-a71ac4161bf2" providerId="ADAL" clId="{FFC1B77D-847F-46D2-90A1-6B484F317349}" dt="2025-07-01T06:59:44.901" v="65" actId="478"/>
        <pc:sldMkLst>
          <pc:docMk/>
          <pc:sldMk cId="2969769450" sldId="1260"/>
        </pc:sldMkLst>
        <pc:spChg chg="mod">
          <ac:chgData name="Rashmi Mishra" userId="6469e6c3-66fa-4f4f-9c10-a71ac4161bf2" providerId="ADAL" clId="{FFC1B77D-847F-46D2-90A1-6B484F317349}" dt="2025-07-01T05:25:11.025" v="64" actId="20577"/>
          <ac:spMkLst>
            <pc:docMk/>
            <pc:sldMk cId="2969769450" sldId="1260"/>
            <ac:spMk id="8" creationId="{4377EED6-891E-79BD-1F92-0CE86505322A}"/>
          </ac:spMkLst>
        </pc:spChg>
        <pc:spChg chg="del">
          <ac:chgData name="Rashmi Mishra" userId="6469e6c3-66fa-4f4f-9c10-a71ac4161bf2" providerId="ADAL" clId="{FFC1B77D-847F-46D2-90A1-6B484F317349}" dt="2025-07-01T06:59:44.901" v="65" actId="478"/>
          <ac:spMkLst>
            <pc:docMk/>
            <pc:sldMk cId="2969769450" sldId="1260"/>
            <ac:spMk id="9" creationId="{40692F43-4854-8EC7-54B6-0104F8A4E733}"/>
          </ac:spMkLst>
        </pc:spChg>
      </pc:sldChg>
      <pc:sldChg chg="delSp modSp mod">
        <pc:chgData name="Rashmi Mishra" userId="6469e6c3-66fa-4f4f-9c10-a71ac4161bf2" providerId="ADAL" clId="{FFC1B77D-847F-46D2-90A1-6B484F317349}" dt="2025-07-01T07:21:19.249" v="84" actId="20577"/>
        <pc:sldMkLst>
          <pc:docMk/>
          <pc:sldMk cId="2753959015" sldId="1261"/>
        </pc:sldMkLst>
        <pc:spChg chg="mod">
          <ac:chgData name="Rashmi Mishra" userId="6469e6c3-66fa-4f4f-9c10-a71ac4161bf2" providerId="ADAL" clId="{FFC1B77D-847F-46D2-90A1-6B484F317349}" dt="2025-07-01T07:21:19.249" v="84" actId="20577"/>
          <ac:spMkLst>
            <pc:docMk/>
            <pc:sldMk cId="2753959015" sldId="1261"/>
            <ac:spMk id="8" creationId="{BF9E0F24-7EB5-E017-A8E2-AB882367CD51}"/>
          </ac:spMkLst>
        </pc:spChg>
        <pc:spChg chg="del">
          <ac:chgData name="Rashmi Mishra" userId="6469e6c3-66fa-4f4f-9c10-a71ac4161bf2" providerId="ADAL" clId="{FFC1B77D-847F-46D2-90A1-6B484F317349}" dt="2025-07-01T06:59:56.220" v="67" actId="478"/>
          <ac:spMkLst>
            <pc:docMk/>
            <pc:sldMk cId="2753959015" sldId="1261"/>
            <ac:spMk id="9" creationId="{AA148FC3-2AD2-A00D-56BE-FE2480A11E53}"/>
          </ac:spMkLst>
        </pc:spChg>
      </pc:sldChg>
      <pc:sldChg chg="delSp modSp mod">
        <pc:chgData name="Rashmi Mishra" userId="6469e6c3-66fa-4f4f-9c10-a71ac4161bf2" providerId="ADAL" clId="{FFC1B77D-847F-46D2-90A1-6B484F317349}" dt="2025-07-01T07:21:24.126" v="88" actId="20577"/>
        <pc:sldMkLst>
          <pc:docMk/>
          <pc:sldMk cId="478983480" sldId="1262"/>
        </pc:sldMkLst>
        <pc:spChg chg="mod">
          <ac:chgData name="Rashmi Mishra" userId="6469e6c3-66fa-4f4f-9c10-a71ac4161bf2" providerId="ADAL" clId="{FFC1B77D-847F-46D2-90A1-6B484F317349}" dt="2025-07-01T07:21:24.126" v="88" actId="20577"/>
          <ac:spMkLst>
            <pc:docMk/>
            <pc:sldMk cId="478983480" sldId="1262"/>
            <ac:spMk id="8" creationId="{785A1B89-CDBB-9677-58B5-9A323922895B}"/>
          </ac:spMkLst>
        </pc:spChg>
        <pc:spChg chg="del">
          <ac:chgData name="Rashmi Mishra" userId="6469e6c3-66fa-4f4f-9c10-a71ac4161bf2" providerId="ADAL" clId="{FFC1B77D-847F-46D2-90A1-6B484F317349}" dt="2025-07-01T07:00:04.400" v="68" actId="478"/>
          <ac:spMkLst>
            <pc:docMk/>
            <pc:sldMk cId="478983480" sldId="1262"/>
            <ac:spMk id="9" creationId="{AA148FC3-2AD2-A00D-56BE-FE2480A11E53}"/>
          </ac:spMkLst>
        </pc:spChg>
      </pc:sldChg>
      <pc:sldChg chg="delSp modSp mod">
        <pc:chgData name="Rashmi Mishra" userId="6469e6c3-66fa-4f4f-9c10-a71ac4161bf2" providerId="ADAL" clId="{FFC1B77D-847F-46D2-90A1-6B484F317349}" dt="2025-07-01T07:20:26.757" v="82" actId="20577"/>
        <pc:sldMkLst>
          <pc:docMk/>
          <pc:sldMk cId="2947692114" sldId="1263"/>
        </pc:sldMkLst>
        <pc:spChg chg="mod">
          <ac:chgData name="Rashmi Mishra" userId="6469e6c3-66fa-4f4f-9c10-a71ac4161bf2" providerId="ADAL" clId="{FFC1B77D-847F-46D2-90A1-6B484F317349}" dt="2025-07-01T07:18:53.936" v="77"/>
          <ac:spMkLst>
            <pc:docMk/>
            <pc:sldMk cId="2947692114" sldId="1263"/>
            <ac:spMk id="5" creationId="{FEAB4626-A404-A00C-C3FF-B7F536FACB68}"/>
          </ac:spMkLst>
        </pc:spChg>
        <pc:spChg chg="mod">
          <ac:chgData name="Rashmi Mishra" userId="6469e6c3-66fa-4f4f-9c10-a71ac4161bf2" providerId="ADAL" clId="{FFC1B77D-847F-46D2-90A1-6B484F317349}" dt="2025-07-01T07:20:26.757" v="82" actId="20577"/>
          <ac:spMkLst>
            <pc:docMk/>
            <pc:sldMk cId="2947692114" sldId="1263"/>
            <ac:spMk id="8" creationId="{884A8A40-D642-EE53-D3CF-7E87189569AE}"/>
          </ac:spMkLst>
        </pc:spChg>
        <pc:spChg chg="del">
          <ac:chgData name="Rashmi Mishra" userId="6469e6c3-66fa-4f4f-9c10-a71ac4161bf2" providerId="ADAL" clId="{FFC1B77D-847F-46D2-90A1-6B484F317349}" dt="2025-07-01T07:10:21.085" v="69" actId="478"/>
          <ac:spMkLst>
            <pc:docMk/>
            <pc:sldMk cId="2947692114" sldId="1263"/>
            <ac:spMk id="9" creationId="{AA148FC3-2AD2-A00D-56BE-FE2480A11E53}"/>
          </ac:spMkLst>
        </pc:spChg>
      </pc:sldChg>
      <pc:sldChg chg="delSp mod">
        <pc:chgData name="Rashmi Mishra" userId="6469e6c3-66fa-4f4f-9c10-a71ac4161bf2" providerId="ADAL" clId="{FFC1B77D-847F-46D2-90A1-6B484F317349}" dt="2025-07-01T07:10:24.426" v="70" actId="478"/>
        <pc:sldMkLst>
          <pc:docMk/>
          <pc:sldMk cId="3567158037" sldId="1264"/>
        </pc:sldMkLst>
        <pc:spChg chg="del">
          <ac:chgData name="Rashmi Mishra" userId="6469e6c3-66fa-4f4f-9c10-a71ac4161bf2" providerId="ADAL" clId="{FFC1B77D-847F-46D2-90A1-6B484F317349}" dt="2025-07-01T07:10:24.426" v="70" actId="478"/>
          <ac:spMkLst>
            <pc:docMk/>
            <pc:sldMk cId="3567158037" sldId="1264"/>
            <ac:spMk id="9" creationId="{AA148FC3-2AD2-A00D-56BE-FE2480A11E53}"/>
          </ac:spMkLst>
        </pc:spChg>
      </pc:sldChg>
      <pc:sldChg chg="delSp modSp mod">
        <pc:chgData name="Rashmi Mishra" userId="6469e6c3-66fa-4f4f-9c10-a71ac4161bf2" providerId="ADAL" clId="{FFC1B77D-847F-46D2-90A1-6B484F317349}" dt="2025-07-01T07:21:35.896" v="91" actId="20577"/>
        <pc:sldMkLst>
          <pc:docMk/>
          <pc:sldMk cId="2303301004" sldId="1265"/>
        </pc:sldMkLst>
        <pc:spChg chg="mod">
          <ac:chgData name="Rashmi Mishra" userId="6469e6c3-66fa-4f4f-9c10-a71ac4161bf2" providerId="ADAL" clId="{FFC1B77D-847F-46D2-90A1-6B484F317349}" dt="2025-07-01T07:21:35.896" v="91" actId="20577"/>
          <ac:spMkLst>
            <pc:docMk/>
            <pc:sldMk cId="2303301004" sldId="1265"/>
            <ac:spMk id="8" creationId="{32860160-67D9-0666-3C96-288166FEF41A}"/>
          </ac:spMkLst>
        </pc:spChg>
        <pc:spChg chg="del">
          <ac:chgData name="Rashmi Mishra" userId="6469e6c3-66fa-4f4f-9c10-a71ac4161bf2" providerId="ADAL" clId="{FFC1B77D-847F-46D2-90A1-6B484F317349}" dt="2025-07-01T07:10:31.872" v="71" actId="478"/>
          <ac:spMkLst>
            <pc:docMk/>
            <pc:sldMk cId="2303301004" sldId="1265"/>
            <ac:spMk id="12" creationId="{AA148FC3-2AD2-A00D-56BE-FE2480A11E53}"/>
          </ac:spMkLst>
        </pc:spChg>
      </pc:sldChg>
      <pc:sldChg chg="delSp modSp mod">
        <pc:chgData name="Rashmi Mishra" userId="6469e6c3-66fa-4f4f-9c10-a71ac4161bf2" providerId="ADAL" clId="{FFC1B77D-847F-46D2-90A1-6B484F317349}" dt="2025-07-01T07:21:50.477" v="96" actId="20577"/>
        <pc:sldMkLst>
          <pc:docMk/>
          <pc:sldMk cId="2309464032" sldId="1266"/>
        </pc:sldMkLst>
        <pc:spChg chg="mod">
          <ac:chgData name="Rashmi Mishra" userId="6469e6c3-66fa-4f4f-9c10-a71ac4161bf2" providerId="ADAL" clId="{FFC1B77D-847F-46D2-90A1-6B484F317349}" dt="2025-07-01T07:21:50.477" v="96" actId="20577"/>
          <ac:spMkLst>
            <pc:docMk/>
            <pc:sldMk cId="2309464032" sldId="1266"/>
            <ac:spMk id="8" creationId="{BE98B183-64DD-F854-FD09-8B9B7011020C}"/>
          </ac:spMkLst>
        </pc:spChg>
        <pc:spChg chg="del">
          <ac:chgData name="Rashmi Mishra" userId="6469e6c3-66fa-4f4f-9c10-a71ac4161bf2" providerId="ADAL" clId="{FFC1B77D-847F-46D2-90A1-6B484F317349}" dt="2025-07-01T07:10:42.532" v="72" actId="478"/>
          <ac:spMkLst>
            <pc:docMk/>
            <pc:sldMk cId="2309464032" sldId="1266"/>
            <ac:spMk id="9" creationId="{AA148FC3-2AD2-A00D-56BE-FE2480A11E53}"/>
          </ac:spMkLst>
        </pc:spChg>
      </pc:sldChg>
      <pc:sldChg chg="delSp mod">
        <pc:chgData name="Rashmi Mishra" userId="6469e6c3-66fa-4f4f-9c10-a71ac4161bf2" providerId="ADAL" clId="{FFC1B77D-847F-46D2-90A1-6B484F317349}" dt="2025-07-01T07:10:45.819" v="73" actId="478"/>
        <pc:sldMkLst>
          <pc:docMk/>
          <pc:sldMk cId="2703747353" sldId="1267"/>
        </pc:sldMkLst>
        <pc:spChg chg="del">
          <ac:chgData name="Rashmi Mishra" userId="6469e6c3-66fa-4f4f-9c10-a71ac4161bf2" providerId="ADAL" clId="{FFC1B77D-847F-46D2-90A1-6B484F317349}" dt="2025-07-01T07:10:45.819" v="73" actId="478"/>
          <ac:spMkLst>
            <pc:docMk/>
            <pc:sldMk cId="2703747353" sldId="1267"/>
            <ac:spMk id="9" creationId="{AA148FC3-2AD2-A00D-56BE-FE2480A11E53}"/>
          </ac:spMkLst>
        </pc:spChg>
      </pc:sldChg>
      <pc:sldChg chg="delSp modSp mod">
        <pc:chgData name="Rashmi Mishra" userId="6469e6c3-66fa-4f4f-9c10-a71ac4161bf2" providerId="ADAL" clId="{FFC1B77D-847F-46D2-90A1-6B484F317349}" dt="2025-07-01T07:22:09.384" v="101" actId="20577"/>
        <pc:sldMkLst>
          <pc:docMk/>
          <pc:sldMk cId="2112388041" sldId="1268"/>
        </pc:sldMkLst>
        <pc:spChg chg="mod">
          <ac:chgData name="Rashmi Mishra" userId="6469e6c3-66fa-4f4f-9c10-a71ac4161bf2" providerId="ADAL" clId="{FFC1B77D-847F-46D2-90A1-6B484F317349}" dt="2025-07-01T07:22:09.384" v="101" actId="20577"/>
          <ac:spMkLst>
            <pc:docMk/>
            <pc:sldMk cId="2112388041" sldId="1268"/>
            <ac:spMk id="8" creationId="{9382AA69-44D5-0E8B-D8F8-3B04E4732E75}"/>
          </ac:spMkLst>
        </pc:spChg>
        <pc:spChg chg="del">
          <ac:chgData name="Rashmi Mishra" userId="6469e6c3-66fa-4f4f-9c10-a71ac4161bf2" providerId="ADAL" clId="{FFC1B77D-847F-46D2-90A1-6B484F317349}" dt="2025-07-01T07:10:54.332" v="74" actId="478"/>
          <ac:spMkLst>
            <pc:docMk/>
            <pc:sldMk cId="2112388041" sldId="1268"/>
            <ac:spMk id="9" creationId="{AA148FC3-2AD2-A00D-56BE-FE2480A11E53}"/>
          </ac:spMkLst>
        </pc:spChg>
      </pc:sldChg>
      <pc:sldChg chg="delSp mod">
        <pc:chgData name="Rashmi Mishra" userId="6469e6c3-66fa-4f4f-9c10-a71ac4161bf2" providerId="ADAL" clId="{FFC1B77D-847F-46D2-90A1-6B484F317349}" dt="2025-07-01T07:10:57.519" v="75" actId="478"/>
        <pc:sldMkLst>
          <pc:docMk/>
          <pc:sldMk cId="3903215076" sldId="1269"/>
        </pc:sldMkLst>
        <pc:spChg chg="del">
          <ac:chgData name="Rashmi Mishra" userId="6469e6c3-66fa-4f4f-9c10-a71ac4161bf2" providerId="ADAL" clId="{FFC1B77D-847F-46D2-90A1-6B484F317349}" dt="2025-07-01T07:10:57.519" v="75" actId="478"/>
          <ac:spMkLst>
            <pc:docMk/>
            <pc:sldMk cId="3903215076" sldId="1269"/>
            <ac:spMk id="9" creationId="{AA148FC3-2AD2-A00D-56BE-FE2480A11E53}"/>
          </ac:spMkLst>
        </pc:spChg>
      </pc:sldChg>
      <pc:sldChg chg="delSp modSp mod">
        <pc:chgData name="Rashmi Mishra" userId="6469e6c3-66fa-4f4f-9c10-a71ac4161bf2" providerId="ADAL" clId="{FFC1B77D-847F-46D2-90A1-6B484F317349}" dt="2025-07-01T08:42:12.257" v="105" actId="20577"/>
        <pc:sldMkLst>
          <pc:docMk/>
          <pc:sldMk cId="219081737" sldId="1270"/>
        </pc:sldMkLst>
        <pc:spChg chg="mod">
          <ac:chgData name="Rashmi Mishra" userId="6469e6c3-66fa-4f4f-9c10-a71ac4161bf2" providerId="ADAL" clId="{FFC1B77D-847F-46D2-90A1-6B484F317349}" dt="2025-07-01T08:42:12.257" v="105" actId="20577"/>
          <ac:spMkLst>
            <pc:docMk/>
            <pc:sldMk cId="219081737" sldId="1270"/>
            <ac:spMk id="8" creationId="{60535131-4FAD-971B-2B02-608A2130F149}"/>
          </ac:spMkLst>
        </pc:spChg>
        <pc:spChg chg="del">
          <ac:chgData name="Rashmi Mishra" userId="6469e6c3-66fa-4f4f-9c10-a71ac4161bf2" providerId="ADAL" clId="{FFC1B77D-847F-46D2-90A1-6B484F317349}" dt="2025-07-01T07:11:03.857" v="76" actId="478"/>
          <ac:spMkLst>
            <pc:docMk/>
            <pc:sldMk cId="219081737" sldId="1270"/>
            <ac:spMk id="9" creationId="{AA148FC3-2AD2-A00D-56BE-FE2480A11E53}"/>
          </ac:spMkLst>
        </pc:spChg>
      </pc:sldChg>
      <pc:sldChg chg="delSp mod">
        <pc:chgData name="Rashmi Mishra" userId="6469e6c3-66fa-4f4f-9c10-a71ac4161bf2" providerId="ADAL" clId="{FFC1B77D-847F-46D2-90A1-6B484F317349}" dt="2025-07-01T06:59:50.904" v="66" actId="478"/>
        <pc:sldMkLst>
          <pc:docMk/>
          <pc:sldMk cId="2528691101" sldId="1274"/>
        </pc:sldMkLst>
        <pc:spChg chg="del">
          <ac:chgData name="Rashmi Mishra" userId="6469e6c3-66fa-4f4f-9c10-a71ac4161bf2" providerId="ADAL" clId="{FFC1B77D-847F-46D2-90A1-6B484F317349}" dt="2025-07-01T06:59:50.904" v="66" actId="478"/>
          <ac:spMkLst>
            <pc:docMk/>
            <pc:sldMk cId="2528691101" sldId="1274"/>
            <ac:spMk id="9" creationId="{DC286A10-C258-ABCF-0736-282F77A3DCA4}"/>
          </ac:spMkLst>
        </pc:spChg>
      </pc:sldChg>
    </pc:docChg>
  </pc:docChgLst>
  <pc:docChgLst>
    <pc:chgData name="Rashmi Mishra" userId="6469e6c3-66fa-4f4f-9c10-a71ac4161bf2" providerId="ADAL" clId="{6FBC173E-42CA-402D-B503-855EB7E8355C}"/>
    <pc:docChg chg="addSld modSld">
      <pc:chgData name="Rashmi Mishra" userId="6469e6c3-66fa-4f4f-9c10-a71ac4161bf2" providerId="ADAL" clId="{6FBC173E-42CA-402D-B503-855EB7E8355C}" dt="2025-06-17T08:42:36.957" v="67" actId="14100"/>
      <pc:docMkLst>
        <pc:docMk/>
      </pc:docMkLst>
      <pc:sldChg chg="modSp mod">
        <pc:chgData name="Rashmi Mishra" userId="6469e6c3-66fa-4f4f-9c10-a71ac4161bf2" providerId="ADAL" clId="{6FBC173E-42CA-402D-B503-855EB7E8355C}" dt="2025-06-17T08:39:55.750" v="20"/>
        <pc:sldMkLst>
          <pc:docMk/>
          <pc:sldMk cId="2969769450" sldId="1260"/>
        </pc:sldMkLst>
        <pc:spChg chg="mod">
          <ac:chgData name="Rashmi Mishra" userId="6469e6c3-66fa-4f4f-9c10-a71ac4161bf2" providerId="ADAL" clId="{6FBC173E-42CA-402D-B503-855EB7E8355C}" dt="2025-06-17T08:39:55.750" v="20"/>
          <ac:spMkLst>
            <pc:docMk/>
            <pc:sldMk cId="2969769450" sldId="1260"/>
            <ac:spMk id="8" creationId="{4377EED6-891E-79BD-1F92-0CE86505322A}"/>
          </ac:spMkLst>
        </pc:spChg>
      </pc:sldChg>
      <pc:sldChg chg="modSp mod">
        <pc:chgData name="Rashmi Mishra" userId="6469e6c3-66fa-4f4f-9c10-a71ac4161bf2" providerId="ADAL" clId="{6FBC173E-42CA-402D-B503-855EB7E8355C}" dt="2025-06-17T08:40:42.139" v="24" actId="20577"/>
        <pc:sldMkLst>
          <pc:docMk/>
          <pc:sldMk cId="2753959015" sldId="1261"/>
        </pc:sldMkLst>
        <pc:spChg chg="mod">
          <ac:chgData name="Rashmi Mishra" userId="6469e6c3-66fa-4f4f-9c10-a71ac4161bf2" providerId="ADAL" clId="{6FBC173E-42CA-402D-B503-855EB7E8355C}" dt="2025-06-17T08:40:42.139" v="24" actId="20577"/>
          <ac:spMkLst>
            <pc:docMk/>
            <pc:sldMk cId="2753959015" sldId="1261"/>
            <ac:spMk id="8" creationId="{BF9E0F24-7EB5-E017-A8E2-AB882367CD51}"/>
          </ac:spMkLst>
        </pc:spChg>
      </pc:sldChg>
      <pc:sldChg chg="modSp mod">
        <pc:chgData name="Rashmi Mishra" userId="6469e6c3-66fa-4f4f-9c10-a71ac4161bf2" providerId="ADAL" clId="{6FBC173E-42CA-402D-B503-855EB7E8355C}" dt="2025-06-17T08:40:54.944" v="33" actId="14100"/>
        <pc:sldMkLst>
          <pc:docMk/>
          <pc:sldMk cId="478983480" sldId="1262"/>
        </pc:sldMkLst>
        <pc:spChg chg="mod">
          <ac:chgData name="Rashmi Mishra" userId="6469e6c3-66fa-4f4f-9c10-a71ac4161bf2" providerId="ADAL" clId="{6FBC173E-42CA-402D-B503-855EB7E8355C}" dt="2025-06-17T08:40:54.944" v="33" actId="14100"/>
          <ac:spMkLst>
            <pc:docMk/>
            <pc:sldMk cId="478983480" sldId="1262"/>
            <ac:spMk id="8" creationId="{785A1B89-CDBB-9677-58B5-9A323922895B}"/>
          </ac:spMkLst>
        </pc:spChg>
      </pc:sldChg>
      <pc:sldChg chg="modSp mod">
        <pc:chgData name="Rashmi Mishra" userId="6469e6c3-66fa-4f4f-9c10-a71ac4161bf2" providerId="ADAL" clId="{6FBC173E-42CA-402D-B503-855EB7E8355C}" dt="2025-06-17T08:41:07.374" v="40" actId="20577"/>
        <pc:sldMkLst>
          <pc:docMk/>
          <pc:sldMk cId="2947692114" sldId="1263"/>
        </pc:sldMkLst>
        <pc:spChg chg="mod">
          <ac:chgData name="Rashmi Mishra" userId="6469e6c3-66fa-4f4f-9c10-a71ac4161bf2" providerId="ADAL" clId="{6FBC173E-42CA-402D-B503-855EB7E8355C}" dt="2025-06-17T08:41:07.374" v="40" actId="20577"/>
          <ac:spMkLst>
            <pc:docMk/>
            <pc:sldMk cId="2947692114" sldId="1263"/>
            <ac:spMk id="8" creationId="{884A8A40-D642-EE53-D3CF-7E87189569AE}"/>
          </ac:spMkLst>
        </pc:spChg>
      </pc:sldChg>
      <pc:sldChg chg="modSp mod">
        <pc:chgData name="Rashmi Mishra" userId="6469e6c3-66fa-4f4f-9c10-a71ac4161bf2" providerId="ADAL" clId="{6FBC173E-42CA-402D-B503-855EB7E8355C}" dt="2025-06-17T08:42:18.545" v="63" actId="5793"/>
        <pc:sldMkLst>
          <pc:docMk/>
          <pc:sldMk cId="3567158037" sldId="1264"/>
        </pc:sldMkLst>
        <pc:spChg chg="mod">
          <ac:chgData name="Rashmi Mishra" userId="6469e6c3-66fa-4f4f-9c10-a71ac4161bf2" providerId="ADAL" clId="{6FBC173E-42CA-402D-B503-855EB7E8355C}" dt="2025-06-17T08:42:13.933" v="62" actId="20577"/>
          <ac:spMkLst>
            <pc:docMk/>
            <pc:sldMk cId="3567158037" sldId="1264"/>
            <ac:spMk id="4" creationId="{C4D7FC06-7B57-31D9-5057-16290AE92A49}"/>
          </ac:spMkLst>
        </pc:spChg>
        <pc:spChg chg="mod">
          <ac:chgData name="Rashmi Mishra" userId="6469e6c3-66fa-4f4f-9c10-a71ac4161bf2" providerId="ADAL" clId="{6FBC173E-42CA-402D-B503-855EB7E8355C}" dt="2025-06-17T08:42:18.545" v="63" actId="5793"/>
          <ac:spMkLst>
            <pc:docMk/>
            <pc:sldMk cId="3567158037" sldId="1264"/>
            <ac:spMk id="8" creationId="{9BAD16BE-7032-D6E7-63B1-4D66C2C31993}"/>
          </ac:spMkLst>
        </pc:spChg>
      </pc:sldChg>
      <pc:sldChg chg="modSp mod">
        <pc:chgData name="Rashmi Mishra" userId="6469e6c3-66fa-4f4f-9c10-a71ac4161bf2" providerId="ADAL" clId="{6FBC173E-42CA-402D-B503-855EB7E8355C}" dt="2025-06-17T08:41:34.992" v="47" actId="5793"/>
        <pc:sldMkLst>
          <pc:docMk/>
          <pc:sldMk cId="2303301004" sldId="1265"/>
        </pc:sldMkLst>
        <pc:spChg chg="mod">
          <ac:chgData name="Rashmi Mishra" userId="6469e6c3-66fa-4f4f-9c10-a71ac4161bf2" providerId="ADAL" clId="{6FBC173E-42CA-402D-B503-855EB7E8355C}" dt="2025-06-17T08:41:34.992" v="47" actId="5793"/>
          <ac:spMkLst>
            <pc:docMk/>
            <pc:sldMk cId="2303301004" sldId="1265"/>
            <ac:spMk id="8" creationId="{32860160-67D9-0666-3C96-288166FEF41A}"/>
          </ac:spMkLst>
        </pc:spChg>
      </pc:sldChg>
      <pc:sldChg chg="modSp mod">
        <pc:chgData name="Rashmi Mishra" userId="6469e6c3-66fa-4f4f-9c10-a71ac4161bf2" providerId="ADAL" clId="{6FBC173E-42CA-402D-B503-855EB7E8355C}" dt="2025-06-17T08:41:47.674" v="57" actId="20577"/>
        <pc:sldMkLst>
          <pc:docMk/>
          <pc:sldMk cId="2309464032" sldId="1266"/>
        </pc:sldMkLst>
        <pc:spChg chg="mod">
          <ac:chgData name="Rashmi Mishra" userId="6469e6c3-66fa-4f4f-9c10-a71ac4161bf2" providerId="ADAL" clId="{6FBC173E-42CA-402D-B503-855EB7E8355C}" dt="2025-06-17T08:41:47.674" v="57" actId="20577"/>
          <ac:spMkLst>
            <pc:docMk/>
            <pc:sldMk cId="2309464032" sldId="1266"/>
            <ac:spMk id="8" creationId="{BE98B183-64DD-F854-FD09-8B9B7011020C}"/>
          </ac:spMkLst>
        </pc:spChg>
      </pc:sldChg>
      <pc:sldChg chg="modSp mod">
        <pc:chgData name="Rashmi Mishra" userId="6469e6c3-66fa-4f4f-9c10-a71ac4161bf2" providerId="ADAL" clId="{6FBC173E-42CA-402D-B503-855EB7E8355C}" dt="2025-06-17T08:42:36.957" v="67" actId="14100"/>
        <pc:sldMkLst>
          <pc:docMk/>
          <pc:sldMk cId="2703747353" sldId="1267"/>
        </pc:sldMkLst>
        <pc:spChg chg="mod">
          <ac:chgData name="Rashmi Mishra" userId="6469e6c3-66fa-4f4f-9c10-a71ac4161bf2" providerId="ADAL" clId="{6FBC173E-42CA-402D-B503-855EB7E8355C}" dt="2025-06-17T08:42:04.337" v="60" actId="20577"/>
          <ac:spMkLst>
            <pc:docMk/>
            <pc:sldMk cId="2703747353" sldId="1267"/>
            <ac:spMk id="4" creationId="{ECB5C6D3-437A-0762-13A1-974F673C9BB1}"/>
          </ac:spMkLst>
        </pc:spChg>
        <pc:spChg chg="mod">
          <ac:chgData name="Rashmi Mishra" userId="6469e6c3-66fa-4f4f-9c10-a71ac4161bf2" providerId="ADAL" clId="{6FBC173E-42CA-402D-B503-855EB7E8355C}" dt="2025-06-17T08:42:36.957" v="67" actId="14100"/>
          <ac:spMkLst>
            <pc:docMk/>
            <pc:sldMk cId="2703747353" sldId="1267"/>
            <ac:spMk id="8" creationId="{5489BBEC-ACD5-6318-1526-CE1BB29D4BD5}"/>
          </ac:spMkLst>
        </pc:spChg>
      </pc:sldChg>
      <pc:sldChg chg="modSp add mod">
        <pc:chgData name="Rashmi Mishra" userId="6469e6c3-66fa-4f4f-9c10-a71ac4161bf2" providerId="ADAL" clId="{6FBC173E-42CA-402D-B503-855EB7E8355C}" dt="2025-06-17T08:40:00.343" v="22" actId="20577"/>
        <pc:sldMkLst>
          <pc:docMk/>
          <pc:sldMk cId="2528691101" sldId="1274"/>
        </pc:sldMkLst>
        <pc:spChg chg="mod">
          <ac:chgData name="Rashmi Mishra" userId="6469e6c3-66fa-4f4f-9c10-a71ac4161bf2" providerId="ADAL" clId="{6FBC173E-42CA-402D-B503-855EB7E8355C}" dt="2025-06-17T08:40:00.343" v="22" actId="20577"/>
          <ac:spMkLst>
            <pc:docMk/>
            <pc:sldMk cId="2528691101" sldId="1274"/>
            <ac:spMk id="8" creationId="{064BB2B5-D8BA-4A85-7F4F-802A15CBDEF6}"/>
          </ac:spMkLst>
        </pc:spChg>
      </pc:sldChg>
    </pc:docChg>
  </pc:docChgLst>
  <pc:docChgLst>
    <pc:chgData name="Rashmi Mishra" userId="6469e6c3-66fa-4f4f-9c10-a71ac4161bf2" providerId="ADAL" clId="{CCB5AD3C-4DB8-4318-A40C-0D17FBD9A23B}"/>
    <pc:docChg chg="custSel modSld">
      <pc:chgData name="Rashmi Mishra" userId="6469e6c3-66fa-4f4f-9c10-a71ac4161bf2" providerId="ADAL" clId="{CCB5AD3C-4DB8-4318-A40C-0D17FBD9A23B}" dt="2025-06-23T04:49:47.557" v="39" actId="113"/>
      <pc:docMkLst>
        <pc:docMk/>
      </pc:docMkLst>
      <pc:sldChg chg="modSp mod">
        <pc:chgData name="Rashmi Mishra" userId="6469e6c3-66fa-4f4f-9c10-a71ac4161bf2" providerId="ADAL" clId="{CCB5AD3C-4DB8-4318-A40C-0D17FBD9A23B}" dt="2025-06-23T04:49:31.847" v="26" actId="113"/>
        <pc:sldMkLst>
          <pc:docMk/>
          <pc:sldMk cId="2112388041" sldId="1268"/>
        </pc:sldMkLst>
        <pc:spChg chg="mod">
          <ac:chgData name="Rashmi Mishra" userId="6469e6c3-66fa-4f4f-9c10-a71ac4161bf2" providerId="ADAL" clId="{CCB5AD3C-4DB8-4318-A40C-0D17FBD9A23B}" dt="2025-06-23T04:49:31.847" v="26" actId="113"/>
          <ac:spMkLst>
            <pc:docMk/>
            <pc:sldMk cId="2112388041" sldId="1268"/>
            <ac:spMk id="8" creationId="{9382AA69-44D5-0E8B-D8F8-3B04E4732E75}"/>
          </ac:spMkLst>
        </pc:spChg>
      </pc:sldChg>
      <pc:sldChg chg="modSp mod">
        <pc:chgData name="Rashmi Mishra" userId="6469e6c3-66fa-4f4f-9c10-a71ac4161bf2" providerId="ADAL" clId="{CCB5AD3C-4DB8-4318-A40C-0D17FBD9A23B}" dt="2025-06-23T04:49:28.511" v="25" actId="113"/>
        <pc:sldMkLst>
          <pc:docMk/>
          <pc:sldMk cId="3903215076" sldId="1269"/>
        </pc:sldMkLst>
        <pc:spChg chg="mod">
          <ac:chgData name="Rashmi Mishra" userId="6469e6c3-66fa-4f4f-9c10-a71ac4161bf2" providerId="ADAL" clId="{CCB5AD3C-4DB8-4318-A40C-0D17FBD9A23B}" dt="2025-06-23T04:49:28.511" v="25" actId="113"/>
          <ac:spMkLst>
            <pc:docMk/>
            <pc:sldMk cId="3903215076" sldId="1269"/>
            <ac:spMk id="8" creationId="{B4A5A9E0-B3EE-2546-94A6-A58387C64FEC}"/>
          </ac:spMkLst>
        </pc:spChg>
      </pc:sldChg>
      <pc:sldChg chg="modSp mod">
        <pc:chgData name="Rashmi Mishra" userId="6469e6c3-66fa-4f4f-9c10-a71ac4161bf2" providerId="ADAL" clId="{CCB5AD3C-4DB8-4318-A40C-0D17FBD9A23B}" dt="2025-06-23T04:49:47.557" v="39" actId="113"/>
        <pc:sldMkLst>
          <pc:docMk/>
          <pc:sldMk cId="219081737" sldId="1270"/>
        </pc:sldMkLst>
        <pc:spChg chg="mod">
          <ac:chgData name="Rashmi Mishra" userId="6469e6c3-66fa-4f4f-9c10-a71ac4161bf2" providerId="ADAL" clId="{CCB5AD3C-4DB8-4318-A40C-0D17FBD9A23B}" dt="2025-06-23T04:49:47.557" v="39" actId="113"/>
          <ac:spMkLst>
            <pc:docMk/>
            <pc:sldMk cId="219081737" sldId="1270"/>
            <ac:spMk id="8" creationId="{60535131-4FAD-971B-2B02-608A2130F1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8F0E2C-0383-479A-BFD3-B5E1AE45BE3C}" type="datetimeFigureOut">
              <a:rPr lang="en-IN" smtClean="0"/>
              <a:t>05-08-2025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64557E-4AEC-4FB8-82EC-38CAFDF29F61}" type="slidenum">
              <a:rPr lang="en-IN" smtClean="0"/>
              <a:t>‹#›</a:t>
            </a:fld>
            <a:endParaRPr lang="en-IN"/>
          </a:p>
        </p:txBody>
      </p:sp>
    </p:spTree>
    <p:extLst>
      <p:ext uri="{BB962C8B-B14F-4D97-AF65-F5344CB8AC3E}">
        <p14:creationId xmlns:p14="http://schemas.microsoft.com/office/powerpoint/2010/main" val="241485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pynative.com/python-lists/" TargetMode="External"/><Relationship Id="rId2" Type="http://schemas.openxmlformats.org/officeDocument/2006/relationships/slide" Target="../slides/slide47.xml"/><Relationship Id="rId1" Type="http://schemas.openxmlformats.org/officeDocument/2006/relationships/notesMaster" Target="../notesMasters/notesMaster1.xml"/><Relationship Id="rId5" Type="http://schemas.openxmlformats.org/officeDocument/2006/relationships/hyperlink" Target="https://pynative.com/python-range-function/" TargetMode="External"/><Relationship Id="rId4" Type="http://schemas.openxmlformats.org/officeDocument/2006/relationships/hyperlink" Target="https://pynative.com/python-tuples/" TargetMode="Externa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github.com/Techsaksham/TSP4.0-AI-LAB-Repo/tree/main/Unit1%3A%20AI%20Concepts%2C%20Python%20Basics%2C%20and%20OpenCV%20Integration"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github.com/Techsaksham/TSP4.0-LAB-REPO-SDP/tree/main/Unit1%3A%20Introduction%20to%20AI%20and%20Python%20Programming%20for%20AI"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Arial" panose="020B0604020202020204" pitchFamily="34" charset="0"/>
                <a:ea typeface="Garet Bold"/>
                <a:cs typeface="Arial" panose="020B0604020202020204" pitchFamily="34" charset="0"/>
                <a:sym typeface="Garet Bold"/>
              </a:rPr>
              <a:t>Python Basics for Data Science</a:t>
            </a: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1</a:t>
            </a:fld>
            <a:endParaRPr lang="en-IN"/>
          </a:p>
        </p:txBody>
      </p:sp>
    </p:spTree>
    <p:extLst>
      <p:ext uri="{BB962C8B-B14F-4D97-AF65-F5344CB8AC3E}">
        <p14:creationId xmlns:p14="http://schemas.microsoft.com/office/powerpoint/2010/main" val="2404007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Welcome to this chapter! In this session, you'll gain a comprehensive understanding of Python. We'll start by exploring the fundamental concepts of Python, including its features and why it is a preferred programming language. Then, we'll discuss the scope of Python in India, highlighting its growing importance and career opportunities for developers. We'll also delve into the history of Python, tracing its evolution and key milestones. You will learn how to install Python, set up your development environment, and run your first Python script through a practical demonstration. Finally, we'll look at various use cases of Python applications across different industries, showcasing its versatility and real-world applications. This will provide a strong foundation for your journey into Python programming.</a:t>
            </a:r>
          </a:p>
          <a:p>
            <a:pPr marL="0" lvl="0" indent="0" algn="l" rtl="0">
              <a:lnSpc>
                <a:spcPct val="100000"/>
              </a:lnSpc>
              <a:spcBef>
                <a:spcPts val="0"/>
              </a:spcBef>
              <a:spcAft>
                <a:spcPts val="0"/>
              </a:spcAft>
              <a:buSzPts val="1100"/>
              <a:buNone/>
            </a:pPr>
            <a:endParaRPr lang="en-US" dirty="0"/>
          </a:p>
        </p:txBody>
      </p:sp>
      <p:sp>
        <p:nvSpPr>
          <p:cNvPr id="4" name="Slide Number Placeholder 3"/>
          <p:cNvSpPr>
            <a:spLocks noGrp="1"/>
          </p:cNvSpPr>
          <p:nvPr>
            <p:ph type="sldNum" sz="quarter" idx="5"/>
          </p:nvPr>
        </p:nvSpPr>
        <p:spPr/>
        <p:txBody>
          <a:bodyPr/>
          <a:lstStyle/>
          <a:p>
            <a:fld id="{2964557E-4AEC-4FB8-82EC-38CAFDF29F61}" type="slidenum">
              <a:rPr lang="en-IN" smtClean="0"/>
              <a:t>5</a:t>
            </a:fld>
            <a:endParaRPr lang="en-IN"/>
          </a:p>
        </p:txBody>
      </p:sp>
    </p:spTree>
    <p:extLst>
      <p:ext uri="{BB962C8B-B14F-4D97-AF65-F5344CB8AC3E}">
        <p14:creationId xmlns:p14="http://schemas.microsoft.com/office/powerpoint/2010/main" val="3543430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spcBef>
                <a:spcPts val="0"/>
              </a:spcBef>
              <a:spcAft>
                <a:spcPts val="800"/>
              </a:spcAft>
              <a:buFont typeface="Arial" pitchFamily="34" charset="0"/>
              <a:buNone/>
            </a:pPr>
            <a:r>
              <a:rPr lang="en-US" sz="1200" b="1" dirty="0">
                <a:latin typeface="Arial" panose="020B0604020202020204" pitchFamily="34" charset="0"/>
                <a:cs typeface="Arial" panose="020B0604020202020204" pitchFamily="34" charset="0"/>
              </a:rPr>
              <a:t>You will learn in this Chapter:</a:t>
            </a:r>
          </a:p>
          <a:p>
            <a:pPr defTabSz="914400" eaLnBrk="0" fontAlgn="base" hangingPunct="0">
              <a:spcBef>
                <a:spcPct val="0"/>
              </a:spcBef>
              <a:spcAft>
                <a:spcPct val="0"/>
              </a:spcAft>
            </a:pPr>
            <a:r>
              <a:rPr lang="en-US" altLang="en-US" sz="1200" dirty="0">
                <a:latin typeface="Arial" panose="020B0604020202020204" pitchFamily="34" charset="0"/>
              </a:rPr>
              <a:t>Understand and apply basic Python syntax to write clean and structured code.</a:t>
            </a:r>
          </a:p>
          <a:p>
            <a:pPr defTabSz="914400" eaLnBrk="0" fontAlgn="base" hangingPunct="0">
              <a:spcBef>
                <a:spcPct val="0"/>
              </a:spcBef>
              <a:spcAft>
                <a:spcPct val="0"/>
              </a:spcAft>
            </a:pPr>
            <a:r>
              <a:rPr lang="en-US" altLang="en-US" sz="1200" dirty="0">
                <a:latin typeface="Arial" panose="020B0604020202020204" pitchFamily="34" charset="0"/>
              </a:rPr>
              <a:t>Identify and use different data types and operators effectively in Python programs.</a:t>
            </a:r>
          </a:p>
          <a:p>
            <a:pPr defTabSz="914400" eaLnBrk="0" fontAlgn="base" hangingPunct="0">
              <a:spcBef>
                <a:spcPct val="0"/>
              </a:spcBef>
              <a:spcAft>
                <a:spcPct val="0"/>
              </a:spcAft>
            </a:pPr>
            <a:r>
              <a:rPr lang="en-US" altLang="en-US" sz="1200" dirty="0">
                <a:latin typeface="Arial" panose="020B0604020202020204" pitchFamily="34" charset="0"/>
              </a:rPr>
              <a:t>Implement control flow using conditional and looping statements.</a:t>
            </a:r>
          </a:p>
          <a:p>
            <a:pPr defTabSz="914400" eaLnBrk="0" fontAlgn="base" hangingPunct="0">
              <a:spcBef>
                <a:spcPct val="0"/>
              </a:spcBef>
              <a:spcAft>
                <a:spcPct val="0"/>
              </a:spcAft>
            </a:pPr>
            <a:r>
              <a:rPr lang="en-US" altLang="en-US" sz="1200" dirty="0">
                <a:latin typeface="Arial" panose="020B0604020202020204" pitchFamily="34" charset="0"/>
              </a:rPr>
              <a:t>Define and use functions to structure and reuse code efficiently.</a:t>
            </a:r>
          </a:p>
          <a:p>
            <a:pPr defTabSz="914400" eaLnBrk="0" fontAlgn="base" hangingPunct="0">
              <a:spcBef>
                <a:spcPct val="0"/>
              </a:spcBef>
              <a:spcAft>
                <a:spcPct val="0"/>
              </a:spcAft>
            </a:pPr>
            <a:r>
              <a:rPr lang="en-US" altLang="en-US" sz="1200" dirty="0">
                <a:latin typeface="Arial" panose="020B0604020202020204" pitchFamily="34" charset="0"/>
              </a:rPr>
              <a:t>Perform file handling operations such as reading from and writing to files.</a:t>
            </a:r>
          </a:p>
          <a:p>
            <a:pPr marL="173736" indent="-173736">
              <a:spcBef>
                <a:spcPts val="0"/>
              </a:spcBef>
              <a:spcAft>
                <a:spcPts val="800"/>
              </a:spcAft>
              <a:buFont typeface="Arial" pitchFamily="34" charset="0"/>
              <a:buNone/>
            </a:pPr>
            <a:endParaRPr lang="en-US" sz="1200" b="1"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6</a:t>
            </a:fld>
            <a:endParaRPr lang="en-IN"/>
          </a:p>
        </p:txBody>
      </p:sp>
    </p:spTree>
    <p:extLst>
      <p:ext uri="{BB962C8B-B14F-4D97-AF65-F5344CB8AC3E}">
        <p14:creationId xmlns:p14="http://schemas.microsoft.com/office/powerpoint/2010/main" val="4000380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Python is a popular, easy-to-learn programming language with a zen-like code structure. It's used for web apps, big data analysis, and machine learning. It's strongly typed, but dynamic, and uses indentation instead of semicolons. It's multi-paradigm and has a large ecosystem of third-party libraries.</a:t>
            </a:r>
          </a:p>
          <a:p>
            <a:pPr>
              <a:buNone/>
            </a:pPr>
            <a:endParaRPr lang="en-US">
              <a:latin typeface="Calibri"/>
              <a:cs typeface="Calibri"/>
            </a:endParaRPr>
          </a:p>
        </p:txBody>
      </p:sp>
    </p:spTree>
    <p:extLst>
      <p:ext uri="{BB962C8B-B14F-4D97-AF65-F5344CB8AC3E}">
        <p14:creationId xmlns:p14="http://schemas.microsoft.com/office/powerpoint/2010/main" val="2124175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a:t>Let's Discuss, What is python?</a:t>
            </a:r>
            <a:endParaRPr lang="en-IN"/>
          </a:p>
          <a:p>
            <a:endParaRPr lang="en-US"/>
          </a:p>
          <a:p>
            <a:r>
              <a:rPr lang="en-US"/>
              <a:t>Python is a widely used programming language that offers several unique features and advantages compared to languages like Java and C++. Our Python tutorial thoroughly explains Python basics and advanced concepts, starting with installation, conditional statements, loops, built-in data structures, Object-Oriented Programming, Generators, Exception Handling, Python </a:t>
            </a:r>
            <a:r>
              <a:rPr lang="en-US" err="1"/>
              <a:t>RegEx</a:t>
            </a:r>
            <a:r>
              <a:rPr lang="en-US"/>
              <a:t>, and many other concepts.</a:t>
            </a:r>
          </a:p>
          <a:p>
            <a:endParaRPr lang="en-US">
              <a:cs typeface="Calibri"/>
            </a:endParaRPr>
          </a:p>
          <a:p>
            <a:r>
              <a:rPr lang="en-US" b="1"/>
              <a:t>Key Features of Python:</a:t>
            </a:r>
          </a:p>
          <a:p>
            <a:pPr>
              <a:buFont typeface="+mj-lt"/>
              <a:buAutoNum type="arabicPeriod"/>
            </a:pPr>
            <a:r>
              <a:rPr lang="en-US" b="1"/>
              <a:t>Readability</a:t>
            </a:r>
            <a:r>
              <a:rPr lang="en-US"/>
              <a:t>:</a:t>
            </a:r>
          </a:p>
          <a:p>
            <a:pPr marL="742950" lvl="1" indent="-285750">
              <a:buFont typeface="+mj-lt"/>
              <a:buAutoNum type="arabicPeriod"/>
            </a:pPr>
            <a:r>
              <a:rPr lang="en-US"/>
              <a:t>Python emphasizes clear and readable syntax, making it easier for developers to write and maintain code.</a:t>
            </a:r>
          </a:p>
          <a:p>
            <a:pPr>
              <a:buFont typeface="+mj-lt"/>
              <a:buAutoNum type="arabicPeriod"/>
            </a:pPr>
            <a:r>
              <a:rPr lang="en-US" b="1"/>
              <a:t>Interpreted Language</a:t>
            </a:r>
            <a:r>
              <a:rPr lang="en-US"/>
              <a:t>:</a:t>
            </a:r>
          </a:p>
          <a:p>
            <a:pPr marL="742950" lvl="1" indent="-285750">
              <a:buFont typeface="+mj-lt"/>
              <a:buAutoNum type="arabicPeriod"/>
            </a:pPr>
            <a:r>
              <a:rPr lang="en-US"/>
              <a:t>Python code is executed line-by-line by an interpreter, which makes debugging easier but can be slower than compiled languages.</a:t>
            </a:r>
          </a:p>
          <a:p>
            <a:pPr>
              <a:buFont typeface="+mj-lt"/>
              <a:buAutoNum type="arabicPeriod"/>
            </a:pPr>
            <a:r>
              <a:rPr lang="en-US" b="1"/>
              <a:t>Versatility</a:t>
            </a:r>
            <a:r>
              <a:rPr lang="en-US"/>
              <a:t>:</a:t>
            </a:r>
          </a:p>
          <a:p>
            <a:pPr marL="742950" lvl="1" indent="-285750">
              <a:buFont typeface="+mj-lt"/>
              <a:buAutoNum type="arabicPeriod"/>
            </a:pPr>
            <a:r>
              <a:rPr lang="en-US"/>
              <a:t>Python supports multiple programming paradigms, including procedural, object-oriented, and functional programming.</a:t>
            </a:r>
          </a:p>
          <a:p>
            <a:pPr>
              <a:buFont typeface="+mj-lt"/>
              <a:buAutoNum type="arabicPeriod"/>
            </a:pPr>
            <a:r>
              <a:rPr lang="en-US" b="1"/>
              <a:t>Extensive Standard Library</a:t>
            </a:r>
            <a:r>
              <a:rPr lang="en-US"/>
              <a:t>:</a:t>
            </a:r>
          </a:p>
          <a:p>
            <a:pPr marL="742950" lvl="1" indent="-285750">
              <a:buFont typeface="+mj-lt"/>
              <a:buAutoNum type="arabicPeriod"/>
            </a:pPr>
            <a:r>
              <a:rPr lang="en-US"/>
              <a:t>Python comes with a vast standard library that includes modules and packages for various tasks like web development, data analysis, and machine learning.</a:t>
            </a:r>
          </a:p>
          <a:p>
            <a:pPr>
              <a:buFont typeface="+mj-lt"/>
              <a:buAutoNum type="arabicPeriod"/>
            </a:pPr>
            <a:r>
              <a:rPr lang="en-US" b="1"/>
              <a:t>Cross-Platform</a:t>
            </a:r>
            <a:r>
              <a:rPr lang="en-US"/>
              <a:t>:</a:t>
            </a:r>
          </a:p>
          <a:p>
            <a:pPr marL="742950" lvl="1" indent="-285750">
              <a:buFont typeface="+mj-lt"/>
              <a:buAutoNum type="arabicPeriod"/>
            </a:pPr>
            <a:r>
              <a:rPr lang="en-US"/>
              <a:t>Python is available on multiple operating systems, including Windows, macOS, and Linux, making it highly portable.</a:t>
            </a:r>
          </a:p>
          <a:p>
            <a:pPr>
              <a:buFont typeface="+mj-lt"/>
              <a:buAutoNum type="arabicPeriod"/>
            </a:pPr>
            <a:r>
              <a:rPr lang="en-US" b="1"/>
              <a:t>Community Support</a:t>
            </a:r>
            <a:r>
              <a:rPr lang="en-US"/>
              <a:t>:</a:t>
            </a:r>
          </a:p>
          <a:p>
            <a:pPr marL="742950" lvl="1" indent="-285750">
              <a:buFont typeface="+mj-lt"/>
              <a:buAutoNum type="arabicPeriod"/>
            </a:pPr>
            <a:r>
              <a:rPr lang="en-US"/>
              <a:t>Python has a large and active community that contributes to a wealth of third-party libraries, frameworks, and tools, as well as extensive documentation </a:t>
            </a:r>
          </a:p>
          <a:p>
            <a:endParaRPr lang="en-US">
              <a:cs typeface="Calibri"/>
            </a:endParaRPr>
          </a:p>
          <a:p>
            <a:r>
              <a:rPr lang="en-US" b="1"/>
              <a:t>Common Uses of Python:</a:t>
            </a:r>
          </a:p>
          <a:p>
            <a:pPr>
              <a:buFont typeface="Arial" panose="020B0604020202020204" pitchFamily="34" charset="0"/>
              <a:buChar char="•"/>
            </a:pPr>
            <a:r>
              <a:rPr lang="en-US" b="1"/>
              <a:t>Web Development</a:t>
            </a:r>
            <a:r>
              <a:rPr lang="en-US"/>
              <a:t>:</a:t>
            </a:r>
          </a:p>
          <a:p>
            <a:pPr marL="742950" lvl="1" indent="-285750">
              <a:buFont typeface="Arial" panose="020B0604020202020204" pitchFamily="34" charset="0"/>
              <a:buChar char="•"/>
            </a:pPr>
            <a:r>
              <a:rPr lang="en-US"/>
              <a:t>Frameworks like Django and Flask are used for building web applications.</a:t>
            </a:r>
          </a:p>
          <a:p>
            <a:pPr>
              <a:buFont typeface="Arial" panose="020B0604020202020204" pitchFamily="34" charset="0"/>
              <a:buChar char="•"/>
            </a:pPr>
            <a:r>
              <a:rPr lang="en-US" b="1"/>
              <a:t>Data Science and Machine Learning</a:t>
            </a:r>
            <a:r>
              <a:rPr lang="en-US"/>
              <a:t>:</a:t>
            </a:r>
          </a:p>
          <a:p>
            <a:pPr marL="742950" lvl="1" indent="-285750">
              <a:buFont typeface="Arial" panose="020B0604020202020204" pitchFamily="34" charset="0"/>
              <a:buChar char="•"/>
            </a:pPr>
            <a:r>
              <a:rPr lang="en-US"/>
              <a:t>Libraries like Pandas, NumPy, SciPy, and Scikit-Learn are popular for data analysis and machine learning tasks.</a:t>
            </a:r>
          </a:p>
          <a:p>
            <a:pPr marL="742950" lvl="1" indent="-285750">
              <a:buFont typeface="Arial" panose="020B0604020202020204" pitchFamily="34" charset="0"/>
              <a:buChar char="•"/>
            </a:pPr>
            <a:r>
              <a:rPr lang="en-US"/>
              <a:t>TensorFlow and </a:t>
            </a:r>
            <a:r>
              <a:rPr lang="en-US" err="1"/>
              <a:t>PyTorch</a:t>
            </a:r>
            <a:r>
              <a:rPr lang="en-US"/>
              <a:t> are widely used for deep learning.</a:t>
            </a:r>
          </a:p>
          <a:p>
            <a:pPr>
              <a:buFont typeface="Arial" panose="020B0604020202020204" pitchFamily="34" charset="0"/>
              <a:buChar char="•"/>
            </a:pPr>
            <a:r>
              <a:rPr lang="en-US" b="1"/>
              <a:t>Scripting and Automation</a:t>
            </a:r>
            <a:r>
              <a:rPr lang="en-US"/>
              <a:t>:</a:t>
            </a:r>
          </a:p>
          <a:p>
            <a:pPr marL="742950" lvl="1" indent="-285750">
              <a:buFont typeface="Arial" panose="020B0604020202020204" pitchFamily="34" charset="0"/>
              <a:buChar char="•"/>
            </a:pPr>
            <a:r>
              <a:rPr lang="en-US"/>
              <a:t>Python is often used for writing scripts to automate repetitive tasks and for system administration.</a:t>
            </a:r>
          </a:p>
          <a:p>
            <a:pPr>
              <a:buFont typeface="Arial" panose="020B0604020202020204" pitchFamily="34" charset="0"/>
              <a:buChar char="•"/>
            </a:pPr>
            <a:r>
              <a:rPr lang="en-US" b="1"/>
              <a:t>Software Development</a:t>
            </a:r>
            <a:r>
              <a:rPr lang="en-US"/>
              <a:t>:</a:t>
            </a:r>
          </a:p>
          <a:p>
            <a:pPr marL="742950" lvl="1" indent="-285750">
              <a:buFont typeface="Arial" panose="020B0604020202020204" pitchFamily="34" charset="0"/>
              <a:buChar char="•"/>
            </a:pPr>
            <a:r>
              <a:rPr lang="en-US"/>
              <a:t>Python is used to develop a wide range of software applications, from simple scripts to complex enterprise solutions.</a:t>
            </a:r>
          </a:p>
          <a:p>
            <a:pPr>
              <a:buFont typeface="Arial" panose="020B0604020202020204" pitchFamily="34" charset="0"/>
              <a:buChar char="•"/>
            </a:pPr>
            <a:r>
              <a:rPr lang="en-US" b="1"/>
              <a:t>Game Development</a:t>
            </a:r>
            <a:r>
              <a:rPr lang="en-US"/>
              <a:t>:</a:t>
            </a:r>
          </a:p>
          <a:p>
            <a:pPr marL="742950" lvl="1" indent="-285750">
              <a:buFont typeface="Arial" panose="020B0604020202020204" pitchFamily="34" charset="0"/>
              <a:buChar char="•"/>
            </a:pPr>
            <a:r>
              <a:rPr lang="en-US"/>
              <a:t>Libraries like </a:t>
            </a:r>
            <a:r>
              <a:rPr lang="en-US" err="1"/>
              <a:t>Pygame</a:t>
            </a:r>
            <a:r>
              <a:rPr lang="en-US"/>
              <a:t> allow for game development.</a:t>
            </a:r>
          </a:p>
          <a:p>
            <a:pPr marL="0" lvl="0" indent="0" algn="l" rtl="0">
              <a:lnSpc>
                <a:spcPct val="100000"/>
              </a:lnSpc>
              <a:spcBef>
                <a:spcPts val="0"/>
              </a:spcBef>
              <a:spcAft>
                <a:spcPts val="0"/>
              </a:spcAft>
              <a:buSzPts val="1100"/>
              <a:buNone/>
            </a:pPr>
            <a:endParaRPr/>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2785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Compilers and interpreters are tools used to translate high-level programming languages into machine code. A compiler translates the entire program into machine code before execution, which often results in faster execution but requires a complete program to be processed first. An interpreter, on the other hand, translates code line-by-line during execution, which makes it more flexible and easier to debug, though it may be slower compared to compiled code. Both are essential for executing and testing code in various programming environments.</a:t>
            </a:r>
          </a:p>
        </p:txBody>
      </p:sp>
    </p:spTree>
    <p:extLst>
      <p:ext uri="{BB962C8B-B14F-4D97-AF65-F5344CB8AC3E}">
        <p14:creationId xmlns:p14="http://schemas.microsoft.com/office/powerpoint/2010/main" val="2148092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latin typeface="Calibri"/>
                <a:cs typeface="Calibri"/>
              </a:rPr>
              <a:t>Tell students to identify the code snippet belongs to which programming language and output as well. So that we can interact with students and make them understand the importance of Python </a:t>
            </a:r>
            <a:r>
              <a:rPr lang="en-US" dirty="0" err="1">
                <a:latin typeface="Calibri"/>
                <a:cs typeface="Calibri"/>
              </a:rPr>
              <a:t>lamheage</a:t>
            </a:r>
            <a:r>
              <a:rPr lang="en-US" dirty="0">
                <a:latin typeface="Calibri"/>
                <a:cs typeface="Calibri"/>
              </a:rPr>
              <a:t>.</a:t>
            </a:r>
          </a:p>
        </p:txBody>
      </p:sp>
    </p:spTree>
    <p:extLst>
      <p:ext uri="{BB962C8B-B14F-4D97-AF65-F5344CB8AC3E}">
        <p14:creationId xmlns:p14="http://schemas.microsoft.com/office/powerpoint/2010/main" val="343687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Python is a versatile programming language, and proficiency in Python opens up a wide range of job opportunities in various fields. Here are some common job roles that require Python skills, along with brief descriptions of each:</a:t>
            </a:r>
            <a:endParaRPr lang="en-US">
              <a:ea typeface="Calibri"/>
              <a:cs typeface="Calibri"/>
            </a:endParaRPr>
          </a:p>
          <a:p>
            <a:endParaRPr lang="en-US"/>
          </a:p>
          <a:p>
            <a:r>
              <a:rPr lang="en-US" b="1"/>
              <a:t>1. Python Developer</a:t>
            </a:r>
            <a:endParaRPr lang="en-US" b="1">
              <a:ea typeface="Calibri"/>
              <a:cs typeface="Calibri"/>
            </a:endParaRPr>
          </a:p>
          <a:p>
            <a:r>
              <a:rPr lang="en-US" b="1"/>
              <a:t>Description</a:t>
            </a:r>
            <a:r>
              <a:rPr lang="en-US"/>
              <a:t>:</a:t>
            </a:r>
            <a:endParaRPr lang="en-US">
              <a:ea typeface="Calibri"/>
              <a:cs typeface="Calibri"/>
            </a:endParaRPr>
          </a:p>
          <a:p>
            <a:pPr>
              <a:buFont typeface="Arial" panose="020B0604020202020204" pitchFamily="34" charset="0"/>
              <a:buChar char="•"/>
            </a:pPr>
            <a:r>
              <a:rPr lang="en-US"/>
              <a:t>Python developers write server-side web application logic. They often work on developing back-end components, connecting applications with third-party web services, and supporting front-end developers by integrating their work with the Python application.</a:t>
            </a:r>
            <a:endParaRPr lang="en-US">
              <a:ea typeface="Calibri"/>
              <a:cs typeface="Calibri"/>
            </a:endParaRPr>
          </a:p>
          <a:p>
            <a:r>
              <a:rPr lang="en-US" b="1"/>
              <a:t>Skills</a:t>
            </a:r>
            <a:r>
              <a:rPr lang="en-US"/>
              <a:t>:</a:t>
            </a:r>
            <a:endParaRPr lang="en-US">
              <a:ea typeface="Calibri"/>
              <a:cs typeface="Calibri"/>
            </a:endParaRPr>
          </a:p>
          <a:p>
            <a:pPr>
              <a:buFont typeface="Arial" panose="020B0604020202020204" pitchFamily="34" charset="0"/>
              <a:buChar char="•"/>
            </a:pPr>
            <a:r>
              <a:rPr lang="en-US"/>
              <a:t>Proficiency in Python</a:t>
            </a:r>
            <a:endParaRPr lang="en-US">
              <a:ea typeface="Calibri"/>
              <a:cs typeface="Calibri"/>
            </a:endParaRPr>
          </a:p>
          <a:p>
            <a:pPr>
              <a:buFont typeface="Arial" panose="020B0604020202020204" pitchFamily="34" charset="0"/>
              <a:buChar char="•"/>
            </a:pPr>
            <a:r>
              <a:rPr lang="en-US"/>
              <a:t>Experience with web frameworks like Django or Flask</a:t>
            </a:r>
            <a:endParaRPr lang="en-US">
              <a:ea typeface="Calibri"/>
              <a:cs typeface="Calibri"/>
            </a:endParaRPr>
          </a:p>
          <a:p>
            <a:pPr>
              <a:buFont typeface="Arial" panose="020B0604020202020204" pitchFamily="34" charset="0"/>
              <a:buChar char="•"/>
            </a:pPr>
            <a:r>
              <a:rPr lang="en-US"/>
              <a:t>Knowledge of front-end technologies (HTML, CSS, JavaScript)</a:t>
            </a:r>
            <a:endParaRPr lang="en-US">
              <a:ea typeface="Calibri"/>
              <a:cs typeface="Calibri"/>
            </a:endParaRPr>
          </a:p>
          <a:p>
            <a:pPr>
              <a:buFont typeface="Arial" panose="020B0604020202020204" pitchFamily="34" charset="0"/>
              <a:buChar char="•"/>
            </a:pPr>
            <a:r>
              <a:rPr lang="en-US"/>
              <a:t>Understanding of databases and SQL</a:t>
            </a:r>
            <a:endParaRPr lang="en-US">
              <a:ea typeface="Calibri"/>
              <a:cs typeface="Calibri"/>
            </a:endParaRPr>
          </a:p>
          <a:p>
            <a:r>
              <a:rPr lang="en-US" b="1"/>
              <a:t>2. Data Scientist</a:t>
            </a:r>
            <a:endParaRPr lang="en-US" b="1">
              <a:ea typeface="Calibri"/>
              <a:cs typeface="Calibri"/>
            </a:endParaRPr>
          </a:p>
          <a:p>
            <a:r>
              <a:rPr lang="en-US" b="1"/>
              <a:t>Description</a:t>
            </a:r>
            <a:r>
              <a:rPr lang="en-US"/>
              <a:t>:</a:t>
            </a:r>
            <a:endParaRPr lang="en-US">
              <a:ea typeface="Calibri"/>
              <a:cs typeface="Calibri"/>
            </a:endParaRPr>
          </a:p>
          <a:p>
            <a:pPr>
              <a:buFont typeface="Arial" panose="020B0604020202020204" pitchFamily="34" charset="0"/>
              <a:buChar char="•"/>
            </a:pPr>
            <a:r>
              <a:rPr lang="en-US"/>
              <a:t>Data scientists analyze and interpret complex data to help companies make decisions. They use Python for data analysis, statistical modeling, and data visualization.</a:t>
            </a:r>
            <a:endParaRPr lang="en-US">
              <a:ea typeface="Calibri"/>
              <a:cs typeface="Calibri"/>
            </a:endParaRPr>
          </a:p>
          <a:p>
            <a:r>
              <a:rPr lang="en-US" b="1"/>
              <a:t>Skills</a:t>
            </a:r>
            <a:r>
              <a:rPr lang="en-US"/>
              <a:t>:</a:t>
            </a:r>
            <a:endParaRPr lang="en-US">
              <a:ea typeface="Calibri"/>
              <a:cs typeface="Calibri"/>
            </a:endParaRPr>
          </a:p>
          <a:p>
            <a:pPr>
              <a:buFont typeface="Arial" panose="020B0604020202020204" pitchFamily="34" charset="0"/>
              <a:buChar char="•"/>
            </a:pPr>
            <a:r>
              <a:rPr lang="en-US"/>
              <a:t>Proficiency in Python and data science libraries (Pandas, NumPy, Scikit-Learn)</a:t>
            </a:r>
            <a:endParaRPr lang="en-US">
              <a:ea typeface="Calibri"/>
              <a:cs typeface="Calibri"/>
            </a:endParaRPr>
          </a:p>
          <a:p>
            <a:pPr>
              <a:buFont typeface="Arial" panose="020B0604020202020204" pitchFamily="34" charset="0"/>
              <a:buChar char="•"/>
            </a:pPr>
            <a:r>
              <a:rPr lang="en-US"/>
              <a:t>Experience with data visualization tools (Matplotlib, Seaborn)</a:t>
            </a:r>
            <a:endParaRPr lang="en-US">
              <a:ea typeface="Calibri"/>
              <a:cs typeface="Calibri"/>
            </a:endParaRPr>
          </a:p>
          <a:p>
            <a:pPr>
              <a:buFont typeface="Arial" panose="020B0604020202020204" pitchFamily="34" charset="0"/>
              <a:buChar char="•"/>
            </a:pPr>
            <a:r>
              <a:rPr lang="en-US"/>
              <a:t>Knowledge of statistical analysis and machine learning</a:t>
            </a:r>
            <a:endParaRPr lang="en-US">
              <a:ea typeface="Calibri"/>
              <a:cs typeface="Calibri"/>
            </a:endParaRPr>
          </a:p>
          <a:p>
            <a:pPr>
              <a:buFont typeface="Arial" panose="020B0604020202020204" pitchFamily="34" charset="0"/>
              <a:buChar char="•"/>
            </a:pPr>
            <a:r>
              <a:rPr lang="en-US"/>
              <a:t>Strong analytical and problem-solving skills</a:t>
            </a:r>
            <a:endParaRPr lang="en-US">
              <a:ea typeface="Calibri"/>
              <a:cs typeface="Calibri"/>
            </a:endParaRPr>
          </a:p>
          <a:p>
            <a:r>
              <a:rPr lang="en-US" b="1"/>
              <a:t>3. Machine Learning Engineer</a:t>
            </a:r>
            <a:endParaRPr lang="en-US" b="1">
              <a:ea typeface="Calibri"/>
              <a:cs typeface="Calibri"/>
            </a:endParaRPr>
          </a:p>
          <a:p>
            <a:r>
              <a:rPr lang="en-US" b="1"/>
              <a:t>Description</a:t>
            </a:r>
            <a:r>
              <a:rPr lang="en-US"/>
              <a:t>:</a:t>
            </a:r>
          </a:p>
          <a:p>
            <a:pPr>
              <a:buFont typeface="Arial" panose="020B0604020202020204" pitchFamily="34" charset="0"/>
              <a:buChar char="•"/>
            </a:pPr>
            <a:r>
              <a:rPr lang="en-US"/>
              <a:t>Machine learning engineers design, build, and deploy machine learning models. They use Python to implement algorithms, process data, and evaluate model performance.</a:t>
            </a:r>
          </a:p>
          <a:p>
            <a:r>
              <a:rPr lang="en-US" b="1"/>
              <a:t>Skills</a:t>
            </a:r>
            <a:r>
              <a:rPr lang="en-US"/>
              <a:t>:</a:t>
            </a:r>
          </a:p>
          <a:p>
            <a:pPr>
              <a:buFont typeface="Arial" panose="020B0604020202020204" pitchFamily="34" charset="0"/>
              <a:buChar char="•"/>
            </a:pPr>
            <a:r>
              <a:rPr lang="en-US"/>
              <a:t>Proficiency in Python and machine learning libraries (TensorFlow, </a:t>
            </a:r>
            <a:r>
              <a:rPr lang="en-US" err="1"/>
              <a:t>PyTorch</a:t>
            </a:r>
            <a:r>
              <a:rPr lang="en-US"/>
              <a:t>, Scikit-Learn)</a:t>
            </a:r>
          </a:p>
          <a:p>
            <a:pPr>
              <a:buFont typeface="Arial" panose="020B0604020202020204" pitchFamily="34" charset="0"/>
              <a:buChar char="•"/>
            </a:pPr>
            <a:r>
              <a:rPr lang="en-US"/>
              <a:t>Understanding of machine learning algorithms and techniques</a:t>
            </a:r>
          </a:p>
          <a:p>
            <a:pPr>
              <a:buFont typeface="Arial" panose="020B0604020202020204" pitchFamily="34" charset="0"/>
              <a:buChar char="•"/>
            </a:pPr>
            <a:r>
              <a:rPr lang="en-US"/>
              <a:t>Experience with data preprocessing and feature engineering</a:t>
            </a:r>
          </a:p>
          <a:p>
            <a:pPr>
              <a:buFont typeface="Arial" panose="020B0604020202020204" pitchFamily="34" charset="0"/>
              <a:buChar char="•"/>
            </a:pPr>
            <a:r>
              <a:rPr lang="en-US"/>
              <a:t>Knowledge of deployment tools and frameworks</a:t>
            </a:r>
          </a:p>
          <a:p>
            <a:r>
              <a:rPr lang="en-US" b="1"/>
              <a:t>4. Data Analyst</a:t>
            </a:r>
          </a:p>
          <a:p>
            <a:r>
              <a:rPr lang="en-US" b="1"/>
              <a:t>Description</a:t>
            </a:r>
            <a:r>
              <a:rPr lang="en-US"/>
              <a:t>:</a:t>
            </a:r>
          </a:p>
          <a:p>
            <a:pPr>
              <a:buFont typeface="Arial" panose="020B0604020202020204" pitchFamily="34" charset="0"/>
              <a:buChar char="•"/>
            </a:pPr>
            <a:r>
              <a:rPr lang="en-US"/>
              <a:t>Data analysts collect, process, and perform statistical analyses on data. They use Python to clean, analyze, and visualize data, and to generate reports that help guide business decisions.</a:t>
            </a:r>
          </a:p>
          <a:p>
            <a:r>
              <a:rPr lang="en-US" b="1"/>
              <a:t>Skills</a:t>
            </a:r>
            <a:r>
              <a:rPr lang="en-US"/>
              <a:t>:</a:t>
            </a:r>
          </a:p>
          <a:p>
            <a:pPr>
              <a:buFont typeface="Arial" panose="020B0604020202020204" pitchFamily="34" charset="0"/>
              <a:buChar char="•"/>
            </a:pPr>
            <a:r>
              <a:rPr lang="en-US"/>
              <a:t>Proficiency in Python and data analysis libraries (Pandas, NumPy)</a:t>
            </a:r>
          </a:p>
          <a:p>
            <a:pPr>
              <a:buFont typeface="Arial" panose="020B0604020202020204" pitchFamily="34" charset="0"/>
              <a:buChar char="•"/>
            </a:pPr>
            <a:r>
              <a:rPr lang="en-US"/>
              <a:t>Experience with data visualization tools (Matplotlib, Seaborn, </a:t>
            </a:r>
            <a:r>
              <a:rPr lang="en-US" err="1"/>
              <a:t>Plotly</a:t>
            </a:r>
            <a:r>
              <a:rPr lang="en-US"/>
              <a:t>)</a:t>
            </a:r>
          </a:p>
          <a:p>
            <a:pPr>
              <a:buFont typeface="Arial" panose="020B0604020202020204" pitchFamily="34" charset="0"/>
              <a:buChar char="•"/>
            </a:pPr>
            <a:r>
              <a:rPr lang="en-US"/>
              <a:t>Strong analytical skills and attention to detail</a:t>
            </a:r>
          </a:p>
          <a:p>
            <a:pPr>
              <a:buFont typeface="Arial" panose="020B0604020202020204" pitchFamily="34" charset="0"/>
              <a:buChar char="•"/>
            </a:pPr>
            <a:r>
              <a:rPr lang="en-US"/>
              <a:t>Knowledge of SQL and database management</a:t>
            </a:r>
          </a:p>
          <a:p>
            <a:r>
              <a:rPr lang="en-US" b="1"/>
              <a:t>5. DevOps Engineer</a:t>
            </a:r>
          </a:p>
          <a:p>
            <a:r>
              <a:rPr lang="en-US" b="1"/>
              <a:t>Description</a:t>
            </a:r>
            <a:r>
              <a:rPr lang="en-US"/>
              <a:t>:</a:t>
            </a:r>
          </a:p>
          <a:p>
            <a:pPr>
              <a:buFont typeface="Arial" panose="020B0604020202020204" pitchFamily="34" charset="0"/>
              <a:buChar char="•"/>
            </a:pPr>
            <a:r>
              <a:rPr lang="en-US"/>
              <a:t>DevOps engineers work on bridging the gap between software development and IT operations. They use Python for automation, configuration management, and deployment processes.</a:t>
            </a:r>
          </a:p>
          <a:p>
            <a:r>
              <a:rPr lang="en-US" b="1"/>
              <a:t>Skills</a:t>
            </a:r>
            <a:r>
              <a:rPr lang="en-US"/>
              <a:t>:</a:t>
            </a:r>
          </a:p>
          <a:p>
            <a:pPr>
              <a:buFont typeface="Arial" panose="020B0604020202020204" pitchFamily="34" charset="0"/>
              <a:buChar char="•"/>
            </a:pPr>
            <a:r>
              <a:rPr lang="en-US"/>
              <a:t>Proficiency in Python for scripting and automation</a:t>
            </a:r>
          </a:p>
          <a:p>
            <a:pPr>
              <a:buFont typeface="Arial" panose="020B0604020202020204" pitchFamily="34" charset="0"/>
              <a:buChar char="•"/>
            </a:pPr>
            <a:r>
              <a:rPr lang="en-US"/>
              <a:t>Experience with CI/CD tools (Jenkins, GitLab CI)</a:t>
            </a:r>
          </a:p>
          <a:p>
            <a:pPr>
              <a:buFont typeface="Arial" panose="020B0604020202020204" pitchFamily="34" charset="0"/>
              <a:buChar char="•"/>
            </a:pPr>
            <a:r>
              <a:rPr lang="en-US"/>
              <a:t>Knowledge of containerization (Docker, Kubernetes)</a:t>
            </a:r>
          </a:p>
          <a:p>
            <a:pPr>
              <a:buFont typeface="Arial" panose="020B0604020202020204" pitchFamily="34" charset="0"/>
              <a:buChar char="•"/>
            </a:pPr>
            <a:r>
              <a:rPr lang="en-US"/>
              <a:t>Understanding of cloud platforms (AWS, Azure, GCP)</a:t>
            </a:r>
          </a:p>
          <a:p>
            <a:r>
              <a:rPr lang="en-US" b="1"/>
              <a:t>6. Software Engineer</a:t>
            </a:r>
          </a:p>
          <a:p>
            <a:r>
              <a:rPr lang="en-US" b="1"/>
              <a:t>Description</a:t>
            </a:r>
            <a:r>
              <a:rPr lang="en-US"/>
              <a:t>:</a:t>
            </a:r>
          </a:p>
          <a:p>
            <a:pPr>
              <a:buFont typeface="Arial" panose="020B0604020202020204" pitchFamily="34" charset="0"/>
              <a:buChar char="•"/>
            </a:pPr>
            <a:r>
              <a:rPr lang="en-US"/>
              <a:t>Software engineers design, develop, and maintain software applications. Python is often used for various software engineering tasks, from web development to automation.</a:t>
            </a:r>
          </a:p>
          <a:p>
            <a:r>
              <a:rPr lang="en-US" b="1"/>
              <a:t>Skills</a:t>
            </a:r>
            <a:r>
              <a:rPr lang="en-US"/>
              <a:t>:</a:t>
            </a:r>
          </a:p>
          <a:p>
            <a:pPr>
              <a:buFont typeface="Arial" panose="020B0604020202020204" pitchFamily="34" charset="0"/>
              <a:buChar char="•"/>
            </a:pPr>
            <a:r>
              <a:rPr lang="en-US"/>
              <a:t>Proficiency in Python and software development practices</a:t>
            </a:r>
          </a:p>
          <a:p>
            <a:pPr>
              <a:buFont typeface="Arial" panose="020B0604020202020204" pitchFamily="34" charset="0"/>
              <a:buChar char="•"/>
            </a:pPr>
            <a:r>
              <a:rPr lang="en-US"/>
              <a:t>Experience with software development frameworks and libraries</a:t>
            </a:r>
          </a:p>
          <a:p>
            <a:pPr>
              <a:buFont typeface="Arial" panose="020B0604020202020204" pitchFamily="34" charset="0"/>
              <a:buChar char="•"/>
            </a:pPr>
            <a:r>
              <a:rPr lang="en-US"/>
              <a:t>Knowledge of algorithms and data structures</a:t>
            </a:r>
          </a:p>
          <a:p>
            <a:pPr>
              <a:buFont typeface="Arial" panose="020B0604020202020204" pitchFamily="34" charset="0"/>
              <a:buChar char="•"/>
            </a:pPr>
            <a:r>
              <a:rPr lang="en-US"/>
              <a:t>Strong problem-solving and debugging skills</a:t>
            </a:r>
          </a:p>
          <a:p>
            <a:r>
              <a:rPr lang="en-US" b="1"/>
              <a:t>7. Full-Stack Developer</a:t>
            </a:r>
          </a:p>
          <a:p>
            <a:r>
              <a:rPr lang="en-US" b="1"/>
              <a:t>Description</a:t>
            </a:r>
            <a:r>
              <a:rPr lang="en-US"/>
              <a:t>:</a:t>
            </a:r>
          </a:p>
          <a:p>
            <a:pPr>
              <a:buFont typeface="Arial" panose="020B0604020202020204" pitchFamily="34" charset="0"/>
              <a:buChar char="•"/>
            </a:pPr>
            <a:r>
              <a:rPr lang="en-US"/>
              <a:t>Full-stack developers work on both the front-end and back-end of web applications. They use Python for server-side development and integrate it with front-end technologies.</a:t>
            </a:r>
          </a:p>
          <a:p>
            <a:r>
              <a:rPr lang="en-US" b="1"/>
              <a:t>Skills</a:t>
            </a:r>
            <a:r>
              <a:rPr lang="en-US"/>
              <a:t>:</a:t>
            </a:r>
          </a:p>
          <a:p>
            <a:pPr>
              <a:buFont typeface="Arial" panose="020B0604020202020204" pitchFamily="34" charset="0"/>
              <a:buChar char="•"/>
            </a:pPr>
            <a:r>
              <a:rPr lang="en-US"/>
              <a:t>Proficiency in Python and web frameworks (Django, Flask)</a:t>
            </a:r>
          </a:p>
          <a:p>
            <a:pPr>
              <a:buFont typeface="Arial" panose="020B0604020202020204" pitchFamily="34" charset="0"/>
              <a:buChar char="•"/>
            </a:pPr>
            <a:r>
              <a:rPr lang="en-US"/>
              <a:t>Knowledge of front-end technologies (HTML, CSS, JavaScript, React, Angular)</a:t>
            </a:r>
          </a:p>
          <a:p>
            <a:pPr>
              <a:buFont typeface="Arial" panose="020B0604020202020204" pitchFamily="34" charset="0"/>
              <a:buChar char="•"/>
            </a:pPr>
            <a:r>
              <a:rPr lang="en-US"/>
              <a:t>Experience with databases and server management</a:t>
            </a:r>
          </a:p>
          <a:p>
            <a:pPr>
              <a:buFont typeface="Arial" panose="020B0604020202020204" pitchFamily="34" charset="0"/>
              <a:buChar char="•"/>
            </a:pPr>
            <a:r>
              <a:rPr lang="en-US"/>
              <a:t>Ability to work on both client and server sides</a:t>
            </a:r>
          </a:p>
          <a:p>
            <a:r>
              <a:rPr lang="en-US" b="1"/>
              <a:t>8. Cybersecurity Analyst</a:t>
            </a:r>
          </a:p>
          <a:p>
            <a:r>
              <a:rPr lang="en-US" b="1"/>
              <a:t>Description</a:t>
            </a:r>
            <a:r>
              <a:rPr lang="en-US"/>
              <a:t>:</a:t>
            </a:r>
          </a:p>
          <a:p>
            <a:pPr>
              <a:buFont typeface="Arial" panose="020B0604020202020204" pitchFamily="34" charset="0"/>
              <a:buChar char="•"/>
            </a:pPr>
            <a:r>
              <a:rPr lang="en-US"/>
              <a:t>Cybersecurity analysts protect an organization's computer systems and networks. They use Python for writing scripts to automate tasks, analyze logs, and identify security threats.</a:t>
            </a:r>
          </a:p>
          <a:p>
            <a:r>
              <a:rPr lang="en-US" b="1"/>
              <a:t>Skills</a:t>
            </a:r>
            <a:r>
              <a:rPr lang="en-US"/>
              <a:t>:</a:t>
            </a:r>
          </a:p>
          <a:p>
            <a:pPr>
              <a:buFont typeface="Arial" panose="020B0604020202020204" pitchFamily="34" charset="0"/>
              <a:buChar char="•"/>
            </a:pPr>
            <a:r>
              <a:rPr lang="en-US"/>
              <a:t>Proficiency in Python for scripting and automation</a:t>
            </a:r>
          </a:p>
          <a:p>
            <a:pPr>
              <a:buFont typeface="Arial" panose="020B0604020202020204" pitchFamily="34" charset="0"/>
              <a:buChar char="•"/>
            </a:pPr>
            <a:r>
              <a:rPr lang="en-US"/>
              <a:t>Knowledge of cybersecurity principles and practices</a:t>
            </a:r>
          </a:p>
          <a:p>
            <a:pPr>
              <a:buFont typeface="Arial" panose="020B0604020202020204" pitchFamily="34" charset="0"/>
              <a:buChar char="•"/>
            </a:pPr>
            <a:r>
              <a:rPr lang="en-US"/>
              <a:t>Experience with security tools and frameworks</a:t>
            </a:r>
          </a:p>
          <a:p>
            <a:pPr>
              <a:buFont typeface="Arial" panose="020B0604020202020204" pitchFamily="34" charset="0"/>
              <a:buChar char="•"/>
            </a:pPr>
            <a:r>
              <a:rPr lang="en-US"/>
              <a:t>Strong analytical and problem-solving skills</a:t>
            </a:r>
          </a:p>
          <a:p>
            <a:r>
              <a:rPr lang="en-US" b="1"/>
              <a:t>9. Automation Engineer</a:t>
            </a:r>
          </a:p>
          <a:p>
            <a:r>
              <a:rPr lang="en-US" b="1"/>
              <a:t>Description</a:t>
            </a:r>
            <a:r>
              <a:rPr lang="en-US"/>
              <a:t>:</a:t>
            </a:r>
          </a:p>
          <a:p>
            <a:pPr>
              <a:buFont typeface="Arial" panose="020B0604020202020204" pitchFamily="34" charset="0"/>
              <a:buChar char="•"/>
            </a:pPr>
            <a:r>
              <a:rPr lang="en-US"/>
              <a:t>Automation engineers develop automated solutions to increase efficiency and reduce human intervention. They use Python for writing scripts and developing automation tools.</a:t>
            </a:r>
          </a:p>
          <a:p>
            <a:r>
              <a:rPr lang="en-US" b="1"/>
              <a:t>Skills</a:t>
            </a:r>
            <a:r>
              <a:rPr lang="en-US"/>
              <a:t>:</a:t>
            </a:r>
          </a:p>
          <a:p>
            <a:pPr>
              <a:buFont typeface="Arial" panose="020B0604020202020204" pitchFamily="34" charset="0"/>
              <a:buChar char="•"/>
            </a:pPr>
            <a:r>
              <a:rPr lang="en-US"/>
              <a:t>Proficiency in Python for scripting and automation</a:t>
            </a:r>
          </a:p>
          <a:p>
            <a:pPr>
              <a:buFont typeface="Arial" panose="020B0604020202020204" pitchFamily="34" charset="0"/>
              <a:buChar char="•"/>
            </a:pPr>
            <a:r>
              <a:rPr lang="en-US"/>
              <a:t>Experience with automation tools and frameworks</a:t>
            </a:r>
          </a:p>
          <a:p>
            <a:pPr>
              <a:buFont typeface="Arial" panose="020B0604020202020204" pitchFamily="34" charset="0"/>
              <a:buChar char="•"/>
            </a:pPr>
            <a:r>
              <a:rPr lang="en-US"/>
              <a:t>Understanding of software development and testing processes</a:t>
            </a:r>
          </a:p>
          <a:p>
            <a:pPr>
              <a:buFont typeface="Arial" panose="020B0604020202020204" pitchFamily="34" charset="0"/>
              <a:buChar char="•"/>
            </a:pPr>
            <a:r>
              <a:rPr lang="en-US"/>
              <a:t>Strong problem-solving skills</a:t>
            </a:r>
          </a:p>
          <a:p>
            <a:r>
              <a:rPr lang="en-US" b="1"/>
              <a:t>10. Financial Analyst</a:t>
            </a:r>
          </a:p>
          <a:p>
            <a:r>
              <a:rPr lang="en-US" b="1"/>
              <a:t>Description</a:t>
            </a:r>
            <a:r>
              <a:rPr lang="en-US"/>
              <a:t>:</a:t>
            </a:r>
          </a:p>
          <a:p>
            <a:pPr>
              <a:buFont typeface="Arial" panose="020B0604020202020204" pitchFamily="34" charset="0"/>
              <a:buChar char="•"/>
            </a:pPr>
            <a:r>
              <a:rPr lang="en-US"/>
              <a:t>Financial analysts evaluate financial data to assist in investment decisions. They use Python for data analysis, financial modeling, and automation of reporting tasks.</a:t>
            </a:r>
          </a:p>
          <a:p>
            <a:r>
              <a:rPr lang="en-US" b="1"/>
              <a:t>Skills</a:t>
            </a:r>
            <a:r>
              <a:rPr lang="en-US"/>
              <a:t>:</a:t>
            </a:r>
          </a:p>
          <a:p>
            <a:pPr>
              <a:buFont typeface="Arial" panose="020B0604020202020204" pitchFamily="34" charset="0"/>
              <a:buChar char="•"/>
            </a:pPr>
            <a:r>
              <a:rPr lang="en-US"/>
              <a:t>Proficiency in Python for data analysis and financial modeling</a:t>
            </a:r>
          </a:p>
          <a:p>
            <a:pPr>
              <a:buFont typeface="Arial" panose="020B0604020202020204" pitchFamily="34" charset="0"/>
              <a:buChar char="•"/>
            </a:pPr>
            <a:r>
              <a:rPr lang="en-US"/>
              <a:t>Knowledge of financial principles and markets</a:t>
            </a:r>
          </a:p>
          <a:p>
            <a:pPr>
              <a:buFont typeface="Arial" panose="020B0604020202020204" pitchFamily="34" charset="0"/>
              <a:buChar char="•"/>
            </a:pPr>
            <a:r>
              <a:rPr lang="en-US"/>
              <a:t>Experience with data visualization and reporting tools</a:t>
            </a:r>
          </a:p>
          <a:p>
            <a:pPr>
              <a:buFont typeface="Arial" panose="020B0604020202020204" pitchFamily="34" charset="0"/>
              <a:buChar char="•"/>
            </a:pPr>
            <a:r>
              <a:rPr lang="en-US"/>
              <a:t>Strong analytical and quantitative skills</a:t>
            </a:r>
          </a:p>
          <a:p>
            <a:r>
              <a:rPr lang="en-US" b="1"/>
              <a:t>Job Hunting Tips</a:t>
            </a:r>
          </a:p>
          <a:p>
            <a:pPr>
              <a:buFont typeface="Arial" panose="020B0604020202020204" pitchFamily="34" charset="0"/>
              <a:buChar char="•"/>
            </a:pPr>
            <a:r>
              <a:rPr lang="en-US" b="1"/>
              <a:t>Build a Strong Portfolio</a:t>
            </a:r>
            <a:r>
              <a:rPr lang="en-US"/>
              <a:t>: Showcase your Python projects on platforms like GitHub.</a:t>
            </a:r>
          </a:p>
          <a:p>
            <a:pPr>
              <a:buFont typeface="Arial" panose="020B0604020202020204" pitchFamily="34" charset="0"/>
              <a:buChar char="•"/>
            </a:pPr>
            <a:r>
              <a:rPr lang="en-US" b="1"/>
              <a:t>Certifications and Courses</a:t>
            </a:r>
            <a:r>
              <a:rPr lang="en-US"/>
              <a:t>: Consider obtaining certifications in Python, data science, or machine learning.</a:t>
            </a:r>
          </a:p>
          <a:p>
            <a:pPr>
              <a:buFont typeface="Arial" panose="020B0604020202020204" pitchFamily="34" charset="0"/>
              <a:buChar char="•"/>
            </a:pPr>
            <a:r>
              <a:rPr lang="en-US" b="1"/>
              <a:t>Networking</a:t>
            </a:r>
            <a:r>
              <a:rPr lang="en-US"/>
              <a:t>: Join Python communities, attend meetups, and participate in forums like Stack Overflow.</a:t>
            </a:r>
          </a:p>
          <a:p>
            <a:pPr>
              <a:buFont typeface="Arial" panose="020B0604020202020204" pitchFamily="34" charset="0"/>
              <a:buChar char="•"/>
            </a:pPr>
            <a:r>
              <a:rPr lang="en-US" b="1"/>
              <a:t>Stay Updated</a:t>
            </a:r>
            <a:r>
              <a:rPr lang="en-US"/>
              <a:t>: Keep up with the latest trends and developments in Python and related technologies.</a:t>
            </a:r>
          </a:p>
          <a:p>
            <a:r>
              <a:rPr lang="en-US"/>
              <a:t>These roles demonstrate the broad applicability of Python across different industries and job functions. Whether you're interested in web development, data science, automation, or cybersecurity, Python skills can significantly enhance your career prospects.</a:t>
            </a:r>
          </a:p>
          <a:p>
            <a:endParaRPr lang="en-IN"/>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546207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lgn="ctr">
              <a:buNone/>
            </a:pPr>
            <a:r>
              <a:rPr lang="en-US" b="1"/>
              <a:t>Let's discuss Use case of Python Applications</a:t>
            </a:r>
            <a:endParaRPr lang="en-US">
              <a:ea typeface="Calibri" panose="020F0502020204030204"/>
              <a:cs typeface="Calibri" panose="020F0502020204030204"/>
            </a:endParaRPr>
          </a:p>
          <a:p>
            <a:pPr marL="158750" indent="0" algn="ctr">
              <a:buNone/>
            </a:pPr>
            <a:r>
              <a:rPr lang="en-US" b="1">
                <a:ea typeface="Calibri"/>
              </a:rPr>
              <a:t>------------------------------------------------------------------------------------------------------------------------------------------------------------------------</a:t>
            </a:r>
          </a:p>
          <a:p>
            <a:pPr algn="just">
              <a:lnSpc>
                <a:spcPct val="150000"/>
              </a:lnSpc>
            </a:pPr>
            <a:endParaRPr lang="en-US" b="1">
              <a:ea typeface="Calibri"/>
              <a:cs typeface="Calibri"/>
            </a:endParaRPr>
          </a:p>
          <a:p>
            <a:pPr algn="just">
              <a:lnSpc>
                <a:spcPct val="150000"/>
              </a:lnSpc>
            </a:pPr>
            <a:r>
              <a:rPr lang="en-US" b="1"/>
              <a:t>Web Development</a:t>
            </a:r>
            <a:endParaRPr lang="en-US">
              <a:ea typeface="Calibri"/>
              <a:cs typeface="Calibri"/>
            </a:endParaRPr>
          </a:p>
          <a:p>
            <a:pPr algn="just">
              <a:lnSpc>
                <a:spcPct val="150000"/>
              </a:lnSpc>
            </a:pPr>
            <a:endParaRPr lang="en-US" b="1"/>
          </a:p>
          <a:p>
            <a:pPr algn="just">
              <a:lnSpc>
                <a:spcPct val="150000"/>
              </a:lnSpc>
            </a:pPr>
            <a:r>
              <a:rPr lang="en-US" b="1"/>
              <a:t>Frameworks</a:t>
            </a:r>
            <a:r>
              <a:rPr lang="en-US"/>
              <a:t>:</a:t>
            </a:r>
            <a:endParaRPr lang="en-US">
              <a:ea typeface="Calibri"/>
              <a:cs typeface="Calibri"/>
            </a:endParaRPr>
          </a:p>
          <a:p>
            <a:pPr algn="just">
              <a:lnSpc>
                <a:spcPct val="150000"/>
              </a:lnSpc>
              <a:buFont typeface="Arial" panose="020B0604020202020204" pitchFamily="34" charset="0"/>
              <a:buChar char="•"/>
            </a:pPr>
            <a:r>
              <a:rPr lang="en-US" b="1"/>
              <a:t>Django</a:t>
            </a:r>
            <a:r>
              <a:rPr lang="en-US"/>
              <a:t>: A high-level web framework that enables rapid development and clean, pragmatic design. It's used for building large-scale applications with complex requirements.</a:t>
            </a:r>
            <a:endParaRPr lang="en-US">
              <a:ea typeface="Calibri"/>
              <a:cs typeface="Calibri"/>
            </a:endParaRPr>
          </a:p>
          <a:p>
            <a:pPr algn="just">
              <a:lnSpc>
                <a:spcPct val="150000"/>
              </a:lnSpc>
              <a:buFont typeface="Arial" panose="020B0604020202020204" pitchFamily="34" charset="0"/>
              <a:buChar char="•"/>
            </a:pPr>
            <a:r>
              <a:rPr lang="en-US" b="1"/>
              <a:t>Flask</a:t>
            </a:r>
            <a:r>
              <a:rPr lang="en-US"/>
              <a:t>: A micro-framework that is lightweight and flexible, suitable for small to medium-sized applications.</a:t>
            </a:r>
            <a:endParaRPr lang="en-US">
              <a:ea typeface="Calibri"/>
              <a:cs typeface="Calibri"/>
            </a:endParaRPr>
          </a:p>
          <a:p>
            <a:pPr algn="just">
              <a:lnSpc>
                <a:spcPct val="150000"/>
              </a:lnSpc>
            </a:pPr>
            <a:endParaRPr lang="en-US" b="1"/>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E-commerce Platforms</a:t>
            </a:r>
            <a:r>
              <a:rPr lang="en-US"/>
              <a:t>: Websites like Shopify and Instagram use Django for their backend.</a:t>
            </a:r>
            <a:endParaRPr lang="en-US">
              <a:ea typeface="Calibri"/>
              <a:cs typeface="Calibri"/>
            </a:endParaRPr>
          </a:p>
          <a:p>
            <a:pPr algn="just">
              <a:lnSpc>
                <a:spcPct val="150000"/>
              </a:lnSpc>
              <a:buFont typeface="Arial" panose="020B0604020202020204" pitchFamily="34" charset="0"/>
              <a:buChar char="•"/>
            </a:pPr>
            <a:r>
              <a:rPr lang="en-US" b="1"/>
              <a:t>Content Management Systems</a:t>
            </a:r>
            <a:r>
              <a:rPr lang="en-US"/>
              <a:t>: Systems like Wagtail and Mezzanine are built on top of Django.</a:t>
            </a:r>
            <a:endParaRPr lang="en-US">
              <a:ea typeface="Calibri"/>
              <a:cs typeface="Calibri"/>
            </a:endParaRPr>
          </a:p>
          <a:p>
            <a:pPr algn="just">
              <a:lnSpc>
                <a:spcPct val="150000"/>
              </a:lnSpc>
            </a:pPr>
            <a:endParaRPr lang="en-US" b="1"/>
          </a:p>
          <a:p>
            <a:pPr algn="just">
              <a:lnSpc>
                <a:spcPct val="150000"/>
              </a:lnSpc>
            </a:pPr>
            <a:r>
              <a:rPr lang="en-US" b="1"/>
              <a:t>2. Data Science and Analytics</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a:t>Pandas</a:t>
            </a:r>
            <a:r>
              <a:rPr lang="en-US"/>
              <a:t>: Provides data structures and data analysis tools.</a:t>
            </a:r>
            <a:endParaRPr lang="en-US">
              <a:ea typeface="Calibri"/>
              <a:cs typeface="Calibri"/>
            </a:endParaRPr>
          </a:p>
          <a:p>
            <a:pPr algn="just">
              <a:lnSpc>
                <a:spcPct val="150000"/>
              </a:lnSpc>
              <a:buFont typeface="Arial" panose="020B0604020202020204" pitchFamily="34" charset="0"/>
              <a:buChar char="•"/>
            </a:pPr>
            <a:r>
              <a:rPr lang="en-US" b="1"/>
              <a:t>NumPy</a:t>
            </a:r>
            <a:r>
              <a:rPr lang="en-US"/>
              <a:t>: Supports large, multi-dimensional arrays and matrices.</a:t>
            </a:r>
            <a:endParaRPr lang="en-US">
              <a:ea typeface="Calibri"/>
              <a:cs typeface="Calibri"/>
            </a:endParaRPr>
          </a:p>
          <a:p>
            <a:pPr algn="just">
              <a:lnSpc>
                <a:spcPct val="150000"/>
              </a:lnSpc>
              <a:buFont typeface="Arial" panose="020B0604020202020204" pitchFamily="34" charset="0"/>
              <a:buChar char="•"/>
            </a:pPr>
            <a:r>
              <a:rPr lang="en-US" b="1"/>
              <a:t>Matplotlib</a:t>
            </a:r>
            <a:r>
              <a:rPr lang="en-US"/>
              <a:t> and </a:t>
            </a:r>
            <a:r>
              <a:rPr lang="en-US" b="1"/>
              <a:t>Seaborn</a:t>
            </a:r>
            <a:r>
              <a:rPr lang="en-US"/>
              <a:t>: For data visualization.</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Exploratory Data Analysis (EDA)</a:t>
            </a:r>
            <a:r>
              <a:rPr lang="en-US"/>
              <a:t>: Analyzing datasets to summarize their main characteristics.</a:t>
            </a:r>
            <a:endParaRPr lang="en-US">
              <a:ea typeface="Calibri"/>
              <a:cs typeface="Calibri"/>
            </a:endParaRPr>
          </a:p>
          <a:p>
            <a:pPr algn="just">
              <a:lnSpc>
                <a:spcPct val="150000"/>
              </a:lnSpc>
              <a:buFont typeface="Arial" panose="020B0604020202020204" pitchFamily="34" charset="0"/>
              <a:buChar char="•"/>
            </a:pPr>
            <a:r>
              <a:rPr lang="en-US" b="1"/>
              <a:t>Data Visualization</a:t>
            </a:r>
            <a:r>
              <a:rPr lang="en-US"/>
              <a:t>: Creating charts, plots, and graphs to visualize data insights.</a:t>
            </a:r>
            <a:endParaRPr lang="en-US">
              <a:ea typeface="Calibri"/>
              <a:cs typeface="Calibri"/>
            </a:endParaRPr>
          </a:p>
          <a:p>
            <a:pPr algn="just">
              <a:lnSpc>
                <a:spcPct val="150000"/>
              </a:lnSpc>
              <a:buFont typeface="Arial" panose="020B0604020202020204" pitchFamily="34" charset="0"/>
              <a:buChar char="•"/>
            </a:pPr>
            <a:r>
              <a:rPr lang="en-US" b="1"/>
              <a:t>Statistical Analysis</a:t>
            </a:r>
            <a:r>
              <a:rPr lang="en-US"/>
              <a:t>: Performing complex statistical computations.</a:t>
            </a:r>
            <a:endParaRPr lang="en-US">
              <a:ea typeface="Calibri"/>
              <a:cs typeface="Calibri"/>
            </a:endParaRPr>
          </a:p>
          <a:p>
            <a:pPr algn="just">
              <a:lnSpc>
                <a:spcPct val="150000"/>
              </a:lnSpc>
            </a:pPr>
            <a:endParaRPr lang="en-US" b="1"/>
          </a:p>
          <a:p>
            <a:pPr algn="just">
              <a:lnSpc>
                <a:spcPct val="150000"/>
              </a:lnSpc>
            </a:pPr>
            <a:r>
              <a:rPr lang="en-US" b="1"/>
              <a:t>3. Machine Learning and Artificial Intelligence</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a:t>Scikit-Learn</a:t>
            </a:r>
            <a:r>
              <a:rPr lang="en-US"/>
              <a:t>: A library for traditional machine learning algorithms.</a:t>
            </a:r>
            <a:endParaRPr lang="en-US">
              <a:ea typeface="Calibri"/>
              <a:cs typeface="Calibri"/>
            </a:endParaRPr>
          </a:p>
          <a:p>
            <a:pPr algn="just">
              <a:lnSpc>
                <a:spcPct val="150000"/>
              </a:lnSpc>
              <a:buFont typeface="Arial" panose="020B0604020202020204" pitchFamily="34" charset="0"/>
              <a:buChar char="•"/>
            </a:pPr>
            <a:r>
              <a:rPr lang="en-US" b="1"/>
              <a:t>TensorFlow</a:t>
            </a:r>
            <a:r>
              <a:rPr lang="en-US"/>
              <a:t> and </a:t>
            </a:r>
            <a:r>
              <a:rPr lang="en-US" b="1" err="1"/>
              <a:t>Keras</a:t>
            </a:r>
            <a:r>
              <a:rPr lang="en-US"/>
              <a:t>: For deep learning and neural networks.</a:t>
            </a:r>
            <a:endParaRPr lang="en-US">
              <a:ea typeface="Calibri"/>
              <a:cs typeface="Calibri"/>
            </a:endParaRPr>
          </a:p>
          <a:p>
            <a:pPr algn="just">
              <a:lnSpc>
                <a:spcPct val="150000"/>
              </a:lnSpc>
              <a:buFont typeface="Arial" panose="020B0604020202020204" pitchFamily="34" charset="0"/>
              <a:buChar char="•"/>
            </a:pPr>
            <a:r>
              <a:rPr lang="en-US" b="1" err="1"/>
              <a:t>PyTorch</a:t>
            </a:r>
            <a:r>
              <a:rPr lang="en-US"/>
              <a:t>: Another deep learning library known for its flexibility.</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Predictive Modeling</a:t>
            </a:r>
            <a:r>
              <a:rPr lang="en-US"/>
              <a:t>: Predicting future trends based on historical data.</a:t>
            </a:r>
            <a:endParaRPr lang="en-US">
              <a:ea typeface="Calibri"/>
              <a:cs typeface="Calibri"/>
            </a:endParaRPr>
          </a:p>
          <a:p>
            <a:pPr algn="just">
              <a:lnSpc>
                <a:spcPct val="150000"/>
              </a:lnSpc>
              <a:buFont typeface="Arial" panose="020B0604020202020204" pitchFamily="34" charset="0"/>
              <a:buChar char="•"/>
            </a:pPr>
            <a:r>
              <a:rPr lang="en-US" b="1"/>
              <a:t>Image and Speech Recognition</a:t>
            </a:r>
            <a:r>
              <a:rPr lang="en-US"/>
              <a:t>: Applications in facial recognition, voice assistants, etc.</a:t>
            </a:r>
            <a:endParaRPr lang="en-US">
              <a:ea typeface="Calibri"/>
              <a:cs typeface="Calibri"/>
            </a:endParaRPr>
          </a:p>
          <a:p>
            <a:pPr algn="just">
              <a:lnSpc>
                <a:spcPct val="150000"/>
              </a:lnSpc>
              <a:buFont typeface="Arial" panose="020B0604020202020204" pitchFamily="34" charset="0"/>
              <a:buChar char="•"/>
            </a:pPr>
            <a:r>
              <a:rPr lang="en-US" b="1"/>
              <a:t>Natural Language Processing (NLP)</a:t>
            </a:r>
            <a:r>
              <a:rPr lang="en-US"/>
              <a:t>: Chatbots, sentiment analysis, and language translation.</a:t>
            </a:r>
            <a:endParaRPr lang="en-US">
              <a:ea typeface="Calibri"/>
              <a:cs typeface="Calibri"/>
            </a:endParaRPr>
          </a:p>
          <a:p>
            <a:pPr algn="just">
              <a:lnSpc>
                <a:spcPct val="150000"/>
              </a:lnSpc>
            </a:pPr>
            <a:endParaRPr lang="en-US" b="1"/>
          </a:p>
          <a:p>
            <a:pPr algn="just">
              <a:lnSpc>
                <a:spcPct val="150000"/>
              </a:lnSpc>
            </a:pPr>
            <a:r>
              <a:rPr lang="en-US" b="1"/>
              <a:t>4. Automation and Scripting</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a:t>Selenium</a:t>
            </a:r>
            <a:r>
              <a:rPr lang="en-US"/>
              <a:t>: For automating web browser interactions.</a:t>
            </a:r>
            <a:endParaRPr lang="en-US">
              <a:ea typeface="Calibri"/>
              <a:cs typeface="Calibri"/>
            </a:endParaRPr>
          </a:p>
          <a:p>
            <a:pPr algn="just">
              <a:lnSpc>
                <a:spcPct val="150000"/>
              </a:lnSpc>
              <a:buFont typeface="Arial" panose="020B0604020202020204" pitchFamily="34" charset="0"/>
              <a:buChar char="•"/>
            </a:pPr>
            <a:r>
              <a:rPr lang="en-US" b="1" err="1"/>
              <a:t>BeautifulSoup</a:t>
            </a:r>
            <a:r>
              <a:rPr lang="en-US"/>
              <a:t>: For web scraping and parsing HTML/XML documents.</a:t>
            </a:r>
            <a:endParaRPr lang="en-US">
              <a:ea typeface="Calibri"/>
              <a:cs typeface="Calibri"/>
            </a:endParaRPr>
          </a:p>
          <a:p>
            <a:pPr algn="just">
              <a:lnSpc>
                <a:spcPct val="150000"/>
              </a:lnSpc>
              <a:buFont typeface="Arial" panose="020B0604020202020204" pitchFamily="34" charset="0"/>
              <a:buChar char="•"/>
            </a:pPr>
            <a:r>
              <a:rPr lang="en-US" b="1" err="1"/>
              <a:t>PyAutoGUI</a:t>
            </a:r>
            <a:r>
              <a:rPr lang="en-US"/>
              <a:t>: For automating GUI tasks.</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Web Scraping</a:t>
            </a:r>
            <a:r>
              <a:rPr lang="en-US"/>
              <a:t>: Extracting data from websites for analysis.</a:t>
            </a:r>
            <a:endParaRPr lang="en-US">
              <a:ea typeface="Calibri"/>
              <a:cs typeface="Calibri"/>
            </a:endParaRPr>
          </a:p>
          <a:p>
            <a:pPr algn="just">
              <a:lnSpc>
                <a:spcPct val="150000"/>
              </a:lnSpc>
              <a:buFont typeface="Arial" panose="020B0604020202020204" pitchFamily="34" charset="0"/>
              <a:buChar char="•"/>
            </a:pPr>
            <a:r>
              <a:rPr lang="en-US" b="1"/>
              <a:t>Task Automation</a:t>
            </a:r>
            <a:r>
              <a:rPr lang="en-US"/>
              <a:t>: Automating repetitive tasks such as file management.</a:t>
            </a:r>
            <a:endParaRPr lang="en-US">
              <a:ea typeface="Calibri"/>
              <a:cs typeface="Calibri"/>
            </a:endParaRPr>
          </a:p>
          <a:p>
            <a:pPr algn="just">
              <a:lnSpc>
                <a:spcPct val="150000"/>
              </a:lnSpc>
              <a:buFont typeface="Arial" panose="020B0604020202020204" pitchFamily="34" charset="0"/>
              <a:buChar char="•"/>
            </a:pPr>
            <a:r>
              <a:rPr lang="en-US" b="1"/>
              <a:t>Testing Automation</a:t>
            </a:r>
            <a:r>
              <a:rPr lang="en-US"/>
              <a:t>: Automating software testing processes.</a:t>
            </a:r>
            <a:endParaRPr lang="en-US">
              <a:ea typeface="Calibri"/>
              <a:cs typeface="Calibri"/>
            </a:endParaRPr>
          </a:p>
          <a:p>
            <a:pPr algn="just">
              <a:lnSpc>
                <a:spcPct val="150000"/>
              </a:lnSpc>
            </a:pPr>
            <a:endParaRPr lang="en-US" b="1"/>
          </a:p>
          <a:p>
            <a:pPr algn="just">
              <a:lnSpc>
                <a:spcPct val="150000"/>
              </a:lnSpc>
            </a:pPr>
            <a:r>
              <a:rPr lang="en-US" b="1"/>
              <a:t>5. Scientific Computing</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a:t>SciPy</a:t>
            </a:r>
            <a:r>
              <a:rPr lang="en-US"/>
              <a:t>: For scientific and technical computing.</a:t>
            </a:r>
            <a:endParaRPr lang="en-US">
              <a:ea typeface="Calibri"/>
              <a:cs typeface="Calibri"/>
            </a:endParaRPr>
          </a:p>
          <a:p>
            <a:pPr algn="just">
              <a:lnSpc>
                <a:spcPct val="150000"/>
              </a:lnSpc>
              <a:buFont typeface="Arial" panose="020B0604020202020204" pitchFamily="34" charset="0"/>
              <a:buChar char="•"/>
            </a:pPr>
            <a:r>
              <a:rPr lang="en-US" b="1" err="1"/>
              <a:t>SymPy</a:t>
            </a:r>
            <a:r>
              <a:rPr lang="en-US"/>
              <a:t>: For symbolic mathematics.</a:t>
            </a:r>
            <a:endParaRPr lang="en-US">
              <a:ea typeface="Calibri"/>
              <a:cs typeface="Calibri"/>
            </a:endParaRPr>
          </a:p>
          <a:p>
            <a:pPr algn="just">
              <a:lnSpc>
                <a:spcPct val="150000"/>
              </a:lnSpc>
              <a:buFont typeface="Arial" panose="020B0604020202020204" pitchFamily="34" charset="0"/>
              <a:buChar char="•"/>
            </a:pPr>
            <a:r>
              <a:rPr lang="en-US" b="1" err="1"/>
              <a:t>Astropy</a:t>
            </a:r>
            <a:r>
              <a:rPr lang="en-US"/>
              <a:t>: For astronomy-related calculations.</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Simulations</a:t>
            </a:r>
            <a:r>
              <a:rPr lang="en-US"/>
              <a:t>: Running simulations for scientific experiments.</a:t>
            </a:r>
            <a:endParaRPr lang="en-US">
              <a:ea typeface="Calibri"/>
              <a:cs typeface="Calibri"/>
            </a:endParaRPr>
          </a:p>
          <a:p>
            <a:pPr algn="just">
              <a:lnSpc>
                <a:spcPct val="150000"/>
              </a:lnSpc>
              <a:buFont typeface="Arial" panose="020B0604020202020204" pitchFamily="34" charset="0"/>
              <a:buChar char="•"/>
            </a:pPr>
            <a:r>
              <a:rPr lang="en-US" b="1"/>
              <a:t>Complex Mathematical Calculations</a:t>
            </a:r>
            <a:r>
              <a:rPr lang="en-US"/>
              <a:t>: Solving advanced mathematical problems.</a:t>
            </a:r>
            <a:endParaRPr lang="en-US">
              <a:ea typeface="Calibri"/>
              <a:cs typeface="Calibri"/>
            </a:endParaRPr>
          </a:p>
          <a:p>
            <a:pPr algn="just">
              <a:lnSpc>
                <a:spcPct val="150000"/>
              </a:lnSpc>
              <a:buFont typeface="Arial" panose="020B0604020202020204" pitchFamily="34" charset="0"/>
              <a:buChar char="•"/>
            </a:pPr>
            <a:r>
              <a:rPr lang="en-US" b="1"/>
              <a:t>Research and Development</a:t>
            </a:r>
            <a:r>
              <a:rPr lang="en-US"/>
              <a:t>: Supporting scientific research with computational tools.</a:t>
            </a:r>
            <a:endParaRPr lang="en-US">
              <a:ea typeface="Calibri"/>
              <a:cs typeface="Calibri"/>
            </a:endParaRPr>
          </a:p>
          <a:p>
            <a:pPr algn="just">
              <a:lnSpc>
                <a:spcPct val="150000"/>
              </a:lnSpc>
            </a:pPr>
            <a:endParaRPr lang="en-US" b="1"/>
          </a:p>
          <a:p>
            <a:pPr algn="just">
              <a:lnSpc>
                <a:spcPct val="150000"/>
              </a:lnSpc>
            </a:pPr>
            <a:r>
              <a:rPr lang="en-US" b="1"/>
              <a:t>6. Game Development</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err="1"/>
              <a:t>Pygame</a:t>
            </a:r>
            <a:r>
              <a:rPr lang="en-US"/>
              <a:t>: A set of Python modules designed for writing video games.</a:t>
            </a:r>
            <a:endParaRPr lang="en-US">
              <a:ea typeface="Calibri"/>
              <a:cs typeface="Calibri"/>
            </a:endParaRPr>
          </a:p>
          <a:p>
            <a:pPr algn="just">
              <a:lnSpc>
                <a:spcPct val="150000"/>
              </a:lnSpc>
              <a:buFont typeface="Arial" panose="020B0604020202020204" pitchFamily="34" charset="0"/>
              <a:buChar char="•"/>
            </a:pPr>
            <a:r>
              <a:rPr lang="en-US" b="1"/>
              <a:t>Godot (with </a:t>
            </a:r>
            <a:r>
              <a:rPr lang="en-US" b="1" err="1"/>
              <a:t>GDScript</a:t>
            </a:r>
            <a:r>
              <a:rPr lang="en-US" b="1"/>
              <a:t>, similar to Python)</a:t>
            </a:r>
            <a:r>
              <a:rPr lang="en-US"/>
              <a:t>: A popular game engine that supports Python-like scripting.</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2D and 3D Games</a:t>
            </a:r>
            <a:r>
              <a:rPr lang="en-US"/>
              <a:t>: Developing interactive games and simulations.</a:t>
            </a:r>
            <a:endParaRPr lang="en-US">
              <a:ea typeface="Calibri"/>
              <a:cs typeface="Calibri"/>
            </a:endParaRPr>
          </a:p>
          <a:p>
            <a:pPr algn="just">
              <a:lnSpc>
                <a:spcPct val="150000"/>
              </a:lnSpc>
              <a:buFont typeface="Arial" panose="020B0604020202020204" pitchFamily="34" charset="0"/>
              <a:buChar char="•"/>
            </a:pPr>
            <a:r>
              <a:rPr lang="en-US" b="1"/>
              <a:t>Prototyping Game Mechanics</a:t>
            </a:r>
            <a:r>
              <a:rPr lang="en-US"/>
              <a:t>: Quickly testing and iterating on game ideas.</a:t>
            </a:r>
            <a:endParaRPr lang="en-US">
              <a:ea typeface="Calibri"/>
              <a:cs typeface="Calibri"/>
            </a:endParaRPr>
          </a:p>
          <a:p>
            <a:pPr algn="just">
              <a:lnSpc>
                <a:spcPct val="150000"/>
              </a:lnSpc>
            </a:pPr>
            <a:endParaRPr lang="en-US" b="1"/>
          </a:p>
          <a:p>
            <a:pPr algn="just">
              <a:lnSpc>
                <a:spcPct val="150000"/>
              </a:lnSpc>
            </a:pPr>
            <a:r>
              <a:rPr lang="en-US" b="1"/>
              <a:t>7. Desktop Applications</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err="1"/>
              <a:t>Tkinter</a:t>
            </a:r>
            <a:r>
              <a:rPr lang="en-US"/>
              <a:t>: The standard GUI toolkit for Python.</a:t>
            </a:r>
            <a:endParaRPr lang="en-US">
              <a:ea typeface="Calibri"/>
              <a:cs typeface="Calibri"/>
            </a:endParaRPr>
          </a:p>
          <a:p>
            <a:pPr algn="just">
              <a:lnSpc>
                <a:spcPct val="150000"/>
              </a:lnSpc>
              <a:buFont typeface="Arial" panose="020B0604020202020204" pitchFamily="34" charset="0"/>
              <a:buChar char="•"/>
            </a:pPr>
            <a:r>
              <a:rPr lang="en-US" b="1" err="1"/>
              <a:t>PyQt</a:t>
            </a:r>
            <a:r>
              <a:rPr lang="en-US"/>
              <a:t> and </a:t>
            </a:r>
            <a:r>
              <a:rPr lang="en-US" b="1" err="1"/>
              <a:t>PySide</a:t>
            </a:r>
            <a:r>
              <a:rPr lang="en-US"/>
              <a:t>: For creating cross-platform desktop applications with Qt.</a:t>
            </a:r>
            <a:endParaRPr lang="en-US">
              <a:ea typeface="Calibri"/>
              <a:cs typeface="Calibri"/>
            </a:endParaRPr>
          </a:p>
          <a:p>
            <a:pPr algn="just">
              <a:lnSpc>
                <a:spcPct val="150000"/>
              </a:lnSpc>
              <a:buFont typeface="Arial" panose="020B0604020202020204" pitchFamily="34" charset="0"/>
              <a:buChar char="•"/>
            </a:pPr>
            <a:r>
              <a:rPr lang="en-US" b="1" err="1"/>
              <a:t>Kivy</a:t>
            </a:r>
            <a:r>
              <a:rPr lang="en-US"/>
              <a:t>: For developing multi-touch applications.</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User Interfaces</a:t>
            </a:r>
            <a:r>
              <a:rPr lang="en-US"/>
              <a:t>: Building user-friendly interfaces for software applications.</a:t>
            </a:r>
            <a:endParaRPr lang="en-US">
              <a:ea typeface="Calibri"/>
              <a:cs typeface="Calibri"/>
            </a:endParaRPr>
          </a:p>
          <a:p>
            <a:pPr algn="just">
              <a:lnSpc>
                <a:spcPct val="150000"/>
              </a:lnSpc>
              <a:buFont typeface="Arial" panose="020B0604020202020204" pitchFamily="34" charset="0"/>
              <a:buChar char="•"/>
            </a:pPr>
            <a:r>
              <a:rPr lang="en-US" b="1"/>
              <a:t>Cross-Platform Applications</a:t>
            </a:r>
            <a:r>
              <a:rPr lang="en-US"/>
              <a:t>: Developing software that runs on multiple operating systems.</a:t>
            </a:r>
            <a:endParaRPr lang="en-US">
              <a:ea typeface="Calibri"/>
              <a:cs typeface="Calibri"/>
            </a:endParaRPr>
          </a:p>
          <a:p>
            <a:pPr algn="just">
              <a:lnSpc>
                <a:spcPct val="150000"/>
              </a:lnSpc>
            </a:pPr>
            <a:endParaRPr lang="en-US" b="1"/>
          </a:p>
          <a:p>
            <a:pPr algn="just">
              <a:lnSpc>
                <a:spcPct val="150000"/>
              </a:lnSpc>
            </a:pPr>
            <a:r>
              <a:rPr lang="en-US" b="1"/>
              <a:t>8. Network Programming</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a:t>Socket</a:t>
            </a:r>
            <a:r>
              <a:rPr lang="en-US"/>
              <a:t>: For low-level network communication.</a:t>
            </a:r>
            <a:endParaRPr lang="en-US">
              <a:ea typeface="Calibri"/>
              <a:cs typeface="Calibri"/>
            </a:endParaRPr>
          </a:p>
          <a:p>
            <a:pPr algn="just">
              <a:lnSpc>
                <a:spcPct val="150000"/>
              </a:lnSpc>
              <a:buFont typeface="Arial" panose="020B0604020202020204" pitchFamily="34" charset="0"/>
              <a:buChar char="•"/>
            </a:pPr>
            <a:r>
              <a:rPr lang="en-US" b="1"/>
              <a:t>Twisted</a:t>
            </a:r>
            <a:r>
              <a:rPr lang="en-US"/>
              <a:t>: An event-driven networking engine.</a:t>
            </a:r>
            <a:endParaRPr lang="en-US">
              <a:ea typeface="Calibri"/>
              <a:cs typeface="Calibri"/>
            </a:endParaRPr>
          </a:p>
          <a:p>
            <a:pPr algn="just">
              <a:lnSpc>
                <a:spcPct val="150000"/>
              </a:lnSpc>
              <a:buFont typeface="Arial" panose="020B0604020202020204" pitchFamily="34" charset="0"/>
              <a:buChar char="•"/>
            </a:pPr>
            <a:r>
              <a:rPr lang="en-US" b="1"/>
              <a:t>Requests</a:t>
            </a:r>
            <a:r>
              <a:rPr lang="en-US"/>
              <a:t>: For making HTTP requests.</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Network Servers and Clients</a:t>
            </a:r>
            <a:r>
              <a:rPr lang="en-US"/>
              <a:t>: Building applications that communicate over a network.</a:t>
            </a:r>
            <a:endParaRPr lang="en-US">
              <a:ea typeface="Calibri"/>
              <a:cs typeface="Calibri"/>
            </a:endParaRPr>
          </a:p>
          <a:p>
            <a:pPr algn="just">
              <a:lnSpc>
                <a:spcPct val="150000"/>
              </a:lnSpc>
              <a:buFont typeface="Arial" panose="020B0604020202020204" pitchFamily="34" charset="0"/>
              <a:buChar char="•"/>
            </a:pPr>
            <a:r>
              <a:rPr lang="en-US" b="1"/>
              <a:t>Chat Applications</a:t>
            </a:r>
            <a:r>
              <a:rPr lang="en-US"/>
              <a:t>: Implementing messaging systems.</a:t>
            </a:r>
            <a:endParaRPr lang="en-US">
              <a:ea typeface="Calibri"/>
              <a:cs typeface="Calibri"/>
            </a:endParaRPr>
          </a:p>
          <a:p>
            <a:pPr algn="just">
              <a:lnSpc>
                <a:spcPct val="150000"/>
              </a:lnSpc>
              <a:buFont typeface="Arial" panose="020B0604020202020204" pitchFamily="34" charset="0"/>
              <a:buChar char="•"/>
            </a:pPr>
            <a:r>
              <a:rPr lang="en-US" b="1"/>
              <a:t>Custom Protocols</a:t>
            </a:r>
            <a:r>
              <a:rPr lang="en-US"/>
              <a:t>: Developing and implementing network protocols.</a:t>
            </a:r>
            <a:endParaRPr lang="en-US">
              <a:ea typeface="Calibri"/>
              <a:cs typeface="Calibri"/>
            </a:endParaRPr>
          </a:p>
          <a:p>
            <a:pPr algn="just">
              <a:lnSpc>
                <a:spcPct val="150000"/>
              </a:lnSpc>
            </a:pPr>
            <a:endParaRPr lang="en-US" b="1"/>
          </a:p>
          <a:p>
            <a:pPr algn="just">
              <a:lnSpc>
                <a:spcPct val="150000"/>
              </a:lnSpc>
            </a:pPr>
            <a:r>
              <a:rPr lang="en-US" b="1"/>
              <a:t>9. Cybersecurity</a:t>
            </a:r>
            <a:endParaRPr lang="en-US" b="1">
              <a:ea typeface="Calibri"/>
              <a:cs typeface="Calibri"/>
            </a:endParaRPr>
          </a:p>
          <a:p>
            <a:pPr algn="just">
              <a:lnSpc>
                <a:spcPct val="150000"/>
              </a:lnSpc>
            </a:pPr>
            <a:r>
              <a:rPr lang="en-US" b="1"/>
              <a:t>Libraries</a:t>
            </a:r>
            <a:r>
              <a:rPr lang="en-US"/>
              <a:t>:</a:t>
            </a:r>
            <a:endParaRPr lang="en-US">
              <a:ea typeface="Calibri"/>
              <a:cs typeface="Calibri"/>
            </a:endParaRPr>
          </a:p>
          <a:p>
            <a:pPr algn="just">
              <a:lnSpc>
                <a:spcPct val="150000"/>
              </a:lnSpc>
              <a:buFont typeface="Arial" panose="020B0604020202020204" pitchFamily="34" charset="0"/>
              <a:buChar char="•"/>
            </a:pPr>
            <a:r>
              <a:rPr lang="en-US" b="1" err="1"/>
              <a:t>Scapy</a:t>
            </a:r>
            <a:r>
              <a:rPr lang="en-US"/>
              <a:t>: For network packet manipulation.</a:t>
            </a:r>
            <a:endParaRPr lang="en-US">
              <a:ea typeface="Calibri"/>
              <a:cs typeface="Calibri"/>
            </a:endParaRPr>
          </a:p>
          <a:p>
            <a:pPr algn="just">
              <a:lnSpc>
                <a:spcPct val="150000"/>
              </a:lnSpc>
              <a:buFont typeface="Arial" panose="020B0604020202020204" pitchFamily="34" charset="0"/>
              <a:buChar char="•"/>
            </a:pPr>
            <a:r>
              <a:rPr lang="en-US" b="1" err="1"/>
              <a:t>Paramiko</a:t>
            </a:r>
            <a:r>
              <a:rPr lang="en-US"/>
              <a:t>: For SSH and SFTP.</a:t>
            </a:r>
            <a:endParaRPr lang="en-US">
              <a:ea typeface="Calibri"/>
              <a:cs typeface="Calibri"/>
            </a:endParaRPr>
          </a:p>
          <a:p>
            <a:pPr algn="just">
              <a:lnSpc>
                <a:spcPct val="150000"/>
              </a:lnSpc>
              <a:buFont typeface="Arial" panose="020B0604020202020204" pitchFamily="34" charset="0"/>
              <a:buChar char="•"/>
            </a:pPr>
            <a:r>
              <a:rPr lang="en-US" b="1" err="1"/>
              <a:t>PyCrypto</a:t>
            </a:r>
            <a:r>
              <a:rPr lang="en-US"/>
              <a:t>: For cryptographic operations.</a:t>
            </a:r>
            <a:endParaRPr lang="en-US">
              <a:ea typeface="Calibri"/>
              <a:cs typeface="Calibri"/>
            </a:endParaRPr>
          </a:p>
          <a:p>
            <a:pPr algn="just">
              <a:lnSpc>
                <a:spcPct val="150000"/>
              </a:lnSpc>
            </a:pPr>
            <a:r>
              <a:rPr lang="en-US" b="1"/>
              <a:t>Applications</a:t>
            </a:r>
            <a:r>
              <a:rPr lang="en-US"/>
              <a:t>:</a:t>
            </a:r>
            <a:endParaRPr lang="en-US">
              <a:ea typeface="Calibri"/>
              <a:cs typeface="Calibri"/>
            </a:endParaRPr>
          </a:p>
          <a:p>
            <a:pPr algn="just">
              <a:lnSpc>
                <a:spcPct val="150000"/>
              </a:lnSpc>
              <a:buFont typeface="Arial" panose="020B0604020202020204" pitchFamily="34" charset="0"/>
              <a:buChar char="•"/>
            </a:pPr>
            <a:r>
              <a:rPr lang="en-US" b="1"/>
              <a:t>Penetration Testing</a:t>
            </a:r>
            <a:r>
              <a:rPr lang="en-US"/>
              <a:t>: Identifying and exploiting vulnerabilities in systems.</a:t>
            </a:r>
            <a:endParaRPr lang="en-US">
              <a:ea typeface="Calibri"/>
              <a:cs typeface="Calibri"/>
            </a:endParaRPr>
          </a:p>
          <a:p>
            <a:pPr algn="just">
              <a:lnSpc>
                <a:spcPct val="150000"/>
              </a:lnSpc>
              <a:buFont typeface="Arial" panose="020B0604020202020204" pitchFamily="34" charset="0"/>
              <a:buChar char="•"/>
            </a:pPr>
            <a:r>
              <a:rPr lang="en-US" b="1"/>
              <a:t>Network Analysis</a:t>
            </a:r>
            <a:r>
              <a:rPr lang="en-US"/>
              <a:t>: Monitoring and analyzing network traffic.</a:t>
            </a:r>
            <a:endParaRPr lang="en-US">
              <a:ea typeface="Calibri"/>
              <a:cs typeface="Calibri"/>
            </a:endParaRPr>
          </a:p>
          <a:p>
            <a:pPr algn="just">
              <a:lnSpc>
                <a:spcPct val="150000"/>
              </a:lnSpc>
              <a:buFont typeface="Arial" panose="020B0604020202020204" pitchFamily="34" charset="0"/>
              <a:buChar char="•"/>
            </a:pPr>
            <a:r>
              <a:rPr lang="en-US" b="1"/>
              <a:t>Cryptography</a:t>
            </a:r>
            <a:r>
              <a:rPr lang="en-US"/>
              <a:t>: Implementing encryption and decryption algorithms.</a:t>
            </a:r>
            <a:endParaRPr lang="en-US">
              <a:ea typeface="Calibri"/>
              <a:cs typeface="Calibri"/>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12</a:t>
            </a:fld>
            <a:endParaRPr lang="en-IN"/>
          </a:p>
        </p:txBody>
      </p:sp>
    </p:spTree>
    <p:extLst>
      <p:ext uri="{BB962C8B-B14F-4D97-AF65-F5344CB8AC3E}">
        <p14:creationId xmlns:p14="http://schemas.microsoft.com/office/powerpoint/2010/main" val="4035376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latin typeface="Calibri"/>
                <a:cs typeface="Calibri"/>
              </a:rPr>
              <a:t>IDEs in Python:</a:t>
            </a:r>
          </a:p>
          <a:p>
            <a:pPr marL="285750" indent="-285750" algn="just">
              <a:buFont typeface="Arial,Sans-Serif"/>
              <a:buChar char="•"/>
            </a:pPr>
            <a:r>
              <a:rPr lang="en-US" dirty="0"/>
              <a:t>IDE components include; code editors, compilers,  debuggers, interpreters, and a graphical user interface (GUI). </a:t>
            </a:r>
          </a:p>
          <a:p>
            <a:pPr marL="285750" indent="-285750" algn="just">
              <a:buFont typeface="Arial,Sans-Serif"/>
              <a:buChar char="•"/>
            </a:pPr>
            <a:endParaRPr lang="en-US" dirty="0"/>
          </a:p>
          <a:p>
            <a:pPr marL="285750" indent="-285750" algn="just">
              <a:buFont typeface="Arial,Sans-Serif"/>
              <a:buChar char="•"/>
            </a:pPr>
            <a:r>
              <a:rPr lang="en-US" dirty="0"/>
              <a:t>By combining all these different components into a single program, IDE software can help simplify the development process and make it easier for developers to find and fix errors quickly. </a:t>
            </a:r>
          </a:p>
          <a:p>
            <a:pPr>
              <a:buNone/>
            </a:pPr>
            <a:endParaRPr lang="en-US" dirty="0">
              <a:latin typeface="Calibri"/>
              <a:cs typeface="Calibri"/>
            </a:endParaRPr>
          </a:p>
        </p:txBody>
      </p:sp>
    </p:spTree>
    <p:extLst>
      <p:ext uri="{BB962C8B-B14F-4D97-AF65-F5344CB8AC3E}">
        <p14:creationId xmlns:p14="http://schemas.microsoft.com/office/powerpoint/2010/main" val="300945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solidFill>
                  <a:srgbClr val="000000"/>
                </a:solidFill>
                <a:highlight>
                  <a:srgbClr val="FFFFFF"/>
                </a:highlight>
              </a:rPr>
              <a:t>Imagine you’re setting up a grand toolkit for data science and machine learning. Anaconda is that all-in-one toolkit, a free and open-source distribution of the Python languages specifically designed for these applications. Whether you’re working on Windows, Linux, or macOS, Anaconda can be your trusty companion.</a:t>
            </a:r>
            <a:endParaRPr lang="en-US"/>
          </a:p>
          <a:p>
            <a:pPr algn="just"/>
            <a:r>
              <a:rPr lang="en-US">
                <a:solidFill>
                  <a:srgbClr val="000000"/>
                </a:solidFill>
                <a:highlight>
                  <a:srgbClr val="FFFFFF"/>
                </a:highlight>
              </a:rPr>
              <a:t>Think of Conda as the manager of this grand toolkit. It's an open-source, cross-platform package management system that helps you keep everything organized. With Anaconda, you get a suite of powerful tools, including </a:t>
            </a:r>
            <a:r>
              <a:rPr lang="en-US" err="1">
                <a:solidFill>
                  <a:srgbClr val="000000"/>
                </a:solidFill>
                <a:highlight>
                  <a:srgbClr val="FFFFFF"/>
                </a:highlight>
              </a:rPr>
              <a:t>JupyterLab</a:t>
            </a:r>
            <a:r>
              <a:rPr lang="en-US">
                <a:solidFill>
                  <a:srgbClr val="000000"/>
                </a:solidFill>
                <a:highlight>
                  <a:srgbClr val="FFFFFF"/>
                </a:highlight>
              </a:rPr>
              <a:t>, </a:t>
            </a:r>
            <a:r>
              <a:rPr lang="en-US" err="1">
                <a:solidFill>
                  <a:srgbClr val="000000"/>
                </a:solidFill>
                <a:highlight>
                  <a:srgbClr val="FFFFFF"/>
                </a:highlight>
              </a:rPr>
              <a:t>Jupyter</a:t>
            </a:r>
            <a:r>
              <a:rPr lang="en-US">
                <a:solidFill>
                  <a:srgbClr val="000000"/>
                </a:solidFill>
                <a:highlight>
                  <a:srgbClr val="FFFFFF"/>
                </a:highlight>
              </a:rPr>
              <a:t> Notebook, Spyder, </a:t>
            </a:r>
            <a:r>
              <a:rPr lang="en-US" err="1">
                <a:solidFill>
                  <a:srgbClr val="000000"/>
                </a:solidFill>
                <a:highlight>
                  <a:srgbClr val="FFFFFF"/>
                </a:highlight>
              </a:rPr>
              <a:t>Glueviz</a:t>
            </a:r>
            <a:r>
              <a:rPr lang="en-US">
                <a:solidFill>
                  <a:srgbClr val="000000"/>
                </a:solidFill>
                <a:highlight>
                  <a:srgbClr val="FFFFFF"/>
                </a:highlight>
              </a:rPr>
              <a:t>, and Visual Studio Code, all ready to help you create and analyze data."</a:t>
            </a:r>
            <a:endParaRPr lang="en-US"/>
          </a:p>
          <a:p>
            <a:pPr algn="just"/>
            <a:endParaRPr lang="en-US">
              <a:solidFill>
                <a:srgbClr val="000000"/>
              </a:solidFill>
              <a:highlight>
                <a:srgbClr val="FFFFFF"/>
              </a:highlight>
              <a:latin typeface="Noto Sans JP"/>
            </a:endParaRPr>
          </a:p>
          <a:p>
            <a:pPr algn="just"/>
            <a:endParaRPr lang="en-US">
              <a:highlight>
                <a:srgbClr val="FFFFFF"/>
              </a:highlight>
              <a:latin typeface="Noto Sans JP"/>
            </a:endParaRPr>
          </a:p>
          <a:p>
            <a:pPr algn="l"/>
            <a:r>
              <a:rPr lang="en-US" b="1" i="0">
                <a:solidFill>
                  <a:srgbClr val="000000"/>
                </a:solidFill>
                <a:effectLst/>
                <a:highlight>
                  <a:srgbClr val="FFFFFF"/>
                </a:highlight>
                <a:latin typeface="Noto Sans JP"/>
              </a:rPr>
              <a:t>Advantages:</a:t>
            </a:r>
            <a:endParaRPr lang="en-US" b="0" i="0">
              <a:solidFill>
                <a:srgbClr val="000000"/>
              </a:solidFill>
              <a:effectLst/>
              <a:highlight>
                <a:srgbClr val="FFFFFF"/>
              </a:highlight>
              <a:latin typeface="Noto Sans JP"/>
            </a:endParaRPr>
          </a:p>
          <a:p>
            <a:pPr algn="just"/>
            <a:r>
              <a:rPr lang="en-IN"/>
              <a:t>Let's delve into the perks of using Anaconda. Imagine you're an artist with a palette of colors and tools to create a masterpiece. Jupyter, one of Anaconda’s tools, supports markdown and allows you to embed HTML elements, from images to videos, making your work rich and interactive.</a:t>
            </a:r>
          </a:p>
          <a:p>
            <a:pPr algn="just"/>
            <a:r>
              <a:rPr lang="en-IN"/>
              <a:t>Anaconda doesn’t stop there. It offers features for data cleaning and transformation, numerical simulation, statistical modeling, and data visualization. It’s like having a magic wand that transforms raw data into meaningful insights. You can even edit snippets before running them, ensuring your code is perfect before execution. This makes your data analysis not only powerful but also interactive and engaging.</a:t>
            </a:r>
          </a:p>
          <a:p>
            <a:pPr algn="just"/>
            <a:endParaRPr lang="en-IN"/>
          </a:p>
          <a:p>
            <a:pPr algn="just"/>
            <a:r>
              <a:rPr lang="en-IN"/>
              <a:t>Setting up Anaconda is like preparing your workspace with all the necessary tools. Here’s how you can do it:</a:t>
            </a:r>
          </a:p>
          <a:p>
            <a:pPr marL="171450" indent="-171450" algn="just">
              <a:buFont typeface="Arial"/>
              <a:buChar char="•"/>
            </a:pPr>
            <a:r>
              <a:rPr lang="en-IN" b="1"/>
              <a:t>Download the Anaconda installer:</a:t>
            </a:r>
            <a:r>
              <a:rPr lang="en-IN"/>
              <a:t> Start by downloading the installer for your operating system.</a:t>
            </a:r>
          </a:p>
          <a:p>
            <a:pPr marL="171450" indent="-171450" algn="just">
              <a:buFont typeface="Arial"/>
              <a:buChar char="•"/>
            </a:pPr>
            <a:r>
              <a:rPr lang="en-IN" b="1"/>
              <a:t>Launch the installer:</a:t>
            </a:r>
            <a:r>
              <a:rPr lang="en-IN"/>
              <a:t> Go to your Downloads folder and double-click the installer. Remember, to avoid permission errors, do not launch it from the </a:t>
            </a:r>
            <a:r>
              <a:rPr lang="en-IN" err="1"/>
              <a:t>Favorites</a:t>
            </a:r>
            <a:r>
              <a:rPr lang="en-IN"/>
              <a:t> folder.</a:t>
            </a:r>
          </a:p>
          <a:p>
            <a:pPr marL="171450" indent="-171450" algn="just">
              <a:buFont typeface="Arial"/>
              <a:buChar char="•"/>
            </a:pPr>
            <a:r>
              <a:rPr lang="en-IN" b="1"/>
              <a:t>Follow the installation steps:</a:t>
            </a:r>
            <a:r>
              <a:rPr lang="en-IN"/>
              <a:t> Click 'Next' to proceed, read and agree to the licensing terms.</a:t>
            </a:r>
          </a:p>
          <a:p>
            <a:pPr marL="171450" indent="-171450" algn="just">
              <a:buFont typeface="Arial"/>
              <a:buChar char="•"/>
            </a:pPr>
            <a:r>
              <a:rPr lang="en-IN" b="1"/>
              <a:t>Choose installation options:</a:t>
            </a:r>
            <a:r>
              <a:rPr lang="en-IN"/>
              <a:t> It’s recommended to install Anaconda just for your user account to avoid any permission issues. If you need to install it for all users on the computer, you’ll need Windows Administrator privileges.</a:t>
            </a:r>
          </a:p>
          <a:p>
            <a:pPr marL="171450" indent="-171450" algn="just">
              <a:buFont typeface="Arial"/>
              <a:buChar char="•"/>
            </a:pPr>
            <a:r>
              <a:rPr lang="en-IN" b="1"/>
              <a:t>Select the destination folder:</a:t>
            </a:r>
            <a:r>
              <a:rPr lang="en-IN"/>
              <a:t> Choose a directory path without spaces or </a:t>
            </a:r>
            <a:r>
              <a:rPr lang="en-IN" err="1"/>
              <a:t>unicode</a:t>
            </a:r>
            <a:r>
              <a:rPr lang="en-IN"/>
              <a:t> characters for the installation.</a:t>
            </a:r>
            <a:endParaRPr lang="en-IN">
              <a:cs typeface="Calibri"/>
            </a:endParaRPr>
          </a:p>
          <a:p>
            <a:pPr algn="just"/>
            <a:r>
              <a:rPr lang="en-IN"/>
              <a:t>Each step is like setting up different sections of your workspace, ensuring everything is in place for a smooth start.</a:t>
            </a:r>
            <a:endParaRPr lang="en-IN">
              <a:cs typeface="Calibri" panose="020F0502020204030204"/>
            </a:endParaRPr>
          </a:p>
          <a:p>
            <a:pPr algn="just"/>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755709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b="1" dirty="0"/>
              <a:t>Lab: Demonstrating Installation of Anaconda and Set up the Python Environment </a:t>
            </a:r>
            <a:endParaRPr lang="en-US" dirty="0"/>
          </a:p>
          <a:p>
            <a:pPr algn="ctr"/>
            <a:r>
              <a:rPr lang="en-US" b="1" dirty="0"/>
              <a:t>Solution: </a:t>
            </a:r>
            <a:r>
              <a:rPr lang="en-US" b="1" dirty="0">
                <a:hlinkClick r:id="rId3">
                  <a:extLst>
                    <a:ext uri="{A12FA001-AC4F-418D-AE19-62706E023703}">
                      <ahyp:hlinkClr xmlns:ahyp="http://schemas.microsoft.com/office/drawing/2018/hyperlinkcolor" val="tx"/>
                    </a:ext>
                  </a:extLst>
                </a:hlinkClick>
              </a:rPr>
              <a:t>GitHub Link</a:t>
            </a:r>
            <a:r>
              <a:rPr lang="en-US" b="1" dirty="0"/>
              <a:t> </a:t>
            </a:r>
            <a:endParaRPr lang="en-US"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15</a:t>
            </a:fld>
            <a:endParaRPr lang="en-IN"/>
          </a:p>
        </p:txBody>
      </p:sp>
    </p:spTree>
    <p:extLst>
      <p:ext uri="{BB962C8B-B14F-4D97-AF65-F5344CB8AC3E}">
        <p14:creationId xmlns:p14="http://schemas.microsoft.com/office/powerpoint/2010/main" val="2552755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EE57C-9570-ED3C-C4F0-D34A9F805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7D1E8-A349-98A3-D196-57FB6ED62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FE506F-CD0F-4E2D-EF8B-49FD457672AA}"/>
              </a:ext>
            </a:extLst>
          </p:cNvPr>
          <p:cNvSpPr>
            <a:spLocks noGrp="1"/>
          </p:cNvSpPr>
          <p:nvPr>
            <p:ph type="body" idx="1"/>
          </p:nvPr>
        </p:nvSpPr>
        <p:spPr/>
        <p:txBody>
          <a:bodyPr/>
          <a:lstStyle/>
          <a:p>
            <a:pPr algn="ctr"/>
            <a:r>
              <a:rPr lang="en-US" b="1" dirty="0"/>
              <a:t>Lab: Demonstrating Installation of Anaconda and Set up the Python Environment </a:t>
            </a:r>
            <a:endParaRPr lang="en-US" dirty="0"/>
          </a:p>
          <a:p>
            <a:pPr algn="ctr"/>
            <a:r>
              <a:rPr lang="en-US" b="1" dirty="0"/>
              <a:t>Solution: </a:t>
            </a:r>
            <a:r>
              <a:rPr lang="en-US" b="1" dirty="0">
                <a:hlinkClick r:id="rId3">
                  <a:extLst>
                    <a:ext uri="{A12FA001-AC4F-418D-AE19-62706E023703}">
                      <ahyp:hlinkClr xmlns:ahyp="http://schemas.microsoft.com/office/drawing/2018/hyperlinkcolor" val="tx"/>
                    </a:ext>
                  </a:extLst>
                </a:hlinkClick>
              </a:rPr>
              <a:t>GitHub Link</a:t>
            </a:r>
            <a:r>
              <a:rPr lang="en-US" b="1" dirty="0"/>
              <a:t> </a:t>
            </a:r>
            <a:endParaRPr lang="en-US" dirty="0"/>
          </a:p>
          <a:p>
            <a:endParaRPr lang="en-IN" dirty="0"/>
          </a:p>
        </p:txBody>
      </p:sp>
      <p:sp>
        <p:nvSpPr>
          <p:cNvPr id="4" name="Slide Number Placeholder 3">
            <a:extLst>
              <a:ext uri="{FF2B5EF4-FFF2-40B4-BE49-F238E27FC236}">
                <a16:creationId xmlns:a16="http://schemas.microsoft.com/office/drawing/2014/main" id="{07533850-A45E-A758-F396-C565CAC8CAFB}"/>
              </a:ext>
            </a:extLst>
          </p:cNvPr>
          <p:cNvSpPr>
            <a:spLocks noGrp="1"/>
          </p:cNvSpPr>
          <p:nvPr>
            <p:ph type="sldNum" sz="quarter" idx="5"/>
          </p:nvPr>
        </p:nvSpPr>
        <p:spPr/>
        <p:txBody>
          <a:bodyPr/>
          <a:lstStyle/>
          <a:p>
            <a:fld id="{2964557E-4AEC-4FB8-82EC-38CAFDF29F61}" type="slidenum">
              <a:rPr lang="en-IN" smtClean="0"/>
              <a:t>16</a:t>
            </a:fld>
            <a:endParaRPr lang="en-IN"/>
          </a:p>
        </p:txBody>
      </p:sp>
    </p:spTree>
    <p:extLst>
      <p:ext uri="{BB962C8B-B14F-4D97-AF65-F5344CB8AC3E}">
        <p14:creationId xmlns:p14="http://schemas.microsoft.com/office/powerpoint/2010/main" val="831357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latin typeface="Calibri"/>
                <a:ea typeface="Calibri"/>
                <a:cs typeface="Calibri"/>
              </a:rPr>
              <a:t>I hope all of you knew about what is a variable right, without making you bore on this, let me give you a brief about what is variable and we will move to the rest of the topics</a:t>
            </a:r>
          </a:p>
          <a:p>
            <a:pPr>
              <a:buNone/>
            </a:pPr>
            <a:r>
              <a:rPr lang="en-US" b="1" dirty="0">
                <a:latin typeface="Calibri"/>
                <a:ea typeface="Calibri"/>
                <a:cs typeface="Calibri"/>
              </a:rPr>
              <a:t>----------------------------------</a:t>
            </a:r>
          </a:p>
          <a:p>
            <a:pPr>
              <a:buNone/>
            </a:pPr>
            <a:endParaRPr lang="en-US" b="1" dirty="0">
              <a:latin typeface="Calibri"/>
              <a:ea typeface="Calibri"/>
              <a:cs typeface="Calibri"/>
            </a:endParaRPr>
          </a:p>
          <a:p>
            <a:pPr>
              <a:buNone/>
            </a:pPr>
            <a:r>
              <a:rPr lang="en-US" b="1" i="1" dirty="0"/>
              <a:t>Variable</a:t>
            </a:r>
            <a:r>
              <a:rPr lang="en-US" dirty="0"/>
              <a:t> is a storage location with symbolic name, which can be used to store information to be manipulated in our program. In other word, variable is a container that contains different kinds </a:t>
            </a:r>
            <a:r>
              <a:rPr lang="en-US" b="1" i="1" dirty="0"/>
              <a:t>types</a:t>
            </a:r>
            <a:r>
              <a:rPr lang="en-US" dirty="0"/>
              <a:t> of data. You can think of variable as a box that you can put stuffs inside it so as to use them afterward.</a:t>
            </a:r>
          </a:p>
          <a:p>
            <a:pPr>
              <a:buNone/>
            </a:pPr>
            <a:endParaRPr lang="en-US" dirty="0"/>
          </a:p>
          <a:p>
            <a:pPr>
              <a:buNone/>
            </a:pPr>
            <a:endParaRPr lang="en-US" dirty="0"/>
          </a:p>
          <a:p>
            <a:endParaRPr lang="en-IN" dirty="0"/>
          </a:p>
        </p:txBody>
      </p:sp>
    </p:spTree>
    <p:extLst>
      <p:ext uri="{BB962C8B-B14F-4D97-AF65-F5344CB8AC3E}">
        <p14:creationId xmlns:p14="http://schemas.microsoft.com/office/powerpoint/2010/main" val="1652441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Kindly ask students to do this activity on their notebook (running notes) itself. The will come up with different answers and you can verify.</a:t>
            </a:r>
          </a:p>
          <a:p>
            <a:pPr marL="158750" indent="0">
              <a:buNone/>
            </a:pPr>
            <a:endParaRPr lang="en-US" dirty="0"/>
          </a:p>
          <a:p>
            <a:pPr marL="158750" indent="0">
              <a:buNone/>
            </a:pPr>
            <a:r>
              <a:rPr lang="en-US" dirty="0"/>
              <a:t>Answer1: </a:t>
            </a:r>
          </a:p>
          <a:p>
            <a:pPr marL="158750" indent="0">
              <a:buNone/>
            </a:pPr>
            <a:endParaRPr lang="en-US" dirty="0"/>
          </a:p>
          <a:p>
            <a:pPr marL="158750" indent="0">
              <a:buNone/>
            </a:pPr>
            <a:r>
              <a:rPr lang="fr-FR" dirty="0"/>
              <a:t>profit_q1 = 50000</a:t>
            </a:r>
          </a:p>
          <a:p>
            <a:pPr marL="158750" indent="0">
              <a:buNone/>
            </a:pPr>
            <a:r>
              <a:rPr lang="fr-FR" dirty="0"/>
              <a:t>profit_q2 = 75000</a:t>
            </a:r>
          </a:p>
          <a:p>
            <a:pPr marL="158750" indent="0">
              <a:buNone/>
            </a:pPr>
            <a:r>
              <a:rPr lang="fr-FR" dirty="0"/>
              <a:t>profit_q3 = 60000</a:t>
            </a:r>
          </a:p>
          <a:p>
            <a:pPr marL="158750" indent="0">
              <a:buNone/>
            </a:pPr>
            <a:r>
              <a:rPr lang="fr-FR" dirty="0"/>
              <a:t>profit_q4 = 65000</a:t>
            </a:r>
          </a:p>
          <a:p>
            <a:pPr marL="158750" indent="0">
              <a:buNone/>
            </a:pPr>
            <a:r>
              <a:rPr lang="fr-FR" dirty="0" err="1"/>
              <a:t>total_profit</a:t>
            </a:r>
            <a:r>
              <a:rPr lang="fr-FR" dirty="0"/>
              <a:t> = profit_q1 + profit_q2 + profit_q3 + profit_q4</a:t>
            </a:r>
          </a:p>
          <a:p>
            <a:pPr marL="158750" indent="0">
              <a:buNone/>
            </a:pPr>
            <a:r>
              <a:rPr lang="fr-FR" dirty="0" err="1"/>
              <a:t>print</a:t>
            </a:r>
            <a:r>
              <a:rPr lang="fr-FR" dirty="0"/>
              <a:t>(</a:t>
            </a:r>
            <a:r>
              <a:rPr lang="fr-FR" dirty="0" err="1"/>
              <a:t>total_profit</a:t>
            </a:r>
            <a:r>
              <a:rPr lang="fr-FR" dirty="0"/>
              <a:t>)  # Output: 250000</a:t>
            </a:r>
          </a:p>
          <a:p>
            <a:pPr marL="158750" indent="0">
              <a:buNone/>
            </a:pPr>
            <a:endParaRPr lang="en-IN" dirty="0"/>
          </a:p>
          <a:p>
            <a:pPr marL="158750" indent="0">
              <a:buNone/>
            </a:pPr>
            <a:r>
              <a:rPr lang="en-IN" dirty="0"/>
              <a:t>Answer 2: </a:t>
            </a:r>
          </a:p>
          <a:p>
            <a:pPr marL="158750" indent="0">
              <a:buNone/>
            </a:pPr>
            <a:endParaRPr lang="en-IN" dirty="0"/>
          </a:p>
          <a:p>
            <a:pPr marL="158750" indent="0">
              <a:buNone/>
            </a:pPr>
            <a:r>
              <a:rPr lang="en-US" dirty="0"/>
              <a:t>password = "Secure123"</a:t>
            </a:r>
          </a:p>
          <a:p>
            <a:pPr marL="158750" indent="0">
              <a:buNone/>
            </a:pPr>
            <a:r>
              <a:rPr lang="en-US" dirty="0" err="1"/>
              <a:t>is_valid_length</a:t>
            </a:r>
            <a:r>
              <a:rPr lang="en-US" dirty="0"/>
              <a:t> = </a:t>
            </a:r>
            <a:r>
              <a:rPr lang="en-US" dirty="0" err="1"/>
              <a:t>len</a:t>
            </a:r>
            <a:r>
              <a:rPr lang="en-US" dirty="0"/>
              <a:t>(password) &gt;= 8</a:t>
            </a:r>
          </a:p>
          <a:p>
            <a:pPr marL="158750" indent="0">
              <a:buNone/>
            </a:pPr>
            <a:r>
              <a:rPr lang="en-US" dirty="0"/>
              <a:t>print(</a:t>
            </a:r>
            <a:r>
              <a:rPr lang="en-US" dirty="0" err="1"/>
              <a:t>is_valid_length</a:t>
            </a:r>
            <a:r>
              <a:rPr lang="en-US" dirty="0"/>
              <a:t>)  # Output: True</a:t>
            </a:r>
          </a:p>
          <a:p>
            <a:pPr marL="158750" indent="0">
              <a:buNone/>
            </a:pPr>
            <a:endParaRPr lang="en-IN" dirty="0"/>
          </a:p>
          <a:p>
            <a:pPr marL="158750" indent="0">
              <a:buNone/>
            </a:pPr>
            <a:r>
              <a:rPr lang="en-IN" dirty="0"/>
              <a:t>Answer3: </a:t>
            </a:r>
          </a:p>
          <a:p>
            <a:pPr marL="158750" indent="0">
              <a:buNone/>
            </a:pPr>
            <a:r>
              <a:rPr lang="en-US" dirty="0"/>
              <a:t>name = "Alice"</a:t>
            </a:r>
          </a:p>
          <a:p>
            <a:pPr marL="158750" indent="0">
              <a:buNone/>
            </a:pPr>
            <a:r>
              <a:rPr lang="en-US" dirty="0" err="1"/>
              <a:t>math_score</a:t>
            </a:r>
            <a:r>
              <a:rPr lang="en-US" dirty="0"/>
              <a:t> = 85</a:t>
            </a:r>
          </a:p>
          <a:p>
            <a:pPr marL="158750" indent="0">
              <a:buNone/>
            </a:pPr>
            <a:r>
              <a:rPr lang="en-US" dirty="0" err="1"/>
              <a:t>science_score</a:t>
            </a:r>
            <a:r>
              <a:rPr lang="en-US" dirty="0"/>
              <a:t> = 90</a:t>
            </a:r>
          </a:p>
          <a:p>
            <a:pPr marL="158750" indent="0">
              <a:buNone/>
            </a:pPr>
            <a:r>
              <a:rPr lang="en-US" dirty="0"/>
              <a:t>result = f"{name} scored {</a:t>
            </a:r>
            <a:r>
              <a:rPr lang="en-US" dirty="0" err="1"/>
              <a:t>math_score</a:t>
            </a:r>
            <a:r>
              <a:rPr lang="en-US" dirty="0"/>
              <a:t>} in Math and {</a:t>
            </a:r>
            <a:r>
              <a:rPr lang="en-US" dirty="0" err="1"/>
              <a:t>science_score</a:t>
            </a:r>
            <a:r>
              <a:rPr lang="en-US" dirty="0"/>
              <a:t>} in Science."</a:t>
            </a:r>
          </a:p>
          <a:p>
            <a:pPr marL="158750" indent="0">
              <a:buNone/>
            </a:pPr>
            <a:r>
              <a:rPr lang="en-US" dirty="0"/>
              <a:t>print(result)  # Output: Alice scored 85 in Math and 90 in Science.</a:t>
            </a:r>
          </a:p>
          <a:p>
            <a:pPr marL="158750" indent="0">
              <a:buNone/>
            </a:pPr>
            <a:endParaRPr lang="en-IN" dirty="0"/>
          </a:p>
          <a:p>
            <a:pPr marL="158750" indent="0">
              <a:buNone/>
            </a:pPr>
            <a:r>
              <a:rPr lang="en-IN" dirty="0"/>
              <a:t>Answer4: </a:t>
            </a:r>
          </a:p>
          <a:p>
            <a:pPr marL="158750" indent="0">
              <a:buNone/>
            </a:pPr>
            <a:r>
              <a:rPr lang="en-US" dirty="0" err="1"/>
              <a:t>price_per_notebook</a:t>
            </a:r>
            <a:r>
              <a:rPr lang="en-US" dirty="0"/>
              <a:t> = 45</a:t>
            </a:r>
          </a:p>
          <a:p>
            <a:pPr marL="158750" indent="0">
              <a:buNone/>
            </a:pPr>
            <a:r>
              <a:rPr lang="en-US" dirty="0" err="1"/>
              <a:t>number_of_notebooks</a:t>
            </a:r>
            <a:r>
              <a:rPr lang="en-US" dirty="0"/>
              <a:t> = 8</a:t>
            </a:r>
          </a:p>
          <a:p>
            <a:pPr marL="158750" indent="0">
              <a:buNone/>
            </a:pPr>
            <a:r>
              <a:rPr lang="en-US" dirty="0" err="1"/>
              <a:t>total_cost</a:t>
            </a:r>
            <a:r>
              <a:rPr lang="en-US" dirty="0"/>
              <a:t> = </a:t>
            </a:r>
            <a:r>
              <a:rPr lang="en-US" dirty="0" err="1"/>
              <a:t>price_per_notebook</a:t>
            </a:r>
            <a:r>
              <a:rPr lang="en-US" dirty="0"/>
              <a:t> * </a:t>
            </a:r>
            <a:r>
              <a:rPr lang="en-US" dirty="0" err="1"/>
              <a:t>number_of_notebooks</a:t>
            </a:r>
            <a:endParaRPr lang="en-US" dirty="0"/>
          </a:p>
          <a:p>
            <a:pPr marL="158750" indent="0">
              <a:buNone/>
            </a:pPr>
            <a:r>
              <a:rPr lang="en-US" dirty="0" err="1"/>
              <a:t>amount_given</a:t>
            </a:r>
            <a:r>
              <a:rPr lang="en-US" dirty="0"/>
              <a:t> = 500</a:t>
            </a:r>
          </a:p>
          <a:p>
            <a:pPr marL="158750" indent="0">
              <a:buNone/>
            </a:pPr>
            <a:r>
              <a:rPr lang="en-US" dirty="0"/>
              <a:t>change = </a:t>
            </a:r>
            <a:r>
              <a:rPr lang="en-US" dirty="0" err="1"/>
              <a:t>amount_given</a:t>
            </a:r>
            <a:r>
              <a:rPr lang="en-US" dirty="0"/>
              <a:t> - </a:t>
            </a:r>
            <a:r>
              <a:rPr lang="en-US" dirty="0" err="1"/>
              <a:t>total_cost</a:t>
            </a:r>
            <a:endParaRPr lang="en-US" dirty="0"/>
          </a:p>
          <a:p>
            <a:pPr marL="158750" indent="0">
              <a:buNone/>
            </a:pPr>
            <a:r>
              <a:rPr lang="en-US" dirty="0"/>
              <a:t>print(change)  # Output: 140</a:t>
            </a:r>
          </a:p>
          <a:p>
            <a:pPr marL="158750" indent="0">
              <a:buNone/>
            </a:pPr>
            <a:endParaRPr lang="en-IN" dirty="0"/>
          </a:p>
        </p:txBody>
      </p:sp>
    </p:spTree>
    <p:extLst>
      <p:ext uri="{BB962C8B-B14F-4D97-AF65-F5344CB8AC3E}">
        <p14:creationId xmlns:p14="http://schemas.microsoft.com/office/powerpoint/2010/main" val="1789479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 Demonstrate how to assign variables and use them.</a:t>
            </a:r>
            <a:endParaRPr lang="en-US" dirty="0"/>
          </a:p>
          <a:p>
            <a:pPr>
              <a:buNone/>
            </a:pPr>
            <a:r>
              <a:rPr lang="en-US" b="1" dirty="0"/>
              <a:t>Solution: </a:t>
            </a:r>
            <a:r>
              <a:rPr lang="en-US" b="1" i="1" dirty="0">
                <a:hlinkClick r:id="rId3">
                  <a:extLst>
                    <a:ext uri="{A12FA001-AC4F-418D-AE19-62706E023703}">
                      <ahyp:hlinkClr xmlns:ahyp="http://schemas.microsoft.com/office/drawing/2018/hyperlinkcolor" val="tx"/>
                    </a:ext>
                  </a:extLst>
                </a:hlinkClick>
              </a:rPr>
              <a:t>GitHub Link</a:t>
            </a:r>
            <a:endParaRPr lang="en-US"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19</a:t>
            </a:fld>
            <a:endParaRPr lang="en-IN"/>
          </a:p>
        </p:txBody>
      </p:sp>
    </p:spTree>
    <p:extLst>
      <p:ext uri="{BB962C8B-B14F-4D97-AF65-F5344CB8AC3E}">
        <p14:creationId xmlns:p14="http://schemas.microsoft.com/office/powerpoint/2010/main" val="560334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SzPts val="2800"/>
              <a:buNone/>
            </a:pPr>
            <a:r>
              <a:rPr lang="en-US" altLang="en-US" b="1">
                <a:solidFill>
                  <a:srgbClr val="0000A8"/>
                </a:solidFill>
              </a:rPr>
              <a:t>Let's see what is the data type in Python. And the type of different data types available in Python. And to know the data type of the variable in Python we can use "type()" function in Python to know the datatype of the variable.</a:t>
            </a:r>
            <a:endParaRPr lang="en-US" altLang="en-US" b="1">
              <a:solidFill>
                <a:srgbClr val="0000A8"/>
              </a:solidFill>
              <a:latin typeface="Arial" panose="020B0604020202020204" pitchFamily="34" charset="0"/>
              <a:cs typeface="Arial" panose="020B0604020202020204" pitchFamily="34" charset="0"/>
            </a:endParaRPr>
          </a:p>
          <a:p>
            <a:pPr marL="158750" indent="0">
              <a:buSzPts val="2800"/>
              <a:buNone/>
            </a:pPr>
            <a:endParaRPr lang="en-US" altLang="en-US" b="1">
              <a:solidFill>
                <a:srgbClr val="0000A8"/>
              </a:solidFill>
              <a:latin typeface="Arial" panose="020B0604020202020204" pitchFamily="34" charset="0"/>
              <a:cs typeface="Arial" panose="020B0604020202020204" pitchFamily="34" charset="0"/>
            </a:endParaRPr>
          </a:p>
          <a:p>
            <a:pPr marL="158750" indent="0">
              <a:buNone/>
            </a:pPr>
            <a:r>
              <a:rPr lang="en-US"/>
              <a:t>A </a:t>
            </a:r>
            <a:r>
              <a:rPr lang="en-US" b="1"/>
              <a:t>data type</a:t>
            </a:r>
            <a:r>
              <a:rPr lang="en-US"/>
              <a:t> is a characteristic that tells the compiler (or interpreter) how a programmer intends to use the data. Variables store different types of data. Creating a variable of a particular data type creates an object of a data type class. The Python interpreter automatically assumes a type when creating a variable.</a:t>
            </a:r>
          </a:p>
          <a:p>
            <a:pPr marL="158750" indent="0">
              <a:buNone/>
            </a:pPr>
            <a:endParaRPr lang="en-US"/>
          </a:p>
          <a:p>
            <a:pPr marL="158750" indent="0">
              <a:buNone/>
            </a:pPr>
            <a:r>
              <a:rPr lang="en-US"/>
              <a:t>The data type of any object is found using the built-in </a:t>
            </a:r>
            <a:r>
              <a:rPr lang="en-US" b="1"/>
              <a:t>type()</a:t>
            </a:r>
            <a:r>
              <a:rPr lang="en-US"/>
              <a:t> function. The output shows the name of the class for the given object.</a:t>
            </a:r>
          </a:p>
        </p:txBody>
      </p:sp>
    </p:spTree>
    <p:extLst>
      <p:ext uri="{BB962C8B-B14F-4D97-AF65-F5344CB8AC3E}">
        <p14:creationId xmlns:p14="http://schemas.microsoft.com/office/powerpoint/2010/main" val="1778711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Kindly ask students to do this activity on their notebook (running notes) itself. The will come up with different answers and you can verify.</a:t>
            </a:r>
          </a:p>
          <a:p>
            <a:pPr marL="158750" indent="0">
              <a:buNone/>
            </a:pPr>
            <a:endParaRPr lang="en-US" dirty="0"/>
          </a:p>
          <a:p>
            <a:pPr marL="158750" indent="0">
              <a:buNone/>
            </a:pPr>
            <a:endParaRPr lang="en-US" dirty="0"/>
          </a:p>
          <a:p>
            <a:pPr marL="158750" indent="0">
              <a:buNone/>
            </a:pPr>
            <a:r>
              <a:rPr lang="en-US" dirty="0"/>
              <a:t>Answer1: </a:t>
            </a:r>
          </a:p>
          <a:p>
            <a:pPr marL="158750" indent="0">
              <a:buNone/>
            </a:pPr>
            <a:endParaRPr lang="en-US" dirty="0"/>
          </a:p>
          <a:p>
            <a:pPr marL="158750" indent="0">
              <a:buNone/>
            </a:pPr>
            <a:r>
              <a:rPr lang="fr-FR" dirty="0"/>
              <a:t>profit_q1 = 50000</a:t>
            </a:r>
          </a:p>
          <a:p>
            <a:pPr marL="158750" indent="0">
              <a:buNone/>
            </a:pPr>
            <a:r>
              <a:rPr lang="fr-FR" dirty="0"/>
              <a:t>profit_q2 = 75000</a:t>
            </a:r>
          </a:p>
          <a:p>
            <a:pPr marL="158750" indent="0">
              <a:buNone/>
            </a:pPr>
            <a:r>
              <a:rPr lang="fr-FR" dirty="0"/>
              <a:t>profit_q3 = 60000</a:t>
            </a:r>
          </a:p>
          <a:p>
            <a:pPr marL="158750" indent="0">
              <a:buNone/>
            </a:pPr>
            <a:r>
              <a:rPr lang="fr-FR" dirty="0"/>
              <a:t>profit_q4 = 65000</a:t>
            </a:r>
          </a:p>
          <a:p>
            <a:pPr marL="158750" indent="0">
              <a:buNone/>
            </a:pPr>
            <a:r>
              <a:rPr lang="fr-FR" dirty="0" err="1"/>
              <a:t>total_profit</a:t>
            </a:r>
            <a:r>
              <a:rPr lang="fr-FR" dirty="0"/>
              <a:t> = profit_q1 + profit_q2 + profit_q3 + profit_q4</a:t>
            </a:r>
          </a:p>
          <a:p>
            <a:pPr marL="158750" indent="0">
              <a:buNone/>
            </a:pPr>
            <a:r>
              <a:rPr lang="fr-FR" dirty="0" err="1"/>
              <a:t>print</a:t>
            </a:r>
            <a:r>
              <a:rPr lang="fr-FR" dirty="0"/>
              <a:t>(</a:t>
            </a:r>
            <a:r>
              <a:rPr lang="fr-FR" dirty="0" err="1"/>
              <a:t>total_profit</a:t>
            </a:r>
            <a:r>
              <a:rPr lang="fr-FR" dirty="0"/>
              <a:t>)  # Output: 250000</a:t>
            </a:r>
          </a:p>
          <a:p>
            <a:pPr marL="158750" indent="0">
              <a:buNone/>
            </a:pPr>
            <a:endParaRPr lang="en-IN" dirty="0"/>
          </a:p>
          <a:p>
            <a:pPr marL="158750" indent="0">
              <a:buNone/>
            </a:pPr>
            <a:r>
              <a:rPr lang="en-IN" dirty="0"/>
              <a:t>Answer 2: </a:t>
            </a:r>
          </a:p>
          <a:p>
            <a:pPr marL="158750" indent="0">
              <a:buNone/>
            </a:pPr>
            <a:endParaRPr lang="en-IN" dirty="0"/>
          </a:p>
          <a:p>
            <a:pPr marL="158750" indent="0">
              <a:buNone/>
            </a:pPr>
            <a:r>
              <a:rPr lang="en-US" dirty="0"/>
              <a:t>password = "Secure123"</a:t>
            </a:r>
          </a:p>
          <a:p>
            <a:pPr marL="158750" indent="0">
              <a:buNone/>
            </a:pPr>
            <a:r>
              <a:rPr lang="en-US" dirty="0" err="1"/>
              <a:t>is_valid_length</a:t>
            </a:r>
            <a:r>
              <a:rPr lang="en-US" dirty="0"/>
              <a:t> = </a:t>
            </a:r>
            <a:r>
              <a:rPr lang="en-US" dirty="0" err="1"/>
              <a:t>len</a:t>
            </a:r>
            <a:r>
              <a:rPr lang="en-US" dirty="0"/>
              <a:t>(password) &gt;= 8</a:t>
            </a:r>
          </a:p>
          <a:p>
            <a:pPr marL="158750" indent="0">
              <a:buNone/>
            </a:pPr>
            <a:r>
              <a:rPr lang="en-US" dirty="0"/>
              <a:t>print(</a:t>
            </a:r>
            <a:r>
              <a:rPr lang="en-US" dirty="0" err="1"/>
              <a:t>is_valid_length</a:t>
            </a:r>
            <a:r>
              <a:rPr lang="en-US" dirty="0"/>
              <a:t>)  # Output: True</a:t>
            </a:r>
          </a:p>
          <a:p>
            <a:pPr marL="158750" indent="0">
              <a:buNone/>
            </a:pPr>
            <a:endParaRPr lang="en-IN" dirty="0"/>
          </a:p>
          <a:p>
            <a:pPr marL="158750" indent="0">
              <a:buNone/>
            </a:pPr>
            <a:r>
              <a:rPr lang="en-IN" dirty="0"/>
              <a:t>Answer3: </a:t>
            </a:r>
          </a:p>
          <a:p>
            <a:pPr marL="158750" indent="0">
              <a:buNone/>
            </a:pPr>
            <a:r>
              <a:rPr lang="en-US" dirty="0"/>
              <a:t>name = "Alice"</a:t>
            </a:r>
          </a:p>
          <a:p>
            <a:pPr marL="158750" indent="0">
              <a:buNone/>
            </a:pPr>
            <a:r>
              <a:rPr lang="en-US" dirty="0" err="1"/>
              <a:t>math_score</a:t>
            </a:r>
            <a:r>
              <a:rPr lang="en-US" dirty="0"/>
              <a:t> = 85</a:t>
            </a:r>
          </a:p>
          <a:p>
            <a:pPr marL="158750" indent="0">
              <a:buNone/>
            </a:pPr>
            <a:r>
              <a:rPr lang="en-US" dirty="0" err="1"/>
              <a:t>science_score</a:t>
            </a:r>
            <a:r>
              <a:rPr lang="en-US" dirty="0"/>
              <a:t> = 90</a:t>
            </a:r>
          </a:p>
          <a:p>
            <a:pPr marL="158750" indent="0">
              <a:buNone/>
            </a:pPr>
            <a:r>
              <a:rPr lang="en-US" dirty="0"/>
              <a:t>result = f"{name} scored {</a:t>
            </a:r>
            <a:r>
              <a:rPr lang="en-US" dirty="0" err="1"/>
              <a:t>math_score</a:t>
            </a:r>
            <a:r>
              <a:rPr lang="en-US" dirty="0"/>
              <a:t>} in Math and {</a:t>
            </a:r>
            <a:r>
              <a:rPr lang="en-US" dirty="0" err="1"/>
              <a:t>science_score</a:t>
            </a:r>
            <a:r>
              <a:rPr lang="en-US" dirty="0"/>
              <a:t>} in Science."</a:t>
            </a:r>
          </a:p>
          <a:p>
            <a:pPr marL="158750" indent="0">
              <a:buNone/>
            </a:pPr>
            <a:r>
              <a:rPr lang="en-US" dirty="0"/>
              <a:t>print(result)  # Output: Alice scored 85 in Math and 90 in Science.</a:t>
            </a:r>
          </a:p>
          <a:p>
            <a:pPr marL="158750" indent="0">
              <a:buNone/>
            </a:pPr>
            <a:endParaRPr lang="en-IN" dirty="0"/>
          </a:p>
          <a:p>
            <a:pPr marL="158750" indent="0">
              <a:buNone/>
            </a:pPr>
            <a:r>
              <a:rPr lang="en-IN" dirty="0"/>
              <a:t>Answer4: </a:t>
            </a:r>
          </a:p>
          <a:p>
            <a:pPr marL="158750" indent="0">
              <a:buNone/>
            </a:pPr>
            <a:r>
              <a:rPr lang="en-US" dirty="0" err="1"/>
              <a:t>price_per_notebook</a:t>
            </a:r>
            <a:r>
              <a:rPr lang="en-US" dirty="0"/>
              <a:t> = 45</a:t>
            </a:r>
          </a:p>
          <a:p>
            <a:pPr marL="158750" indent="0">
              <a:buNone/>
            </a:pPr>
            <a:r>
              <a:rPr lang="en-US" dirty="0" err="1"/>
              <a:t>number_of_notebooks</a:t>
            </a:r>
            <a:r>
              <a:rPr lang="en-US" dirty="0"/>
              <a:t> = 8</a:t>
            </a:r>
          </a:p>
          <a:p>
            <a:pPr marL="158750" indent="0">
              <a:buNone/>
            </a:pPr>
            <a:r>
              <a:rPr lang="en-US" dirty="0" err="1"/>
              <a:t>total_cost</a:t>
            </a:r>
            <a:r>
              <a:rPr lang="en-US" dirty="0"/>
              <a:t> = </a:t>
            </a:r>
            <a:r>
              <a:rPr lang="en-US" dirty="0" err="1"/>
              <a:t>price_per_notebook</a:t>
            </a:r>
            <a:r>
              <a:rPr lang="en-US" dirty="0"/>
              <a:t> * </a:t>
            </a:r>
            <a:r>
              <a:rPr lang="en-US" dirty="0" err="1"/>
              <a:t>number_of_notebooks</a:t>
            </a:r>
            <a:endParaRPr lang="en-US" dirty="0"/>
          </a:p>
          <a:p>
            <a:pPr marL="158750" indent="0">
              <a:buNone/>
            </a:pPr>
            <a:r>
              <a:rPr lang="en-US" dirty="0" err="1"/>
              <a:t>amount_given</a:t>
            </a:r>
            <a:r>
              <a:rPr lang="en-US" dirty="0"/>
              <a:t> = 500</a:t>
            </a:r>
          </a:p>
          <a:p>
            <a:pPr marL="158750" indent="0">
              <a:buNone/>
            </a:pPr>
            <a:r>
              <a:rPr lang="en-US" dirty="0"/>
              <a:t>change = </a:t>
            </a:r>
            <a:r>
              <a:rPr lang="en-US" dirty="0" err="1"/>
              <a:t>amount_given</a:t>
            </a:r>
            <a:r>
              <a:rPr lang="en-US" dirty="0"/>
              <a:t> - </a:t>
            </a:r>
            <a:r>
              <a:rPr lang="en-US" dirty="0" err="1"/>
              <a:t>total_cost</a:t>
            </a:r>
            <a:endParaRPr lang="en-US" dirty="0"/>
          </a:p>
          <a:p>
            <a:pPr marL="158750" indent="0">
              <a:buNone/>
            </a:pPr>
            <a:r>
              <a:rPr lang="en-US" dirty="0"/>
              <a:t>print(change)  # Output: 140</a:t>
            </a:r>
          </a:p>
          <a:p>
            <a:pPr marL="158750" indent="0">
              <a:buNone/>
            </a:pPr>
            <a:endParaRPr lang="en-IN" dirty="0"/>
          </a:p>
        </p:txBody>
      </p:sp>
    </p:spTree>
    <p:extLst>
      <p:ext uri="{BB962C8B-B14F-4D97-AF65-F5344CB8AC3E}">
        <p14:creationId xmlns:p14="http://schemas.microsoft.com/office/powerpoint/2010/main" val="2766201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 Exploring Data Types in Python</a:t>
            </a:r>
            <a:endParaRPr lang="en-US" dirty="0"/>
          </a:p>
          <a:p>
            <a:pPr algn="ctr">
              <a:buNone/>
            </a:pPr>
            <a:r>
              <a:rPr lang="en-US" b="1" dirty="0"/>
              <a:t>Solution: </a:t>
            </a:r>
            <a:r>
              <a:rPr lang="en-US" b="1" i="1" dirty="0">
                <a:hlinkClick r:id="rId3">
                  <a:extLst>
                    <a:ext uri="{A12FA001-AC4F-418D-AE19-62706E023703}">
                      <ahyp:hlinkClr xmlns:ahyp="http://schemas.microsoft.com/office/drawing/2018/hyperlinkcolor" val="tx"/>
                    </a:ext>
                  </a:extLst>
                </a:hlinkClick>
              </a:rPr>
              <a:t>GitHub Link</a:t>
            </a:r>
            <a:endParaRPr lang="en-US"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22</a:t>
            </a:fld>
            <a:endParaRPr lang="en-IN"/>
          </a:p>
        </p:txBody>
      </p:sp>
    </p:spTree>
    <p:extLst>
      <p:ext uri="{BB962C8B-B14F-4D97-AF65-F5344CB8AC3E}">
        <p14:creationId xmlns:p14="http://schemas.microsoft.com/office/powerpoint/2010/main" val="317597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Python programming, Operators in general are used to perform operations on values and variables. These are standard symbols used for logical and arithmetic operations. In this article, we will look into different types of </a:t>
            </a:r>
            <a:r>
              <a:rPr lang="en-US" b="1" dirty="0"/>
              <a:t>Python operators. </a:t>
            </a:r>
          </a:p>
          <a:p>
            <a:pPr>
              <a:buNone/>
            </a:pPr>
            <a:endParaRPr lang="en-US" b="1" dirty="0"/>
          </a:p>
          <a:p>
            <a:pPr marL="171450" indent="-171450"/>
            <a:r>
              <a:rPr lang="en-US" dirty="0"/>
              <a:t>OPERATORS: These are the special symbols. </a:t>
            </a:r>
            <a:r>
              <a:rPr lang="en-US" dirty="0" err="1"/>
              <a:t>Eg</a:t>
            </a:r>
            <a:r>
              <a:rPr lang="en-US" dirty="0"/>
              <a:t>- + , * , /, etc.</a:t>
            </a:r>
          </a:p>
          <a:p>
            <a:pPr marL="171450" indent="-171450"/>
            <a:r>
              <a:rPr lang="en-US" dirty="0"/>
              <a:t>OPERAND: It is the value on which the operator is applied.</a:t>
            </a:r>
          </a:p>
          <a:p>
            <a:pPr>
              <a:buNone/>
            </a:pPr>
            <a:endParaRPr lang="en-US" b="1" dirty="0"/>
          </a:p>
        </p:txBody>
      </p:sp>
    </p:spTree>
    <p:extLst>
      <p:ext uri="{BB962C8B-B14F-4D97-AF65-F5344CB8AC3E}">
        <p14:creationId xmlns:p14="http://schemas.microsoft.com/office/powerpoint/2010/main" val="2393040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Kindly ask students to do this activity on their notebook (running notes) itself. The will come up with different answers and you can verify.</a:t>
            </a:r>
          </a:p>
          <a:p>
            <a:pPr marL="158750" indent="0">
              <a:buNone/>
            </a:pPr>
            <a:endParaRPr lang="en-US" dirty="0"/>
          </a:p>
          <a:p>
            <a:pPr marL="158750" indent="0">
              <a:buNone/>
            </a:pPr>
            <a:endParaRPr lang="en-US" dirty="0"/>
          </a:p>
          <a:p>
            <a:pPr marL="158750" indent="0">
              <a:buNone/>
            </a:pPr>
            <a:r>
              <a:rPr lang="en-US" dirty="0"/>
              <a:t>Answer1: </a:t>
            </a:r>
          </a:p>
          <a:p>
            <a:pPr marL="158750" indent="0">
              <a:buNone/>
            </a:pPr>
            <a:endParaRPr lang="en-US" dirty="0"/>
          </a:p>
          <a:p>
            <a:pPr marL="158750" indent="0">
              <a:buNone/>
            </a:pPr>
            <a:r>
              <a:rPr lang="fr-FR" dirty="0"/>
              <a:t>profit_q1 = 50000</a:t>
            </a:r>
          </a:p>
          <a:p>
            <a:pPr marL="158750" indent="0">
              <a:buNone/>
            </a:pPr>
            <a:r>
              <a:rPr lang="fr-FR" dirty="0"/>
              <a:t>profit_q2 = 75000</a:t>
            </a:r>
          </a:p>
          <a:p>
            <a:pPr marL="158750" indent="0">
              <a:buNone/>
            </a:pPr>
            <a:r>
              <a:rPr lang="fr-FR" dirty="0"/>
              <a:t>profit_q3 = 60000</a:t>
            </a:r>
          </a:p>
          <a:p>
            <a:pPr marL="158750" indent="0">
              <a:buNone/>
            </a:pPr>
            <a:r>
              <a:rPr lang="fr-FR" dirty="0"/>
              <a:t>profit_q4 = 65000</a:t>
            </a:r>
          </a:p>
          <a:p>
            <a:pPr marL="158750" indent="0">
              <a:buNone/>
            </a:pPr>
            <a:r>
              <a:rPr lang="fr-FR" dirty="0" err="1"/>
              <a:t>total_profit</a:t>
            </a:r>
            <a:r>
              <a:rPr lang="fr-FR" dirty="0"/>
              <a:t> = profit_q1 + profit_q2 + profit_q3 + profit_q4</a:t>
            </a:r>
          </a:p>
          <a:p>
            <a:pPr marL="158750" indent="0">
              <a:buNone/>
            </a:pPr>
            <a:r>
              <a:rPr lang="fr-FR" dirty="0" err="1"/>
              <a:t>print</a:t>
            </a:r>
            <a:r>
              <a:rPr lang="fr-FR" dirty="0"/>
              <a:t>(</a:t>
            </a:r>
            <a:r>
              <a:rPr lang="fr-FR" dirty="0" err="1"/>
              <a:t>total_profit</a:t>
            </a:r>
            <a:r>
              <a:rPr lang="fr-FR" dirty="0"/>
              <a:t>)  # Output: 250000</a:t>
            </a:r>
          </a:p>
          <a:p>
            <a:pPr marL="158750" indent="0">
              <a:buNone/>
            </a:pPr>
            <a:endParaRPr lang="en-IN" dirty="0"/>
          </a:p>
          <a:p>
            <a:pPr marL="158750" indent="0">
              <a:buNone/>
            </a:pPr>
            <a:r>
              <a:rPr lang="en-IN" dirty="0"/>
              <a:t>Answer 2: </a:t>
            </a:r>
          </a:p>
          <a:p>
            <a:pPr marL="158750" indent="0">
              <a:buNone/>
            </a:pPr>
            <a:endParaRPr lang="en-IN" dirty="0"/>
          </a:p>
          <a:p>
            <a:pPr marL="158750" indent="0">
              <a:buNone/>
            </a:pPr>
            <a:r>
              <a:rPr lang="en-US" dirty="0"/>
              <a:t>password = "Secure123"</a:t>
            </a:r>
          </a:p>
          <a:p>
            <a:pPr marL="158750" indent="0">
              <a:buNone/>
            </a:pPr>
            <a:r>
              <a:rPr lang="en-US" dirty="0" err="1"/>
              <a:t>is_valid_length</a:t>
            </a:r>
            <a:r>
              <a:rPr lang="en-US" dirty="0"/>
              <a:t> = </a:t>
            </a:r>
            <a:r>
              <a:rPr lang="en-US" dirty="0" err="1"/>
              <a:t>len</a:t>
            </a:r>
            <a:r>
              <a:rPr lang="en-US" dirty="0"/>
              <a:t>(password) &gt;= 8</a:t>
            </a:r>
          </a:p>
          <a:p>
            <a:pPr marL="158750" indent="0">
              <a:buNone/>
            </a:pPr>
            <a:r>
              <a:rPr lang="en-US" dirty="0"/>
              <a:t>print(</a:t>
            </a:r>
            <a:r>
              <a:rPr lang="en-US" dirty="0" err="1"/>
              <a:t>is_valid_length</a:t>
            </a:r>
            <a:r>
              <a:rPr lang="en-US" dirty="0"/>
              <a:t>)  # Output: True</a:t>
            </a:r>
          </a:p>
          <a:p>
            <a:pPr marL="158750" indent="0">
              <a:buNone/>
            </a:pPr>
            <a:endParaRPr lang="en-IN" dirty="0"/>
          </a:p>
          <a:p>
            <a:pPr marL="158750" indent="0">
              <a:buNone/>
            </a:pPr>
            <a:r>
              <a:rPr lang="en-IN" dirty="0"/>
              <a:t>Answer3: </a:t>
            </a:r>
          </a:p>
          <a:p>
            <a:pPr marL="158750" indent="0">
              <a:buNone/>
            </a:pPr>
            <a:r>
              <a:rPr lang="en-US" dirty="0"/>
              <a:t>name = "Alice"</a:t>
            </a:r>
          </a:p>
          <a:p>
            <a:pPr marL="158750" indent="0">
              <a:buNone/>
            </a:pPr>
            <a:r>
              <a:rPr lang="en-US" dirty="0" err="1"/>
              <a:t>math_score</a:t>
            </a:r>
            <a:r>
              <a:rPr lang="en-US" dirty="0"/>
              <a:t> = 85</a:t>
            </a:r>
          </a:p>
          <a:p>
            <a:pPr marL="158750" indent="0">
              <a:buNone/>
            </a:pPr>
            <a:r>
              <a:rPr lang="en-US" dirty="0" err="1"/>
              <a:t>science_score</a:t>
            </a:r>
            <a:r>
              <a:rPr lang="en-US" dirty="0"/>
              <a:t> = 90</a:t>
            </a:r>
          </a:p>
          <a:p>
            <a:pPr marL="158750" indent="0">
              <a:buNone/>
            </a:pPr>
            <a:r>
              <a:rPr lang="en-US" dirty="0"/>
              <a:t>result = f"{name} scored {</a:t>
            </a:r>
            <a:r>
              <a:rPr lang="en-US" dirty="0" err="1"/>
              <a:t>math_score</a:t>
            </a:r>
            <a:r>
              <a:rPr lang="en-US" dirty="0"/>
              <a:t>} in Math and {</a:t>
            </a:r>
            <a:r>
              <a:rPr lang="en-US" dirty="0" err="1"/>
              <a:t>science_score</a:t>
            </a:r>
            <a:r>
              <a:rPr lang="en-US" dirty="0"/>
              <a:t>} in Science."</a:t>
            </a:r>
          </a:p>
          <a:p>
            <a:pPr marL="158750" indent="0">
              <a:buNone/>
            </a:pPr>
            <a:r>
              <a:rPr lang="en-US" dirty="0"/>
              <a:t>print(result)  # Output: Alice scored 85 in Math and 90 in Science.</a:t>
            </a:r>
          </a:p>
          <a:p>
            <a:pPr marL="158750" indent="0">
              <a:buNone/>
            </a:pPr>
            <a:endParaRPr lang="en-IN" dirty="0"/>
          </a:p>
          <a:p>
            <a:pPr marL="158750" indent="0">
              <a:buNone/>
            </a:pPr>
            <a:r>
              <a:rPr lang="en-IN" dirty="0"/>
              <a:t>Answer4: </a:t>
            </a:r>
          </a:p>
          <a:p>
            <a:pPr marL="158750" indent="0">
              <a:buNone/>
            </a:pPr>
            <a:r>
              <a:rPr lang="en-US" dirty="0" err="1"/>
              <a:t>price_per_notebook</a:t>
            </a:r>
            <a:r>
              <a:rPr lang="en-US" dirty="0"/>
              <a:t> = 45</a:t>
            </a:r>
          </a:p>
          <a:p>
            <a:pPr marL="158750" indent="0">
              <a:buNone/>
            </a:pPr>
            <a:r>
              <a:rPr lang="en-US" dirty="0" err="1"/>
              <a:t>number_of_notebooks</a:t>
            </a:r>
            <a:r>
              <a:rPr lang="en-US" dirty="0"/>
              <a:t> = 8</a:t>
            </a:r>
          </a:p>
          <a:p>
            <a:pPr marL="158750" indent="0">
              <a:buNone/>
            </a:pPr>
            <a:r>
              <a:rPr lang="en-US" dirty="0" err="1"/>
              <a:t>total_cost</a:t>
            </a:r>
            <a:r>
              <a:rPr lang="en-US" dirty="0"/>
              <a:t> = </a:t>
            </a:r>
            <a:r>
              <a:rPr lang="en-US" dirty="0" err="1"/>
              <a:t>price_per_notebook</a:t>
            </a:r>
            <a:r>
              <a:rPr lang="en-US" dirty="0"/>
              <a:t> * </a:t>
            </a:r>
            <a:r>
              <a:rPr lang="en-US" dirty="0" err="1"/>
              <a:t>number_of_notebooks</a:t>
            </a:r>
            <a:endParaRPr lang="en-US" dirty="0"/>
          </a:p>
          <a:p>
            <a:pPr marL="158750" indent="0">
              <a:buNone/>
            </a:pPr>
            <a:r>
              <a:rPr lang="en-US" dirty="0" err="1"/>
              <a:t>amount_given</a:t>
            </a:r>
            <a:r>
              <a:rPr lang="en-US" dirty="0"/>
              <a:t> = 500</a:t>
            </a:r>
          </a:p>
          <a:p>
            <a:pPr marL="158750" indent="0">
              <a:buNone/>
            </a:pPr>
            <a:r>
              <a:rPr lang="en-US" dirty="0"/>
              <a:t>change = </a:t>
            </a:r>
            <a:r>
              <a:rPr lang="en-US" dirty="0" err="1"/>
              <a:t>amount_given</a:t>
            </a:r>
            <a:r>
              <a:rPr lang="en-US" dirty="0"/>
              <a:t> - </a:t>
            </a:r>
            <a:r>
              <a:rPr lang="en-US" dirty="0" err="1"/>
              <a:t>total_cost</a:t>
            </a:r>
            <a:endParaRPr lang="en-US" dirty="0"/>
          </a:p>
          <a:p>
            <a:pPr marL="158750" indent="0">
              <a:buNone/>
            </a:pPr>
            <a:r>
              <a:rPr lang="en-US" dirty="0"/>
              <a:t>print(change)  # Output: 140</a:t>
            </a:r>
          </a:p>
          <a:p>
            <a:pPr marL="158750" indent="0">
              <a:buNone/>
            </a:pPr>
            <a:endParaRPr lang="en-IN" dirty="0"/>
          </a:p>
        </p:txBody>
      </p:sp>
    </p:spTree>
    <p:extLst>
      <p:ext uri="{BB962C8B-B14F-4D97-AF65-F5344CB8AC3E}">
        <p14:creationId xmlns:p14="http://schemas.microsoft.com/office/powerpoint/2010/main" val="1890370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 Exploring Python Operators: A Hands-On Lab</a:t>
            </a:r>
            <a:endParaRPr lang="en-US" dirty="0"/>
          </a:p>
          <a:p>
            <a:pPr algn="ctr">
              <a:buNone/>
            </a:pPr>
            <a:r>
              <a:rPr lang="en-US" b="1" dirty="0"/>
              <a:t>Solution: </a:t>
            </a:r>
            <a:r>
              <a:rPr lang="en-US" b="1" i="1" dirty="0">
                <a:hlinkClick r:id="rId3">
                  <a:extLst>
                    <a:ext uri="{A12FA001-AC4F-418D-AE19-62706E023703}">
                      <ahyp:hlinkClr xmlns:ahyp="http://schemas.microsoft.com/office/drawing/2018/hyperlinkcolor" val="tx"/>
                    </a:ext>
                  </a:extLst>
                </a:hlinkClick>
              </a:rPr>
              <a:t>GitHub Link</a:t>
            </a:r>
            <a:endParaRPr lang="en-US" dirty="0"/>
          </a:p>
          <a:p>
            <a:pPr>
              <a:buNone/>
            </a:pPr>
            <a:endParaRPr lang="en-US" dirty="0">
              <a:latin typeface="Calibri"/>
              <a:cs typeface="Calibri"/>
            </a:endParaRP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25</a:t>
            </a:fld>
            <a:endParaRPr lang="en-IN"/>
          </a:p>
        </p:txBody>
      </p:sp>
    </p:spTree>
    <p:extLst>
      <p:ext uri="{BB962C8B-B14F-4D97-AF65-F5344CB8AC3E}">
        <p14:creationId xmlns:p14="http://schemas.microsoft.com/office/powerpoint/2010/main" val="17432135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None/>
            </a:pPr>
            <a:endParaRPr lang="en-US" dirty="0"/>
          </a:p>
          <a:p>
            <a:pPr marL="0" indent="0" algn="ctr">
              <a:buNone/>
            </a:pPr>
            <a:r>
              <a:rPr lang="en-US" b="1" dirty="0" err="1"/>
              <a:t>Self_Practice</a:t>
            </a:r>
            <a:r>
              <a:rPr lang="en-US" b="1" dirty="0"/>
              <a:t>: Write a Python program to demonstrate variables, data types, and operators</a:t>
            </a:r>
            <a:endParaRPr lang="en-US" dirty="0"/>
          </a:p>
          <a:p>
            <a:pPr marL="0" indent="0" algn="ctr">
              <a:buNone/>
            </a:pPr>
            <a:endParaRPr lang="en-US" dirty="0"/>
          </a:p>
          <a:p>
            <a:pPr algn="ctr">
              <a:buNone/>
            </a:pPr>
            <a:r>
              <a:rPr lang="en-US" b="1" dirty="0"/>
              <a:t>Solution: </a:t>
            </a:r>
            <a:r>
              <a:rPr lang="en-US" b="1" dirty="0">
                <a:hlinkClick r:id="rId3">
                  <a:extLst>
                    <a:ext uri="{A12FA001-AC4F-418D-AE19-62706E023703}">
                      <ahyp:hlinkClr xmlns:ahyp="http://schemas.microsoft.com/office/drawing/2018/hyperlinkcolor" val="tx"/>
                    </a:ext>
                  </a:extLst>
                </a:hlinkClick>
              </a:rPr>
              <a:t>GitHub Link</a:t>
            </a:r>
            <a:endParaRPr lang="en-US" dirty="0"/>
          </a:p>
          <a:p>
            <a:pPr marL="0" indent="0" algn="ctr">
              <a:buNone/>
            </a:pPr>
            <a:endParaRPr lang="en-US" dirty="0"/>
          </a:p>
          <a:p>
            <a:pPr>
              <a:buNone/>
            </a:pPr>
            <a:endParaRPr lang="en-US" dirty="0">
              <a:latin typeface="Calibri"/>
              <a:cs typeface="Calibri"/>
            </a:endParaRP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26</a:t>
            </a:fld>
            <a:endParaRPr lang="en-IN"/>
          </a:p>
        </p:txBody>
      </p:sp>
    </p:spTree>
    <p:extLst>
      <p:ext uri="{BB962C8B-B14F-4D97-AF65-F5344CB8AC3E}">
        <p14:creationId xmlns:p14="http://schemas.microsoft.com/office/powerpoint/2010/main" val="2113092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just">
              <a:buFont typeface="Arial,Sans-Serif"/>
              <a:buChar char="•"/>
            </a:pPr>
            <a:r>
              <a:rPr lang="en-US" dirty="0"/>
              <a:t>In Python, Using the input() function, we take input from a user, and using the print() function, we display output on the screen. </a:t>
            </a:r>
          </a:p>
          <a:p>
            <a:pPr marL="285750" indent="-285750" algn="just">
              <a:buFont typeface="Arial,Sans-Serif"/>
              <a:buChar char="•"/>
            </a:pPr>
            <a:endParaRPr lang="en-US" dirty="0"/>
          </a:p>
          <a:p>
            <a:pPr marL="285750" indent="-285750" algn="just">
              <a:buFont typeface="Arial,Sans-Serif"/>
              <a:buChar char="•"/>
            </a:pPr>
            <a:r>
              <a:rPr lang="en-US" dirty="0"/>
              <a:t>Using the input() function, users can give any information to the application in the strings or numbers format.</a:t>
            </a:r>
          </a:p>
          <a:p>
            <a:pPr>
              <a:buNone/>
            </a:pPr>
            <a:endParaRPr lang="en-US" dirty="0">
              <a:latin typeface="Calibri"/>
              <a:cs typeface="Calibri"/>
            </a:endParaRPr>
          </a:p>
        </p:txBody>
      </p:sp>
    </p:spTree>
    <p:extLst>
      <p:ext uri="{BB962C8B-B14F-4D97-AF65-F5344CB8AC3E}">
        <p14:creationId xmlns:p14="http://schemas.microsoft.com/office/powerpoint/2010/main" val="2760768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Answer1:</a:t>
            </a:r>
          </a:p>
          <a:p>
            <a:pPr marL="158750" indent="0">
              <a:buNone/>
            </a:pPr>
            <a:r>
              <a:rPr lang="en-US" dirty="0"/>
              <a:t>height = float(input("Enter your height in meters: "))</a:t>
            </a:r>
          </a:p>
          <a:p>
            <a:pPr marL="158750" indent="0">
              <a:buNone/>
            </a:pPr>
            <a:r>
              <a:rPr lang="en-US" dirty="0"/>
              <a:t>weight = float(input("Enter your weight in kilograms: "))</a:t>
            </a:r>
          </a:p>
          <a:p>
            <a:pPr marL="158750" indent="0">
              <a:buNone/>
            </a:pPr>
            <a:r>
              <a:rPr lang="en-US" dirty="0" err="1"/>
              <a:t>bmi</a:t>
            </a:r>
            <a:r>
              <a:rPr lang="en-US" dirty="0"/>
              <a:t> = weight / (height ** 2)</a:t>
            </a:r>
          </a:p>
          <a:p>
            <a:pPr marL="158750" indent="0">
              <a:buNone/>
            </a:pPr>
            <a:r>
              <a:rPr lang="en-US" dirty="0"/>
              <a:t>print(</a:t>
            </a:r>
            <a:r>
              <a:rPr lang="en-US" dirty="0" err="1"/>
              <a:t>f"Your</a:t>
            </a:r>
            <a:r>
              <a:rPr lang="en-US" dirty="0"/>
              <a:t> BMI is {bmi:.2f}")</a:t>
            </a:r>
          </a:p>
          <a:p>
            <a:pPr marL="158750" indent="0">
              <a:buNone/>
            </a:pPr>
            <a:endParaRPr lang="en-US" dirty="0"/>
          </a:p>
          <a:p>
            <a:pPr marL="158750" indent="0">
              <a:buNone/>
            </a:pPr>
            <a:r>
              <a:rPr lang="en-IN" dirty="0"/>
              <a:t>Answer2:</a:t>
            </a:r>
          </a:p>
          <a:p>
            <a:pPr marL="158750" indent="0">
              <a:buNone/>
            </a:pPr>
            <a:r>
              <a:rPr lang="en-US" dirty="0"/>
              <a:t>number1 = float(input("Enter the first number: "))</a:t>
            </a:r>
          </a:p>
          <a:p>
            <a:pPr marL="158750" indent="0">
              <a:buNone/>
            </a:pPr>
            <a:r>
              <a:rPr lang="en-US" dirty="0"/>
              <a:t>number2 = float(input("Enter the second number: "))</a:t>
            </a:r>
          </a:p>
          <a:p>
            <a:pPr marL="158750" indent="0">
              <a:buNone/>
            </a:pPr>
            <a:r>
              <a:rPr lang="en-US" dirty="0" err="1"/>
              <a:t>sum_numbers</a:t>
            </a:r>
            <a:r>
              <a:rPr lang="en-US" dirty="0"/>
              <a:t> = number1 + number2</a:t>
            </a:r>
          </a:p>
          <a:p>
            <a:pPr marL="158750" indent="0">
              <a:buNone/>
            </a:pPr>
            <a:r>
              <a:rPr lang="en-US" dirty="0"/>
              <a:t>print(</a:t>
            </a:r>
            <a:r>
              <a:rPr lang="en-US" dirty="0" err="1"/>
              <a:t>f"The</a:t>
            </a:r>
            <a:r>
              <a:rPr lang="en-US" dirty="0"/>
              <a:t> sum of {number1} and {number2} is {</a:t>
            </a:r>
            <a:r>
              <a:rPr lang="en-US" dirty="0" err="1"/>
              <a:t>sum_numbers</a:t>
            </a:r>
            <a:r>
              <a:rPr lang="en-US" dirty="0"/>
              <a:t>}.")</a:t>
            </a:r>
          </a:p>
          <a:p>
            <a:pPr marL="158750" indent="0">
              <a:buNone/>
            </a:pPr>
            <a:endParaRPr lang="en-IN" dirty="0"/>
          </a:p>
        </p:txBody>
      </p:sp>
    </p:spTree>
    <p:extLst>
      <p:ext uri="{BB962C8B-B14F-4D97-AF65-F5344CB8AC3E}">
        <p14:creationId xmlns:p14="http://schemas.microsoft.com/office/powerpoint/2010/main" val="2324149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 String is a data structure in Python Programming that represents a sequence of characters. It is an immutable data type, meaning that once you have created a string, you cannot change it. Python String are used widely in many different applications, such as storing and manipulating text data, representing names, addresses, and other types of data that can be represented as text.</a:t>
            </a:r>
          </a:p>
        </p:txBody>
      </p:sp>
    </p:spTree>
    <p:extLst>
      <p:ext uri="{BB962C8B-B14F-4D97-AF65-F5344CB8AC3E}">
        <p14:creationId xmlns:p14="http://schemas.microsoft.com/office/powerpoint/2010/main" val="4115207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Accessing characters in Python String</a:t>
            </a:r>
          </a:p>
          <a:p>
            <a:pPr>
              <a:buNone/>
            </a:pPr>
            <a:r>
              <a:rPr lang="en-US" dirty="0"/>
              <a:t>In Python Programming tutorials, individual characters of a String can be accessed by using the method of Indexing. Indexing allows negative address references to access characters from the back of the String, e.g. -1 refers to the last character, -2 refers to the second last character, and so on. </a:t>
            </a:r>
          </a:p>
          <a:p>
            <a:pPr>
              <a:buNone/>
            </a:pPr>
            <a:r>
              <a:rPr lang="en-US" dirty="0"/>
              <a:t>While accessing an index out of the range will cause an </a:t>
            </a:r>
            <a:r>
              <a:rPr lang="en-US" b="1" dirty="0" err="1"/>
              <a:t>IndexError</a:t>
            </a:r>
            <a:r>
              <a:rPr lang="en-US" dirty="0"/>
              <a:t>. Only Integers are allowed to be passed as an index, float or other types that will cause a </a:t>
            </a:r>
            <a:r>
              <a:rPr lang="en-US" b="1" dirty="0" err="1"/>
              <a:t>TypeError</a:t>
            </a:r>
            <a:r>
              <a:rPr lang="en-US" dirty="0"/>
              <a:t>.</a:t>
            </a:r>
          </a:p>
          <a:p>
            <a:pPr>
              <a:buNone/>
            </a:pPr>
            <a:endParaRPr lang="en-US" dirty="0"/>
          </a:p>
          <a:p>
            <a:pPr>
              <a:buNone/>
            </a:pPr>
            <a:endParaRPr lang="en-US" dirty="0"/>
          </a:p>
          <a:p>
            <a:pPr>
              <a:buNone/>
            </a:pPr>
            <a:endParaRPr lang="en-US" dirty="0">
              <a:latin typeface="Calibri"/>
              <a:cs typeface="Calibri"/>
            </a:endParaRPr>
          </a:p>
        </p:txBody>
      </p:sp>
    </p:spTree>
    <p:extLst>
      <p:ext uri="{BB962C8B-B14F-4D97-AF65-F5344CB8AC3E}">
        <p14:creationId xmlns:p14="http://schemas.microsoft.com/office/powerpoint/2010/main" val="1119749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Answer2:</a:t>
            </a:r>
          </a:p>
          <a:p>
            <a:pPr marL="158750" indent="0">
              <a:buNone/>
            </a:pPr>
            <a:endParaRPr lang="en-US" dirty="0"/>
          </a:p>
          <a:p>
            <a:pPr marL="158750" indent="0">
              <a:buNone/>
            </a:pPr>
            <a:r>
              <a:rPr lang="en-US" dirty="0"/>
              <a:t>sentence = "Python programming is fun"</a:t>
            </a:r>
          </a:p>
          <a:p>
            <a:pPr marL="158750" indent="0">
              <a:buNone/>
            </a:pPr>
            <a:r>
              <a:rPr lang="en-US" dirty="0" err="1"/>
              <a:t>every_second_char</a:t>
            </a:r>
            <a:r>
              <a:rPr lang="en-US" dirty="0"/>
              <a:t> = sentence[::2]</a:t>
            </a:r>
          </a:p>
          <a:p>
            <a:pPr marL="158750" indent="0">
              <a:buNone/>
            </a:pPr>
            <a:r>
              <a:rPr lang="en-US" dirty="0"/>
              <a:t>print(</a:t>
            </a:r>
            <a:r>
              <a:rPr lang="en-US" dirty="0" err="1"/>
              <a:t>every_second_char</a:t>
            </a:r>
            <a:r>
              <a:rPr lang="en-US" dirty="0"/>
              <a:t>)  # Output: </a:t>
            </a:r>
            <a:r>
              <a:rPr lang="en-US" dirty="0" err="1"/>
              <a:t>Pto</a:t>
            </a:r>
            <a:r>
              <a:rPr lang="en-US" dirty="0"/>
              <a:t> </a:t>
            </a:r>
            <a:r>
              <a:rPr lang="en-US" dirty="0" err="1"/>
              <a:t>rgamn</a:t>
            </a:r>
            <a:r>
              <a:rPr lang="en-US" dirty="0"/>
              <a:t> </a:t>
            </a:r>
            <a:r>
              <a:rPr lang="en-US" dirty="0" err="1"/>
              <a:t>sfn</a:t>
            </a:r>
            <a:endParaRPr lang="en-US" dirty="0"/>
          </a:p>
          <a:p>
            <a:pPr marL="158750" indent="0">
              <a:buNone/>
            </a:pPr>
            <a:endParaRPr lang="en-US" dirty="0"/>
          </a:p>
          <a:p>
            <a:pPr marL="158750" indent="0">
              <a:buNone/>
            </a:pPr>
            <a:endParaRPr lang="en-US" dirty="0"/>
          </a:p>
          <a:p>
            <a:pPr marL="158750" indent="0">
              <a:buNone/>
            </a:pPr>
            <a:r>
              <a:rPr lang="en-US" dirty="0"/>
              <a:t>Answer3:</a:t>
            </a:r>
          </a:p>
          <a:p>
            <a:pPr marL="158750" indent="0">
              <a:buNone/>
            </a:pPr>
            <a:endParaRPr lang="en-US" dirty="0"/>
          </a:p>
          <a:p>
            <a:pPr marL="158750" indent="0">
              <a:buNone/>
            </a:pPr>
            <a:r>
              <a:rPr lang="en-US" dirty="0"/>
              <a:t>phrase = "Data Science is awesome!"</a:t>
            </a:r>
          </a:p>
          <a:p>
            <a:pPr marL="158750" indent="0">
              <a:buNone/>
            </a:pPr>
            <a:r>
              <a:rPr lang="en-US" dirty="0" err="1"/>
              <a:t>new_phrase</a:t>
            </a:r>
            <a:r>
              <a:rPr lang="en-US" dirty="0"/>
              <a:t> = </a:t>
            </a:r>
            <a:r>
              <a:rPr lang="en-US" dirty="0" err="1"/>
              <a:t>phrase.replace</a:t>
            </a:r>
            <a:r>
              <a:rPr lang="en-US" dirty="0"/>
              <a:t>("awesome", "amazing")</a:t>
            </a:r>
          </a:p>
          <a:p>
            <a:pPr marL="158750" indent="0">
              <a:buNone/>
            </a:pPr>
            <a:r>
              <a:rPr lang="en-US" dirty="0"/>
              <a:t>print(</a:t>
            </a:r>
            <a:r>
              <a:rPr lang="en-US" dirty="0" err="1"/>
              <a:t>new_phrase</a:t>
            </a:r>
            <a:r>
              <a:rPr lang="en-US" dirty="0"/>
              <a:t>)  # Output: Data Science is amazing!</a:t>
            </a:r>
          </a:p>
          <a:p>
            <a:pPr marL="158750" indent="0">
              <a:buNone/>
            </a:pPr>
            <a:endParaRPr lang="en-US" dirty="0"/>
          </a:p>
          <a:p>
            <a:pPr marL="158750" indent="0">
              <a:buNone/>
            </a:pPr>
            <a:endParaRPr lang="en-US" dirty="0"/>
          </a:p>
          <a:p>
            <a:pPr marL="158750" indent="0">
              <a:buNone/>
            </a:pPr>
            <a:r>
              <a:rPr lang="en-US" dirty="0"/>
              <a:t>Answer 4:</a:t>
            </a:r>
          </a:p>
          <a:p>
            <a:pPr marL="158750" indent="0">
              <a:buNone/>
            </a:pPr>
            <a:endParaRPr lang="en-US" dirty="0"/>
          </a:p>
          <a:p>
            <a:pPr marL="158750" indent="0">
              <a:buNone/>
            </a:pPr>
            <a:r>
              <a:rPr lang="en-US" dirty="0" err="1"/>
              <a:t>url</a:t>
            </a:r>
            <a:r>
              <a:rPr lang="en-US" dirty="0"/>
              <a:t> = "https://www.example.com"</a:t>
            </a:r>
          </a:p>
          <a:p>
            <a:pPr marL="158750" indent="0">
              <a:buNone/>
            </a:pPr>
            <a:r>
              <a:rPr lang="en-US" dirty="0" err="1"/>
              <a:t>clean_url</a:t>
            </a:r>
            <a:r>
              <a:rPr lang="en-US" dirty="0"/>
              <a:t> = </a:t>
            </a:r>
            <a:r>
              <a:rPr lang="en-US" dirty="0" err="1"/>
              <a:t>url</a:t>
            </a:r>
            <a:r>
              <a:rPr lang="en-US" dirty="0"/>
              <a:t>[8:]  # Removing "https://"</a:t>
            </a:r>
          </a:p>
          <a:p>
            <a:pPr marL="158750" indent="0">
              <a:buNone/>
            </a:pPr>
            <a:r>
              <a:rPr lang="en-US" dirty="0"/>
              <a:t>print(</a:t>
            </a:r>
            <a:r>
              <a:rPr lang="en-US" dirty="0" err="1"/>
              <a:t>clean_url</a:t>
            </a:r>
            <a:r>
              <a:rPr lang="en-US" dirty="0"/>
              <a:t>)  # Output: www.example.com</a:t>
            </a:r>
          </a:p>
          <a:p>
            <a:pPr marL="158750" indent="0">
              <a:buNone/>
            </a:pPr>
            <a:endParaRPr lang="en-US" dirty="0"/>
          </a:p>
        </p:txBody>
      </p:sp>
    </p:spTree>
    <p:extLst>
      <p:ext uri="{BB962C8B-B14F-4D97-AF65-F5344CB8AC3E}">
        <p14:creationId xmlns:p14="http://schemas.microsoft.com/office/powerpoint/2010/main" val="168814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 Hands-On with Python Strings and String Methods</a:t>
            </a:r>
            <a:endParaRPr lang="en-US" dirty="0"/>
          </a:p>
          <a:p>
            <a:pPr algn="ctr">
              <a:buNone/>
            </a:pPr>
            <a:r>
              <a:rPr lang="en-US" b="1" dirty="0"/>
              <a:t>Solution: </a:t>
            </a:r>
            <a:r>
              <a:rPr lang="en-US" b="1" i="1" dirty="0">
                <a:hlinkClick r:id="rId3">
                  <a:extLst>
                    <a:ext uri="{A12FA001-AC4F-418D-AE19-62706E023703}">
                      <ahyp:hlinkClr xmlns:ahyp="http://schemas.microsoft.com/office/drawing/2018/hyperlinkcolor" val="tx"/>
                    </a:ext>
                  </a:extLst>
                </a:hlinkClick>
              </a:rPr>
              <a:t>GitHub Link</a:t>
            </a:r>
            <a:endParaRPr lang="en-US" dirty="0"/>
          </a:p>
          <a:p>
            <a:pPr>
              <a:buNone/>
            </a:pPr>
            <a:endParaRPr lang="en-US" dirty="0">
              <a:latin typeface="Calibri"/>
              <a:cs typeface="Calibri"/>
            </a:endParaRP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32</a:t>
            </a:fld>
            <a:endParaRPr lang="en-IN"/>
          </a:p>
        </p:txBody>
      </p:sp>
    </p:spTree>
    <p:extLst>
      <p:ext uri="{BB962C8B-B14F-4D97-AF65-F5344CB8AC3E}">
        <p14:creationId xmlns:p14="http://schemas.microsoft.com/office/powerpoint/2010/main" val="2789211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Different types of Data Structures in Python : </a:t>
            </a:r>
            <a:endParaRPr lang="en-US"/>
          </a:p>
          <a:p>
            <a:endParaRPr lang="en-US"/>
          </a:p>
          <a:p>
            <a:pPr marL="158750" indent="0">
              <a:buNone/>
            </a:pPr>
            <a:r>
              <a:rPr lang="en-US"/>
              <a:t>In Python, there are several built-in and commonly used data structures. Here's an overview of some of the most important ones:</a:t>
            </a:r>
          </a:p>
          <a:p>
            <a:pPr>
              <a:buFont typeface="+mj-lt"/>
              <a:buAutoNum type="arabicPeriod"/>
            </a:pPr>
            <a:r>
              <a:rPr lang="en-US" b="1"/>
              <a:t>Lists</a:t>
            </a:r>
            <a:r>
              <a:rPr lang="en-US"/>
              <a:t>: Lists are ordered collections of items, which can be of any data type. They are mutable, meaning their elements can be changed after creation. Lists are defined using square brackets []. Example: </a:t>
            </a:r>
            <a:r>
              <a:rPr lang="en-US" err="1"/>
              <a:t>my_list</a:t>
            </a:r>
            <a:r>
              <a:rPr lang="en-US"/>
              <a:t> = [1, 2, 3, 'a', 'b', 'c’]. </a:t>
            </a:r>
          </a:p>
          <a:p>
            <a:pPr>
              <a:buFont typeface="+mj-lt"/>
              <a:buAutoNum type="arabicPeriod"/>
            </a:pPr>
            <a:endParaRPr lang="en-US"/>
          </a:p>
          <a:p>
            <a:pPr>
              <a:buFont typeface="+mj-lt"/>
              <a:buAutoNum type="arabicPeriod"/>
            </a:pPr>
            <a:r>
              <a:rPr lang="en-US" b="1"/>
              <a:t>Tuples</a:t>
            </a:r>
            <a:r>
              <a:rPr lang="en-US"/>
              <a:t>: Tuples are similar to lists, but they are immutable, meaning their elements cannot be changed after creation. Tuples are defined using parentheses (). Example: </a:t>
            </a:r>
            <a:r>
              <a:rPr lang="en-US" err="1"/>
              <a:t>my_tuple</a:t>
            </a:r>
            <a:r>
              <a:rPr lang="en-US"/>
              <a:t> = (1, 2, 3, 'a', 'b', 'c’).</a:t>
            </a:r>
          </a:p>
          <a:p>
            <a:pPr>
              <a:buFont typeface="+mj-lt"/>
              <a:buAutoNum type="arabicPeriod"/>
            </a:pPr>
            <a:endParaRPr lang="en-US"/>
          </a:p>
          <a:p>
            <a:pPr>
              <a:buFont typeface="+mj-lt"/>
              <a:buAutoNum type="arabicPeriod"/>
            </a:pPr>
            <a:r>
              <a:rPr lang="en-US" b="1"/>
              <a:t>Dictionaries</a:t>
            </a:r>
            <a:r>
              <a:rPr lang="en-US"/>
              <a:t>: Dictionaries are unordered collections of key-value pairs. They are indexed by unique keys and are highly efficient for lookups. Dictionaries are defined using curly braces {} with key-value pairs separated by colons :. Example: </a:t>
            </a:r>
            <a:r>
              <a:rPr lang="en-US" err="1"/>
              <a:t>my_dict</a:t>
            </a:r>
            <a:r>
              <a:rPr lang="en-US"/>
              <a:t> = {'name': 'John', 'age': 30, 'city': 'New York’}. </a:t>
            </a:r>
          </a:p>
          <a:p>
            <a:pPr>
              <a:buFont typeface="+mj-lt"/>
              <a:buAutoNum type="arabicPeriod"/>
            </a:pPr>
            <a:endParaRPr lang="en-US"/>
          </a:p>
          <a:p>
            <a:pPr>
              <a:buFont typeface="+mj-lt"/>
              <a:buAutoNum type="arabicPeriod"/>
            </a:pPr>
            <a:r>
              <a:rPr lang="en-US" b="1"/>
              <a:t>Sets</a:t>
            </a:r>
            <a:r>
              <a:rPr lang="en-US"/>
              <a:t>: Sets are unordered collections of unique elements. They are defined using curly braces {} or by using the set() constructor. Sets are particularly useful for removing duplicates from a collection or checking for membership. Example: </a:t>
            </a:r>
            <a:r>
              <a:rPr lang="en-US" err="1"/>
              <a:t>my_set</a:t>
            </a:r>
            <a:r>
              <a:rPr lang="en-US"/>
              <a:t> = {1, 2, 3, 4, 5}.</a:t>
            </a:r>
          </a:p>
          <a:p>
            <a:endParaRPr lang="en-IN"/>
          </a:p>
        </p:txBody>
      </p:sp>
      <p:sp>
        <p:nvSpPr>
          <p:cNvPr id="4" name="Slide Number Placeholder 3"/>
          <p:cNvSpPr>
            <a:spLocks noGrp="1"/>
          </p:cNvSpPr>
          <p:nvPr>
            <p:ph type="sldNum" sz="quarter" idx="5"/>
          </p:nvPr>
        </p:nvSpPr>
        <p:spPr/>
        <p:txBody>
          <a:bodyPr/>
          <a:lstStyle/>
          <a:p>
            <a:fld id="{F3065E4E-ABE4-4C79-8716-B93932D5FBD3}" type="slidenum">
              <a:rPr lang="en-IN" smtClean="0"/>
              <a:t>33</a:t>
            </a:fld>
            <a:endParaRPr lang="en-IN"/>
          </a:p>
        </p:txBody>
      </p:sp>
    </p:spTree>
    <p:extLst>
      <p:ext uri="{BB962C8B-B14F-4D97-AF65-F5344CB8AC3E}">
        <p14:creationId xmlns:p14="http://schemas.microsoft.com/office/powerpoint/2010/main" val="15771035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IN" b="1" dirty="0">
                <a:cs typeface="Calibri"/>
              </a:rPr>
              <a:t>Python List:-</a:t>
            </a:r>
            <a:endParaRPr lang="en-IN" dirty="0">
              <a:cs typeface="Calibri" panose="020F0502020204030204"/>
            </a:endParaRPr>
          </a:p>
          <a:p>
            <a:pPr marL="158750" indent="0">
              <a:buNone/>
            </a:pPr>
            <a:endParaRPr lang="en-IN" dirty="0"/>
          </a:p>
          <a:p>
            <a:pPr marL="158750" indent="0">
              <a:buNone/>
            </a:pPr>
            <a:r>
              <a:rPr lang="en-IN" dirty="0"/>
              <a:t>Most of our variables have one value in them - when we put a new value in the variable, the old value is overwritten</a:t>
            </a:r>
            <a:endParaRPr lang="en-IN" dirty="0">
              <a:cs typeface="Calibri" panose="020F0502020204030204"/>
            </a:endParaRPr>
          </a:p>
          <a:p>
            <a:pPr marL="158750" indent="0">
              <a:buNone/>
            </a:pPr>
            <a:r>
              <a:rPr lang="en-IN" dirty="0"/>
              <a:t>Ex: </a:t>
            </a:r>
          </a:p>
          <a:p>
            <a:pPr marL="158750" indent="0">
              <a:buNone/>
            </a:pPr>
            <a:r>
              <a:rPr lang="en-IN" dirty="0"/>
              <a:t>&gt;&gt;&gt; x = 2</a:t>
            </a:r>
          </a:p>
          <a:p>
            <a:pPr marL="158750" indent="0">
              <a:buNone/>
            </a:pPr>
            <a:r>
              <a:rPr lang="en-IN" dirty="0"/>
              <a:t>&gt;&gt;&gt; x = 4</a:t>
            </a:r>
          </a:p>
          <a:p>
            <a:pPr marL="158750" indent="0">
              <a:buNone/>
            </a:pPr>
            <a:r>
              <a:rPr lang="en-IN" dirty="0"/>
              <a:t>&gt;&gt;&gt; print(x)</a:t>
            </a:r>
          </a:p>
          <a:p>
            <a:pPr marL="158750" indent="0">
              <a:buNone/>
            </a:pPr>
            <a:r>
              <a:rPr lang="en-IN" dirty="0"/>
              <a:t>4</a:t>
            </a:r>
          </a:p>
          <a:p>
            <a:pPr marL="158750" indent="0">
              <a:buNone/>
            </a:pPr>
            <a:r>
              <a:rPr lang="en-IN" dirty="0"/>
              <a:t>List Constants</a:t>
            </a:r>
          </a:p>
          <a:p>
            <a:pPr marL="158750" indent="0">
              <a:buNone/>
            </a:pPr>
            <a:endParaRPr lang="en-IN" dirty="0"/>
          </a:p>
          <a:p>
            <a:pPr marL="0" indent="0" algn="just">
              <a:buNone/>
            </a:pPr>
            <a:r>
              <a:rPr lang="en-IN" sz="1200" dirty="0"/>
              <a:t>List constants are surrounded by square brackets and the elements in the list are separated by commas</a:t>
            </a:r>
          </a:p>
          <a:p>
            <a:pPr marL="0" indent="0" algn="just">
              <a:buNone/>
            </a:pPr>
            <a:r>
              <a:rPr lang="en-IN" sz="1200" dirty="0"/>
              <a:t>A list element can be any Python object - even another list</a:t>
            </a:r>
          </a:p>
          <a:p>
            <a:pPr marL="0" indent="0" algn="just">
              <a:buNone/>
            </a:pPr>
            <a:r>
              <a:rPr lang="en-IN" sz="1200" dirty="0"/>
              <a:t>A list can be empty</a:t>
            </a:r>
          </a:p>
          <a:p>
            <a:pPr marL="158750" indent="0">
              <a:buNone/>
            </a:pPr>
            <a:endParaRPr lang="en-IN" dirty="0"/>
          </a:p>
          <a:p>
            <a:pPr marL="158750" indent="0">
              <a:buNone/>
            </a:pPr>
            <a:r>
              <a:rPr lang="en-US" dirty="0"/>
              <a:t>Sequences</a:t>
            </a:r>
          </a:p>
          <a:p>
            <a:pPr marL="158750" indent="0">
              <a:buNone/>
            </a:pPr>
            <a:endParaRPr lang="en-US" dirty="0"/>
          </a:p>
          <a:p>
            <a:pPr marL="158750" indent="0">
              <a:buNone/>
            </a:pPr>
            <a:r>
              <a:rPr lang="en-US" dirty="0"/>
              <a:t>Sequence: an object that contains multiple items of data</a:t>
            </a:r>
          </a:p>
          <a:p>
            <a:pPr marL="158750" indent="0">
              <a:buNone/>
            </a:pPr>
            <a:r>
              <a:rPr lang="en-US" dirty="0"/>
              <a:t>The items are stored in sequence one after another</a:t>
            </a:r>
          </a:p>
          <a:p>
            <a:pPr marL="158750" indent="0">
              <a:buNone/>
            </a:pPr>
            <a:r>
              <a:rPr lang="en-US" dirty="0"/>
              <a:t>Python provides different types of sequences, including lists and tuples</a:t>
            </a:r>
          </a:p>
          <a:p>
            <a:pPr marL="158750" indent="0">
              <a:buNone/>
            </a:pPr>
            <a:r>
              <a:rPr lang="en-US" dirty="0"/>
              <a:t>The difference between these is that a list is mutable and a tuple is immutable</a:t>
            </a:r>
          </a:p>
          <a:p>
            <a:pPr marL="158750" indent="0">
              <a:buNone/>
            </a:pPr>
            <a:endParaRPr lang="en-US" dirty="0"/>
          </a:p>
          <a:p>
            <a:pPr marL="158750" indent="0">
              <a:buNone/>
            </a:pPr>
            <a:r>
              <a:rPr lang="en-US" dirty="0"/>
              <a:t> </a:t>
            </a:r>
          </a:p>
          <a:p>
            <a:pPr marL="158750" indent="0">
              <a:buNone/>
            </a:pPr>
            <a:r>
              <a:rPr lang="en-US" dirty="0"/>
              <a:t>Introduction to Lists</a:t>
            </a:r>
          </a:p>
          <a:p>
            <a:pPr marL="158750" indent="0">
              <a:buNone/>
            </a:pPr>
            <a:r>
              <a:rPr lang="en-US" dirty="0"/>
              <a:t>List: an object that contains multiple data items</a:t>
            </a:r>
          </a:p>
          <a:p>
            <a:pPr marL="158750" indent="0">
              <a:buNone/>
            </a:pPr>
            <a:r>
              <a:rPr lang="en-US" dirty="0"/>
              <a:t>Element: An item in a list</a:t>
            </a:r>
          </a:p>
          <a:p>
            <a:pPr marL="158750" indent="0">
              <a:buNone/>
            </a:pPr>
            <a:r>
              <a:rPr lang="en-US" dirty="0"/>
              <a:t>Format: list = [item1, item2, etc.]</a:t>
            </a:r>
          </a:p>
          <a:p>
            <a:pPr marL="158750" indent="0">
              <a:buNone/>
            </a:pPr>
            <a:r>
              <a:rPr lang="en-US" dirty="0"/>
              <a:t>Can hold items of different types</a:t>
            </a:r>
          </a:p>
          <a:p>
            <a:pPr marL="158750" indent="0">
              <a:buNone/>
            </a:pPr>
            <a:r>
              <a:rPr lang="en-US" dirty="0"/>
              <a:t>print function can be used to display an entire list</a:t>
            </a:r>
          </a:p>
          <a:p>
            <a:pPr marL="158750" indent="0">
              <a:buNone/>
            </a:pPr>
            <a:r>
              <a:rPr lang="en-US" dirty="0"/>
              <a:t>list() function can convert certain types of objects to lists</a:t>
            </a:r>
          </a:p>
          <a:p>
            <a:pPr marL="158750" indent="0">
              <a:buNone/>
            </a:pPr>
            <a:endParaRPr lang="en-US" dirty="0"/>
          </a:p>
          <a:p>
            <a:pPr marL="158750" indent="0">
              <a:buNone/>
            </a:pPr>
            <a:r>
              <a:rPr lang="en-US" dirty="0"/>
              <a:t>Repetition operator: makes multiple copies of a list and joins them together</a:t>
            </a:r>
          </a:p>
          <a:p>
            <a:pPr marL="158750" indent="0">
              <a:buNone/>
            </a:pPr>
            <a:r>
              <a:rPr lang="en-US" dirty="0"/>
              <a:t>The * symbol is a repetition operator when applied to a sequence and an integer</a:t>
            </a:r>
          </a:p>
          <a:p>
            <a:pPr marL="158750" indent="0">
              <a:buNone/>
            </a:pPr>
            <a:r>
              <a:rPr lang="en-US" dirty="0"/>
              <a:t>Sequence is left operand, number is right</a:t>
            </a:r>
          </a:p>
          <a:p>
            <a:pPr marL="158750" indent="0">
              <a:buNone/>
            </a:pPr>
            <a:r>
              <a:rPr lang="en-US" dirty="0"/>
              <a:t>General format: list * n</a:t>
            </a:r>
          </a:p>
          <a:p>
            <a:pPr marL="158750" indent="0">
              <a:buNone/>
            </a:pPr>
            <a:r>
              <a:rPr lang="en-US" dirty="0"/>
              <a:t>You can iterate over a list using a for loop</a:t>
            </a:r>
          </a:p>
          <a:p>
            <a:pPr marL="158750" indent="0">
              <a:buNone/>
            </a:pPr>
            <a:r>
              <a:rPr lang="en-US" dirty="0"/>
              <a:t>Format: for x in list:</a:t>
            </a:r>
          </a:p>
          <a:p>
            <a:pPr marL="158750" indent="0">
              <a:buNone/>
            </a:pPr>
            <a:endParaRPr lang="en-US" dirty="0"/>
          </a:p>
          <a:p>
            <a:pPr marL="158750" indent="0">
              <a:buNone/>
            </a:pPr>
            <a:r>
              <a:rPr lang="en-US" dirty="0"/>
              <a:t>An </a:t>
            </a:r>
            <a:r>
              <a:rPr lang="en-US" dirty="0" err="1"/>
              <a:t>IndexError</a:t>
            </a:r>
            <a:r>
              <a:rPr lang="en-US" dirty="0"/>
              <a:t> exception is raised if an  invalid index is used</a:t>
            </a:r>
          </a:p>
          <a:p>
            <a:pPr marL="158750" indent="0">
              <a:buNone/>
            </a:pPr>
            <a:r>
              <a:rPr lang="en-US" dirty="0" err="1"/>
              <a:t>len</a:t>
            </a:r>
            <a:r>
              <a:rPr lang="en-US" dirty="0"/>
              <a:t> function: returns the length of a sequence such as a list</a:t>
            </a:r>
          </a:p>
          <a:p>
            <a:pPr marL="158750" indent="0">
              <a:buNone/>
            </a:pPr>
            <a:r>
              <a:rPr lang="en-US" dirty="0"/>
              <a:t>Example: size = </a:t>
            </a:r>
            <a:r>
              <a:rPr lang="en-US" dirty="0" err="1"/>
              <a:t>len</a:t>
            </a:r>
            <a:r>
              <a:rPr lang="en-US" dirty="0"/>
              <a:t>(</a:t>
            </a:r>
            <a:r>
              <a:rPr lang="en-US" dirty="0" err="1"/>
              <a:t>my_list</a:t>
            </a:r>
            <a:r>
              <a:rPr lang="en-US" dirty="0"/>
              <a:t>)</a:t>
            </a:r>
          </a:p>
          <a:p>
            <a:pPr marL="158750" indent="0">
              <a:buNone/>
            </a:pPr>
            <a:r>
              <a:rPr lang="en-US" dirty="0"/>
              <a:t>Returns the number of elements in the list, so the index of last element is </a:t>
            </a:r>
            <a:r>
              <a:rPr lang="en-US" dirty="0" err="1"/>
              <a:t>len</a:t>
            </a:r>
            <a:r>
              <a:rPr lang="en-US" dirty="0"/>
              <a:t>(list)-1</a:t>
            </a:r>
          </a:p>
          <a:p>
            <a:pPr marL="158750" indent="0">
              <a:buNone/>
            </a:pPr>
            <a:r>
              <a:rPr lang="en-US" dirty="0"/>
              <a:t>Can be used to prevent an </a:t>
            </a:r>
            <a:r>
              <a:rPr lang="en-US" dirty="0" err="1"/>
              <a:t>IndexError</a:t>
            </a:r>
            <a:r>
              <a:rPr lang="en-US" dirty="0"/>
              <a:t> exception when iterating over a list with a loop</a:t>
            </a:r>
          </a:p>
          <a:p>
            <a:pPr marL="158750" indent="0">
              <a:buNone/>
            </a:pPr>
            <a:endParaRPr lang="en-US" dirty="0"/>
          </a:p>
          <a:p>
            <a:pPr marL="158750" indent="0">
              <a:buNone/>
            </a:pPr>
            <a:r>
              <a:rPr lang="en-US" dirty="0"/>
              <a:t>Mutable sequence: the items in the sequence can be changed</a:t>
            </a:r>
          </a:p>
          <a:p>
            <a:pPr marL="158750" indent="0">
              <a:buNone/>
            </a:pPr>
            <a:r>
              <a:rPr lang="en-US" dirty="0"/>
              <a:t>Lists are mutable, and so their elements can be changed</a:t>
            </a:r>
          </a:p>
          <a:p>
            <a:pPr marL="158750" indent="0">
              <a:buNone/>
            </a:pPr>
            <a:r>
              <a:rPr lang="en-US" dirty="0"/>
              <a:t>An expression such as </a:t>
            </a:r>
          </a:p>
          <a:p>
            <a:pPr marL="158750" indent="0">
              <a:buNone/>
            </a:pPr>
            <a:r>
              <a:rPr lang="en-US" dirty="0"/>
              <a:t>	list[1] = </a:t>
            </a:r>
            <a:r>
              <a:rPr lang="en-US" dirty="0" err="1"/>
              <a:t>new_value</a:t>
            </a:r>
            <a:r>
              <a:rPr lang="en-US" dirty="0"/>
              <a:t> can be used to assign a new value to a list element</a:t>
            </a:r>
          </a:p>
          <a:p>
            <a:pPr marL="158750" indent="0">
              <a:buNone/>
            </a:pPr>
            <a:r>
              <a:rPr lang="en-US" dirty="0"/>
              <a:t>Must use a valid index to prevent raising of an </a:t>
            </a:r>
            <a:r>
              <a:rPr lang="en-US" dirty="0" err="1"/>
              <a:t>IndexError</a:t>
            </a:r>
            <a:r>
              <a:rPr lang="en-US" dirty="0"/>
              <a:t> exception</a:t>
            </a:r>
          </a:p>
          <a:p>
            <a:pPr marL="158750" indent="0">
              <a:buNone/>
            </a:pPr>
            <a:endParaRPr lang="en-US" dirty="0"/>
          </a:p>
          <a:p>
            <a:pPr marL="158750" indent="0">
              <a:buNone/>
            </a:pPr>
            <a:r>
              <a:rPr lang="en-US" dirty="0"/>
              <a:t>Concatenate: join two things together </a:t>
            </a:r>
          </a:p>
          <a:p>
            <a:pPr marL="158750" indent="0">
              <a:buNone/>
            </a:pPr>
            <a:r>
              <a:rPr lang="en-US" dirty="0"/>
              <a:t>The + operator can be used to concatenate two lists</a:t>
            </a:r>
          </a:p>
          <a:p>
            <a:pPr marL="158750" indent="0">
              <a:buNone/>
            </a:pPr>
            <a:r>
              <a:rPr lang="en-US" dirty="0"/>
              <a:t>Cannot concatenate a list with another data type, such as a number</a:t>
            </a:r>
          </a:p>
          <a:p>
            <a:pPr marL="158750" indent="0">
              <a:buNone/>
            </a:pPr>
            <a:r>
              <a:rPr lang="en-US" dirty="0"/>
              <a:t>The += augmented assignment operator can also be used to concatenate lists</a:t>
            </a:r>
          </a:p>
          <a:p>
            <a:pPr marL="158750" indent="0">
              <a:buNone/>
            </a:pPr>
            <a:endParaRPr lang="en-US" dirty="0"/>
          </a:p>
          <a:p>
            <a:pPr marL="158750" indent="0">
              <a:buNone/>
            </a:pPr>
            <a:r>
              <a:rPr lang="en-US" dirty="0"/>
              <a:t>Slice: a span of items that are taken from a sequence</a:t>
            </a:r>
          </a:p>
          <a:p>
            <a:pPr marL="158750" indent="0">
              <a:buNone/>
            </a:pPr>
            <a:r>
              <a:rPr lang="en-US" dirty="0"/>
              <a:t>List slicing format: list[start : end]</a:t>
            </a:r>
          </a:p>
          <a:p>
            <a:pPr marL="158750" indent="0">
              <a:buNone/>
            </a:pPr>
            <a:r>
              <a:rPr lang="en-US" dirty="0"/>
              <a:t>Span is a list containing copies of elements from start up to, but not including, end</a:t>
            </a:r>
          </a:p>
          <a:p>
            <a:pPr marL="158750" indent="0">
              <a:buNone/>
            </a:pPr>
            <a:r>
              <a:rPr lang="en-US" dirty="0"/>
              <a:t>If start not specified, 0 is used for start index</a:t>
            </a:r>
          </a:p>
          <a:p>
            <a:pPr marL="158750" indent="0">
              <a:buNone/>
            </a:pPr>
            <a:r>
              <a:rPr lang="en-US" dirty="0"/>
              <a:t>If end not specified, </a:t>
            </a:r>
            <a:r>
              <a:rPr lang="en-US" dirty="0" err="1"/>
              <a:t>len</a:t>
            </a:r>
            <a:r>
              <a:rPr lang="en-US" dirty="0"/>
              <a:t>(list) is used for end index</a:t>
            </a:r>
          </a:p>
          <a:p>
            <a:pPr marL="158750" indent="0">
              <a:buNone/>
            </a:pPr>
            <a:r>
              <a:rPr lang="en-US" dirty="0"/>
              <a:t>Slicing expressions can include a step value and negative indexes relative to end of list</a:t>
            </a:r>
          </a:p>
          <a:p>
            <a:pPr marL="158750" indent="0">
              <a:buNone/>
            </a:pPr>
            <a:endParaRPr lang="en-US" dirty="0"/>
          </a:p>
          <a:p>
            <a:pPr marL="158750" indent="0">
              <a:buNone/>
            </a:pPr>
            <a:endParaRPr lang="en-IN" dirty="0"/>
          </a:p>
        </p:txBody>
      </p:sp>
      <p:sp>
        <p:nvSpPr>
          <p:cNvPr id="4" name="Slide Number Placeholder 3"/>
          <p:cNvSpPr>
            <a:spLocks noGrp="1"/>
          </p:cNvSpPr>
          <p:nvPr>
            <p:ph type="sldNum" sz="quarter" idx="5"/>
          </p:nvPr>
        </p:nvSpPr>
        <p:spPr/>
        <p:txBody>
          <a:bodyPr/>
          <a:lstStyle/>
          <a:p>
            <a:fld id="{F3065E4E-ABE4-4C79-8716-B93932D5FBD3}" type="slidenum">
              <a:rPr lang="en-IN" smtClean="0"/>
              <a:t>34</a:t>
            </a:fld>
            <a:endParaRPr lang="en-IN"/>
          </a:p>
        </p:txBody>
      </p:sp>
    </p:spTree>
    <p:extLst>
      <p:ext uri="{BB962C8B-B14F-4D97-AF65-F5344CB8AC3E}">
        <p14:creationId xmlns:p14="http://schemas.microsoft.com/office/powerpoint/2010/main" val="1207440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Answer1:</a:t>
            </a:r>
          </a:p>
          <a:p>
            <a:pPr marL="158750" indent="0">
              <a:buNone/>
            </a:pPr>
            <a:r>
              <a:rPr lang="en-IN" dirty="0"/>
              <a:t>students = ["Alice", "Bob", "Charlie", "David", "Eve"]</a:t>
            </a:r>
          </a:p>
          <a:p>
            <a:pPr marL="158750" indent="0">
              <a:buNone/>
            </a:pPr>
            <a:r>
              <a:rPr lang="en-IN" dirty="0" err="1"/>
              <a:t>reversed_students</a:t>
            </a:r>
            <a:r>
              <a:rPr lang="en-IN" dirty="0"/>
              <a:t> = students[::-1]</a:t>
            </a:r>
          </a:p>
          <a:p>
            <a:pPr marL="158750" indent="0">
              <a:buNone/>
            </a:pPr>
            <a:r>
              <a:rPr lang="en-IN" dirty="0"/>
              <a:t>print(</a:t>
            </a:r>
            <a:r>
              <a:rPr lang="en-IN" dirty="0" err="1"/>
              <a:t>reversed_students</a:t>
            </a:r>
            <a:r>
              <a:rPr lang="en-IN" dirty="0"/>
              <a:t>)  # Output: ['Eve', 'David', 'Charlie', 'Bob', 'Alice’]</a:t>
            </a:r>
          </a:p>
          <a:p>
            <a:pPr marL="158750" indent="0">
              <a:buNone/>
            </a:pPr>
            <a:endParaRPr lang="en-US" dirty="0"/>
          </a:p>
          <a:p>
            <a:pPr marL="158750" indent="0">
              <a:buNone/>
            </a:pPr>
            <a:r>
              <a:rPr lang="en-IN" dirty="0"/>
              <a:t>Answer2:</a:t>
            </a:r>
          </a:p>
          <a:p>
            <a:pPr marL="158750" indent="0">
              <a:buNone/>
            </a:pPr>
            <a:endParaRPr lang="en-IN" dirty="0"/>
          </a:p>
          <a:p>
            <a:pPr marL="158750" indent="0">
              <a:buNone/>
            </a:pPr>
            <a:r>
              <a:rPr lang="en-US" dirty="0"/>
              <a:t>items = ["apple", "banana", "cherry", "date", "fig", "grape"]</a:t>
            </a:r>
          </a:p>
          <a:p>
            <a:pPr marL="158750" indent="0">
              <a:buNone/>
            </a:pPr>
            <a:r>
              <a:rPr lang="en-US" dirty="0" err="1"/>
              <a:t>selected_items</a:t>
            </a:r>
            <a:r>
              <a:rPr lang="en-US" dirty="0"/>
              <a:t> = items[2:5]</a:t>
            </a:r>
          </a:p>
          <a:p>
            <a:pPr marL="158750" indent="0">
              <a:buNone/>
            </a:pPr>
            <a:r>
              <a:rPr lang="en-US" dirty="0"/>
              <a:t>print(</a:t>
            </a:r>
            <a:r>
              <a:rPr lang="en-US" dirty="0" err="1"/>
              <a:t>selected_items</a:t>
            </a:r>
            <a:r>
              <a:rPr lang="en-US" dirty="0"/>
              <a:t>)  # Output: ['cherry', 'date', 'fig’]</a:t>
            </a:r>
          </a:p>
          <a:p>
            <a:pPr marL="158750" indent="0">
              <a:buNone/>
            </a:pPr>
            <a:endParaRPr lang="en-IN" dirty="0"/>
          </a:p>
          <a:p>
            <a:pPr marL="158750" indent="0">
              <a:buNone/>
            </a:pPr>
            <a:r>
              <a:rPr lang="en-IN" dirty="0"/>
              <a:t>Answer 3:</a:t>
            </a:r>
          </a:p>
          <a:p>
            <a:pPr marL="158750" indent="0">
              <a:buNone/>
            </a:pPr>
            <a:r>
              <a:rPr lang="en-IN" dirty="0"/>
              <a:t>fruits = ["apple", "banana", "cherry", "date", "fig", "grape"]</a:t>
            </a:r>
          </a:p>
          <a:p>
            <a:pPr marL="158750" indent="0">
              <a:buNone/>
            </a:pPr>
            <a:r>
              <a:rPr lang="en-IN" dirty="0" err="1"/>
              <a:t>fruits.insert</a:t>
            </a:r>
            <a:r>
              <a:rPr lang="en-IN" dirty="0"/>
              <a:t>(2, "kiwi")</a:t>
            </a:r>
          </a:p>
          <a:p>
            <a:pPr marL="158750" indent="0">
              <a:buNone/>
            </a:pPr>
            <a:r>
              <a:rPr lang="en-IN" dirty="0"/>
              <a:t>print(fruits)  # Output: ['apple', 'banana', 'kiwi', 'cherry', 'date', 'fig', 'grape’]</a:t>
            </a:r>
          </a:p>
          <a:p>
            <a:pPr marL="158750" indent="0">
              <a:buNone/>
            </a:pPr>
            <a:endParaRPr lang="en-IN" dirty="0"/>
          </a:p>
          <a:p>
            <a:pPr marL="158750" indent="0">
              <a:buNone/>
            </a:pPr>
            <a:r>
              <a:rPr lang="en-IN" dirty="0"/>
              <a:t>Answer 4:</a:t>
            </a:r>
          </a:p>
          <a:p>
            <a:pPr marL="158750" indent="0">
              <a:buNone/>
            </a:pPr>
            <a:endParaRPr lang="en-IN" dirty="0"/>
          </a:p>
          <a:p>
            <a:pPr marL="158750" indent="0">
              <a:buNone/>
            </a:pPr>
            <a:r>
              <a:rPr lang="en-US" dirty="0"/>
              <a:t>ages = [23, 45, 18, 34, 60, 50, 27]</a:t>
            </a:r>
          </a:p>
          <a:p>
            <a:pPr marL="158750" indent="0">
              <a:buNone/>
            </a:pPr>
            <a:r>
              <a:rPr lang="en-US" dirty="0" err="1"/>
              <a:t>average_age</a:t>
            </a:r>
            <a:r>
              <a:rPr lang="en-US" dirty="0"/>
              <a:t> = sum(ages) / </a:t>
            </a:r>
            <a:r>
              <a:rPr lang="en-US" dirty="0" err="1"/>
              <a:t>len</a:t>
            </a:r>
            <a:r>
              <a:rPr lang="en-US" dirty="0"/>
              <a:t>(ages)</a:t>
            </a:r>
          </a:p>
          <a:p>
            <a:pPr marL="158750" indent="0">
              <a:buNone/>
            </a:pPr>
            <a:r>
              <a:rPr lang="en-US" dirty="0"/>
              <a:t>print(</a:t>
            </a:r>
            <a:r>
              <a:rPr lang="en-US" dirty="0" err="1"/>
              <a:t>average_age</a:t>
            </a:r>
            <a:r>
              <a:rPr lang="en-US" dirty="0"/>
              <a:t>)  # Output: 36.714285714285715</a:t>
            </a:r>
          </a:p>
          <a:p>
            <a:pPr marL="158750" indent="0">
              <a:buNone/>
            </a:pPr>
            <a:endParaRPr lang="en-IN" dirty="0"/>
          </a:p>
        </p:txBody>
      </p:sp>
    </p:spTree>
    <p:extLst>
      <p:ext uri="{BB962C8B-B14F-4D97-AF65-F5344CB8AC3E}">
        <p14:creationId xmlns:p14="http://schemas.microsoft.com/office/powerpoint/2010/main" val="4216827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a:cs typeface="Calibri" panose="020F0502020204030204"/>
              </a:rPr>
              <a:t>Python Tuple:</a:t>
            </a:r>
          </a:p>
          <a:p>
            <a:pPr>
              <a:buFontTx/>
              <a:buChar char="•"/>
            </a:pPr>
            <a:r>
              <a:rPr lang="en-US" altLang="en-US"/>
              <a:t>Tuples do not support the methods:</a:t>
            </a:r>
            <a:endParaRPr lang="en-US"/>
          </a:p>
          <a:p>
            <a:pPr lvl="1" eaLnBrk="1" hangingPunct="1"/>
            <a:r>
              <a:rPr lang="en-US" altLang="en-US">
                <a:latin typeface="Courier New" panose="02070309020205020404" pitchFamily="49" charset="0"/>
                <a:cs typeface="Courier New" panose="02070309020205020404" pitchFamily="49" charset="0"/>
              </a:rPr>
              <a:t>append</a:t>
            </a:r>
          </a:p>
          <a:p>
            <a:pPr lvl="1" eaLnBrk="1" hangingPunct="1"/>
            <a:r>
              <a:rPr lang="en-US" altLang="en-US">
                <a:latin typeface="Courier New" panose="02070309020205020404" pitchFamily="49" charset="0"/>
                <a:cs typeface="Courier New" panose="02070309020205020404" pitchFamily="49" charset="0"/>
              </a:rPr>
              <a:t>remove</a:t>
            </a:r>
          </a:p>
          <a:p>
            <a:pPr lvl="1" eaLnBrk="1" hangingPunct="1"/>
            <a:r>
              <a:rPr lang="en-US" altLang="en-US">
                <a:latin typeface="Courier New" panose="02070309020205020404" pitchFamily="49" charset="0"/>
                <a:cs typeface="Courier New" panose="02070309020205020404" pitchFamily="49" charset="0"/>
              </a:rPr>
              <a:t>insert</a:t>
            </a:r>
          </a:p>
          <a:p>
            <a:pPr lvl="1" eaLnBrk="1" hangingPunct="1"/>
            <a:r>
              <a:rPr lang="en-US" altLang="en-US">
                <a:latin typeface="Courier New" panose="02070309020205020404" pitchFamily="49" charset="0"/>
                <a:cs typeface="Courier New" panose="02070309020205020404" pitchFamily="49" charset="0"/>
              </a:rPr>
              <a:t>reverse</a:t>
            </a:r>
          </a:p>
          <a:p>
            <a:pPr lvl="1" eaLnBrk="1" hangingPunct="1"/>
            <a:r>
              <a:rPr lang="en-US" altLang="en-US">
                <a:latin typeface="Courier New" panose="02070309020205020404" pitchFamily="49" charset="0"/>
                <a:cs typeface="Courier New" panose="02070309020205020404" pitchFamily="49" charset="0"/>
              </a:rPr>
              <a:t>sort</a:t>
            </a:r>
          </a:p>
          <a:p>
            <a:pPr>
              <a:buFontTx/>
              <a:buNone/>
            </a:pPr>
            <a:endParaRPr lang="en-US" altLang="en-US" sz="2800"/>
          </a:p>
          <a:p>
            <a:pPr eaLnBrk="1" hangingPunct="1">
              <a:buFontTx/>
              <a:buChar char="•"/>
            </a:pPr>
            <a:r>
              <a:rPr lang="en-US" altLang="en-US"/>
              <a:t>Advantages for using tuples over lists:</a:t>
            </a:r>
          </a:p>
          <a:p>
            <a:pPr lvl="1" eaLnBrk="1" hangingPunct="1"/>
            <a:r>
              <a:rPr lang="en-US" altLang="en-US">
                <a:cs typeface="Courier New" panose="02070309020205020404" pitchFamily="49" charset="0"/>
              </a:rPr>
              <a:t>Processing tuples is faster than processing lists</a:t>
            </a:r>
          </a:p>
          <a:p>
            <a:pPr lvl="1" eaLnBrk="1" hangingPunct="1"/>
            <a:r>
              <a:rPr lang="en-US" altLang="en-US">
                <a:cs typeface="Courier New" panose="02070309020205020404" pitchFamily="49" charset="0"/>
              </a:rPr>
              <a:t>Tuples are safe </a:t>
            </a:r>
          </a:p>
          <a:p>
            <a:pPr lvl="1" eaLnBrk="1" hangingPunct="1"/>
            <a:r>
              <a:rPr lang="en-US" altLang="en-US">
                <a:cs typeface="Courier New" panose="02070309020205020404" pitchFamily="49" charset="0"/>
              </a:rPr>
              <a:t>Some operations in Python require use of tuples</a:t>
            </a:r>
          </a:p>
          <a:p>
            <a:pPr eaLnBrk="1" hangingPunct="1">
              <a:buFontTx/>
              <a:buChar char="•"/>
            </a:pPr>
            <a:r>
              <a:rPr lang="en-US" altLang="en-US" u="sng">
                <a:latin typeface="Courier New" panose="02070309020205020404" pitchFamily="49" charset="0"/>
                <a:cs typeface="Courier New" panose="02070309020205020404" pitchFamily="49" charset="0"/>
              </a:rPr>
              <a:t>list()</a:t>
            </a:r>
            <a:r>
              <a:rPr lang="en-US" altLang="en-US" u="sng">
                <a:cs typeface="Courier New" panose="02070309020205020404" pitchFamily="49" charset="0"/>
              </a:rPr>
              <a:t> function</a:t>
            </a:r>
            <a:r>
              <a:rPr lang="en-US" altLang="en-US">
                <a:cs typeface="Courier New" panose="02070309020205020404" pitchFamily="49" charset="0"/>
              </a:rPr>
              <a:t>: converts tuple to list</a:t>
            </a:r>
          </a:p>
          <a:p>
            <a:pPr eaLnBrk="1" hangingPunct="1">
              <a:buFontTx/>
              <a:buChar char="•"/>
            </a:pPr>
            <a:r>
              <a:rPr lang="en-US" altLang="en-US" u="sng">
                <a:latin typeface="Courier New" panose="02070309020205020404" pitchFamily="49" charset="0"/>
                <a:cs typeface="Courier New" panose="02070309020205020404" pitchFamily="49" charset="0"/>
              </a:rPr>
              <a:t>tuple()</a:t>
            </a:r>
            <a:r>
              <a:rPr lang="en-US" altLang="en-US" u="sng">
                <a:cs typeface="Courier New" panose="02070309020205020404" pitchFamily="49" charset="0"/>
              </a:rPr>
              <a:t> function</a:t>
            </a:r>
            <a:r>
              <a:rPr lang="en-US" altLang="en-US">
                <a:cs typeface="Courier New" panose="02070309020205020404" pitchFamily="49" charset="0"/>
              </a:rPr>
              <a:t>: converts list to tuple</a:t>
            </a:r>
          </a:p>
          <a:p>
            <a:pPr>
              <a:buFontTx/>
              <a:buChar char="•"/>
            </a:pPr>
            <a:endParaRPr lang="en-US" altLang="en-US"/>
          </a:p>
          <a:p>
            <a:pPr>
              <a:buFontTx/>
              <a:buNone/>
            </a:pPr>
            <a:endParaRPr lang="en-US" altLang="en-US" sz="2800"/>
          </a:p>
        </p:txBody>
      </p:sp>
      <p:sp>
        <p:nvSpPr>
          <p:cNvPr id="4" name="Slide Number Placeholder 3"/>
          <p:cNvSpPr>
            <a:spLocks noGrp="1"/>
          </p:cNvSpPr>
          <p:nvPr>
            <p:ph type="sldNum" sz="quarter" idx="5"/>
          </p:nvPr>
        </p:nvSpPr>
        <p:spPr/>
        <p:txBody>
          <a:bodyPr/>
          <a:lstStyle/>
          <a:p>
            <a:fld id="{F3065E4E-ABE4-4C79-8716-B93932D5FBD3}" type="slidenum">
              <a:rPr lang="en-IN" smtClean="0"/>
              <a:t>36</a:t>
            </a:fld>
            <a:endParaRPr lang="en-IN"/>
          </a:p>
        </p:txBody>
      </p:sp>
    </p:spTree>
    <p:extLst>
      <p:ext uri="{BB962C8B-B14F-4D97-AF65-F5344CB8AC3E}">
        <p14:creationId xmlns:p14="http://schemas.microsoft.com/office/powerpoint/2010/main" val="8220675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Answer1:</a:t>
            </a:r>
          </a:p>
          <a:p>
            <a:pPr marL="158750" indent="0">
              <a:buNone/>
            </a:pPr>
            <a:r>
              <a:rPr lang="en-IN" dirty="0"/>
              <a:t>students = ["Alice", "Bob", "Charlie", "David", "Eve"]</a:t>
            </a:r>
          </a:p>
          <a:p>
            <a:pPr marL="158750" indent="0">
              <a:buNone/>
            </a:pPr>
            <a:r>
              <a:rPr lang="en-IN" dirty="0" err="1"/>
              <a:t>reversed_students</a:t>
            </a:r>
            <a:r>
              <a:rPr lang="en-IN" dirty="0"/>
              <a:t> = students[::-1]</a:t>
            </a:r>
          </a:p>
          <a:p>
            <a:pPr marL="158750" indent="0">
              <a:buNone/>
            </a:pPr>
            <a:r>
              <a:rPr lang="en-IN" dirty="0"/>
              <a:t>print(</a:t>
            </a:r>
            <a:r>
              <a:rPr lang="en-IN" dirty="0" err="1"/>
              <a:t>reversed_students</a:t>
            </a:r>
            <a:r>
              <a:rPr lang="en-IN" dirty="0"/>
              <a:t>)  # Output: ['Eve', 'David', 'Charlie', 'Bob', 'Alice’]</a:t>
            </a:r>
          </a:p>
          <a:p>
            <a:pPr marL="158750" indent="0">
              <a:buNone/>
            </a:pPr>
            <a:endParaRPr lang="en-US" dirty="0"/>
          </a:p>
          <a:p>
            <a:pPr marL="158750" indent="0">
              <a:buNone/>
            </a:pPr>
            <a:r>
              <a:rPr lang="en-IN" dirty="0"/>
              <a:t>Answer2:</a:t>
            </a:r>
          </a:p>
          <a:p>
            <a:pPr marL="158750" indent="0">
              <a:buNone/>
            </a:pPr>
            <a:endParaRPr lang="en-IN" dirty="0"/>
          </a:p>
          <a:p>
            <a:pPr marL="158750" indent="0">
              <a:buNone/>
            </a:pPr>
            <a:r>
              <a:rPr lang="en-US" dirty="0"/>
              <a:t>items = ["apple", "banana", "cherry", "date", "fig", "grape"]</a:t>
            </a:r>
          </a:p>
          <a:p>
            <a:pPr marL="158750" indent="0">
              <a:buNone/>
            </a:pPr>
            <a:r>
              <a:rPr lang="en-US" dirty="0" err="1"/>
              <a:t>selected_items</a:t>
            </a:r>
            <a:r>
              <a:rPr lang="en-US" dirty="0"/>
              <a:t> = items[2:5]</a:t>
            </a:r>
          </a:p>
          <a:p>
            <a:pPr marL="158750" indent="0">
              <a:buNone/>
            </a:pPr>
            <a:r>
              <a:rPr lang="en-US" dirty="0"/>
              <a:t>print(</a:t>
            </a:r>
            <a:r>
              <a:rPr lang="en-US" dirty="0" err="1"/>
              <a:t>selected_items</a:t>
            </a:r>
            <a:r>
              <a:rPr lang="en-US" dirty="0"/>
              <a:t>)  # Output: ['cherry', 'date', 'fig’]</a:t>
            </a:r>
          </a:p>
          <a:p>
            <a:pPr marL="158750" indent="0">
              <a:buNone/>
            </a:pPr>
            <a:endParaRPr lang="en-IN" dirty="0"/>
          </a:p>
          <a:p>
            <a:pPr marL="158750" indent="0">
              <a:buNone/>
            </a:pPr>
            <a:r>
              <a:rPr lang="en-IN" dirty="0"/>
              <a:t>Answer 3:</a:t>
            </a:r>
          </a:p>
          <a:p>
            <a:pPr marL="158750" indent="0">
              <a:buNone/>
            </a:pPr>
            <a:r>
              <a:rPr lang="en-IN" dirty="0"/>
              <a:t>fruits = ["apple", "banana", "cherry", "date", "fig", "grape"]</a:t>
            </a:r>
          </a:p>
          <a:p>
            <a:pPr marL="158750" indent="0">
              <a:buNone/>
            </a:pPr>
            <a:r>
              <a:rPr lang="en-IN" dirty="0" err="1"/>
              <a:t>fruits.insert</a:t>
            </a:r>
            <a:r>
              <a:rPr lang="en-IN" dirty="0"/>
              <a:t>(2, "kiwi")</a:t>
            </a:r>
          </a:p>
          <a:p>
            <a:pPr marL="158750" indent="0">
              <a:buNone/>
            </a:pPr>
            <a:r>
              <a:rPr lang="en-IN" dirty="0"/>
              <a:t>print(fruits)  # Output: ['apple', 'banana', 'kiwi', 'cherry', 'date', 'fig', 'grape’]</a:t>
            </a:r>
          </a:p>
          <a:p>
            <a:pPr marL="158750" indent="0">
              <a:buNone/>
            </a:pPr>
            <a:endParaRPr lang="en-IN" dirty="0"/>
          </a:p>
          <a:p>
            <a:pPr marL="158750" indent="0">
              <a:buNone/>
            </a:pPr>
            <a:r>
              <a:rPr lang="en-IN" dirty="0"/>
              <a:t>Answer 4:</a:t>
            </a:r>
          </a:p>
          <a:p>
            <a:pPr marL="158750" indent="0">
              <a:buNone/>
            </a:pPr>
            <a:endParaRPr lang="en-IN" dirty="0"/>
          </a:p>
          <a:p>
            <a:pPr marL="158750" indent="0">
              <a:buNone/>
            </a:pPr>
            <a:r>
              <a:rPr lang="en-US" dirty="0"/>
              <a:t>ages = [23, 45, 18, 34, 60, 50, 27]</a:t>
            </a:r>
          </a:p>
          <a:p>
            <a:pPr marL="158750" indent="0">
              <a:buNone/>
            </a:pPr>
            <a:r>
              <a:rPr lang="en-US" dirty="0" err="1"/>
              <a:t>average_age</a:t>
            </a:r>
            <a:r>
              <a:rPr lang="en-US" dirty="0"/>
              <a:t> = sum(ages) / </a:t>
            </a:r>
            <a:r>
              <a:rPr lang="en-US" dirty="0" err="1"/>
              <a:t>len</a:t>
            </a:r>
            <a:r>
              <a:rPr lang="en-US" dirty="0"/>
              <a:t>(ages)</a:t>
            </a:r>
          </a:p>
          <a:p>
            <a:pPr marL="158750" indent="0">
              <a:buNone/>
            </a:pPr>
            <a:r>
              <a:rPr lang="en-US" dirty="0"/>
              <a:t>print(</a:t>
            </a:r>
            <a:r>
              <a:rPr lang="en-US" dirty="0" err="1"/>
              <a:t>average_age</a:t>
            </a:r>
            <a:r>
              <a:rPr lang="en-US" dirty="0"/>
              <a:t>)  # Output: 36.714285714285715</a:t>
            </a:r>
          </a:p>
          <a:p>
            <a:pPr marL="158750" indent="0">
              <a:buNone/>
            </a:pPr>
            <a:endParaRPr lang="en-IN" dirty="0"/>
          </a:p>
        </p:txBody>
      </p:sp>
    </p:spTree>
    <p:extLst>
      <p:ext uri="{BB962C8B-B14F-4D97-AF65-F5344CB8AC3E}">
        <p14:creationId xmlns:p14="http://schemas.microsoft.com/office/powerpoint/2010/main" val="106557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None/>
            </a:pPr>
            <a:r>
              <a:rPr lang="en-US" dirty="0"/>
              <a:t>A Set in Python programming is an unordered collection data type that is </a:t>
            </a:r>
            <a:r>
              <a:rPr lang="en-US" err="1"/>
              <a:t>iterable</a:t>
            </a:r>
            <a:r>
              <a:rPr lang="en-US" dirty="0"/>
              <a:t>, mutable and has no duplicate elements.</a:t>
            </a:r>
          </a:p>
          <a:p>
            <a:pPr algn="just">
              <a:buNone/>
            </a:pPr>
            <a:r>
              <a:rPr lang="en-US" dirty="0"/>
              <a:t> </a:t>
            </a:r>
            <a:endParaRPr lang="en-US"/>
          </a:p>
          <a:p>
            <a:pPr algn="just">
              <a:buNone/>
            </a:pPr>
            <a:r>
              <a:rPr lang="en-US" i="1" dirty="0"/>
              <a:t>Set are represented by { } (values enclosed in curly braces)</a:t>
            </a:r>
            <a:endParaRPr lang="en-US" dirty="0"/>
          </a:p>
          <a:p>
            <a:pPr algn="just">
              <a:buNone/>
            </a:pPr>
            <a:endParaRPr lang="en-US" i="1" dirty="0"/>
          </a:p>
          <a:p>
            <a:pPr algn="just">
              <a:buNone/>
            </a:pPr>
            <a:r>
              <a:rPr lang="en-US" dirty="0"/>
              <a:t>The major advantage of using a set, as opposed to a </a:t>
            </a:r>
            <a:r>
              <a:rPr lang="en-US"/>
              <a:t>list</a:t>
            </a:r>
            <a:r>
              <a:rPr lang="en-US" dirty="0"/>
              <a:t>, is that it has a highly optimized method for checking whether a specific element is contained in the set. This is based on a data structure known as a </a:t>
            </a:r>
            <a:r>
              <a:rPr lang="en-US"/>
              <a:t>hash table</a:t>
            </a:r>
            <a:r>
              <a:rPr lang="en-US" dirty="0"/>
              <a:t>. Since sets are unordered, we cannot access items using indexes as we do in lists.</a:t>
            </a:r>
          </a:p>
          <a:p>
            <a:pPr>
              <a:buNone/>
            </a:pPr>
            <a:endParaRPr lang="en-US" dirty="0">
              <a:latin typeface="Calibri"/>
              <a:cs typeface="Calibri"/>
            </a:endParaRPr>
          </a:p>
        </p:txBody>
      </p:sp>
    </p:spTree>
    <p:extLst>
      <p:ext uri="{BB962C8B-B14F-4D97-AF65-F5344CB8AC3E}">
        <p14:creationId xmlns:p14="http://schemas.microsoft.com/office/powerpoint/2010/main" val="3387208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workshop1 = {"Alice", "Bob", "Charlie", "David"}</a:t>
            </a:r>
          </a:p>
          <a:p>
            <a:pPr marL="158750" indent="0">
              <a:buNone/>
            </a:pPr>
            <a:r>
              <a:rPr lang="en-US" dirty="0"/>
              <a:t>workshop2 = {"Eve", "Bob", "Frank", "David"}</a:t>
            </a:r>
          </a:p>
          <a:p>
            <a:pPr marL="158750" indent="0">
              <a:buNone/>
            </a:pPr>
            <a:r>
              <a:rPr lang="en-US" dirty="0" err="1"/>
              <a:t>attended_both</a:t>
            </a:r>
            <a:r>
              <a:rPr lang="en-US" dirty="0"/>
              <a:t> = workshop1.intersection(workshop2)</a:t>
            </a:r>
          </a:p>
          <a:p>
            <a:pPr marL="158750" indent="0">
              <a:buNone/>
            </a:pPr>
            <a:r>
              <a:rPr lang="en-US" dirty="0"/>
              <a:t>print(</a:t>
            </a:r>
            <a:r>
              <a:rPr lang="en-US" dirty="0" err="1"/>
              <a:t>f"Students</a:t>
            </a:r>
            <a:r>
              <a:rPr lang="en-US" dirty="0"/>
              <a:t> who attended both workshops: {</a:t>
            </a:r>
            <a:r>
              <a:rPr lang="en-US" dirty="0" err="1"/>
              <a:t>attended_both</a:t>
            </a:r>
            <a:r>
              <a:rPr lang="en-US" dirty="0"/>
              <a:t>}")</a:t>
            </a:r>
          </a:p>
        </p:txBody>
      </p:sp>
    </p:spTree>
    <p:extLst>
      <p:ext uri="{BB962C8B-B14F-4D97-AF65-F5344CB8AC3E}">
        <p14:creationId xmlns:p14="http://schemas.microsoft.com/office/powerpoint/2010/main" val="3998743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lgn="ctr">
              <a:buNone/>
            </a:pPr>
            <a:r>
              <a:rPr lang="en-US" b="1" i="0">
                <a:solidFill>
                  <a:srgbClr val="25265E"/>
                </a:solidFill>
                <a:effectLst/>
                <a:latin typeface="euclid_circular_a"/>
              </a:rPr>
              <a:t>Create a Dictionary</a:t>
            </a:r>
            <a:endParaRPr lang="en-US"/>
          </a:p>
          <a:p>
            <a:pPr marL="158750" indent="0" algn="ctr">
              <a:buNone/>
            </a:pPr>
            <a:r>
              <a:rPr lang="en-US" b="1">
                <a:solidFill>
                  <a:srgbClr val="25265E"/>
                </a:solidFill>
                <a:latin typeface="euclid_circular_a"/>
              </a:rPr>
              <a:t>------------------------------------------------------------------------------------------------------------------------------------------------------------------------</a:t>
            </a:r>
          </a:p>
          <a:p>
            <a:pPr algn="l"/>
            <a:r>
              <a:rPr lang="en-US"/>
              <a:t>We create a dictionary by placing key: value pairs inside curly brackets {}, separated by commas. For example,</a:t>
            </a:r>
          </a:p>
          <a:p>
            <a:pPr algn="l"/>
            <a:endParaRPr lang="en-US"/>
          </a:p>
          <a:p>
            <a:pPr algn="l"/>
            <a:r>
              <a:rPr lang="en-US"/>
              <a:t>Notes:</a:t>
            </a:r>
          </a:p>
          <a:p>
            <a:pPr algn="l"/>
            <a:endParaRPr lang="en-US"/>
          </a:p>
          <a:p>
            <a:pPr algn="l"/>
            <a:r>
              <a:rPr lang="en-US"/>
              <a:t>Dictionary keys must be immutable, such as tuples, strings, integers, etc. We cannot use mutable (changeable) objects such as lists as keys.</a:t>
            </a:r>
          </a:p>
          <a:p>
            <a:r>
              <a:rPr lang="en-US"/>
              <a:t>We can also create a dictionary using a Python built-in function </a:t>
            </a:r>
            <a:r>
              <a:rPr lang="en-US" err="1"/>
              <a:t>dict</a:t>
            </a:r>
            <a:r>
              <a:rPr lang="en-US"/>
              <a:t>(). To learn more, visit Python </a:t>
            </a:r>
            <a:r>
              <a:rPr lang="en-US" err="1"/>
              <a:t>dict</a:t>
            </a:r>
            <a:r>
              <a:rPr lang="en-US"/>
              <a:t>(). </a:t>
            </a:r>
          </a:p>
          <a:p>
            <a:pPr algn="l"/>
            <a:endParaRPr lang="en-US"/>
          </a:p>
          <a:p>
            <a:pPr algn="l"/>
            <a:endParaRPr lang="en-US"/>
          </a:p>
        </p:txBody>
      </p:sp>
      <p:sp>
        <p:nvSpPr>
          <p:cNvPr id="4" name="Slide Number Placeholder 3"/>
          <p:cNvSpPr>
            <a:spLocks noGrp="1"/>
          </p:cNvSpPr>
          <p:nvPr>
            <p:ph type="sldNum" sz="quarter" idx="5"/>
          </p:nvPr>
        </p:nvSpPr>
        <p:spPr/>
        <p:txBody>
          <a:bodyPr/>
          <a:lstStyle/>
          <a:p>
            <a:fld id="{F3065E4E-ABE4-4C79-8716-B93932D5FBD3}" type="slidenum">
              <a:rPr lang="en-IN" smtClean="0"/>
              <a:t>40</a:t>
            </a:fld>
            <a:endParaRPr lang="en-IN"/>
          </a:p>
        </p:txBody>
      </p:sp>
    </p:spTree>
    <p:extLst>
      <p:ext uri="{BB962C8B-B14F-4D97-AF65-F5344CB8AC3E}">
        <p14:creationId xmlns:p14="http://schemas.microsoft.com/office/powerpoint/2010/main" val="30304736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latin typeface="Calibri"/>
                <a:cs typeface="Calibri"/>
              </a:rPr>
              <a:t>Here are the Python dictionary methods. All the methods are explained with an example by looking at the image you can understand.</a:t>
            </a:r>
          </a:p>
        </p:txBody>
      </p:sp>
    </p:spTree>
    <p:extLst>
      <p:ext uri="{BB962C8B-B14F-4D97-AF65-F5344CB8AC3E}">
        <p14:creationId xmlns:p14="http://schemas.microsoft.com/office/powerpoint/2010/main" val="803108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Answer1:</a:t>
            </a:r>
          </a:p>
          <a:p>
            <a:pPr marL="158750" indent="0">
              <a:buNone/>
            </a:pPr>
            <a:r>
              <a:rPr lang="en-IN" dirty="0"/>
              <a:t>student = {"name": "John", "age": 20, "grades": [85, 90, 78]}</a:t>
            </a:r>
          </a:p>
          <a:p>
            <a:pPr marL="158750" indent="0">
              <a:buNone/>
            </a:pPr>
            <a:r>
              <a:rPr lang="en-IN" dirty="0"/>
              <a:t>print(student)</a:t>
            </a:r>
          </a:p>
          <a:p>
            <a:pPr marL="158750" indent="0">
              <a:buNone/>
            </a:pPr>
            <a:r>
              <a:rPr lang="en-IN" dirty="0"/>
              <a:t># Output: {'name': 'John', 'age': 20, 'grades': [85, 90, 78]}</a:t>
            </a:r>
          </a:p>
          <a:p>
            <a:pPr marL="158750" indent="0">
              <a:buNone/>
            </a:pPr>
            <a:endParaRPr lang="en-US" dirty="0"/>
          </a:p>
          <a:p>
            <a:pPr marL="158750" indent="0">
              <a:buNone/>
            </a:pPr>
            <a:r>
              <a:rPr lang="en-US" dirty="0"/>
              <a:t>Answer 2:</a:t>
            </a:r>
          </a:p>
          <a:p>
            <a:pPr marL="158750" indent="0">
              <a:buNone/>
            </a:pPr>
            <a:endParaRPr lang="en-US" dirty="0"/>
          </a:p>
          <a:p>
            <a:pPr marL="158750" indent="0">
              <a:buNone/>
            </a:pPr>
            <a:r>
              <a:rPr lang="en-IN" dirty="0"/>
              <a:t>student["major"] = "Computer Science"</a:t>
            </a:r>
          </a:p>
          <a:p>
            <a:pPr marL="158750" indent="0">
              <a:buNone/>
            </a:pPr>
            <a:r>
              <a:rPr lang="en-IN" dirty="0"/>
              <a:t>print(student)</a:t>
            </a:r>
          </a:p>
          <a:p>
            <a:pPr marL="158750" indent="0">
              <a:buNone/>
            </a:pPr>
            <a:r>
              <a:rPr lang="en-IN" dirty="0"/>
              <a:t># Output: {'name': 'John', 'age': 20, 'grades': [85, 90, 78], 'major': 'Computer Science’}</a:t>
            </a:r>
          </a:p>
          <a:p>
            <a:pPr marL="158750" indent="0">
              <a:buNone/>
            </a:pPr>
            <a:endParaRPr lang="en-US" dirty="0"/>
          </a:p>
          <a:p>
            <a:pPr marL="158750" indent="0">
              <a:buNone/>
            </a:pPr>
            <a:r>
              <a:rPr lang="en-US" dirty="0"/>
              <a:t>Answer3:</a:t>
            </a:r>
          </a:p>
          <a:p>
            <a:pPr marL="158750" indent="0">
              <a:buNone/>
            </a:pPr>
            <a:endParaRPr lang="en-US" dirty="0"/>
          </a:p>
          <a:p>
            <a:pPr marL="158750" indent="0">
              <a:buNone/>
            </a:pPr>
            <a:r>
              <a:rPr lang="en-IN" dirty="0" err="1"/>
              <a:t>average_grade</a:t>
            </a:r>
            <a:r>
              <a:rPr lang="en-IN" dirty="0"/>
              <a:t> = sum(student["grades"]) / </a:t>
            </a:r>
            <a:r>
              <a:rPr lang="en-IN" dirty="0" err="1"/>
              <a:t>len</a:t>
            </a:r>
            <a:r>
              <a:rPr lang="en-IN" dirty="0"/>
              <a:t>(student["grades"])</a:t>
            </a:r>
          </a:p>
          <a:p>
            <a:pPr marL="158750" indent="0">
              <a:buNone/>
            </a:pPr>
            <a:r>
              <a:rPr lang="en-IN" dirty="0"/>
              <a:t>print(</a:t>
            </a:r>
            <a:r>
              <a:rPr lang="en-IN" dirty="0" err="1"/>
              <a:t>f"Average</a:t>
            </a:r>
            <a:r>
              <a:rPr lang="en-IN" dirty="0"/>
              <a:t> grade: {</a:t>
            </a:r>
            <a:r>
              <a:rPr lang="en-IN" dirty="0" err="1"/>
              <a:t>average_grade</a:t>
            </a:r>
            <a:r>
              <a:rPr lang="en-IN" dirty="0"/>
              <a:t>}")</a:t>
            </a:r>
          </a:p>
          <a:p>
            <a:pPr marL="158750" indent="0">
              <a:buNone/>
            </a:pPr>
            <a:r>
              <a:rPr lang="en-IN" dirty="0"/>
              <a:t># Output: Average grade: 84.33333333333333</a:t>
            </a:r>
          </a:p>
          <a:p>
            <a:pPr marL="158750" indent="0">
              <a:buNone/>
            </a:pPr>
            <a:endParaRPr lang="en-IN" dirty="0"/>
          </a:p>
        </p:txBody>
      </p:sp>
    </p:spTree>
    <p:extLst>
      <p:ext uri="{BB962C8B-B14F-4D97-AF65-F5344CB8AC3E}">
        <p14:creationId xmlns:p14="http://schemas.microsoft.com/office/powerpoint/2010/main" val="846189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 Python Lists, Tuples, </a:t>
            </a:r>
            <a:r>
              <a:rPr lang="en-US" b="1" dirty="0" err="1"/>
              <a:t>Dictionaries,and</a:t>
            </a:r>
            <a:r>
              <a:rPr lang="en-US" b="1" dirty="0"/>
              <a:t> Sets</a:t>
            </a:r>
            <a:endParaRPr lang="en-US" dirty="0"/>
          </a:p>
          <a:p>
            <a:pPr algn="ctr">
              <a:buNone/>
            </a:pPr>
            <a:r>
              <a:rPr lang="en-US" b="1" dirty="0"/>
              <a:t>Solution: </a:t>
            </a:r>
            <a:r>
              <a:rPr lang="en-US" b="1" i="1" dirty="0">
                <a:hlinkClick r:id="rId3">
                  <a:extLst>
                    <a:ext uri="{A12FA001-AC4F-418D-AE19-62706E023703}">
                      <ahyp:hlinkClr xmlns:ahyp="http://schemas.microsoft.com/office/drawing/2018/hyperlinkcolor" val="tx"/>
                    </a:ext>
                  </a:extLst>
                </a:hlinkClick>
              </a:rPr>
              <a:t>GitHub Link</a:t>
            </a:r>
            <a:endParaRPr lang="en-US" dirty="0"/>
          </a:p>
          <a:p>
            <a:pPr algn="ctr">
              <a:buNone/>
            </a:pPr>
            <a:endParaRPr lang="en-US" dirty="0">
              <a:latin typeface="Calibri"/>
              <a:cs typeface="Calibri"/>
            </a:endParaRP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43</a:t>
            </a:fld>
            <a:endParaRPr lang="en-IN"/>
          </a:p>
        </p:txBody>
      </p:sp>
    </p:spTree>
    <p:extLst>
      <p:ext uri="{BB962C8B-B14F-4D97-AF65-F5344CB8AC3E}">
        <p14:creationId xmlns:p14="http://schemas.microsoft.com/office/powerpoint/2010/main" val="22232648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None/>
            </a:pPr>
            <a:endParaRPr lang="en-US" dirty="0"/>
          </a:p>
          <a:p>
            <a:pPr marL="0" indent="0" algn="ctr">
              <a:buNone/>
            </a:pPr>
            <a:r>
              <a:rPr lang="en-US" b="1" dirty="0"/>
              <a:t>Self-Practice:  Better understanding of Python Data Structures</a:t>
            </a:r>
            <a:endParaRPr lang="en-US" dirty="0"/>
          </a:p>
          <a:p>
            <a:pPr algn="ctr">
              <a:buNone/>
            </a:pPr>
            <a:r>
              <a:rPr lang="en-US" b="1" dirty="0"/>
              <a:t>Solution: </a:t>
            </a:r>
            <a:r>
              <a:rPr lang="en-US" b="1" dirty="0">
                <a:hlinkClick r:id="rId3">
                  <a:extLst>
                    <a:ext uri="{A12FA001-AC4F-418D-AE19-62706E023703}">
                      <ahyp:hlinkClr xmlns:ahyp="http://schemas.microsoft.com/office/drawing/2018/hyperlinkcolor" val="tx"/>
                    </a:ext>
                  </a:extLst>
                </a:hlinkClick>
              </a:rPr>
              <a:t>GitHub Link</a:t>
            </a:r>
            <a:endParaRPr lang="en-US" dirty="0"/>
          </a:p>
          <a:p>
            <a:pPr marL="0" indent="0" algn="ctr">
              <a:buNone/>
            </a:pPr>
            <a:endParaRPr lang="en-US"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44</a:t>
            </a:fld>
            <a:endParaRPr lang="en-IN"/>
          </a:p>
        </p:txBody>
      </p:sp>
    </p:spTree>
    <p:extLst>
      <p:ext uri="{BB962C8B-B14F-4D97-AF65-F5344CB8AC3E}">
        <p14:creationId xmlns:p14="http://schemas.microsoft.com/office/powerpoint/2010/main" val="29103607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635">
              <a:lnSpc>
                <a:spcPct val="90000"/>
              </a:lnSpc>
              <a:spcBef>
                <a:spcPts val="1001"/>
              </a:spcBef>
            </a:pPr>
            <a:r>
              <a:rPr lang="en-US" b="1" dirty="0"/>
              <a:t>Like in other programming languages like C. Java, and  C++,  in Python also we have control statements like if. if else. Now let's have a discuss about these control statements. </a:t>
            </a:r>
          </a:p>
          <a:p>
            <a:pPr marL="635">
              <a:lnSpc>
                <a:spcPct val="90000"/>
              </a:lnSpc>
              <a:spcBef>
                <a:spcPts val="1001"/>
              </a:spcBef>
            </a:pPr>
            <a:endParaRPr lang="en-US" b="1"/>
          </a:p>
          <a:p>
            <a:pPr marL="0" indent="0">
              <a:lnSpc>
                <a:spcPct val="90000"/>
              </a:lnSpc>
              <a:spcBef>
                <a:spcPts val="1001"/>
              </a:spcBef>
              <a:buNone/>
            </a:pPr>
            <a:r>
              <a:rPr lang="en-US" b="1" dirty="0"/>
              <a:t>----------------------</a:t>
            </a:r>
          </a:p>
          <a:p>
            <a:pPr marL="0" indent="0">
              <a:lnSpc>
                <a:spcPct val="90000"/>
              </a:lnSpc>
              <a:spcBef>
                <a:spcPts val="1001"/>
              </a:spcBef>
              <a:buNone/>
            </a:pPr>
            <a:endParaRPr lang="en-US" b="1"/>
          </a:p>
          <a:p>
            <a:pPr marL="0" indent="0">
              <a:lnSpc>
                <a:spcPct val="90000"/>
              </a:lnSpc>
              <a:spcBef>
                <a:spcPts val="1001"/>
              </a:spcBef>
              <a:buNone/>
            </a:pPr>
            <a:r>
              <a:rPr lang="en-US" dirty="0"/>
              <a:t>Certainly! In Python, </a:t>
            </a:r>
            <a:r>
              <a:rPr lang="en-US" b="1" dirty="0"/>
              <a:t>if</a:t>
            </a:r>
            <a:r>
              <a:rPr lang="en-US" dirty="0"/>
              <a:t> and </a:t>
            </a:r>
            <a:r>
              <a:rPr lang="en-US" b="1" dirty="0"/>
              <a:t>if-else</a:t>
            </a:r>
            <a:r>
              <a:rPr lang="en-US" dirty="0"/>
              <a:t> are conditional statements that allow you to control the flow of your program based on certain conditions. These statements are used to execute different parts of code depending on whether a given condition is </a:t>
            </a:r>
            <a:r>
              <a:rPr lang="en-US" b="1" dirty="0"/>
              <a:t>True</a:t>
            </a:r>
            <a:r>
              <a:rPr lang="en-US" dirty="0"/>
              <a:t> or </a:t>
            </a:r>
            <a:r>
              <a:rPr lang="en-US" b="1" dirty="0"/>
              <a:t>False</a:t>
            </a:r>
            <a:r>
              <a:rPr lang="en-US" dirty="0"/>
              <a:t>.</a:t>
            </a:r>
          </a:p>
          <a:p>
            <a:pPr marL="0" indent="0">
              <a:lnSpc>
                <a:spcPct val="90000"/>
              </a:lnSpc>
              <a:spcBef>
                <a:spcPts val="1001"/>
              </a:spcBef>
              <a:buNone/>
            </a:pPr>
            <a:endParaRPr lang="en-US"/>
          </a:p>
          <a:p>
            <a:pPr marL="0" indent="0">
              <a:lnSpc>
                <a:spcPct val="90000"/>
              </a:lnSpc>
              <a:spcBef>
                <a:spcPts val="1001"/>
              </a:spcBef>
              <a:buNone/>
            </a:pPr>
            <a:r>
              <a:rPr lang="en-US" b="1" dirty="0"/>
              <a:t>if</a:t>
            </a:r>
            <a:r>
              <a:rPr lang="en-US" dirty="0"/>
              <a:t> and </a:t>
            </a:r>
            <a:r>
              <a:rPr lang="en-US" b="1" dirty="0"/>
              <a:t>if-else</a:t>
            </a:r>
            <a:r>
              <a:rPr lang="en-US" dirty="0"/>
              <a:t> statements are essential for making decisions in your code based on specific conditions. You can also use more complex combinations of </a:t>
            </a:r>
            <a:r>
              <a:rPr lang="en-US" b="1" dirty="0"/>
              <a:t>if</a:t>
            </a:r>
            <a:r>
              <a:rPr lang="en-US" dirty="0"/>
              <a:t>, </a:t>
            </a:r>
            <a:r>
              <a:rPr lang="en-US" b="1" dirty="0" err="1"/>
              <a:t>elif</a:t>
            </a:r>
            <a:r>
              <a:rPr lang="en-US" dirty="0"/>
              <a:t> (short for "else if"), and </a:t>
            </a:r>
            <a:r>
              <a:rPr lang="en-US" b="1" dirty="0"/>
              <a:t>else</a:t>
            </a:r>
            <a:r>
              <a:rPr lang="en-US" dirty="0"/>
              <a:t> to handle multiple possible conditions in your program.</a:t>
            </a:r>
          </a:p>
        </p:txBody>
      </p:sp>
      <p:sp>
        <p:nvSpPr>
          <p:cNvPr id="4" name="Slide Number Placeholder 3"/>
          <p:cNvSpPr>
            <a:spLocks noGrp="1"/>
          </p:cNvSpPr>
          <p:nvPr>
            <p:ph type="sldNum" sz="quarter" idx="5"/>
          </p:nvPr>
        </p:nvSpPr>
        <p:spPr/>
        <p:txBody>
          <a:bodyPr/>
          <a:lstStyle/>
          <a:p>
            <a:fld id="{D19F54ED-9695-45D2-AA9B-D5FE6309A636}" type="slidenum">
              <a:rPr lang="en-GB"/>
              <a:t>45</a:t>
            </a:fld>
            <a:endParaRPr lang="en-GB"/>
          </a:p>
        </p:txBody>
      </p:sp>
    </p:spTree>
    <p:extLst>
      <p:ext uri="{BB962C8B-B14F-4D97-AF65-F5344CB8AC3E}">
        <p14:creationId xmlns:p14="http://schemas.microsoft.com/office/powerpoint/2010/main" val="12532815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Answer1: </a:t>
            </a:r>
          </a:p>
          <a:p>
            <a:pPr marL="158750" indent="0">
              <a:buNone/>
            </a:pPr>
            <a:r>
              <a:rPr lang="en-US" dirty="0"/>
              <a:t>number = int(input("Enter a number: "))</a:t>
            </a:r>
          </a:p>
          <a:p>
            <a:pPr marL="158750" indent="0">
              <a:buNone/>
            </a:pPr>
            <a:r>
              <a:rPr lang="en-US" dirty="0"/>
              <a:t>if number &gt; 0:</a:t>
            </a:r>
          </a:p>
          <a:p>
            <a:pPr marL="158750" indent="0">
              <a:buNone/>
            </a:pPr>
            <a:r>
              <a:rPr lang="en-US" dirty="0"/>
              <a:t>    print("The number is positive.")</a:t>
            </a:r>
          </a:p>
          <a:p>
            <a:pPr marL="158750" indent="0">
              <a:buNone/>
            </a:pPr>
            <a:r>
              <a:rPr lang="en-US" dirty="0" err="1"/>
              <a:t>elif</a:t>
            </a:r>
            <a:r>
              <a:rPr lang="en-US" dirty="0"/>
              <a:t> number &lt; 0:</a:t>
            </a:r>
          </a:p>
          <a:p>
            <a:pPr marL="158750" indent="0">
              <a:buNone/>
            </a:pPr>
            <a:r>
              <a:rPr lang="en-US" dirty="0"/>
              <a:t>    print("The number is negative.")</a:t>
            </a:r>
          </a:p>
          <a:p>
            <a:pPr marL="158750" indent="0">
              <a:buNone/>
            </a:pPr>
            <a:r>
              <a:rPr lang="en-US" dirty="0"/>
              <a:t>else:</a:t>
            </a:r>
          </a:p>
          <a:p>
            <a:pPr marL="158750" indent="0">
              <a:buNone/>
            </a:pPr>
            <a:r>
              <a:rPr lang="en-US" dirty="0"/>
              <a:t>    print("The number is zero.")</a:t>
            </a:r>
          </a:p>
          <a:p>
            <a:pPr marL="158750" indent="0">
              <a:buNone/>
            </a:pPr>
            <a:endParaRPr lang="en-US" dirty="0"/>
          </a:p>
          <a:p>
            <a:pPr marL="158750" indent="0">
              <a:buNone/>
            </a:pPr>
            <a:endParaRPr lang="en-US" dirty="0"/>
          </a:p>
          <a:p>
            <a:pPr marL="158750" indent="0">
              <a:buNone/>
            </a:pPr>
            <a:r>
              <a:rPr lang="en-US" dirty="0"/>
              <a:t>Answer2:</a:t>
            </a:r>
          </a:p>
          <a:p>
            <a:pPr marL="158750" indent="0">
              <a:buNone/>
            </a:pPr>
            <a:r>
              <a:rPr lang="en-US" dirty="0"/>
              <a:t>age = int(input("Enter your age: "))</a:t>
            </a:r>
          </a:p>
          <a:p>
            <a:pPr marL="158750" indent="0">
              <a:buNone/>
            </a:pPr>
            <a:r>
              <a:rPr lang="en-US" dirty="0"/>
              <a:t>if age &gt;= 0 and age &lt;= 12:</a:t>
            </a:r>
          </a:p>
          <a:p>
            <a:pPr marL="158750" indent="0">
              <a:buNone/>
            </a:pPr>
            <a:r>
              <a:rPr lang="en-US" dirty="0"/>
              <a:t>    print("You are a child.")</a:t>
            </a:r>
          </a:p>
          <a:p>
            <a:pPr marL="158750" indent="0">
              <a:buNone/>
            </a:pPr>
            <a:r>
              <a:rPr lang="en-US" dirty="0" err="1"/>
              <a:t>elif</a:t>
            </a:r>
            <a:r>
              <a:rPr lang="en-US" dirty="0"/>
              <a:t> age &gt;= 13 and age &lt;= 19:</a:t>
            </a:r>
          </a:p>
          <a:p>
            <a:pPr marL="158750" indent="0">
              <a:buNone/>
            </a:pPr>
            <a:r>
              <a:rPr lang="en-US" dirty="0"/>
              <a:t>    print("You are a teenager.")</a:t>
            </a:r>
          </a:p>
          <a:p>
            <a:pPr marL="158750" indent="0">
              <a:buNone/>
            </a:pPr>
            <a:r>
              <a:rPr lang="en-US" dirty="0" err="1"/>
              <a:t>elif</a:t>
            </a:r>
            <a:r>
              <a:rPr lang="en-US" dirty="0"/>
              <a:t> age &gt;= 20 and age &lt;= 64:</a:t>
            </a:r>
          </a:p>
          <a:p>
            <a:pPr marL="158750" indent="0">
              <a:buNone/>
            </a:pPr>
            <a:r>
              <a:rPr lang="en-US" dirty="0"/>
              <a:t>    print("You are an adult.")</a:t>
            </a:r>
          </a:p>
          <a:p>
            <a:pPr marL="158750" indent="0">
              <a:buNone/>
            </a:pPr>
            <a:r>
              <a:rPr lang="en-US" dirty="0" err="1"/>
              <a:t>elif</a:t>
            </a:r>
            <a:r>
              <a:rPr lang="en-US" dirty="0"/>
              <a:t> age &gt;= 65:</a:t>
            </a:r>
          </a:p>
          <a:p>
            <a:pPr marL="158750" indent="0">
              <a:buNone/>
            </a:pPr>
            <a:r>
              <a:rPr lang="en-US" dirty="0"/>
              <a:t>    print("You are a senior.")</a:t>
            </a:r>
          </a:p>
          <a:p>
            <a:pPr marL="158750" indent="0">
              <a:buNone/>
            </a:pPr>
            <a:r>
              <a:rPr lang="en-US" dirty="0"/>
              <a:t>else:</a:t>
            </a:r>
          </a:p>
          <a:p>
            <a:pPr marL="158750" indent="0">
              <a:buNone/>
            </a:pPr>
            <a:r>
              <a:rPr lang="en-US" dirty="0"/>
              <a:t>    print("Invalid age.")</a:t>
            </a:r>
          </a:p>
          <a:p>
            <a:pPr marL="158750" indent="0">
              <a:buNone/>
            </a:pPr>
            <a:endParaRPr lang="en-IN" dirty="0"/>
          </a:p>
        </p:txBody>
      </p:sp>
    </p:spTree>
    <p:extLst>
      <p:ext uri="{BB962C8B-B14F-4D97-AF65-F5344CB8AC3E}">
        <p14:creationId xmlns:p14="http://schemas.microsoft.com/office/powerpoint/2010/main" val="14050145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a:t>Like other programming languages in Python also we have looping statements. In Python we have for loop and while loop but the syntax is different compared to other programming languages. Let's have  dive into these loop control statements.</a:t>
            </a:r>
          </a:p>
          <a:p>
            <a:r>
              <a:rPr lang="en-US" b="1"/>
              <a:t>-----</a:t>
            </a:r>
          </a:p>
          <a:p>
            <a:endParaRPr lang="en-US" b="1"/>
          </a:p>
          <a:p>
            <a:endParaRPr lang="en-US"/>
          </a:p>
          <a:p>
            <a:r>
              <a:rPr lang="en-US"/>
              <a:t>In Python, the for loop is used to iterate over a sequence such as a </a:t>
            </a:r>
            <a:r>
              <a:rPr lang="en-US" u="sng">
                <a:hlinkClick r:id="rId3"/>
              </a:rPr>
              <a:t>list</a:t>
            </a:r>
            <a:r>
              <a:rPr lang="en-US"/>
              <a:t>, string, </a:t>
            </a:r>
            <a:r>
              <a:rPr lang="en-US" u="sng">
                <a:hlinkClick r:id="rId4"/>
              </a:rPr>
              <a:t>tuple</a:t>
            </a:r>
            <a:r>
              <a:rPr lang="en-US"/>
              <a:t>, other </a:t>
            </a:r>
            <a:r>
              <a:rPr lang="en-US" err="1"/>
              <a:t>iterable</a:t>
            </a:r>
            <a:r>
              <a:rPr lang="en-US"/>
              <a:t> objects such as </a:t>
            </a:r>
            <a:r>
              <a:rPr lang="en-US" u="sng">
                <a:hlinkClick r:id="rId5"/>
              </a:rPr>
              <a:t>range</a:t>
            </a:r>
            <a:r>
              <a:rPr lang="en-US"/>
              <a:t>.</a:t>
            </a:r>
          </a:p>
          <a:p>
            <a:r>
              <a:rPr lang="en-US"/>
              <a:t>With the help of for loop, we can iterate over each item present in the sequence and executes the same set of operations for each item. Using a for loops in Python we can automate and repeat tasks in an efficient manner.</a:t>
            </a:r>
          </a:p>
          <a:p>
            <a:endParaRPr lang="en-US"/>
          </a:p>
        </p:txBody>
      </p:sp>
      <p:sp>
        <p:nvSpPr>
          <p:cNvPr id="4" name="Slide Number Placeholder 3"/>
          <p:cNvSpPr>
            <a:spLocks noGrp="1"/>
          </p:cNvSpPr>
          <p:nvPr>
            <p:ph type="sldNum" sz="quarter" idx="5"/>
          </p:nvPr>
        </p:nvSpPr>
        <p:spPr/>
        <p:txBody>
          <a:bodyPr/>
          <a:lstStyle/>
          <a:p>
            <a:fld id="{D19F54ED-9695-45D2-AA9B-D5FE6309A636}" type="slidenum">
              <a:rPr lang="en-GB"/>
              <a:t>47</a:t>
            </a:fld>
            <a:endParaRPr lang="en-GB"/>
          </a:p>
        </p:txBody>
      </p:sp>
    </p:spTree>
    <p:extLst>
      <p:ext uri="{BB962C8B-B14F-4D97-AF65-F5344CB8AC3E}">
        <p14:creationId xmlns:p14="http://schemas.microsoft.com/office/powerpoint/2010/main" val="19486972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 1:</a:t>
            </a:r>
          </a:p>
          <a:p>
            <a:pPr marL="158750" indent="0">
              <a:buNone/>
            </a:pPr>
            <a:endParaRPr lang="en-US" dirty="0"/>
          </a:p>
          <a:p>
            <a:pPr marL="158750" indent="0">
              <a:buNone/>
            </a:pPr>
            <a:r>
              <a:rPr lang="en-IN" dirty="0" err="1"/>
              <a:t>student_scores</a:t>
            </a:r>
            <a:r>
              <a:rPr lang="en-IN" dirty="0"/>
              <a:t> = {"Alice": 95, "Bob": 82, "Charlie": 78, "David": 65, "Eve": 58}</a:t>
            </a:r>
          </a:p>
          <a:p>
            <a:pPr marL="158750" indent="0">
              <a:buNone/>
            </a:pPr>
            <a:r>
              <a:rPr lang="en-IN" dirty="0"/>
              <a:t>for student, score in </a:t>
            </a:r>
            <a:r>
              <a:rPr lang="en-IN" dirty="0" err="1"/>
              <a:t>student_scores.items</a:t>
            </a:r>
            <a:r>
              <a:rPr lang="en-IN" dirty="0"/>
              <a:t>():</a:t>
            </a:r>
          </a:p>
          <a:p>
            <a:pPr marL="158750" indent="0">
              <a:buNone/>
            </a:pPr>
            <a:r>
              <a:rPr lang="en-IN" dirty="0"/>
              <a:t>    if score &gt;= 90:</a:t>
            </a:r>
          </a:p>
          <a:p>
            <a:pPr marL="158750" indent="0">
              <a:buNone/>
            </a:pPr>
            <a:r>
              <a:rPr lang="en-IN" dirty="0"/>
              <a:t>        grade = 'A'</a:t>
            </a:r>
          </a:p>
          <a:p>
            <a:pPr marL="158750" indent="0">
              <a:buNone/>
            </a:pPr>
            <a:r>
              <a:rPr lang="en-IN" dirty="0"/>
              <a:t>    </a:t>
            </a:r>
            <a:r>
              <a:rPr lang="en-IN" dirty="0" err="1"/>
              <a:t>elif</a:t>
            </a:r>
            <a:r>
              <a:rPr lang="en-IN" dirty="0"/>
              <a:t> score &gt;= 80:</a:t>
            </a:r>
          </a:p>
          <a:p>
            <a:pPr marL="158750" indent="0">
              <a:buNone/>
            </a:pPr>
            <a:r>
              <a:rPr lang="en-IN" dirty="0"/>
              <a:t>        grade = 'B'</a:t>
            </a:r>
          </a:p>
          <a:p>
            <a:pPr marL="158750" indent="0">
              <a:buNone/>
            </a:pPr>
            <a:r>
              <a:rPr lang="en-IN" dirty="0"/>
              <a:t>    </a:t>
            </a:r>
            <a:r>
              <a:rPr lang="en-IN" dirty="0" err="1"/>
              <a:t>elif</a:t>
            </a:r>
            <a:r>
              <a:rPr lang="en-IN" dirty="0"/>
              <a:t> score &gt;= 70:</a:t>
            </a:r>
          </a:p>
          <a:p>
            <a:pPr marL="158750" indent="0">
              <a:buNone/>
            </a:pPr>
            <a:r>
              <a:rPr lang="en-IN" dirty="0"/>
              <a:t>        grade = 'C'</a:t>
            </a:r>
          </a:p>
          <a:p>
            <a:pPr marL="158750" indent="0">
              <a:buNone/>
            </a:pPr>
            <a:r>
              <a:rPr lang="en-IN" dirty="0"/>
              <a:t>    </a:t>
            </a:r>
            <a:r>
              <a:rPr lang="en-IN" dirty="0" err="1"/>
              <a:t>elif</a:t>
            </a:r>
            <a:r>
              <a:rPr lang="en-IN" dirty="0"/>
              <a:t> score &gt;= 60:</a:t>
            </a:r>
          </a:p>
          <a:p>
            <a:pPr marL="158750" indent="0">
              <a:buNone/>
            </a:pPr>
            <a:r>
              <a:rPr lang="en-IN" dirty="0"/>
              <a:t>        grade = 'D'</a:t>
            </a:r>
          </a:p>
          <a:p>
            <a:pPr marL="158750" indent="0">
              <a:buNone/>
            </a:pPr>
            <a:r>
              <a:rPr lang="en-IN" dirty="0"/>
              <a:t>    else:</a:t>
            </a:r>
          </a:p>
          <a:p>
            <a:pPr marL="158750" indent="0">
              <a:buNone/>
            </a:pPr>
            <a:r>
              <a:rPr lang="en-IN" dirty="0"/>
              <a:t>        grade = 'F'</a:t>
            </a:r>
          </a:p>
          <a:p>
            <a:pPr marL="158750" indent="0">
              <a:buNone/>
            </a:pPr>
            <a:r>
              <a:rPr lang="en-IN" dirty="0"/>
              <a:t>    print(f"{student} received grade {grade}")</a:t>
            </a:r>
          </a:p>
          <a:p>
            <a:pPr marL="158750" indent="0">
              <a:buNone/>
            </a:pPr>
            <a:endParaRPr lang="en-IN" dirty="0"/>
          </a:p>
          <a:p>
            <a:pPr marL="158750" indent="0">
              <a:buNone/>
            </a:pPr>
            <a:r>
              <a:rPr lang="en-IN" dirty="0"/>
              <a:t>Answer2:</a:t>
            </a:r>
          </a:p>
          <a:p>
            <a:pPr marL="158750" indent="0">
              <a:buNone/>
            </a:pPr>
            <a:endParaRPr lang="en-IN" dirty="0"/>
          </a:p>
          <a:p>
            <a:pPr marL="158750" indent="0">
              <a:buNone/>
            </a:pPr>
            <a:r>
              <a:rPr lang="en-US" dirty="0"/>
              <a:t>numbers = (1, 2, 3, 4, 5, 6)</a:t>
            </a:r>
          </a:p>
          <a:p>
            <a:pPr marL="158750" indent="0">
              <a:buNone/>
            </a:pPr>
            <a:r>
              <a:rPr lang="en-US" dirty="0"/>
              <a:t>for number in numbers:</a:t>
            </a:r>
          </a:p>
          <a:p>
            <a:pPr marL="158750" indent="0">
              <a:buNone/>
            </a:pPr>
            <a:r>
              <a:rPr lang="en-US" dirty="0"/>
              <a:t>    if number % 2 == 0:</a:t>
            </a:r>
          </a:p>
          <a:p>
            <a:pPr marL="158750" indent="0">
              <a:buNone/>
            </a:pPr>
            <a:r>
              <a:rPr lang="en-US" dirty="0"/>
              <a:t>        print(f"{number} is even.")</a:t>
            </a:r>
          </a:p>
          <a:p>
            <a:pPr marL="158750" indent="0">
              <a:buNone/>
            </a:pPr>
            <a:r>
              <a:rPr lang="en-US" dirty="0"/>
              <a:t>    else:</a:t>
            </a:r>
          </a:p>
          <a:p>
            <a:pPr marL="158750" indent="0">
              <a:buNone/>
            </a:pPr>
            <a:r>
              <a:rPr lang="en-US" dirty="0"/>
              <a:t>        print(f"{number} is odd.")</a:t>
            </a:r>
          </a:p>
          <a:p>
            <a:pPr marL="158750" indent="0">
              <a:buNone/>
            </a:pPr>
            <a:endParaRPr lang="en-IN" dirty="0"/>
          </a:p>
          <a:p>
            <a:pPr marL="158750" indent="0">
              <a:buNone/>
            </a:pPr>
            <a:endParaRPr lang="en-IN" dirty="0"/>
          </a:p>
          <a:p>
            <a:pPr marL="158750" indent="0">
              <a:buNone/>
            </a:pPr>
            <a:endParaRPr lang="en-IN" dirty="0"/>
          </a:p>
        </p:txBody>
      </p:sp>
    </p:spTree>
    <p:extLst>
      <p:ext uri="{BB962C8B-B14F-4D97-AF65-F5344CB8AC3E}">
        <p14:creationId xmlns:p14="http://schemas.microsoft.com/office/powerpoint/2010/main" val="9176179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indent="-285750">
              <a:buChar char="•"/>
            </a:pPr>
            <a:r>
              <a:rPr lang="en-US" b="1"/>
              <a:t>In previous slide we have seen what is for loop in Python point of view now let's have a look at while loop in Python.</a:t>
            </a:r>
          </a:p>
          <a:p>
            <a:pPr marL="0" indent="0">
              <a:buNone/>
            </a:pPr>
            <a:r>
              <a:rPr lang="en-US" b="1"/>
              <a:t>------</a:t>
            </a:r>
          </a:p>
          <a:p>
            <a:pPr marL="0" indent="0">
              <a:buNone/>
            </a:pPr>
            <a:endParaRPr lang="en-US" b="1"/>
          </a:p>
          <a:p>
            <a:pPr marL="285750" indent="-285750">
              <a:buChar char="•"/>
            </a:pPr>
            <a:r>
              <a:rPr lang="en-US"/>
              <a:t>The while statement checks the condition. The condition must return a </a:t>
            </a:r>
            <a:r>
              <a:rPr lang="en-US" err="1"/>
              <a:t>boolean</a:t>
            </a:r>
            <a:r>
              <a:rPr lang="en-US"/>
              <a:t> value. Either True or False.</a:t>
            </a:r>
          </a:p>
          <a:p>
            <a:pPr marL="285750" indent="-285750">
              <a:buChar char="•"/>
            </a:pPr>
            <a:r>
              <a:rPr lang="en-US"/>
              <a:t>Next, If the condition evaluates to true, the while statement executes the statements present inside its block.</a:t>
            </a:r>
          </a:p>
          <a:p>
            <a:pPr marL="285750" indent="-285750">
              <a:buChar char="•"/>
            </a:pPr>
            <a:r>
              <a:rPr lang="en-US"/>
              <a:t>The while statement continues checking the condition in each iteration and keeps executing its block until the condition becomes false.</a:t>
            </a:r>
          </a:p>
          <a:p>
            <a:pPr>
              <a:buNone/>
            </a:pPr>
            <a:endParaRPr lang="en-US">
              <a:latin typeface="Calibri"/>
              <a:cs typeface="Calibri"/>
            </a:endParaRPr>
          </a:p>
        </p:txBody>
      </p:sp>
    </p:spTree>
    <p:extLst>
      <p:ext uri="{BB962C8B-B14F-4D97-AF65-F5344CB8AC3E}">
        <p14:creationId xmlns:p14="http://schemas.microsoft.com/office/powerpoint/2010/main" val="3731293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 1:</a:t>
            </a:r>
          </a:p>
          <a:p>
            <a:pPr marL="158750" indent="0">
              <a:buNone/>
            </a:pPr>
            <a:endParaRPr lang="en-US" dirty="0"/>
          </a:p>
          <a:p>
            <a:pPr marL="158750" indent="0">
              <a:buNone/>
            </a:pPr>
            <a:r>
              <a:rPr lang="en-US" dirty="0"/>
              <a:t>numbers = []</a:t>
            </a:r>
          </a:p>
          <a:p>
            <a:pPr marL="158750" indent="0">
              <a:buNone/>
            </a:pPr>
            <a:r>
              <a:rPr lang="en-US" dirty="0"/>
              <a:t>total = 0</a:t>
            </a:r>
          </a:p>
          <a:p>
            <a:pPr marL="158750" indent="0">
              <a:buNone/>
            </a:pPr>
            <a:r>
              <a:rPr lang="en-US" dirty="0"/>
              <a:t>while total &lt;= 100:</a:t>
            </a:r>
          </a:p>
          <a:p>
            <a:pPr marL="158750" indent="0">
              <a:buNone/>
            </a:pPr>
            <a:r>
              <a:rPr lang="en-US" dirty="0"/>
              <a:t>    num = int(input("Enter a number: "))</a:t>
            </a:r>
          </a:p>
          <a:p>
            <a:pPr marL="158750" indent="0">
              <a:buNone/>
            </a:pPr>
            <a:r>
              <a:rPr lang="en-US" dirty="0"/>
              <a:t>    </a:t>
            </a:r>
            <a:r>
              <a:rPr lang="en-US" dirty="0" err="1"/>
              <a:t>numbers.append</a:t>
            </a:r>
            <a:r>
              <a:rPr lang="en-US" dirty="0"/>
              <a:t>(num)</a:t>
            </a:r>
          </a:p>
          <a:p>
            <a:pPr marL="158750" indent="0">
              <a:buNone/>
            </a:pPr>
            <a:r>
              <a:rPr lang="en-US" dirty="0"/>
              <a:t>    total += num</a:t>
            </a:r>
          </a:p>
          <a:p>
            <a:pPr marL="158750" indent="0">
              <a:buNone/>
            </a:pPr>
            <a:r>
              <a:rPr lang="en-US" dirty="0"/>
              <a:t>print(</a:t>
            </a:r>
            <a:r>
              <a:rPr lang="en-US" dirty="0" err="1"/>
              <a:t>f"List</a:t>
            </a:r>
            <a:r>
              <a:rPr lang="en-US" dirty="0"/>
              <a:t> of numbers: {numbers}")</a:t>
            </a:r>
          </a:p>
          <a:p>
            <a:pPr marL="158750" indent="0">
              <a:buNone/>
            </a:pPr>
            <a:r>
              <a:rPr lang="en-US" dirty="0"/>
              <a:t>print(</a:t>
            </a:r>
            <a:r>
              <a:rPr lang="en-US" dirty="0" err="1"/>
              <a:t>f"Sum</a:t>
            </a:r>
            <a:r>
              <a:rPr lang="en-US" dirty="0"/>
              <a:t> of the list: {total}")</a:t>
            </a:r>
          </a:p>
          <a:p>
            <a:pPr marL="158750" indent="0">
              <a:buNone/>
            </a:pPr>
            <a:endParaRPr lang="en-IN" dirty="0"/>
          </a:p>
          <a:p>
            <a:pPr marL="158750" indent="0">
              <a:buNone/>
            </a:pPr>
            <a:r>
              <a:rPr lang="en-IN" dirty="0"/>
              <a:t>Answer2:</a:t>
            </a:r>
          </a:p>
          <a:p>
            <a:pPr marL="158750" indent="0">
              <a:buNone/>
            </a:pPr>
            <a:endParaRPr lang="en-IN" dirty="0"/>
          </a:p>
          <a:p>
            <a:pPr marL="158750" indent="0">
              <a:buNone/>
            </a:pPr>
            <a:r>
              <a:rPr lang="en-US" dirty="0"/>
              <a:t>numbers = (1, 2, 3, 4, 5)</a:t>
            </a:r>
          </a:p>
          <a:p>
            <a:pPr marL="158750" indent="0">
              <a:buNone/>
            </a:pPr>
            <a:r>
              <a:rPr lang="en-US" dirty="0"/>
              <a:t>index = </a:t>
            </a:r>
            <a:r>
              <a:rPr lang="en-US" dirty="0" err="1"/>
              <a:t>len</a:t>
            </a:r>
            <a:r>
              <a:rPr lang="en-US" dirty="0"/>
              <a:t>(numbers) - 1</a:t>
            </a:r>
          </a:p>
          <a:p>
            <a:pPr marL="158750" indent="0">
              <a:buNone/>
            </a:pPr>
            <a:r>
              <a:rPr lang="en-US" dirty="0"/>
              <a:t>while index &gt;= 0:</a:t>
            </a:r>
          </a:p>
          <a:p>
            <a:pPr marL="158750" indent="0">
              <a:buNone/>
            </a:pPr>
            <a:r>
              <a:rPr lang="en-US" dirty="0"/>
              <a:t>    print(numbers[index])</a:t>
            </a:r>
          </a:p>
          <a:p>
            <a:pPr marL="158750" indent="0">
              <a:buNone/>
            </a:pPr>
            <a:r>
              <a:rPr lang="en-US" dirty="0"/>
              <a:t>    index -= 1</a:t>
            </a:r>
          </a:p>
          <a:p>
            <a:pPr marL="158750" indent="0">
              <a:buNone/>
            </a:pPr>
            <a:endParaRPr lang="en-IN" dirty="0"/>
          </a:p>
          <a:p>
            <a:pPr marL="158750" indent="0">
              <a:buNone/>
            </a:pPr>
            <a:endParaRPr lang="en-IN" dirty="0"/>
          </a:p>
          <a:p>
            <a:pPr marL="158750" indent="0">
              <a:buNone/>
            </a:pPr>
            <a:endParaRPr lang="en-IN" dirty="0"/>
          </a:p>
        </p:txBody>
      </p:sp>
    </p:spTree>
    <p:extLst>
      <p:ext uri="{BB962C8B-B14F-4D97-AF65-F5344CB8AC3E}">
        <p14:creationId xmlns:p14="http://schemas.microsoft.com/office/powerpoint/2010/main" val="38936853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a:t>Certainly! break and continue are control flow statements in Python that are often used within loops (for and while) to modify the loop's behavior. Let's have a look at those.</a:t>
            </a:r>
          </a:p>
          <a:p>
            <a:pPr marL="158750" indent="0">
              <a:buNone/>
            </a:pPr>
            <a:endParaRPr lang="en-US" b="1"/>
          </a:p>
          <a:p>
            <a:pPr marL="158750" indent="0">
              <a:buNone/>
            </a:pPr>
            <a:r>
              <a:rPr lang="en-US" b="1"/>
              <a:t>------------------------</a:t>
            </a:r>
          </a:p>
          <a:p>
            <a:endParaRPr lang="en-US"/>
          </a:p>
          <a:p>
            <a:r>
              <a:rPr lang="en-US" b="1"/>
              <a:t>break Statement:</a:t>
            </a:r>
            <a:r>
              <a:rPr lang="en-US"/>
              <a:t> The </a:t>
            </a:r>
            <a:r>
              <a:rPr lang="en-US" b="1"/>
              <a:t>break</a:t>
            </a:r>
            <a:r>
              <a:rPr lang="en-US"/>
              <a:t> statement is used to exit the loop prematurely. When a </a:t>
            </a:r>
            <a:r>
              <a:rPr lang="en-US" b="1"/>
              <a:t>break</a:t>
            </a:r>
            <a:r>
              <a:rPr lang="en-US"/>
              <a:t> statement is encountered within a loop, the loop terminates immediately, regardless of whether the loop's condition has been fully satisfied.</a:t>
            </a:r>
          </a:p>
          <a:p>
            <a:endParaRPr lang="en-US"/>
          </a:p>
          <a:p>
            <a:r>
              <a:rPr lang="en-US" b="1"/>
              <a:t>continue Statement:</a:t>
            </a:r>
            <a:r>
              <a:rPr lang="en-US"/>
              <a:t> The </a:t>
            </a:r>
            <a:r>
              <a:rPr lang="en-US" b="1"/>
              <a:t>continue</a:t>
            </a:r>
            <a:r>
              <a:rPr lang="en-US"/>
              <a:t> statement is used to skip the current iteration of the loop and move to the next iteration. It effectively skips the rest of the code in the current iteration and jumps to the next iteration.</a:t>
            </a:r>
          </a:p>
        </p:txBody>
      </p:sp>
      <p:sp>
        <p:nvSpPr>
          <p:cNvPr id="4" name="Slide Number Placeholder 3"/>
          <p:cNvSpPr>
            <a:spLocks noGrp="1"/>
          </p:cNvSpPr>
          <p:nvPr>
            <p:ph type="sldNum" sz="quarter" idx="5"/>
          </p:nvPr>
        </p:nvSpPr>
        <p:spPr/>
        <p:txBody>
          <a:bodyPr/>
          <a:lstStyle/>
          <a:p>
            <a:fld id="{D19F54ED-9695-45D2-AA9B-D5FE6309A636}" type="slidenum">
              <a:rPr lang="en-GB"/>
              <a:t>51</a:t>
            </a:fld>
            <a:endParaRPr lang="en-GB"/>
          </a:p>
        </p:txBody>
      </p:sp>
    </p:spTree>
    <p:extLst>
      <p:ext uri="{BB962C8B-B14F-4D97-AF65-F5344CB8AC3E}">
        <p14:creationId xmlns:p14="http://schemas.microsoft.com/office/powerpoint/2010/main" val="1384632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 1:</a:t>
            </a:r>
          </a:p>
          <a:p>
            <a:pPr marL="158750" indent="0">
              <a:buNone/>
            </a:pPr>
            <a:endParaRPr lang="en-US" dirty="0"/>
          </a:p>
          <a:p>
            <a:pPr marL="158750" indent="0">
              <a:buNone/>
            </a:pPr>
            <a:r>
              <a:rPr lang="en-US" dirty="0"/>
              <a:t>strings = ["hello", "", "world", "python"]</a:t>
            </a:r>
          </a:p>
          <a:p>
            <a:pPr marL="158750" indent="0">
              <a:buNone/>
            </a:pPr>
            <a:r>
              <a:rPr lang="en-US" dirty="0" err="1"/>
              <a:t>contains_empty</a:t>
            </a:r>
            <a:r>
              <a:rPr lang="en-US" dirty="0"/>
              <a:t> = False</a:t>
            </a:r>
          </a:p>
          <a:p>
            <a:pPr marL="158750" indent="0">
              <a:buNone/>
            </a:pPr>
            <a:r>
              <a:rPr lang="en-US" dirty="0"/>
              <a:t>for s in strings:</a:t>
            </a:r>
          </a:p>
          <a:p>
            <a:pPr marL="158750" indent="0">
              <a:buNone/>
            </a:pPr>
            <a:r>
              <a:rPr lang="en-US" dirty="0"/>
              <a:t>    if s == "":</a:t>
            </a:r>
          </a:p>
          <a:p>
            <a:pPr marL="158750" indent="0">
              <a:buNone/>
            </a:pPr>
            <a:r>
              <a:rPr lang="en-US" dirty="0"/>
              <a:t>        </a:t>
            </a:r>
            <a:r>
              <a:rPr lang="en-US" dirty="0" err="1"/>
              <a:t>contains_empty</a:t>
            </a:r>
            <a:r>
              <a:rPr lang="en-US" dirty="0"/>
              <a:t> = True</a:t>
            </a:r>
          </a:p>
          <a:p>
            <a:pPr marL="158750" indent="0">
              <a:buNone/>
            </a:pPr>
            <a:r>
              <a:rPr lang="en-US" dirty="0"/>
              <a:t>        break</a:t>
            </a:r>
          </a:p>
          <a:p>
            <a:pPr marL="158750" indent="0">
              <a:buNone/>
            </a:pPr>
            <a:r>
              <a:rPr lang="en-US" dirty="0"/>
              <a:t>if </a:t>
            </a:r>
            <a:r>
              <a:rPr lang="en-US" dirty="0" err="1"/>
              <a:t>contains_empty</a:t>
            </a:r>
            <a:r>
              <a:rPr lang="en-US" dirty="0"/>
              <a:t>:</a:t>
            </a:r>
          </a:p>
          <a:p>
            <a:pPr marL="158750" indent="0">
              <a:buNone/>
            </a:pPr>
            <a:r>
              <a:rPr lang="en-US" dirty="0"/>
              <a:t>    print("List contains empty strings.")</a:t>
            </a:r>
          </a:p>
          <a:p>
            <a:pPr marL="158750" indent="0">
              <a:buNone/>
            </a:pPr>
            <a:r>
              <a:rPr lang="en-US" dirty="0"/>
              <a:t>else:</a:t>
            </a:r>
          </a:p>
          <a:p>
            <a:pPr marL="158750" indent="0">
              <a:buNone/>
            </a:pPr>
            <a:r>
              <a:rPr lang="en-US" dirty="0"/>
              <a:t>    print("No empty strings found.")</a:t>
            </a:r>
          </a:p>
          <a:p>
            <a:pPr marL="158750" indent="0">
              <a:buNone/>
            </a:pPr>
            <a:endParaRPr lang="en-IN" dirty="0"/>
          </a:p>
          <a:p>
            <a:pPr marL="158750" indent="0">
              <a:buNone/>
            </a:pPr>
            <a:r>
              <a:rPr lang="en-IN" dirty="0"/>
              <a:t>Answer2:</a:t>
            </a:r>
          </a:p>
          <a:p>
            <a:pPr marL="158750" indent="0">
              <a:buNone/>
            </a:pPr>
            <a:endParaRPr lang="en-IN" dirty="0"/>
          </a:p>
          <a:p>
            <a:pPr marL="158750" indent="0">
              <a:buNone/>
            </a:pPr>
            <a:r>
              <a:rPr lang="en-US" dirty="0"/>
              <a:t>count = 0</a:t>
            </a:r>
          </a:p>
          <a:p>
            <a:pPr marL="158750" indent="0">
              <a:buNone/>
            </a:pPr>
            <a:r>
              <a:rPr lang="en-US" dirty="0"/>
              <a:t>while True:</a:t>
            </a:r>
          </a:p>
          <a:p>
            <a:pPr marL="158750" indent="0">
              <a:buNone/>
            </a:pPr>
            <a:r>
              <a:rPr lang="en-US" dirty="0"/>
              <a:t>    num = int(input("Enter a number: "))</a:t>
            </a:r>
          </a:p>
          <a:p>
            <a:pPr marL="158750" indent="0">
              <a:buNone/>
            </a:pPr>
            <a:r>
              <a:rPr lang="en-US" dirty="0"/>
              <a:t>    if num &lt; 0:</a:t>
            </a:r>
          </a:p>
          <a:p>
            <a:pPr marL="158750" indent="0">
              <a:buNone/>
            </a:pPr>
            <a:r>
              <a:rPr lang="en-US" dirty="0"/>
              <a:t>        break</a:t>
            </a:r>
          </a:p>
          <a:p>
            <a:pPr marL="158750" indent="0">
              <a:buNone/>
            </a:pPr>
            <a:r>
              <a:rPr lang="en-US" dirty="0"/>
              <a:t>    count += 1</a:t>
            </a:r>
          </a:p>
          <a:p>
            <a:pPr marL="158750" indent="0">
              <a:buNone/>
            </a:pPr>
            <a:r>
              <a:rPr lang="en-US" dirty="0"/>
              <a:t>print(</a:t>
            </a:r>
            <a:r>
              <a:rPr lang="en-US" dirty="0" err="1"/>
              <a:t>f"Total</a:t>
            </a:r>
            <a:r>
              <a:rPr lang="en-US" dirty="0"/>
              <a:t> numbers entered: {count}")</a:t>
            </a:r>
          </a:p>
          <a:p>
            <a:pPr marL="158750" indent="0">
              <a:buNone/>
            </a:pPr>
            <a:endParaRPr lang="en-IN" dirty="0"/>
          </a:p>
          <a:p>
            <a:pPr marL="158750" indent="0">
              <a:buNone/>
            </a:pPr>
            <a:endParaRPr lang="en-IN" dirty="0"/>
          </a:p>
          <a:p>
            <a:pPr marL="158750" indent="0">
              <a:buNone/>
            </a:pPr>
            <a:endParaRPr lang="en-IN" dirty="0"/>
          </a:p>
        </p:txBody>
      </p:sp>
    </p:spTree>
    <p:extLst>
      <p:ext uri="{BB962C8B-B14F-4D97-AF65-F5344CB8AC3E}">
        <p14:creationId xmlns:p14="http://schemas.microsoft.com/office/powerpoint/2010/main" val="7722336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Char char="•"/>
            </a:pPr>
            <a:r>
              <a:rPr lang="en-US" err="1"/>
              <a:t>function_name</a:t>
            </a:r>
            <a:r>
              <a:rPr lang="en-US"/>
              <a:t>: Function name is the name of the function. We can give any name to function.</a:t>
            </a:r>
          </a:p>
          <a:p>
            <a:pPr marL="285750" indent="-285750">
              <a:buChar char="•"/>
            </a:pPr>
            <a:r>
              <a:rPr lang="en-US"/>
              <a:t>parameter: Parameter is the value passed to the function. We can pass any number of parameters. Function body uses the parameter’s value to perform an action</a:t>
            </a:r>
          </a:p>
          <a:p>
            <a:pPr marL="285750" indent="-285750">
              <a:buChar char="•"/>
            </a:pPr>
            <a:r>
              <a:rPr lang="en-US" err="1"/>
              <a:t>function_body</a:t>
            </a:r>
            <a:r>
              <a:rPr lang="en-US"/>
              <a:t>: The function body is a block of code that performs some task. This block of code is nothing but the action you wanted to accomplish.</a:t>
            </a:r>
          </a:p>
          <a:p>
            <a:pPr marL="285750" indent="-285750">
              <a:buChar char="•"/>
            </a:pPr>
            <a:r>
              <a:rPr lang="en-US" b="1"/>
              <a:t>return value</a:t>
            </a:r>
            <a:r>
              <a:rPr lang="en-US"/>
              <a:t>: Return value is the output of the function.</a:t>
            </a:r>
          </a:p>
          <a:p>
            <a:pPr>
              <a:buNone/>
            </a:pPr>
            <a:endParaRPr lang="en-US">
              <a:latin typeface="Calibri"/>
              <a:cs typeface="Calibri"/>
            </a:endParaRPr>
          </a:p>
        </p:txBody>
      </p:sp>
    </p:spTree>
    <p:extLst>
      <p:ext uri="{BB962C8B-B14F-4D97-AF65-F5344CB8AC3E}">
        <p14:creationId xmlns:p14="http://schemas.microsoft.com/office/powerpoint/2010/main" val="42885362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 1:</a:t>
            </a:r>
          </a:p>
          <a:p>
            <a:pPr marL="158750" indent="0">
              <a:buNone/>
            </a:pPr>
            <a:endParaRPr lang="en-US" dirty="0"/>
          </a:p>
          <a:p>
            <a:pPr marL="158750" indent="0">
              <a:buNone/>
            </a:pPr>
            <a:r>
              <a:rPr lang="en-US" dirty="0"/>
              <a:t>def </a:t>
            </a:r>
            <a:r>
              <a:rPr lang="en-US" dirty="0" err="1"/>
              <a:t>calculate_average</a:t>
            </a:r>
            <a:r>
              <a:rPr lang="en-US" dirty="0"/>
              <a:t>(numbers):</a:t>
            </a:r>
          </a:p>
          <a:p>
            <a:pPr marL="158750" indent="0">
              <a:buNone/>
            </a:pPr>
            <a:r>
              <a:rPr lang="en-US" dirty="0"/>
              <a:t>    total = sum(numbers)</a:t>
            </a:r>
          </a:p>
          <a:p>
            <a:pPr marL="158750" indent="0">
              <a:buNone/>
            </a:pPr>
            <a:r>
              <a:rPr lang="en-US" dirty="0"/>
              <a:t>    count = </a:t>
            </a:r>
            <a:r>
              <a:rPr lang="en-US" dirty="0" err="1"/>
              <a:t>len</a:t>
            </a:r>
            <a:r>
              <a:rPr lang="en-US" dirty="0"/>
              <a:t>(numbers)</a:t>
            </a:r>
          </a:p>
          <a:p>
            <a:pPr marL="158750" indent="0">
              <a:buNone/>
            </a:pPr>
            <a:r>
              <a:rPr lang="en-US" dirty="0"/>
              <a:t>    average = total / count</a:t>
            </a:r>
          </a:p>
          <a:p>
            <a:pPr marL="158750" indent="0">
              <a:buNone/>
            </a:pPr>
            <a:r>
              <a:rPr lang="en-US" dirty="0"/>
              <a:t>    return average</a:t>
            </a:r>
          </a:p>
          <a:p>
            <a:pPr marL="158750" indent="0">
              <a:buNone/>
            </a:pPr>
            <a:endParaRPr lang="en-US" dirty="0"/>
          </a:p>
          <a:p>
            <a:pPr marL="158750" indent="0">
              <a:buNone/>
            </a:pPr>
            <a:r>
              <a:rPr lang="en-US" dirty="0"/>
              <a:t>scores = [88, 92, 79, 93, 85]</a:t>
            </a:r>
          </a:p>
          <a:p>
            <a:pPr marL="158750" indent="0">
              <a:buNone/>
            </a:pPr>
            <a:r>
              <a:rPr lang="en-US" dirty="0" err="1"/>
              <a:t>avg_score</a:t>
            </a:r>
            <a:r>
              <a:rPr lang="en-US" dirty="0"/>
              <a:t> = </a:t>
            </a:r>
            <a:r>
              <a:rPr lang="en-US" dirty="0" err="1"/>
              <a:t>calculate_average</a:t>
            </a:r>
            <a:r>
              <a:rPr lang="en-US" dirty="0"/>
              <a:t>(scores)</a:t>
            </a:r>
          </a:p>
          <a:p>
            <a:pPr marL="158750" indent="0">
              <a:buNone/>
            </a:pPr>
            <a:r>
              <a:rPr lang="en-US" dirty="0"/>
              <a:t>print(</a:t>
            </a:r>
            <a:r>
              <a:rPr lang="en-US" dirty="0" err="1"/>
              <a:t>f"Average</a:t>
            </a:r>
            <a:r>
              <a:rPr lang="en-US" dirty="0"/>
              <a:t> score: {</a:t>
            </a:r>
            <a:r>
              <a:rPr lang="en-US" dirty="0" err="1"/>
              <a:t>avg_score</a:t>
            </a:r>
            <a:r>
              <a:rPr lang="en-US" dirty="0"/>
              <a:t>}")</a:t>
            </a:r>
          </a:p>
          <a:p>
            <a:pPr marL="158750" indent="0">
              <a:buNone/>
            </a:pPr>
            <a:r>
              <a:rPr lang="en-US" dirty="0"/>
              <a:t># Output: Average score: 87.4</a:t>
            </a:r>
          </a:p>
          <a:p>
            <a:pPr marL="158750" indent="0">
              <a:buNone/>
            </a:pPr>
            <a:endParaRPr lang="en-IN" dirty="0"/>
          </a:p>
          <a:p>
            <a:pPr marL="158750" indent="0">
              <a:buNone/>
            </a:pPr>
            <a:r>
              <a:rPr lang="en-IN" dirty="0"/>
              <a:t>Answer2:</a:t>
            </a:r>
          </a:p>
          <a:p>
            <a:pPr marL="158750" indent="0">
              <a:buNone/>
            </a:pPr>
            <a:endParaRPr lang="en-IN" dirty="0"/>
          </a:p>
          <a:p>
            <a:pPr marL="158750" indent="0">
              <a:buNone/>
            </a:pPr>
            <a:r>
              <a:rPr lang="en-US" dirty="0"/>
              <a:t>def </a:t>
            </a:r>
            <a:r>
              <a:rPr lang="en-US" dirty="0" err="1"/>
              <a:t>multiply_list</a:t>
            </a:r>
            <a:r>
              <a:rPr lang="en-US" dirty="0"/>
              <a:t>(numbers, multiplier):</a:t>
            </a:r>
          </a:p>
          <a:p>
            <a:pPr marL="158750" indent="0">
              <a:buNone/>
            </a:pPr>
            <a:r>
              <a:rPr lang="en-US" dirty="0"/>
              <a:t>    result = []</a:t>
            </a:r>
          </a:p>
          <a:p>
            <a:pPr marL="158750" indent="0">
              <a:buNone/>
            </a:pPr>
            <a:r>
              <a:rPr lang="en-US" dirty="0"/>
              <a:t>    for number in numbers:</a:t>
            </a:r>
          </a:p>
          <a:p>
            <a:pPr marL="158750" indent="0">
              <a:buNone/>
            </a:pPr>
            <a:r>
              <a:rPr lang="en-US" dirty="0"/>
              <a:t>        </a:t>
            </a:r>
            <a:r>
              <a:rPr lang="en-US" dirty="0" err="1"/>
              <a:t>result.append</a:t>
            </a:r>
            <a:r>
              <a:rPr lang="en-US" dirty="0"/>
              <a:t>(number * multiplier)</a:t>
            </a:r>
          </a:p>
          <a:p>
            <a:pPr marL="158750" indent="0">
              <a:buNone/>
            </a:pPr>
            <a:r>
              <a:rPr lang="en-US" dirty="0"/>
              <a:t>    return result</a:t>
            </a:r>
          </a:p>
          <a:p>
            <a:pPr marL="158750" indent="0">
              <a:buNone/>
            </a:pPr>
            <a:endParaRPr lang="en-US" dirty="0"/>
          </a:p>
          <a:p>
            <a:pPr marL="158750" indent="0">
              <a:buNone/>
            </a:pPr>
            <a:r>
              <a:rPr lang="en-US" dirty="0"/>
              <a:t>prices = [10, 20, 30, 40, 50]</a:t>
            </a:r>
          </a:p>
          <a:p>
            <a:pPr marL="158750" indent="0">
              <a:buNone/>
            </a:pPr>
            <a:r>
              <a:rPr lang="en-US" dirty="0" err="1"/>
              <a:t>new_prices</a:t>
            </a:r>
            <a:r>
              <a:rPr lang="en-US" dirty="0"/>
              <a:t> = </a:t>
            </a:r>
            <a:r>
              <a:rPr lang="en-US" dirty="0" err="1"/>
              <a:t>multiply_list</a:t>
            </a:r>
            <a:r>
              <a:rPr lang="en-US" dirty="0"/>
              <a:t>(prices, 1.2)</a:t>
            </a:r>
          </a:p>
          <a:p>
            <a:pPr marL="158750" indent="0">
              <a:buNone/>
            </a:pPr>
            <a:r>
              <a:rPr lang="en-US" dirty="0"/>
              <a:t>print(</a:t>
            </a:r>
            <a:r>
              <a:rPr lang="en-US" dirty="0" err="1"/>
              <a:t>new_prices</a:t>
            </a:r>
            <a:r>
              <a:rPr lang="en-US" dirty="0"/>
              <a:t>)</a:t>
            </a:r>
          </a:p>
          <a:p>
            <a:pPr marL="158750" indent="0">
              <a:buNone/>
            </a:pPr>
            <a:r>
              <a:rPr lang="en-US" dirty="0"/>
              <a:t># Output: [12.0, 24.0, 36.0, 48.0, 60.0]</a:t>
            </a:r>
          </a:p>
          <a:p>
            <a:pPr marL="158750" indent="0">
              <a:buNone/>
            </a:pPr>
            <a:endParaRPr lang="en-IN" dirty="0"/>
          </a:p>
          <a:p>
            <a:pPr marL="158750" indent="0">
              <a:buNone/>
            </a:pPr>
            <a:endParaRPr lang="en-IN" dirty="0"/>
          </a:p>
          <a:p>
            <a:pPr marL="158750" indent="0">
              <a:buNone/>
            </a:pPr>
            <a:endParaRPr lang="en-IN" dirty="0"/>
          </a:p>
        </p:txBody>
      </p:sp>
    </p:spTree>
    <p:extLst>
      <p:ext uri="{BB962C8B-B14F-4D97-AF65-F5344CB8AC3E}">
        <p14:creationId xmlns:p14="http://schemas.microsoft.com/office/powerpoint/2010/main" val="30252866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 : Demonstrating Python programs on control statements looping statements and functions</a:t>
            </a:r>
            <a:endParaRPr lang="en-US" dirty="0"/>
          </a:p>
          <a:p>
            <a:pPr algn="ctr">
              <a:buNone/>
            </a:pPr>
            <a:r>
              <a:rPr lang="en-US" b="1" dirty="0"/>
              <a:t>Solution: </a:t>
            </a:r>
            <a:r>
              <a:rPr lang="en-US" b="1" dirty="0">
                <a:hlinkClick r:id="rId3">
                  <a:extLst>
                    <a:ext uri="{A12FA001-AC4F-418D-AE19-62706E023703}">
                      <ahyp:hlinkClr xmlns:ahyp="http://schemas.microsoft.com/office/drawing/2018/hyperlinkcolor" val="tx"/>
                    </a:ext>
                  </a:extLst>
                </a:hlinkClick>
              </a:rPr>
              <a:t>GitHub Link</a:t>
            </a:r>
            <a:endParaRPr lang="en-US"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55</a:t>
            </a:fld>
            <a:endParaRPr lang="en-IN"/>
          </a:p>
        </p:txBody>
      </p:sp>
    </p:spTree>
    <p:extLst>
      <p:ext uri="{BB962C8B-B14F-4D97-AF65-F5344CB8AC3E}">
        <p14:creationId xmlns:p14="http://schemas.microsoft.com/office/powerpoint/2010/main" val="40463128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Self Practice : Python programs on control statements looping statements and functions</a:t>
            </a:r>
            <a:endParaRPr lang="en-US" dirty="0"/>
          </a:p>
          <a:p>
            <a:pPr algn="ctr">
              <a:buNone/>
            </a:pPr>
            <a:r>
              <a:rPr lang="en-US" b="1" dirty="0"/>
              <a:t>Solution: </a:t>
            </a:r>
            <a:r>
              <a:rPr lang="en-US" b="1" dirty="0">
                <a:hlinkClick r:id="rId3">
                  <a:extLst>
                    <a:ext uri="{A12FA001-AC4F-418D-AE19-62706E023703}">
                      <ahyp:hlinkClr xmlns:ahyp="http://schemas.microsoft.com/office/drawing/2018/hyperlinkcolor" val="tx"/>
                    </a:ext>
                  </a:extLst>
                </a:hlinkClick>
              </a:rPr>
              <a:t>GitHub Link</a:t>
            </a:r>
            <a:endParaRPr lang="en-US"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56</a:t>
            </a:fld>
            <a:endParaRPr lang="en-IN"/>
          </a:p>
        </p:txBody>
      </p:sp>
    </p:spTree>
    <p:extLst>
      <p:ext uri="{BB962C8B-B14F-4D97-AF65-F5344CB8AC3E}">
        <p14:creationId xmlns:p14="http://schemas.microsoft.com/office/powerpoint/2010/main" val="22930141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b="1">
                <a:solidFill>
                  <a:srgbClr val="001D35"/>
                </a:solidFill>
                <a:latin typeface="Google Sans"/>
              </a:rPr>
              <a:t>                                                                                              File Handling</a:t>
            </a:r>
          </a:p>
          <a:p>
            <a:pPr marL="158750" indent="0">
              <a:buNone/>
            </a:pPr>
            <a:r>
              <a:rPr lang="en-US" b="1">
                <a:solidFill>
                  <a:srgbClr val="001D35"/>
                </a:solidFill>
                <a:latin typeface="Google Sans"/>
              </a:rPr>
              <a:t>------------------------------------------------------------------------------------------------------------------------------------------------------------------------------</a:t>
            </a:r>
          </a:p>
          <a:p>
            <a:pPr algn="l"/>
            <a:r>
              <a:rPr lang="en-US" b="0" i="0">
                <a:solidFill>
                  <a:srgbClr val="001D35"/>
                </a:solidFill>
                <a:effectLst/>
                <a:latin typeface="Google Sans"/>
              </a:rPr>
              <a:t>There are many different ways to handle files in Python, but the most common approach is to use the built-in open() function. This function allows you to open a file for reading, writing, or appending. Once you have opened a file, you can use the read(), write(), and append() methods to read from, write to, or append to the file, respectively.</a:t>
            </a:r>
            <a:endParaRPr lang="en-US"/>
          </a:p>
          <a:p>
            <a:pPr algn="l"/>
            <a:r>
              <a:rPr lang="en-US" b="0" i="0">
                <a:solidFill>
                  <a:srgbClr val="001D35"/>
                </a:solidFill>
                <a:effectLst/>
                <a:latin typeface="Google Sans"/>
              </a:rPr>
              <a:t>When you are finished with a file, it is important to close it using the close() method. This will ensure that all of the data in the file is properly saved and that the file is not corrupted.</a:t>
            </a:r>
          </a:p>
        </p:txBody>
      </p:sp>
      <p:sp>
        <p:nvSpPr>
          <p:cNvPr id="4" name="Slide Number Placeholder 3"/>
          <p:cNvSpPr>
            <a:spLocks noGrp="1"/>
          </p:cNvSpPr>
          <p:nvPr>
            <p:ph type="sldNum" sz="quarter" idx="5"/>
          </p:nvPr>
        </p:nvSpPr>
        <p:spPr/>
        <p:txBody>
          <a:bodyPr/>
          <a:lstStyle/>
          <a:p>
            <a:fld id="{38AC5F47-FD60-400B-BA97-C26BA53B8B0F}" type="slidenum">
              <a:t>57</a:t>
            </a:fld>
            <a:endParaRPr lang="en-US"/>
          </a:p>
        </p:txBody>
      </p:sp>
    </p:spTree>
    <p:extLst>
      <p:ext uri="{BB962C8B-B14F-4D97-AF65-F5344CB8AC3E}">
        <p14:creationId xmlns:p14="http://schemas.microsoft.com/office/powerpoint/2010/main" val="6328216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a:t> </a:t>
            </a:r>
            <a:r>
              <a:rPr lang="en-US" b="1"/>
              <a:t>Flow of file handling</a:t>
            </a:r>
            <a:endParaRPr lang="en-US"/>
          </a:p>
          <a:p>
            <a:pPr marL="158750" indent="0">
              <a:buNone/>
            </a:pPr>
            <a:endParaRPr lang="en-US" b="1"/>
          </a:p>
          <a:p>
            <a:pPr algn="l"/>
            <a:r>
              <a:rPr lang="en-US" b="0" i="0">
                <a:solidFill>
                  <a:srgbClr val="000000"/>
                </a:solidFill>
                <a:effectLst/>
                <a:latin typeface="Lato"/>
                <a:cs typeface="Lato"/>
              </a:rPr>
              <a:t>To use Python’s built in file processing function you must first open the file.  Once open, data within the file is processed using functions provided by Python, and finally the file is closed.  Always remember to close the file when you’re done. </a:t>
            </a:r>
            <a:endParaRPr lang="en-US" b="0" i="0">
              <a:solidFill>
                <a:srgbClr val="001D35"/>
              </a:solidFill>
              <a:effectLst/>
              <a:latin typeface="Google Sans"/>
              <a:cs typeface="Lato"/>
            </a:endParaRPr>
          </a:p>
        </p:txBody>
      </p:sp>
      <p:sp>
        <p:nvSpPr>
          <p:cNvPr id="4" name="Slide Number Placeholder 3"/>
          <p:cNvSpPr>
            <a:spLocks noGrp="1"/>
          </p:cNvSpPr>
          <p:nvPr>
            <p:ph type="sldNum" sz="quarter" idx="5"/>
          </p:nvPr>
        </p:nvSpPr>
        <p:spPr/>
        <p:txBody>
          <a:bodyPr/>
          <a:lstStyle/>
          <a:p>
            <a:fld id="{38AC5F47-FD60-400B-BA97-C26BA53B8B0F}" type="slidenum">
              <a:t>58</a:t>
            </a:fld>
            <a:endParaRPr lang="en-US"/>
          </a:p>
        </p:txBody>
      </p:sp>
    </p:spTree>
    <p:extLst>
      <p:ext uri="{BB962C8B-B14F-4D97-AF65-F5344CB8AC3E}">
        <p14:creationId xmlns:p14="http://schemas.microsoft.com/office/powerpoint/2010/main" val="18987719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b="1">
                <a:solidFill>
                  <a:srgbClr val="222222"/>
                </a:solidFill>
              </a:rPr>
              <a:t>Opening a File</a:t>
            </a:r>
            <a:endParaRPr lang="en-US"/>
          </a:p>
          <a:p>
            <a:pPr marL="158750" indent="0">
              <a:buNone/>
            </a:pPr>
            <a:endParaRPr lang="en-US" b="1">
              <a:solidFill>
                <a:srgbClr val="222222"/>
              </a:solidFill>
            </a:endParaRPr>
          </a:p>
          <a:p>
            <a:pPr algn="l"/>
            <a:r>
              <a:rPr lang="en-US" b="0" i="0">
                <a:solidFill>
                  <a:srgbClr val="222222"/>
                </a:solidFill>
                <a:effectLst/>
                <a:latin typeface="Inter-Regular"/>
              </a:rPr>
              <a:t>To read or write a file, we need to open that file. For this purpose, Python provides a built-in function open().</a:t>
            </a:r>
            <a:endParaRPr lang="en-US"/>
          </a:p>
          <a:p>
            <a:pPr algn="l"/>
            <a:r>
              <a:rPr lang="en-US" b="0" i="0">
                <a:solidFill>
                  <a:srgbClr val="222222"/>
                </a:solidFill>
                <a:effectLst/>
                <a:latin typeface="Inter-Regular"/>
              </a:rPr>
              <a:t>Pass file path and access mode to the open(</a:t>
            </a:r>
            <a:r>
              <a:rPr lang="en-US" b="0" i="0" err="1">
                <a:solidFill>
                  <a:srgbClr val="222222"/>
                </a:solidFill>
                <a:effectLst/>
                <a:latin typeface="Inter-Regular"/>
              </a:rPr>
              <a:t>file_path</a:t>
            </a:r>
            <a:r>
              <a:rPr lang="en-US" b="0" i="0">
                <a:solidFill>
                  <a:srgbClr val="222222"/>
                </a:solidFill>
                <a:effectLst/>
                <a:latin typeface="Inter-Regular"/>
              </a:rPr>
              <a:t>, </a:t>
            </a:r>
            <a:r>
              <a:rPr lang="en-US" b="0" i="0" err="1">
                <a:solidFill>
                  <a:srgbClr val="222222"/>
                </a:solidFill>
                <a:effectLst/>
                <a:latin typeface="Inter-Regular"/>
              </a:rPr>
              <a:t>access_mode</a:t>
            </a:r>
            <a:r>
              <a:rPr lang="en-US" b="0" i="0">
                <a:solidFill>
                  <a:srgbClr val="222222"/>
                </a:solidFill>
                <a:effectLst/>
                <a:latin typeface="Inter-Regular"/>
              </a:rPr>
              <a:t>) function. It returns the file object. This object is used to read or write the file according to the access mode.</a:t>
            </a:r>
          </a:p>
          <a:p>
            <a:pPr>
              <a:buFont typeface="+mj-lt"/>
              <a:buNone/>
            </a:pPr>
            <a:endParaRPr lang="en-US"/>
          </a:p>
        </p:txBody>
      </p:sp>
      <p:sp>
        <p:nvSpPr>
          <p:cNvPr id="4" name="Slide Number Placeholder 3"/>
          <p:cNvSpPr>
            <a:spLocks noGrp="1"/>
          </p:cNvSpPr>
          <p:nvPr>
            <p:ph type="sldNum" sz="quarter" idx="5"/>
          </p:nvPr>
        </p:nvSpPr>
        <p:spPr/>
        <p:txBody>
          <a:bodyPr/>
          <a:lstStyle/>
          <a:p>
            <a:fld id="{38AC5F47-FD60-400B-BA97-C26BA53B8B0F}" type="slidenum">
              <a:t>59</a:t>
            </a:fld>
            <a:endParaRPr lang="en-US"/>
          </a:p>
        </p:txBody>
      </p:sp>
    </p:spTree>
    <p:extLst>
      <p:ext uri="{BB962C8B-B14F-4D97-AF65-F5344CB8AC3E}">
        <p14:creationId xmlns:p14="http://schemas.microsoft.com/office/powerpoint/2010/main" val="3777016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a:solidFill>
                  <a:srgbClr val="333333"/>
                </a:solidFill>
              </a:rPr>
              <a:t>Access Method </a:t>
            </a:r>
            <a:endParaRPr lang="en-US"/>
          </a:p>
          <a:p>
            <a:pPr marL="228600" indent="-228600">
              <a:buAutoNum type="arabicPeriod"/>
            </a:pPr>
            <a:endParaRPr lang="en-US" b="1">
              <a:solidFill>
                <a:srgbClr val="333333"/>
              </a:solidFill>
              <a:latin typeface="inter-regular"/>
            </a:endParaRPr>
          </a:p>
          <a:p>
            <a:pPr marL="228600" indent="-228600">
              <a:buAutoNum type="arabicPeriod"/>
            </a:pPr>
            <a:r>
              <a:rPr lang="en-US" b="1">
                <a:solidFill>
                  <a:srgbClr val="333333"/>
                </a:solidFill>
                <a:effectLst/>
                <a:latin typeface="inter-regular"/>
              </a:rPr>
              <a:t>r</a:t>
            </a:r>
            <a:r>
              <a:rPr lang="en-US">
                <a:solidFill>
                  <a:srgbClr val="333333"/>
                </a:solidFill>
                <a:effectLst/>
                <a:latin typeface="inter-regular"/>
              </a:rPr>
              <a:t> means to read. So, it opens a file for read-only operation. The file pointer exists at the beginning. The file is by default open in this mode if no access mode is passed.</a:t>
            </a:r>
            <a:endParaRPr lang="en-US"/>
          </a:p>
          <a:p>
            <a:pPr marL="228600" indent="-228600">
              <a:buFont typeface="+mj-lt"/>
              <a:buAutoNum type="arabicPeriod"/>
            </a:pPr>
            <a:r>
              <a:rPr lang="en-US" b="1" err="1">
                <a:solidFill>
                  <a:srgbClr val="333333"/>
                </a:solidFill>
                <a:effectLst/>
                <a:latin typeface="inter-regular"/>
              </a:rPr>
              <a:t>rb</a:t>
            </a:r>
            <a:r>
              <a:rPr lang="en-US">
                <a:solidFill>
                  <a:srgbClr val="333333"/>
                </a:solidFill>
                <a:effectLst/>
                <a:latin typeface="inter-regular"/>
              </a:rPr>
              <a:t> It opens the file to read-only in binary format. The file pointer exists at the beginning of the file.</a:t>
            </a:r>
          </a:p>
          <a:p>
            <a:pPr marL="228600" indent="-228600">
              <a:buFont typeface="+mj-lt"/>
              <a:buAutoNum type="arabicPeriod"/>
            </a:pPr>
            <a:r>
              <a:rPr lang="en-US" b="1">
                <a:solidFill>
                  <a:srgbClr val="333333"/>
                </a:solidFill>
                <a:effectLst/>
                <a:latin typeface="inter-regular"/>
              </a:rPr>
              <a:t>r+</a:t>
            </a:r>
            <a:r>
              <a:rPr lang="en-US">
                <a:solidFill>
                  <a:srgbClr val="333333"/>
                </a:solidFill>
                <a:effectLst/>
                <a:latin typeface="inter-regular"/>
              </a:rPr>
              <a:t> It opens the file to read and write both. The file pointer exists at the beginning of the file.</a:t>
            </a:r>
          </a:p>
          <a:p>
            <a:pPr marL="228600" indent="-228600">
              <a:buFont typeface="+mj-lt"/>
              <a:buAutoNum type="arabicPeriod"/>
            </a:pPr>
            <a:r>
              <a:rPr lang="en-US" b="1" err="1">
                <a:solidFill>
                  <a:srgbClr val="333333"/>
                </a:solidFill>
                <a:effectLst/>
                <a:latin typeface="inter-regular"/>
              </a:rPr>
              <a:t>rb</a:t>
            </a:r>
            <a:r>
              <a:rPr lang="en-US" b="1">
                <a:solidFill>
                  <a:srgbClr val="333333"/>
                </a:solidFill>
                <a:effectLst/>
                <a:latin typeface="inter-regular"/>
              </a:rPr>
              <a:t>+</a:t>
            </a:r>
            <a:r>
              <a:rPr lang="en-US">
                <a:solidFill>
                  <a:srgbClr val="333333"/>
                </a:solidFill>
                <a:effectLst/>
                <a:latin typeface="inter-regular"/>
              </a:rPr>
              <a:t> It opens the file to read and write both in binary format. The file pointer exists at the beginning of the file.</a:t>
            </a:r>
          </a:p>
          <a:p>
            <a:pPr marL="228600" indent="-228600">
              <a:buFont typeface="+mj-lt"/>
              <a:buAutoNum type="arabicPeriod"/>
            </a:pPr>
            <a:r>
              <a:rPr lang="en-US" b="1">
                <a:solidFill>
                  <a:srgbClr val="333333"/>
                </a:solidFill>
                <a:effectLst/>
                <a:latin typeface="inter-regular"/>
              </a:rPr>
              <a:t>w</a:t>
            </a:r>
            <a:r>
              <a:rPr lang="en-US">
                <a:solidFill>
                  <a:srgbClr val="333333"/>
                </a:solidFill>
                <a:effectLst/>
                <a:latin typeface="inter-regular"/>
              </a:rPr>
              <a:t> It opens the file to write only. It overwrites the file if previously exists or creates a new one if no file exists with the same name. The file pointer exists at the beginning of the file.</a:t>
            </a:r>
          </a:p>
          <a:p>
            <a:pPr marL="228600" indent="-228600">
              <a:buFont typeface="+mj-lt"/>
              <a:buAutoNum type="arabicPeriod"/>
            </a:pPr>
            <a:r>
              <a:rPr lang="en-US" b="1" err="1">
                <a:solidFill>
                  <a:srgbClr val="333333"/>
                </a:solidFill>
                <a:effectLst/>
                <a:latin typeface="inter-regular"/>
              </a:rPr>
              <a:t>wb</a:t>
            </a:r>
            <a:r>
              <a:rPr lang="en-US">
                <a:solidFill>
                  <a:srgbClr val="333333"/>
                </a:solidFill>
                <a:effectLst/>
                <a:latin typeface="inter-regular"/>
              </a:rPr>
              <a:t> It opens the file to write only in binary format. It overwrites the file if it exists previously or creates a new one if no file exists. The file pointer exists at the beginning of the file.</a:t>
            </a:r>
          </a:p>
          <a:p>
            <a:pPr marL="228600" indent="-228600">
              <a:buFont typeface="+mj-lt"/>
              <a:buAutoNum type="arabicPeriod"/>
            </a:pPr>
            <a:r>
              <a:rPr lang="en-US" b="1">
                <a:solidFill>
                  <a:srgbClr val="333333"/>
                </a:solidFill>
                <a:effectLst/>
                <a:latin typeface="inter-regular"/>
              </a:rPr>
              <a:t>w+</a:t>
            </a:r>
            <a:r>
              <a:rPr lang="en-US">
                <a:solidFill>
                  <a:srgbClr val="333333"/>
                </a:solidFill>
                <a:effectLst/>
                <a:latin typeface="inter-regular"/>
              </a:rPr>
              <a:t> It opens the file to write and read both. It is different from r+ in the sense that it overwrites the previous file if one exists whereas r+ doesn't overwrite the previously written file. It creates a new file if no file exists. The file pointer exists at the beginning of the file.</a:t>
            </a:r>
          </a:p>
          <a:p>
            <a:pPr marL="228600" indent="-228600">
              <a:buFont typeface="+mj-lt"/>
              <a:buAutoNum type="arabicPeriod"/>
            </a:pPr>
            <a:r>
              <a:rPr lang="en-US" b="1" err="1">
                <a:solidFill>
                  <a:srgbClr val="333333"/>
                </a:solidFill>
                <a:effectLst/>
                <a:latin typeface="inter-regular"/>
              </a:rPr>
              <a:t>wb</a:t>
            </a:r>
            <a:r>
              <a:rPr lang="en-US" b="1">
                <a:solidFill>
                  <a:srgbClr val="333333"/>
                </a:solidFill>
                <a:effectLst/>
                <a:latin typeface="inter-regular"/>
              </a:rPr>
              <a:t>+</a:t>
            </a:r>
            <a:r>
              <a:rPr lang="en-US">
                <a:solidFill>
                  <a:srgbClr val="333333"/>
                </a:solidFill>
                <a:effectLst/>
                <a:latin typeface="inter-regular"/>
              </a:rPr>
              <a:t> It opens the file to write and read both in binary format. The file pointer exists at the beginning of the file.</a:t>
            </a:r>
          </a:p>
          <a:p>
            <a:pPr marL="228600" indent="-228600">
              <a:buFont typeface="+mj-lt"/>
              <a:buAutoNum type="arabicPeriod"/>
            </a:pPr>
            <a:r>
              <a:rPr lang="en-US" b="1">
                <a:solidFill>
                  <a:srgbClr val="333333"/>
                </a:solidFill>
                <a:effectLst/>
                <a:latin typeface="inter-regular"/>
              </a:rPr>
              <a:t>a</a:t>
            </a:r>
            <a:r>
              <a:rPr lang="en-US">
                <a:solidFill>
                  <a:srgbClr val="333333"/>
                </a:solidFill>
                <a:effectLst/>
                <a:latin typeface="inter-regular"/>
              </a:rPr>
              <a:t> It opens the file in the append mode. The file pointer exists at the end of the previously written file if exists any. It creates a new file if no file exists with the same name.</a:t>
            </a:r>
          </a:p>
          <a:p>
            <a:pPr marL="228600" indent="-228600">
              <a:buFont typeface="+mj-lt"/>
              <a:buAutoNum type="arabicPeriod"/>
            </a:pPr>
            <a:r>
              <a:rPr lang="en-US" b="1">
                <a:solidFill>
                  <a:srgbClr val="333333"/>
                </a:solidFill>
                <a:effectLst/>
                <a:latin typeface="inter-regular"/>
              </a:rPr>
              <a:t>ab</a:t>
            </a:r>
            <a:r>
              <a:rPr lang="en-US">
                <a:solidFill>
                  <a:srgbClr val="333333"/>
                </a:solidFill>
                <a:effectLst/>
                <a:latin typeface="inter-regular"/>
              </a:rPr>
              <a:t> It opens the file in the append mode in binary format. The pointer exists at the end of the previously written file. It creates a new file in binary format if no file exists with the same name.</a:t>
            </a:r>
          </a:p>
          <a:p>
            <a:pPr marL="228600" indent="-228600">
              <a:buFont typeface="+mj-lt"/>
              <a:buAutoNum type="arabicPeriod"/>
            </a:pPr>
            <a:r>
              <a:rPr lang="en-US" b="1">
                <a:solidFill>
                  <a:srgbClr val="333333"/>
                </a:solidFill>
                <a:effectLst/>
                <a:latin typeface="inter-regular"/>
              </a:rPr>
              <a:t>a+</a:t>
            </a:r>
            <a:r>
              <a:rPr lang="en-US">
                <a:solidFill>
                  <a:srgbClr val="333333"/>
                </a:solidFill>
                <a:effectLst/>
                <a:latin typeface="inter-regular"/>
              </a:rPr>
              <a:t> It opens a file to append and read both. The file pointer remains at the end of the file if a file exists. It creates a new file if no file exists with the same name.</a:t>
            </a:r>
          </a:p>
          <a:p>
            <a:pPr marL="228600" indent="-228600">
              <a:buFont typeface="+mj-lt"/>
              <a:buAutoNum type="arabicPeriod"/>
            </a:pPr>
            <a:r>
              <a:rPr lang="en-US" b="1">
                <a:solidFill>
                  <a:srgbClr val="333333"/>
                </a:solidFill>
                <a:effectLst/>
                <a:latin typeface="inter-regular"/>
              </a:rPr>
              <a:t>ab+</a:t>
            </a:r>
            <a:r>
              <a:rPr lang="en-US">
                <a:solidFill>
                  <a:srgbClr val="333333"/>
                </a:solidFill>
                <a:effectLst/>
                <a:latin typeface="inter-regular"/>
              </a:rPr>
              <a:t> It opens a file to append and read both in binary format. The file pointer remains at the end of the file.</a:t>
            </a:r>
            <a:endParaRPr lang="en-US"/>
          </a:p>
        </p:txBody>
      </p:sp>
      <p:sp>
        <p:nvSpPr>
          <p:cNvPr id="4" name="Slide Number Placeholder 3"/>
          <p:cNvSpPr>
            <a:spLocks noGrp="1"/>
          </p:cNvSpPr>
          <p:nvPr>
            <p:ph type="sldNum" sz="quarter" idx="5"/>
          </p:nvPr>
        </p:nvSpPr>
        <p:spPr/>
        <p:txBody>
          <a:bodyPr/>
          <a:lstStyle/>
          <a:p>
            <a:fld id="{38AC5F47-FD60-400B-BA97-C26BA53B8B0F}" type="slidenum">
              <a:t>60</a:t>
            </a:fld>
            <a:endParaRPr lang="en-US"/>
          </a:p>
        </p:txBody>
      </p:sp>
    </p:spTree>
    <p:extLst>
      <p:ext uri="{BB962C8B-B14F-4D97-AF65-F5344CB8AC3E}">
        <p14:creationId xmlns:p14="http://schemas.microsoft.com/office/powerpoint/2010/main" val="21395641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lgn="just">
              <a:buNone/>
            </a:pPr>
            <a:r>
              <a:rPr lang="en-US" b="1" i="0">
                <a:solidFill>
                  <a:srgbClr val="610B38"/>
                </a:solidFill>
                <a:effectLst/>
                <a:latin typeface="erdana"/>
              </a:rPr>
              <a:t>The close() Method</a:t>
            </a:r>
            <a:endParaRPr lang="en-US"/>
          </a:p>
          <a:p>
            <a:pPr marL="158750" indent="0" algn="just">
              <a:buNone/>
            </a:pPr>
            <a:endParaRPr lang="en-US" b="1">
              <a:solidFill>
                <a:srgbClr val="610B38"/>
              </a:solidFill>
              <a:latin typeface="erdana"/>
            </a:endParaRPr>
          </a:p>
          <a:p>
            <a:pPr algn="just"/>
            <a:r>
              <a:rPr lang="en-US" b="0" i="0">
                <a:solidFill>
                  <a:srgbClr val="333333"/>
                </a:solidFill>
                <a:effectLst/>
                <a:latin typeface="inter-regular"/>
              </a:rPr>
              <a:t>The close method used to terminate the program. Once all the operations are done on the file, we must close it through our Python script using the </a:t>
            </a:r>
            <a:r>
              <a:rPr lang="en-US" b="1" i="0">
                <a:solidFill>
                  <a:srgbClr val="333333"/>
                </a:solidFill>
                <a:effectLst/>
                <a:latin typeface="inter-bold"/>
              </a:rPr>
              <a:t>close()</a:t>
            </a:r>
            <a:r>
              <a:rPr lang="en-US" b="0" i="0">
                <a:solidFill>
                  <a:srgbClr val="333333"/>
                </a:solidFill>
                <a:effectLst/>
                <a:latin typeface="inter-regular"/>
              </a:rPr>
              <a:t> method. Any unwritten information gets destroyed once the </a:t>
            </a:r>
            <a:r>
              <a:rPr lang="en-US" b="1" i="0">
                <a:solidFill>
                  <a:srgbClr val="333333"/>
                </a:solidFill>
                <a:effectLst/>
                <a:latin typeface="inter-bold"/>
              </a:rPr>
              <a:t>close()</a:t>
            </a:r>
            <a:r>
              <a:rPr lang="en-US" b="0" i="0">
                <a:solidFill>
                  <a:srgbClr val="333333"/>
                </a:solidFill>
                <a:effectLst/>
                <a:latin typeface="inter-regular"/>
              </a:rPr>
              <a:t> method is called on a file object.</a:t>
            </a:r>
          </a:p>
          <a:p>
            <a:pPr>
              <a:buFont typeface="+mj-lt"/>
              <a:buNone/>
            </a:pPr>
            <a:endParaRPr lang="en-US"/>
          </a:p>
        </p:txBody>
      </p:sp>
      <p:sp>
        <p:nvSpPr>
          <p:cNvPr id="4" name="Slide Number Placeholder 3"/>
          <p:cNvSpPr>
            <a:spLocks noGrp="1"/>
          </p:cNvSpPr>
          <p:nvPr>
            <p:ph type="sldNum" sz="quarter" idx="5"/>
          </p:nvPr>
        </p:nvSpPr>
        <p:spPr/>
        <p:txBody>
          <a:bodyPr/>
          <a:lstStyle/>
          <a:p>
            <a:fld id="{38AC5F47-FD60-400B-BA97-C26BA53B8B0F}" type="slidenum">
              <a:t>61</a:t>
            </a:fld>
            <a:endParaRPr lang="en-US"/>
          </a:p>
        </p:txBody>
      </p:sp>
    </p:spTree>
    <p:extLst>
      <p:ext uri="{BB962C8B-B14F-4D97-AF65-F5344CB8AC3E}">
        <p14:creationId xmlns:p14="http://schemas.microsoft.com/office/powerpoint/2010/main" val="9412607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a:solidFill>
                  <a:srgbClr val="333333"/>
                </a:solidFill>
              </a:rPr>
              <a:t>With statement </a:t>
            </a:r>
            <a:endParaRPr lang="en-US"/>
          </a:p>
          <a:p>
            <a:pPr marL="0" indent="0">
              <a:buFont typeface="Arial"/>
              <a:buNone/>
            </a:pPr>
            <a:endParaRPr lang="en-US" b="1">
              <a:solidFill>
                <a:srgbClr val="333333"/>
              </a:solidFill>
            </a:endParaRPr>
          </a:p>
          <a:p>
            <a:pPr marL="0" indent="0">
              <a:buFont typeface="+mj-lt"/>
              <a:buNone/>
            </a:pPr>
            <a:r>
              <a:rPr lang="en-US" i="0">
                <a:solidFill>
                  <a:srgbClr val="333333"/>
                </a:solidFill>
                <a:effectLst/>
                <a:latin typeface="inter-regular"/>
              </a:rPr>
              <a:t>The with statement is useful in the case of manipulating the files. It is used in the scenario where a pair of statements is to be executed with a block of code in between.</a:t>
            </a:r>
            <a:endParaRPr lang="en-US"/>
          </a:p>
          <a:p>
            <a:pPr algn="just"/>
            <a:r>
              <a:rPr lang="en-US" i="0">
                <a:solidFill>
                  <a:srgbClr val="333333"/>
                </a:solidFill>
                <a:effectLst/>
                <a:latin typeface="inter-regular"/>
              </a:rPr>
              <a:t>The advantage of using with statement is that it provides the guarantee to close the file regardless of how the nested block exits.</a:t>
            </a:r>
          </a:p>
          <a:p>
            <a:pPr algn="just"/>
            <a:r>
              <a:rPr lang="en-US" i="0">
                <a:solidFill>
                  <a:srgbClr val="333333"/>
                </a:solidFill>
                <a:effectLst/>
                <a:latin typeface="inter-regular"/>
              </a:rPr>
              <a:t>It is always suggestible to use the </a:t>
            </a:r>
            <a:r>
              <a:rPr lang="en-US" i="0">
                <a:solidFill>
                  <a:srgbClr val="333333"/>
                </a:solidFill>
                <a:effectLst/>
                <a:latin typeface="inter-bold"/>
              </a:rPr>
              <a:t>with</a:t>
            </a:r>
            <a:r>
              <a:rPr lang="en-US" i="0">
                <a:solidFill>
                  <a:srgbClr val="333333"/>
                </a:solidFill>
                <a:effectLst/>
                <a:latin typeface="inter-regular"/>
              </a:rPr>
              <a:t> statement in the case of files because, if the break, return, or exception occurs in the nested block of code then it automatically closes the file, we don't need to write the </a:t>
            </a:r>
            <a:r>
              <a:rPr lang="en-US" i="0">
                <a:solidFill>
                  <a:srgbClr val="333333"/>
                </a:solidFill>
                <a:effectLst/>
                <a:latin typeface="inter-bold"/>
              </a:rPr>
              <a:t>close()</a:t>
            </a:r>
            <a:r>
              <a:rPr lang="en-US" i="0">
                <a:solidFill>
                  <a:srgbClr val="333333"/>
                </a:solidFill>
                <a:effectLst/>
                <a:latin typeface="inter-regular"/>
              </a:rPr>
              <a:t> function. It doesn't let the file to corrupt.</a:t>
            </a:r>
          </a:p>
          <a:p>
            <a:pPr marL="0" indent="0">
              <a:buFont typeface="+mj-lt"/>
              <a:buNone/>
            </a:pPr>
            <a:endParaRPr lang="en-US"/>
          </a:p>
        </p:txBody>
      </p:sp>
      <p:sp>
        <p:nvSpPr>
          <p:cNvPr id="4" name="Slide Number Placeholder 3"/>
          <p:cNvSpPr>
            <a:spLocks noGrp="1"/>
          </p:cNvSpPr>
          <p:nvPr>
            <p:ph type="sldNum" sz="quarter" idx="5"/>
          </p:nvPr>
        </p:nvSpPr>
        <p:spPr/>
        <p:txBody>
          <a:bodyPr/>
          <a:lstStyle/>
          <a:p>
            <a:fld id="{38AC5F47-FD60-400B-BA97-C26BA53B8B0F}" type="slidenum">
              <a:t>62</a:t>
            </a:fld>
            <a:endParaRPr lang="en-US"/>
          </a:p>
        </p:txBody>
      </p:sp>
    </p:spTree>
    <p:extLst>
      <p:ext uri="{BB962C8B-B14F-4D97-AF65-F5344CB8AC3E}">
        <p14:creationId xmlns:p14="http://schemas.microsoft.com/office/powerpoint/2010/main" val="29676634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Answer 1:</a:t>
            </a:r>
          </a:p>
          <a:p>
            <a:pPr marL="158750" indent="0">
              <a:buNone/>
            </a:pPr>
            <a:endParaRPr lang="en-US" dirty="0"/>
          </a:p>
          <a:p>
            <a:pPr marL="158750" indent="0">
              <a:buNone/>
            </a:pPr>
            <a:r>
              <a:rPr lang="en-US" dirty="0"/>
              <a:t>def </a:t>
            </a:r>
            <a:r>
              <a:rPr lang="en-US" dirty="0" err="1"/>
              <a:t>write_grades_to_file</a:t>
            </a:r>
            <a:r>
              <a:rPr lang="en-US" dirty="0"/>
              <a:t>(filename, grades):</a:t>
            </a:r>
          </a:p>
          <a:p>
            <a:pPr marL="158750" indent="0">
              <a:buNone/>
            </a:pPr>
            <a:r>
              <a:rPr lang="en-US" dirty="0"/>
              <a:t>    with open(filename, 'w') as file:</a:t>
            </a:r>
          </a:p>
          <a:p>
            <a:pPr marL="158750" indent="0">
              <a:buNone/>
            </a:pPr>
            <a:r>
              <a:rPr lang="en-US" dirty="0"/>
              <a:t>        for student, grade in grades:</a:t>
            </a:r>
          </a:p>
          <a:p>
            <a:pPr marL="158750" indent="0">
              <a:buNone/>
            </a:pPr>
            <a:r>
              <a:rPr lang="en-US" dirty="0"/>
              <a:t>            </a:t>
            </a:r>
            <a:r>
              <a:rPr lang="en-US" dirty="0" err="1"/>
              <a:t>file.write</a:t>
            </a:r>
            <a:r>
              <a:rPr lang="en-US" dirty="0"/>
              <a:t>(f"{student},{grade}\n")</a:t>
            </a:r>
          </a:p>
          <a:p>
            <a:pPr marL="158750" indent="0">
              <a:buNone/>
            </a:pPr>
            <a:endParaRPr lang="en-US" dirty="0"/>
          </a:p>
          <a:p>
            <a:pPr marL="158750" indent="0">
              <a:buNone/>
            </a:pPr>
            <a:r>
              <a:rPr lang="en-US" dirty="0" err="1"/>
              <a:t>student_grades</a:t>
            </a:r>
            <a:r>
              <a:rPr lang="en-US" dirty="0"/>
              <a:t> = [("Alice", "A"), ("Bob", "B"), ("Charlie", "C")]</a:t>
            </a:r>
          </a:p>
          <a:p>
            <a:pPr marL="158750" indent="0">
              <a:buNone/>
            </a:pPr>
            <a:r>
              <a:rPr lang="en-US" dirty="0" err="1"/>
              <a:t>write_grades_to_file</a:t>
            </a:r>
            <a:r>
              <a:rPr lang="en-US" dirty="0"/>
              <a:t>('grades.txt', </a:t>
            </a:r>
            <a:r>
              <a:rPr lang="en-US" dirty="0" err="1"/>
              <a:t>student_grades</a:t>
            </a:r>
            <a:r>
              <a:rPr lang="en-US" dirty="0"/>
              <a:t>)</a:t>
            </a:r>
          </a:p>
          <a:p>
            <a:pPr marL="158750" indent="0">
              <a:buNone/>
            </a:pPr>
            <a:r>
              <a:rPr lang="en-US" dirty="0"/>
              <a:t># Output in grades.txt:</a:t>
            </a:r>
          </a:p>
          <a:p>
            <a:pPr marL="158750" indent="0">
              <a:buNone/>
            </a:pPr>
            <a:r>
              <a:rPr lang="en-US" dirty="0"/>
              <a:t># </a:t>
            </a:r>
            <a:r>
              <a:rPr lang="en-US" dirty="0" err="1"/>
              <a:t>Alice,A</a:t>
            </a:r>
            <a:endParaRPr lang="en-US" dirty="0"/>
          </a:p>
          <a:p>
            <a:pPr marL="158750" indent="0">
              <a:buNone/>
            </a:pPr>
            <a:r>
              <a:rPr lang="en-US" dirty="0"/>
              <a:t># </a:t>
            </a:r>
            <a:r>
              <a:rPr lang="en-US" dirty="0" err="1"/>
              <a:t>Bob,B</a:t>
            </a:r>
            <a:endParaRPr lang="en-US" dirty="0"/>
          </a:p>
          <a:p>
            <a:pPr marL="158750" indent="0">
              <a:buNone/>
            </a:pPr>
            <a:r>
              <a:rPr lang="en-US" dirty="0"/>
              <a:t># </a:t>
            </a:r>
            <a:r>
              <a:rPr lang="en-US" dirty="0" err="1"/>
              <a:t>Charlie,C</a:t>
            </a:r>
            <a:endParaRPr lang="en-US" dirty="0"/>
          </a:p>
          <a:p>
            <a:pPr marL="158750" indent="0">
              <a:buNone/>
            </a:pPr>
            <a:endParaRPr lang="en-IN" dirty="0"/>
          </a:p>
          <a:p>
            <a:pPr marL="158750" indent="0">
              <a:buNone/>
            </a:pPr>
            <a:r>
              <a:rPr lang="en-IN" dirty="0"/>
              <a:t>Answer2:</a:t>
            </a:r>
          </a:p>
          <a:p>
            <a:pPr marL="158750" indent="0">
              <a:buNone/>
            </a:pPr>
            <a:endParaRPr lang="en-IN" dirty="0"/>
          </a:p>
          <a:p>
            <a:pPr marL="158750" indent="0">
              <a:buNone/>
            </a:pPr>
            <a:r>
              <a:rPr lang="en-US" dirty="0"/>
              <a:t>def </a:t>
            </a:r>
            <a:r>
              <a:rPr lang="en-US" dirty="0" err="1"/>
              <a:t>calculate_total_cost</a:t>
            </a:r>
            <a:r>
              <a:rPr lang="en-US" dirty="0"/>
              <a:t>(filename):</a:t>
            </a:r>
          </a:p>
          <a:p>
            <a:pPr marL="158750" indent="0">
              <a:buNone/>
            </a:pPr>
            <a:r>
              <a:rPr lang="en-US" dirty="0"/>
              <a:t>    </a:t>
            </a:r>
            <a:r>
              <a:rPr lang="en-US" dirty="0" err="1"/>
              <a:t>total_cost</a:t>
            </a:r>
            <a:r>
              <a:rPr lang="en-US" dirty="0"/>
              <a:t> = 0</a:t>
            </a:r>
          </a:p>
          <a:p>
            <a:pPr marL="158750" indent="0">
              <a:buNone/>
            </a:pPr>
            <a:r>
              <a:rPr lang="en-US" dirty="0"/>
              <a:t>    with open(filename, 'r') as file:</a:t>
            </a:r>
          </a:p>
          <a:p>
            <a:pPr marL="158750" indent="0">
              <a:buNone/>
            </a:pPr>
            <a:r>
              <a:rPr lang="en-US" dirty="0"/>
              <a:t>        for line in file:</a:t>
            </a:r>
          </a:p>
          <a:p>
            <a:pPr marL="158750" indent="0">
              <a:buNone/>
            </a:pPr>
            <a:r>
              <a:rPr lang="en-US" dirty="0"/>
              <a:t>            product, price = </a:t>
            </a:r>
            <a:r>
              <a:rPr lang="en-US" dirty="0" err="1"/>
              <a:t>line.strip</a:t>
            </a:r>
            <a:r>
              <a:rPr lang="en-US" dirty="0"/>
              <a:t>().split(',')</a:t>
            </a:r>
          </a:p>
          <a:p>
            <a:pPr marL="158750" indent="0">
              <a:buNone/>
            </a:pPr>
            <a:r>
              <a:rPr lang="en-US" dirty="0"/>
              <a:t>            </a:t>
            </a:r>
            <a:r>
              <a:rPr lang="en-US" dirty="0" err="1"/>
              <a:t>total_cost</a:t>
            </a:r>
            <a:r>
              <a:rPr lang="en-US" dirty="0"/>
              <a:t> += float(price)</a:t>
            </a:r>
          </a:p>
          <a:p>
            <a:pPr marL="158750" indent="0">
              <a:buNone/>
            </a:pPr>
            <a:r>
              <a:rPr lang="en-US" dirty="0"/>
              <a:t>    print(</a:t>
            </a:r>
            <a:r>
              <a:rPr lang="en-US" dirty="0" err="1"/>
              <a:t>f"Total</a:t>
            </a:r>
            <a:r>
              <a:rPr lang="en-US" dirty="0"/>
              <a:t> cost: ${total_cost:.2f}")</a:t>
            </a:r>
          </a:p>
          <a:p>
            <a:pPr marL="158750" indent="0">
              <a:buNone/>
            </a:pPr>
            <a:endParaRPr lang="en-US" dirty="0"/>
          </a:p>
          <a:p>
            <a:pPr marL="158750" indent="0">
              <a:buNone/>
            </a:pPr>
            <a:r>
              <a:rPr lang="en-US" dirty="0" err="1"/>
              <a:t>calculate_total_cost</a:t>
            </a:r>
            <a:r>
              <a:rPr lang="en-US" dirty="0"/>
              <a:t>('products.csv')</a:t>
            </a:r>
          </a:p>
          <a:p>
            <a:pPr marL="158750" indent="0">
              <a:buNone/>
            </a:pPr>
            <a:r>
              <a:rPr lang="en-US" dirty="0"/>
              <a:t># If products.csv contains:</a:t>
            </a:r>
          </a:p>
          <a:p>
            <a:pPr marL="158750" indent="0">
              <a:buNone/>
            </a:pPr>
            <a:r>
              <a:rPr lang="en-US" dirty="0"/>
              <a:t># Laptop,800</a:t>
            </a:r>
          </a:p>
          <a:p>
            <a:pPr marL="158750" indent="0">
              <a:buNone/>
            </a:pPr>
            <a:r>
              <a:rPr lang="en-US" dirty="0"/>
              <a:t># Mouse,25</a:t>
            </a:r>
          </a:p>
          <a:p>
            <a:pPr marL="158750" indent="0">
              <a:buNone/>
            </a:pPr>
            <a:r>
              <a:rPr lang="en-US" dirty="0"/>
              <a:t># Keyboard,45</a:t>
            </a:r>
          </a:p>
          <a:p>
            <a:pPr marL="158750" indent="0">
              <a:buNone/>
            </a:pPr>
            <a:r>
              <a:rPr lang="en-US" dirty="0"/>
              <a:t># Monitor,150</a:t>
            </a:r>
          </a:p>
          <a:p>
            <a:pPr marL="158750" indent="0">
              <a:buNone/>
            </a:pPr>
            <a:r>
              <a:rPr lang="en-US" dirty="0"/>
              <a:t># Output: Total cost: $1020.00</a:t>
            </a:r>
          </a:p>
          <a:p>
            <a:pPr marL="158750" indent="0">
              <a:buNone/>
            </a:pPr>
            <a:endParaRPr lang="en-IN" dirty="0"/>
          </a:p>
          <a:p>
            <a:pPr marL="158750" indent="0">
              <a:buNone/>
            </a:pPr>
            <a:endParaRPr lang="en-IN" dirty="0"/>
          </a:p>
          <a:p>
            <a:pPr marL="158750" indent="0">
              <a:buNone/>
            </a:pPr>
            <a:endParaRPr lang="en-IN" dirty="0"/>
          </a:p>
        </p:txBody>
      </p:sp>
    </p:spTree>
    <p:extLst>
      <p:ext uri="{BB962C8B-B14F-4D97-AF65-F5344CB8AC3E}">
        <p14:creationId xmlns:p14="http://schemas.microsoft.com/office/powerpoint/2010/main" val="32305862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None/>
            </a:pPr>
            <a:r>
              <a:rPr lang="en-US" b="1" dirty="0"/>
              <a:t>Lab : Demonstrating Python data structures and file handling</a:t>
            </a:r>
            <a:endParaRPr lang="en-US" dirty="0"/>
          </a:p>
          <a:p>
            <a:pPr marL="0" indent="0" algn="ctr">
              <a:buNone/>
            </a:pPr>
            <a:endParaRPr lang="en-US" dirty="0"/>
          </a:p>
          <a:p>
            <a:pPr marL="0" indent="0" algn="ctr">
              <a:buNone/>
            </a:pPr>
            <a:r>
              <a:rPr lang="en-US" b="1" i="1" dirty="0">
                <a:hlinkClick r:id="rId3">
                  <a:extLst>
                    <a:ext uri="{A12FA001-AC4F-418D-AE19-62706E023703}">
                      <ahyp:hlinkClr xmlns:ahyp="http://schemas.microsoft.com/office/drawing/2018/hyperlinkcolor" val="tx"/>
                    </a:ext>
                  </a:extLst>
                </a:hlinkClick>
              </a:rPr>
              <a:t>GITHUB</a:t>
            </a:r>
            <a:endParaRPr lang="en-US" dirty="0"/>
          </a:p>
          <a:p>
            <a:pPr>
              <a:buNone/>
            </a:pPr>
            <a:endParaRPr lang="en-US" dirty="0">
              <a:latin typeface="Calibri"/>
              <a:cs typeface="Calibri"/>
            </a:endParaRP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64</a:t>
            </a:fld>
            <a:endParaRPr lang="en-IN"/>
          </a:p>
        </p:txBody>
      </p:sp>
    </p:spTree>
    <p:extLst>
      <p:ext uri="{BB962C8B-B14F-4D97-AF65-F5344CB8AC3E}">
        <p14:creationId xmlns:p14="http://schemas.microsoft.com/office/powerpoint/2010/main" val="16912968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dirty="0">
                <a:solidFill>
                  <a:schemeClr val="tx1"/>
                </a:solidFill>
                <a:effectLst/>
                <a:latin typeface="+mn-lt"/>
                <a:ea typeface="+mn-ea"/>
                <a:cs typeface="+mn-cs"/>
              </a:rPr>
              <a:t>Summary</a:t>
            </a:r>
            <a:r>
              <a:rPr lang="en-US" sz="1200" b="0" i="0" kern="1200" dirty="0">
                <a:solidFill>
                  <a:schemeClr val="tx1"/>
                </a:solidFill>
                <a:effectLst/>
                <a:latin typeface="+mn-lt"/>
                <a:ea typeface="+mn-ea"/>
                <a:cs typeface="+mn-cs"/>
              </a:rPr>
              <a:t>​</a:t>
            </a:r>
          </a:p>
          <a:p>
            <a:pPr rtl="0" fontAlgn="base"/>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a:t>
            </a:r>
          </a:p>
          <a:p>
            <a:pPr algn="just">
              <a:spcAft>
                <a:spcPts val="800"/>
              </a:spcAft>
            </a:pPr>
            <a:r>
              <a:rPr lang="en-US" sz="1200" dirty="0"/>
              <a:t>Well done! You have completed this course and now you have understand about: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Code and Compilation</a:t>
            </a:r>
            <a:r>
              <a:rPr kumimoji="0" lang="en-US" altLang="en-US" sz="1200" b="0" i="0" u="none" strike="noStrike" cap="none" normalizeH="0" baseline="0" dirty="0">
                <a:ln>
                  <a:noFill/>
                </a:ln>
                <a:solidFill>
                  <a:schemeClr val="tx1"/>
                </a:solidFill>
                <a:effectLst/>
                <a:latin typeface="Arial" panose="020B0604020202020204" pitchFamily="34" charset="0"/>
              </a:rPr>
              <a:t>: Python is an interpreted language with code executed line by line.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Datatypes and Operators</a:t>
            </a:r>
            <a:r>
              <a:rPr kumimoji="0" lang="en-US" altLang="en-US" sz="1200" b="0" i="0" u="none" strike="noStrike" cap="none" normalizeH="0" baseline="0" dirty="0">
                <a:ln>
                  <a:noFill/>
                </a:ln>
                <a:solidFill>
                  <a:schemeClr val="tx1"/>
                </a:solidFill>
                <a:effectLst/>
                <a:latin typeface="Arial" panose="020B0604020202020204" pitchFamily="34" charset="0"/>
              </a:rPr>
              <a:t>: Includes types like </a:t>
            </a:r>
            <a:r>
              <a:rPr kumimoji="0" lang="en-US" altLang="en-US" sz="1200" b="0" i="0" u="none" strike="noStrike" cap="none" normalizeH="0" baseline="0" dirty="0">
                <a:ln>
                  <a:noFill/>
                </a:ln>
                <a:solidFill>
                  <a:schemeClr val="tx1"/>
                </a:solidFill>
                <a:effectLst/>
                <a:latin typeface="Arial Unicode MS"/>
              </a:rPr>
              <a:t>int</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Unicode MS"/>
              </a:rPr>
              <a:t>float</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Unicode MS"/>
              </a:rPr>
              <a:t>str</a:t>
            </a:r>
            <a:r>
              <a:rPr kumimoji="0" lang="en-US" altLang="en-US" sz="1200" b="0" i="0" u="none" strike="noStrike" cap="none" normalizeH="0" baseline="0" dirty="0">
                <a:ln>
                  <a:noFill/>
                </a:ln>
                <a:solidFill>
                  <a:schemeClr val="tx1"/>
                </a:solidFill>
                <a:effectLst/>
              </a:rPr>
              <a:t>, and operators for arithmetic, comparison, and logic.</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Control Statements</a:t>
            </a:r>
            <a:r>
              <a:rPr kumimoji="0" lang="en-US" altLang="en-US" sz="1200" b="0" i="0" u="none" strike="noStrike" cap="none" normalizeH="0" baseline="0" dirty="0">
                <a:ln>
                  <a:noFill/>
                </a:ln>
                <a:solidFill>
                  <a:schemeClr val="tx1"/>
                </a:solidFill>
                <a:effectLst/>
                <a:latin typeface="Arial" panose="020B0604020202020204" pitchFamily="34" charset="0"/>
              </a:rPr>
              <a:t>: Uses </a:t>
            </a:r>
            <a:r>
              <a:rPr kumimoji="0" lang="en-US" altLang="en-US" sz="1200" b="0" i="0" u="none" strike="noStrike" cap="none" normalizeH="0" baseline="0" dirty="0">
                <a:ln>
                  <a:noFill/>
                </a:ln>
                <a:solidFill>
                  <a:schemeClr val="tx1"/>
                </a:solidFill>
                <a:effectLst/>
                <a:latin typeface="Arial Unicode MS"/>
              </a:rPr>
              <a:t>if</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err="1">
                <a:ln>
                  <a:noFill/>
                </a:ln>
                <a:solidFill>
                  <a:schemeClr val="tx1"/>
                </a:solidFill>
                <a:effectLst/>
                <a:latin typeface="Arial Unicode MS"/>
              </a:rPr>
              <a:t>elif</a:t>
            </a:r>
            <a:r>
              <a:rPr kumimoji="0" lang="en-US" altLang="en-US" sz="1200" b="0" i="0" u="none" strike="noStrike" cap="none" normalizeH="0" baseline="0" dirty="0">
                <a:ln>
                  <a:noFill/>
                </a:ln>
                <a:solidFill>
                  <a:schemeClr val="tx1"/>
                </a:solidFill>
                <a:effectLst/>
              </a:rPr>
              <a:t>, and </a:t>
            </a:r>
            <a:r>
              <a:rPr kumimoji="0" lang="en-US" altLang="en-US" sz="1200" b="0" i="0" u="none" strike="noStrike" cap="none" normalizeH="0" baseline="0" dirty="0">
                <a:ln>
                  <a:noFill/>
                </a:ln>
                <a:solidFill>
                  <a:schemeClr val="tx1"/>
                </a:solidFill>
                <a:effectLst/>
                <a:latin typeface="Arial Unicode MS"/>
              </a:rPr>
              <a:t>else</a:t>
            </a:r>
            <a:r>
              <a:rPr kumimoji="0" lang="en-US" altLang="en-US" sz="1200" b="0" i="0" u="none" strike="noStrike" cap="none" normalizeH="0" baseline="0" dirty="0">
                <a:ln>
                  <a:noFill/>
                </a:ln>
                <a:solidFill>
                  <a:schemeClr val="tx1"/>
                </a:solidFill>
                <a:effectLst/>
              </a:rPr>
              <a:t> for decision-making.</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Looping Statements</a:t>
            </a:r>
            <a:r>
              <a:rPr kumimoji="0" lang="en-US" altLang="en-US" sz="1200" b="0" i="0" u="none" strike="noStrike" cap="none" normalizeH="0" baseline="0" dirty="0">
                <a:ln>
                  <a:noFill/>
                </a:ln>
                <a:solidFill>
                  <a:schemeClr val="tx1"/>
                </a:solidFill>
                <a:effectLst/>
                <a:latin typeface="Arial" panose="020B0604020202020204" pitchFamily="34" charset="0"/>
              </a:rPr>
              <a:t>: Utilizes </a:t>
            </a:r>
            <a:r>
              <a:rPr kumimoji="0" lang="en-US" altLang="en-US" sz="1200" b="0" i="0" u="none" strike="noStrike" cap="none" normalizeH="0" baseline="0" dirty="0">
                <a:ln>
                  <a:noFill/>
                </a:ln>
                <a:solidFill>
                  <a:schemeClr val="tx1"/>
                </a:solidFill>
                <a:effectLst/>
                <a:latin typeface="Arial Unicode MS"/>
              </a:rPr>
              <a:t>for</a:t>
            </a:r>
            <a:r>
              <a:rPr kumimoji="0" lang="en-US" altLang="en-US" sz="1200" b="0" i="0" u="none" strike="noStrike" cap="none" normalizeH="0" baseline="0" dirty="0">
                <a:ln>
                  <a:noFill/>
                </a:ln>
                <a:solidFill>
                  <a:schemeClr val="tx1"/>
                </a:solidFill>
                <a:effectLst/>
              </a:rPr>
              <a:t> and </a:t>
            </a:r>
            <a:r>
              <a:rPr kumimoji="0" lang="en-US" altLang="en-US" sz="1200" b="0" i="0" u="none" strike="noStrike" cap="none" normalizeH="0" baseline="0" dirty="0">
                <a:ln>
                  <a:noFill/>
                </a:ln>
                <a:solidFill>
                  <a:schemeClr val="tx1"/>
                </a:solidFill>
                <a:effectLst/>
                <a:latin typeface="Arial Unicode MS"/>
              </a:rPr>
              <a:t>while</a:t>
            </a:r>
            <a:r>
              <a:rPr kumimoji="0" lang="en-US" altLang="en-US" sz="1200" b="0" i="0" u="none" strike="noStrike" cap="none" normalizeH="0" baseline="0" dirty="0">
                <a:ln>
                  <a:noFill/>
                </a:ln>
                <a:solidFill>
                  <a:schemeClr val="tx1"/>
                </a:solidFill>
                <a:effectLst/>
              </a:rPr>
              <a:t> loops for iteration.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Functions</a:t>
            </a:r>
            <a:r>
              <a:rPr kumimoji="0" lang="en-US" altLang="en-US" sz="1200" b="0" i="0" u="none" strike="noStrike" cap="none" normalizeH="0" baseline="0" dirty="0">
                <a:ln>
                  <a:noFill/>
                </a:ln>
                <a:solidFill>
                  <a:schemeClr val="tx1"/>
                </a:solidFill>
                <a:effectLst/>
                <a:latin typeface="Arial" panose="020B0604020202020204" pitchFamily="34" charset="0"/>
              </a:rPr>
              <a:t>: Defined with </a:t>
            </a:r>
            <a:r>
              <a:rPr kumimoji="0" lang="en-US" altLang="en-US" sz="1200" b="0" i="0" u="none" strike="noStrike" cap="none" normalizeH="0" baseline="0" dirty="0">
                <a:ln>
                  <a:noFill/>
                </a:ln>
                <a:solidFill>
                  <a:schemeClr val="tx1"/>
                </a:solidFill>
                <a:effectLst/>
                <a:latin typeface="Arial Unicode MS"/>
              </a:rPr>
              <a:t>def</a:t>
            </a:r>
            <a:r>
              <a:rPr kumimoji="0" lang="en-US" altLang="en-US" sz="1200" b="0" i="0" u="none" strike="noStrike" cap="none" normalizeH="0" baseline="0" dirty="0">
                <a:ln>
                  <a:noFill/>
                </a:ln>
                <a:solidFill>
                  <a:schemeClr val="tx1"/>
                </a:solidFill>
                <a:effectLst/>
              </a:rPr>
              <a:t>, used to encapsulate reusable code blocks.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File Handling</a:t>
            </a:r>
            <a:r>
              <a:rPr kumimoji="0" lang="en-US" altLang="en-US" sz="1200" b="0" i="0" u="none" strike="noStrike" cap="none" normalizeH="0" baseline="0" dirty="0">
                <a:ln>
                  <a:noFill/>
                </a:ln>
                <a:solidFill>
                  <a:schemeClr val="tx1"/>
                </a:solidFill>
                <a:effectLst/>
                <a:latin typeface="Arial" panose="020B0604020202020204" pitchFamily="34" charset="0"/>
              </a:rPr>
              <a:t>: Involves opening, reading, writing, and closing files with built-in functions. </a:t>
            </a:r>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65</a:t>
            </a:fld>
            <a:endParaRPr lang="en-IN"/>
          </a:p>
        </p:txBody>
      </p:sp>
    </p:spTree>
    <p:extLst>
      <p:ext uri="{BB962C8B-B14F-4D97-AF65-F5344CB8AC3E}">
        <p14:creationId xmlns:p14="http://schemas.microsoft.com/office/powerpoint/2010/main" val="28000456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tabLst>
                <a:tab pos="0" algn="l"/>
              </a:tabLst>
            </a:pPr>
            <a:r>
              <a:rPr lang="en-US" b="1" spc="-1" dirty="0"/>
              <a:t>1. All keywords in Python are in _________</a:t>
            </a:r>
            <a:br>
              <a:rPr lang="en-US" b="1" spc="-1" dirty="0"/>
            </a:br>
            <a:r>
              <a:rPr lang="en-US" b="1" spc="-1" dirty="0"/>
              <a:t>a) Capitalized</a:t>
            </a:r>
            <a:br>
              <a:rPr lang="en-US" b="1" spc="-1" dirty="0"/>
            </a:br>
            <a:r>
              <a:rPr lang="en-US" b="1" spc="-1" dirty="0"/>
              <a:t>b) lower case</a:t>
            </a:r>
            <a:br>
              <a:rPr lang="en-US" b="1" spc="-1" dirty="0"/>
            </a:br>
            <a:r>
              <a:rPr lang="en-US" b="1" spc="-1" dirty="0"/>
              <a:t>c) UPPER CASE</a:t>
            </a:r>
            <a:br>
              <a:rPr lang="en-US" b="1" spc="-1" dirty="0"/>
            </a:br>
            <a:r>
              <a:rPr lang="en-US" b="1" spc="-1" dirty="0"/>
              <a:t>d) None of the mentioned </a:t>
            </a:r>
            <a:endParaRPr lang="en-US" sz="2000" spc="-1" dirty="0"/>
          </a:p>
          <a:p>
            <a:pPr>
              <a:tabLst>
                <a:tab pos="0" algn="l"/>
              </a:tabLst>
            </a:pPr>
            <a:endParaRPr lang="en-US" b="1" spc="-1" dirty="0"/>
          </a:p>
          <a:p>
            <a:pPr>
              <a:tabLst>
                <a:tab pos="0" algn="l"/>
              </a:tabLst>
            </a:pPr>
            <a:r>
              <a:rPr lang="en-IN" b="1" spc="-1" dirty="0"/>
              <a:t>Answer: d</a:t>
            </a:r>
            <a:endParaRPr lang="en-US" b="1" spc="-1" dirty="0"/>
          </a:p>
          <a:p>
            <a:endParaRPr lang="en-IN" dirty="0"/>
          </a:p>
        </p:txBody>
      </p:sp>
      <p:sp>
        <p:nvSpPr>
          <p:cNvPr id="4" name="Slide Number Placeholder 3"/>
          <p:cNvSpPr>
            <a:spLocks noGrp="1"/>
          </p:cNvSpPr>
          <p:nvPr>
            <p:ph type="sldNum" sz="quarter" idx="5"/>
          </p:nvPr>
        </p:nvSpPr>
        <p:spPr/>
        <p:txBody>
          <a:bodyPr/>
          <a:lstStyle/>
          <a:p>
            <a:fld id="{2964557E-4AEC-4FB8-82EC-38CAFDF29F61}" type="slidenum">
              <a:rPr lang="en-IN" smtClean="0"/>
              <a:t>68</a:t>
            </a:fld>
            <a:endParaRPr lang="en-IN"/>
          </a:p>
        </p:txBody>
      </p:sp>
    </p:spTree>
    <p:extLst>
      <p:ext uri="{BB962C8B-B14F-4D97-AF65-F5344CB8AC3E}">
        <p14:creationId xmlns:p14="http://schemas.microsoft.com/office/powerpoint/2010/main" val="41358222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3E8C9-1448-0BF8-6AE6-3B257DBEB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44E0B-3A2C-B2CB-52AA-DF5B5786E0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1834C-E095-4715-9E62-9C29919B7C7D}"/>
              </a:ext>
            </a:extLst>
          </p:cNvPr>
          <p:cNvSpPr>
            <a:spLocks noGrp="1"/>
          </p:cNvSpPr>
          <p:nvPr>
            <p:ph type="body" idx="1"/>
          </p:nvPr>
        </p:nvSpPr>
        <p:spPr/>
        <p:txBody>
          <a:bodyPr/>
          <a:lstStyle/>
          <a:p>
            <a:pPr>
              <a:tabLst>
                <a:tab pos="0" algn="l"/>
              </a:tabLst>
            </a:pPr>
            <a:r>
              <a:rPr lang="en-US" b="1" spc="-1" dirty="0"/>
              <a:t>3. What arithmetic operators cannot be used with strings in Python?</a:t>
            </a:r>
            <a:br>
              <a:rPr lang="en-US" b="1" spc="-1" dirty="0"/>
            </a:br>
            <a:r>
              <a:rPr lang="en-US" b="1" spc="-1" dirty="0"/>
              <a:t>a) *</a:t>
            </a:r>
            <a:br>
              <a:rPr lang="en-US" b="1" spc="-1" dirty="0"/>
            </a:br>
            <a:r>
              <a:rPr lang="en-US" b="1" spc="-1" dirty="0"/>
              <a:t>b) –</a:t>
            </a:r>
            <a:br>
              <a:rPr lang="en-US" b="1" spc="-1" dirty="0"/>
            </a:br>
            <a:r>
              <a:rPr lang="en-US" b="1" spc="-1" dirty="0"/>
              <a:t>c) +</a:t>
            </a:r>
            <a:br>
              <a:rPr lang="en-US" b="1" spc="-1" dirty="0"/>
            </a:br>
            <a:r>
              <a:rPr lang="en-US" b="1" spc="-1" dirty="0"/>
              <a:t>d) All of the mentioned</a:t>
            </a:r>
            <a:endParaRPr lang="en-US" sz="2000" spc="-1" dirty="0"/>
          </a:p>
          <a:p>
            <a:pPr>
              <a:tabLst>
                <a:tab pos="0" algn="l"/>
              </a:tabLst>
            </a:pPr>
            <a:endParaRPr lang="en-US" b="1" spc="-1" dirty="0"/>
          </a:p>
          <a:p>
            <a:pPr>
              <a:tabLst>
                <a:tab pos="0" algn="l"/>
              </a:tabLst>
            </a:pPr>
            <a:r>
              <a:rPr lang="en-IN" b="1" spc="-1" dirty="0"/>
              <a:t>Answer: b</a:t>
            </a:r>
            <a:endParaRPr lang="en-US" b="1" spc="-1" dirty="0"/>
          </a:p>
        </p:txBody>
      </p:sp>
      <p:sp>
        <p:nvSpPr>
          <p:cNvPr id="4" name="Slide Number Placeholder 3">
            <a:extLst>
              <a:ext uri="{FF2B5EF4-FFF2-40B4-BE49-F238E27FC236}">
                <a16:creationId xmlns:a16="http://schemas.microsoft.com/office/drawing/2014/main" id="{1B43CF31-AD85-7AED-2F2E-55C9AF5BD0B2}"/>
              </a:ext>
            </a:extLst>
          </p:cNvPr>
          <p:cNvSpPr>
            <a:spLocks noGrp="1"/>
          </p:cNvSpPr>
          <p:nvPr>
            <p:ph type="sldNum" sz="quarter" idx="5"/>
          </p:nvPr>
        </p:nvSpPr>
        <p:spPr/>
        <p:txBody>
          <a:bodyPr/>
          <a:lstStyle/>
          <a:p>
            <a:fld id="{2964557E-4AEC-4FB8-82EC-38CAFDF29F61}" type="slidenum">
              <a:rPr lang="en-IN" smtClean="0"/>
              <a:t>69</a:t>
            </a:fld>
            <a:endParaRPr lang="en-IN"/>
          </a:p>
        </p:txBody>
      </p:sp>
    </p:spTree>
    <p:extLst>
      <p:ext uri="{BB962C8B-B14F-4D97-AF65-F5344CB8AC3E}">
        <p14:creationId xmlns:p14="http://schemas.microsoft.com/office/powerpoint/2010/main" val="11678789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F9FD-B78C-3124-5E52-134A6EA99E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61A39-58C9-BAA2-46ED-69BDB4BA2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12457-4DA8-C934-F03D-088F0AD55AD1}"/>
              </a:ext>
            </a:extLst>
          </p:cNvPr>
          <p:cNvSpPr>
            <a:spLocks noGrp="1"/>
          </p:cNvSpPr>
          <p:nvPr>
            <p:ph type="body" idx="1"/>
          </p:nvPr>
        </p:nvSpPr>
        <p:spPr/>
        <p:txBody>
          <a:bodyPr/>
          <a:lstStyle/>
          <a:p>
            <a:pPr algn="just">
              <a:tabLst>
                <a:tab pos="0" algn="l"/>
              </a:tabLst>
            </a:pPr>
            <a:r>
              <a:rPr lang="en-US" spc="-1" dirty="0"/>
              <a:t>Now let's have a look at the third question from the quiz.</a:t>
            </a:r>
            <a:endParaRPr lang="en-US" sz="2000" spc="-1" dirty="0"/>
          </a:p>
          <a:p>
            <a:pPr algn="just">
              <a:tabLst>
                <a:tab pos="0" algn="l"/>
              </a:tabLst>
            </a:pPr>
            <a:r>
              <a:rPr lang="en-US" spc="-1" dirty="0"/>
              <a:t>3 Study the following program: please follow the code which is provided in this slide</a:t>
            </a:r>
            <a:endParaRPr lang="en-US" dirty="0"/>
          </a:p>
          <a:p>
            <a:pPr algn="just">
              <a:tabLst>
                <a:tab pos="0" algn="l"/>
              </a:tabLst>
            </a:pPr>
            <a:r>
              <a:rPr lang="en-US" spc="-1" dirty="0"/>
              <a:t>What will be the output of this code?</a:t>
            </a:r>
            <a:endParaRPr lang="en-US" dirty="0"/>
          </a:p>
          <a:p>
            <a:pPr algn="just">
              <a:tabLst>
                <a:tab pos="0" algn="l"/>
              </a:tabLst>
            </a:pPr>
            <a:r>
              <a:rPr lang="en-US" spc="-1" dirty="0"/>
              <a:t>1.error</a:t>
            </a:r>
            <a:endParaRPr lang="en-US" dirty="0"/>
          </a:p>
          <a:p>
            <a:pPr algn="just">
              <a:tabLst>
                <a:tab pos="0" algn="l"/>
              </a:tabLst>
            </a:pPr>
            <a:r>
              <a:rPr lang="en-US" spc="-1" dirty="0"/>
              <a:t>2.2 1</a:t>
            </a:r>
            <a:endParaRPr lang="en-US" dirty="0"/>
          </a:p>
          <a:p>
            <a:pPr algn="just">
              <a:tabLst>
                <a:tab pos="0" algn="l"/>
              </a:tabLst>
            </a:pPr>
            <a:r>
              <a:rPr lang="en-US" spc="-1" dirty="0"/>
              <a:t>3.0 3 1</a:t>
            </a:r>
            <a:endParaRPr lang="en-US" dirty="0"/>
          </a:p>
          <a:p>
            <a:pPr algn="just">
              <a:tabLst>
                <a:tab pos="0" algn="l"/>
              </a:tabLst>
            </a:pPr>
            <a:r>
              <a:rPr lang="en-US" spc="-1" dirty="0"/>
              <a:t>4.None of these</a:t>
            </a:r>
            <a:endParaRPr lang="en-US" dirty="0"/>
          </a:p>
          <a:p>
            <a:pPr algn="just">
              <a:tabLst>
                <a:tab pos="0" algn="l"/>
              </a:tabLst>
            </a:pPr>
            <a:r>
              <a:rPr lang="en-US" spc="-1" dirty="0"/>
              <a:t>Answer: A</a:t>
            </a:r>
            <a:endParaRPr lang="en-IN" dirty="0"/>
          </a:p>
          <a:p>
            <a:pPr>
              <a:tabLst>
                <a:tab pos="0" algn="l"/>
              </a:tabLst>
            </a:pPr>
            <a:endParaRPr lang="en-US" b="1" spc="-1" dirty="0"/>
          </a:p>
        </p:txBody>
      </p:sp>
      <p:sp>
        <p:nvSpPr>
          <p:cNvPr id="4" name="Slide Number Placeholder 3">
            <a:extLst>
              <a:ext uri="{FF2B5EF4-FFF2-40B4-BE49-F238E27FC236}">
                <a16:creationId xmlns:a16="http://schemas.microsoft.com/office/drawing/2014/main" id="{E9BCEC1C-A4B2-801A-1135-625C56A1B1B2}"/>
              </a:ext>
            </a:extLst>
          </p:cNvPr>
          <p:cNvSpPr>
            <a:spLocks noGrp="1"/>
          </p:cNvSpPr>
          <p:nvPr>
            <p:ph type="sldNum" sz="quarter" idx="5"/>
          </p:nvPr>
        </p:nvSpPr>
        <p:spPr/>
        <p:txBody>
          <a:bodyPr/>
          <a:lstStyle/>
          <a:p>
            <a:fld id="{2964557E-4AEC-4FB8-82EC-38CAFDF29F61}" type="slidenum">
              <a:rPr lang="en-IN" smtClean="0"/>
              <a:t>70</a:t>
            </a:fld>
            <a:endParaRPr lang="en-IN"/>
          </a:p>
        </p:txBody>
      </p:sp>
    </p:spTree>
    <p:extLst>
      <p:ext uri="{BB962C8B-B14F-4D97-AF65-F5344CB8AC3E}">
        <p14:creationId xmlns:p14="http://schemas.microsoft.com/office/powerpoint/2010/main" val="27853743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FCA68-0662-7DCC-3BE4-5A4170329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BE491-65E9-E5AB-C76C-4D80B3AFE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7BAD7-449A-1A8D-6AB4-1D4629FE9FBC}"/>
              </a:ext>
            </a:extLst>
          </p:cNvPr>
          <p:cNvSpPr>
            <a:spLocks noGrp="1"/>
          </p:cNvSpPr>
          <p:nvPr>
            <p:ph type="body" idx="1"/>
          </p:nvPr>
        </p:nvSpPr>
        <p:spPr/>
        <p:txBody>
          <a:bodyPr/>
          <a:lstStyle/>
          <a:p>
            <a:pPr>
              <a:tabLst>
                <a:tab pos="0" algn="l"/>
              </a:tabLst>
            </a:pPr>
            <a:r>
              <a:rPr lang="en-US" b="1" spc="-1" dirty="0"/>
              <a:t>1)Which character is used in Python to make a single line comment?</a:t>
            </a:r>
            <a:endParaRPr lang="en-US" spc="-1" dirty="0"/>
          </a:p>
          <a:p>
            <a:pPr>
              <a:spcAft>
                <a:spcPts val="800"/>
              </a:spcAft>
              <a:tabLst>
                <a:tab pos="0" algn="l"/>
              </a:tabLst>
            </a:pPr>
            <a:r>
              <a:rPr lang="en-US" b="1" spc="-1" dirty="0"/>
              <a:t>A) /</a:t>
            </a:r>
            <a:endParaRPr lang="en-US" spc="-1" dirty="0"/>
          </a:p>
          <a:p>
            <a:pPr>
              <a:spcAft>
                <a:spcPts val="800"/>
              </a:spcAft>
              <a:tabLst>
                <a:tab pos="0" algn="l"/>
              </a:tabLst>
            </a:pPr>
            <a:r>
              <a:rPr lang="en-US" b="1" spc="-1" dirty="0"/>
              <a:t>B) //</a:t>
            </a:r>
            <a:endParaRPr lang="en-US" spc="-1" dirty="0"/>
          </a:p>
          <a:p>
            <a:pPr>
              <a:spcAft>
                <a:spcPts val="800"/>
              </a:spcAft>
              <a:tabLst>
                <a:tab pos="0" algn="l"/>
              </a:tabLst>
            </a:pPr>
            <a:r>
              <a:rPr lang="en-US" b="1" spc="-1" dirty="0"/>
              <a:t>C) #</a:t>
            </a:r>
            <a:endParaRPr lang="en-US" spc="-1" dirty="0"/>
          </a:p>
          <a:p>
            <a:pPr>
              <a:spcAft>
                <a:spcPts val="800"/>
              </a:spcAft>
              <a:tabLst>
                <a:tab pos="0" algn="l"/>
              </a:tabLst>
            </a:pPr>
            <a:r>
              <a:rPr lang="en-US" b="1" spc="-1" dirty="0"/>
              <a:t>D) !</a:t>
            </a:r>
            <a:endParaRPr lang="en-US" spc="-1" dirty="0"/>
          </a:p>
          <a:p>
            <a:pPr>
              <a:tabLst>
                <a:tab pos="0" algn="l"/>
              </a:tabLst>
            </a:pPr>
            <a:endParaRPr lang="en-US" spc="-1" dirty="0"/>
          </a:p>
          <a:p>
            <a:pPr>
              <a:buNone/>
              <a:tabLst>
                <a:tab pos="0" algn="l"/>
              </a:tabLst>
            </a:pPr>
            <a:r>
              <a:rPr lang="en-IN" b="1" spc="-1" dirty="0"/>
              <a:t>Answer: C</a:t>
            </a:r>
            <a:endParaRPr lang="en-US" spc="-1" dirty="0"/>
          </a:p>
          <a:p>
            <a:pPr marL="158750" indent="0">
              <a:spcAft>
                <a:spcPts val="800"/>
              </a:spcAft>
              <a:buNone/>
              <a:tabLst>
                <a:tab pos="0" algn="l"/>
              </a:tabLst>
            </a:pPr>
            <a:endParaRPr lang="en-US" spc="-1" dirty="0"/>
          </a:p>
        </p:txBody>
      </p:sp>
      <p:sp>
        <p:nvSpPr>
          <p:cNvPr id="4" name="Slide Number Placeholder 3">
            <a:extLst>
              <a:ext uri="{FF2B5EF4-FFF2-40B4-BE49-F238E27FC236}">
                <a16:creationId xmlns:a16="http://schemas.microsoft.com/office/drawing/2014/main" id="{A0DDD82A-A5E7-D309-FCC6-FBC68C1628F2}"/>
              </a:ext>
            </a:extLst>
          </p:cNvPr>
          <p:cNvSpPr>
            <a:spLocks noGrp="1"/>
          </p:cNvSpPr>
          <p:nvPr>
            <p:ph type="sldNum" sz="quarter" idx="5"/>
          </p:nvPr>
        </p:nvSpPr>
        <p:spPr/>
        <p:txBody>
          <a:bodyPr/>
          <a:lstStyle/>
          <a:p>
            <a:fld id="{2964557E-4AEC-4FB8-82EC-38CAFDF29F61}" type="slidenum">
              <a:rPr lang="en-IN" smtClean="0"/>
              <a:t>71</a:t>
            </a:fld>
            <a:endParaRPr lang="en-IN"/>
          </a:p>
        </p:txBody>
      </p:sp>
    </p:spTree>
    <p:extLst>
      <p:ext uri="{BB962C8B-B14F-4D97-AF65-F5344CB8AC3E}">
        <p14:creationId xmlns:p14="http://schemas.microsoft.com/office/powerpoint/2010/main" val="2160223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964363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703438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3514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31705338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tags" Target="../tags/tag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6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B7EEC3D-D175-2E7B-2AC6-57BBAB202241}"/>
              </a:ext>
            </a:extLst>
          </p:cNvPr>
          <p:cNvSpPr/>
          <p:nvPr userDrawn="1"/>
        </p:nvSpPr>
        <p:spPr>
          <a:xfrm>
            <a:off x="0" y="-21771"/>
            <a:ext cx="12192000" cy="631372"/>
          </a:xfrm>
          <a:prstGeom prst="rect">
            <a:avLst/>
          </a:prstGeom>
          <a:solidFill>
            <a:srgbClr val="0129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descr="A black and white logo&#10;&#10;Description automatically generated">
            <a:extLst>
              <a:ext uri="{FF2B5EF4-FFF2-40B4-BE49-F238E27FC236}">
                <a16:creationId xmlns:a16="http://schemas.microsoft.com/office/drawing/2014/main" id="{9847F5B2-139A-0D68-6E22-1F0DD371E5B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439400" y="123825"/>
            <a:ext cx="1259347" cy="409575"/>
          </a:xfrm>
          <a:prstGeom prst="rect">
            <a:avLst/>
          </a:prstGeom>
        </p:spPr>
      </p:pic>
      <p:grpSp>
        <p:nvGrpSpPr>
          <p:cNvPr id="25" name="Group 24">
            <a:extLst>
              <a:ext uri="{FF2B5EF4-FFF2-40B4-BE49-F238E27FC236}">
                <a16:creationId xmlns:a16="http://schemas.microsoft.com/office/drawing/2014/main" id="{C155A103-ADBB-F2D4-3428-2366FC21742D}"/>
              </a:ext>
            </a:extLst>
          </p:cNvPr>
          <p:cNvGrpSpPr/>
          <p:nvPr userDrawn="1"/>
        </p:nvGrpSpPr>
        <p:grpSpPr>
          <a:xfrm rot="5400000">
            <a:off x="6073140" y="-6099990"/>
            <a:ext cx="45719" cy="12192000"/>
            <a:chOff x="12115800" y="0"/>
            <a:chExt cx="76200" cy="4267200"/>
          </a:xfrm>
        </p:grpSpPr>
        <p:sp>
          <p:nvSpPr>
            <p:cNvPr id="5" name="Rectangle 4">
              <a:extLst>
                <a:ext uri="{FF2B5EF4-FFF2-40B4-BE49-F238E27FC236}">
                  <a16:creationId xmlns:a16="http://schemas.microsoft.com/office/drawing/2014/main" id="{FBBDA7C7-2313-640F-9DE7-D7FBC17FB456}"/>
                </a:ext>
              </a:extLst>
            </p:cNvPr>
            <p:cNvSpPr/>
            <p:nvPr userDrawn="1"/>
          </p:nvSpPr>
          <p:spPr>
            <a:xfrm rot="16200000">
              <a:off x="11620500" y="495300"/>
              <a:ext cx="1066800" cy="76200"/>
            </a:xfrm>
            <a:prstGeom prst="rect">
              <a:avLst/>
            </a:prstGeom>
            <a:solidFill>
              <a:srgbClr val="FFCF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CD080EE0-9745-650A-570C-0FB016CFBA8B}"/>
                </a:ext>
              </a:extLst>
            </p:cNvPr>
            <p:cNvSpPr/>
            <p:nvPr userDrawn="1"/>
          </p:nvSpPr>
          <p:spPr>
            <a:xfrm rot="16200000">
              <a:off x="11620500" y="1562100"/>
              <a:ext cx="1066800" cy="76200"/>
            </a:xfrm>
            <a:prstGeom prst="rect">
              <a:avLst/>
            </a:prstGeom>
            <a:solidFill>
              <a:srgbClr val="00A4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FDB974EF-1B82-6BFB-9C4D-D7920338D931}"/>
                </a:ext>
              </a:extLst>
            </p:cNvPr>
            <p:cNvSpPr/>
            <p:nvPr userDrawn="1"/>
          </p:nvSpPr>
          <p:spPr>
            <a:xfrm rot="16200000">
              <a:off x="11620500" y="2628900"/>
              <a:ext cx="1066800" cy="76200"/>
            </a:xfrm>
            <a:prstGeom prst="rect">
              <a:avLst/>
            </a:prstGeom>
            <a:solidFill>
              <a:srgbClr val="F25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D18CC3A7-BF1B-E349-3DDE-B264C09C9FCB}"/>
                </a:ext>
              </a:extLst>
            </p:cNvPr>
            <p:cNvSpPr/>
            <p:nvPr userDrawn="1"/>
          </p:nvSpPr>
          <p:spPr>
            <a:xfrm rot="16200000">
              <a:off x="11620500" y="3695700"/>
              <a:ext cx="1066800" cy="76200"/>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 name="Group 1">
            <a:extLst>
              <a:ext uri="{FF2B5EF4-FFF2-40B4-BE49-F238E27FC236}">
                <a16:creationId xmlns:a16="http://schemas.microsoft.com/office/drawing/2014/main" id="{CA6186BC-4E10-0A84-C200-2F0B4891CFB2}"/>
              </a:ext>
            </a:extLst>
          </p:cNvPr>
          <p:cNvGrpSpPr/>
          <p:nvPr userDrawn="1"/>
        </p:nvGrpSpPr>
        <p:grpSpPr>
          <a:xfrm rot="5400000">
            <a:off x="6060601" y="739140"/>
            <a:ext cx="45719" cy="12192000"/>
            <a:chOff x="12115800" y="0"/>
            <a:chExt cx="76200" cy="4267200"/>
          </a:xfrm>
        </p:grpSpPr>
        <p:sp>
          <p:nvSpPr>
            <p:cNvPr id="3" name="Rectangle 2">
              <a:extLst>
                <a:ext uri="{FF2B5EF4-FFF2-40B4-BE49-F238E27FC236}">
                  <a16:creationId xmlns:a16="http://schemas.microsoft.com/office/drawing/2014/main" id="{29838462-E3ED-2088-A2EF-1E3ECEA3B960}"/>
                </a:ext>
              </a:extLst>
            </p:cNvPr>
            <p:cNvSpPr/>
            <p:nvPr userDrawn="1"/>
          </p:nvSpPr>
          <p:spPr>
            <a:xfrm rot="16200000">
              <a:off x="11620500" y="495300"/>
              <a:ext cx="1066800" cy="76200"/>
            </a:xfrm>
            <a:prstGeom prst="rect">
              <a:avLst/>
            </a:prstGeom>
            <a:solidFill>
              <a:srgbClr val="FFCF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BBD4FC5-81D7-1B5D-E213-BFA540B03B7E}"/>
                </a:ext>
              </a:extLst>
            </p:cNvPr>
            <p:cNvSpPr/>
            <p:nvPr userDrawn="1"/>
          </p:nvSpPr>
          <p:spPr>
            <a:xfrm rot="16200000">
              <a:off x="11620500" y="1562100"/>
              <a:ext cx="1066800" cy="76200"/>
            </a:xfrm>
            <a:prstGeom prst="rect">
              <a:avLst/>
            </a:prstGeom>
            <a:solidFill>
              <a:srgbClr val="00A4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368F2E4-6ECB-9AD5-FB7E-084B888F6AC0}"/>
                </a:ext>
              </a:extLst>
            </p:cNvPr>
            <p:cNvSpPr/>
            <p:nvPr userDrawn="1"/>
          </p:nvSpPr>
          <p:spPr>
            <a:xfrm rot="16200000">
              <a:off x="11620500" y="2628900"/>
              <a:ext cx="1066800" cy="76200"/>
            </a:xfrm>
            <a:prstGeom prst="rect">
              <a:avLst/>
            </a:prstGeom>
            <a:solidFill>
              <a:srgbClr val="F25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82EB052-5587-7E9D-2A88-EE076DE81119}"/>
                </a:ext>
              </a:extLst>
            </p:cNvPr>
            <p:cNvSpPr/>
            <p:nvPr userDrawn="1"/>
          </p:nvSpPr>
          <p:spPr>
            <a:xfrm rot="16200000">
              <a:off x="11620500" y="3695700"/>
              <a:ext cx="1066800" cy="76200"/>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ustDataLst>
      <p:tags r:id="rId5"/>
    </p:custDataLst>
    <p:extLst>
      <p:ext uri="{BB962C8B-B14F-4D97-AF65-F5344CB8AC3E}">
        <p14:creationId xmlns:p14="http://schemas.microsoft.com/office/powerpoint/2010/main" val="30872018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video" Target="https://www.youtube.com/embed/x7X9w_GIm1s?feature=oembed" TargetMode="External"/><Relationship Id="rId5" Type="http://schemas.openxmlformats.org/officeDocument/2006/relationships/hyperlink" Target="https://www.youtube.com/watch?v=x7X9w_GIm1s" TargetMode="Externa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www.edureka.co/blog/python-feature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hyperlink" Target="https://www.guru99.com/compiler-design-tutorial.html"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0.pn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www.megatrend.com/en/the-rise-of-the-python-programming-languag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admin.tops-int.com/storage/media/editor_images/62858.jp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ww.apptunix.com/blog/wp-content/uploads/sites/3/2021/08/popular-apps-doveloped-with-python.jp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goodfangsm.life/product_details/2982567.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www.linkedin.com/pulse/jupyter-notebook-vs-anaconda-choosing-right-tool-beginners-singh-snysc" TargetMode="Externa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3.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s://medium.com/@ngohongphuc2001/python-variables-18b27e6cccd8" TargetMode="Externa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4.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hyperlink" Target="https://phoenixnap.com/kb/python-data-type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15.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hyperlink" Target="https://www.geeksforgeeks.org/python-operators/" TargetMode="Externa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16.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17.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hyperlink" Target="https://pynative.com/python-input-function-get-user-input/"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hyperlink" Target="https://www.scientecheasy.com/2023/01/string-slicing-in-python.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hyperlink" Target="https://www.askpython.com/python/string/slice-strings-in-python" TargetMode="Externa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18.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hyperlink" Target="https://www.scaler.com/topics/python/what-is-list-in-python/"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hyperlink" Target="https://pynative.com/python-tuples/"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hyperlink" Target="https://pynative.com/python-sets/" TargetMode="Externa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hyperlink" Target="https://www.programiz.com/python-programming/dictionary" TargetMode="External"/><Relationship Id="rId4" Type="http://schemas.microsoft.com/office/2007/relationships/hdphoto" Target="../media/hdphoto2.wdp"/></Relationships>
</file>

<file path=ppt/slides/_rels/slide4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hyperlink" Target="https://x.com/OlofPaulson/status/1368503322169253888/photo/1"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19.xml"/><Relationship Id="rId5" Type="http://schemas.openxmlformats.org/officeDocument/2006/relationships/image" Target="../media/image28.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20.xml"/><Relationship Id="rId5" Type="http://schemas.openxmlformats.org/officeDocument/2006/relationships/image" Target="../media/image28.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hyperlink" Target="https://www.toppr.com/guides/python-guide/tutorials/python-flow-control/if-elif-else/python-if-if-else-if-elif-else-and-nested-if-statement/" TargetMode="Externa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hyperlink" Target="https://pynative.com/python-for-loop/"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hyperlink" Target="https://pynative.com/python-while-loop/"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s://pynative.com/python-break-continue-pass/"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hyperlink" Target="https://pynative.com/" TargetMode="External"/><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2.jpeg"/></Relationships>
</file>

<file path=ppt/slides/_rels/slide5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tags" Target="../tags/tag21.xml"/><Relationship Id="rId5" Type="http://schemas.openxmlformats.org/officeDocument/2006/relationships/image" Target="../media/image28.png"/><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tags" Target="../tags/tag22.xml"/><Relationship Id="rId5" Type="http://schemas.openxmlformats.org/officeDocument/2006/relationships/image" Target="../media/image28.png"/><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hyperlink" Target="https://abuqaiselegant.medium.com/python-file-handling-760887773bd7"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openxmlformats.org/officeDocument/2006/relationships/hyperlink" Target="https://geospatialtraining.com/file-handling-with-python-for-gis-programmers/" TargetMode="External"/><Relationship Id="rId4" Type="http://schemas.microsoft.com/office/2007/relationships/hdphoto" Target="../media/hdphoto3.wdp"/></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hyperlink" Target="https://ecomputernotes.com/python/file-handling-in-python"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hyperlink" Target="https://www.scaler.com/topics/close-file-python/"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tags" Target="../tags/tag23.xml"/><Relationship Id="rId5" Type="http://schemas.openxmlformats.org/officeDocument/2006/relationships/image" Target="../media/image28.png"/><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8" Type="http://schemas.openxmlformats.org/officeDocument/2006/relationships/hyperlink" Target="https://www.w3schools.com/python/python_file_handling.asp" TargetMode="External"/><Relationship Id="rId3" Type="http://schemas.openxmlformats.org/officeDocument/2006/relationships/hyperlink" Target="https://www.analyticsvidhya.com/blog/2021/05/introduction-to-python-programming-beginners-guide/" TargetMode="External"/><Relationship Id="rId7" Type="http://schemas.openxmlformats.org/officeDocument/2006/relationships/hyperlink" Target="https://www.geeksforgeeks.org/file-handling-python/" TargetMode="External"/><Relationship Id="rId2" Type="http://schemas.openxmlformats.org/officeDocument/2006/relationships/slideLayout" Target="../slideLayouts/slideLayout3.xml"/><Relationship Id="rId1" Type="http://schemas.openxmlformats.org/officeDocument/2006/relationships/tags" Target="../tags/tag25.xml"/><Relationship Id="rId6" Type="http://schemas.openxmlformats.org/officeDocument/2006/relationships/hyperlink" Target="https://www.javatpoint.com/python-tutorial" TargetMode="External"/><Relationship Id="rId5" Type="http://schemas.openxmlformats.org/officeDocument/2006/relationships/hyperlink" Target="https://www.w3schools.com/python/python_intro.asp" TargetMode="External"/><Relationship Id="rId4" Type="http://schemas.openxmlformats.org/officeDocument/2006/relationships/hyperlink" Target="https://www.programiz.com/python-programming" TargetMode="External"/><Relationship Id="rId9" Type="http://schemas.openxmlformats.org/officeDocument/2006/relationships/hyperlink" Target="https://www.javatpoint.com/python-files-io"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60.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60.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3.xml"/><Relationship Id="rId1" Type="http://schemas.openxmlformats.org/officeDocument/2006/relationships/tags" Target="../tags/tag29.xml"/><Relationship Id="rId5" Type="http://schemas.openxmlformats.org/officeDocument/2006/relationships/image" Target="../media/image61.png"/><Relationship Id="rId4" Type="http://schemas.openxmlformats.org/officeDocument/2006/relationships/image" Target="../media/image60.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3.xml"/><Relationship Id="rId1" Type="http://schemas.openxmlformats.org/officeDocument/2006/relationships/tags" Target="../tags/tag30.xml"/><Relationship Id="rId4" Type="http://schemas.openxmlformats.org/officeDocument/2006/relationships/image" Target="../media/image60.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3740-0E0B-A36B-B4BF-924B06E66D69}"/>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5021524F-B017-C8D8-DFF2-FCBE55E9FD3D}"/>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3333" b="-3333"/>
            </a:stretch>
          </a:blipFill>
        </p:spPr>
        <p:txBody>
          <a:bodyPr/>
          <a:lstStyle/>
          <a:p>
            <a:endParaRPr lang="en-IN" sz="800"/>
          </a:p>
        </p:txBody>
      </p:sp>
      <p:pic>
        <p:nvPicPr>
          <p:cNvPr id="7" name="Picture 4" descr="An abstract purple background with wavy lines photo – Free Render Image on  Unsplash">
            <a:extLst>
              <a:ext uri="{FF2B5EF4-FFF2-40B4-BE49-F238E27FC236}">
                <a16:creationId xmlns:a16="http://schemas.microsoft.com/office/drawing/2014/main" id="{E2ACE65E-97F8-852B-881A-C67E1852317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5888"/>
          <a:stretch/>
        </p:blipFill>
        <p:spPr bwMode="auto">
          <a:xfrm>
            <a:off x="0" y="1"/>
            <a:ext cx="12223986"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A5CFAF36-3C6E-696C-2812-560F59EA5D28}"/>
              </a:ext>
            </a:extLst>
          </p:cNvPr>
          <p:cNvSpPr/>
          <p:nvPr/>
        </p:nvSpPr>
        <p:spPr>
          <a:xfrm>
            <a:off x="0" y="0"/>
            <a:ext cx="12192000" cy="6858000"/>
          </a:xfrm>
          <a:prstGeom prst="rect">
            <a:avLst/>
          </a:prstGeom>
          <a:solidFill>
            <a:srgbClr val="1B0035">
              <a:alpha val="61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 name="Straight Connector 12">
            <a:extLst>
              <a:ext uri="{FF2B5EF4-FFF2-40B4-BE49-F238E27FC236}">
                <a16:creationId xmlns:a16="http://schemas.microsoft.com/office/drawing/2014/main" id="{3E8FE595-FACC-19C7-38F4-49489FD20A74}"/>
              </a:ext>
            </a:extLst>
          </p:cNvPr>
          <p:cNvCxnSpPr/>
          <p:nvPr/>
        </p:nvCxnSpPr>
        <p:spPr>
          <a:xfrm>
            <a:off x="466039" y="3432721"/>
            <a:ext cx="4114800" cy="0"/>
          </a:xfrm>
          <a:prstGeom prst="line">
            <a:avLst/>
          </a:prstGeom>
          <a:ln w="12700">
            <a:solidFill>
              <a:srgbClr val="00A4EF"/>
            </a:solidFill>
          </a:ln>
        </p:spPr>
        <p:style>
          <a:lnRef idx="1">
            <a:schemeClr val="accent1"/>
          </a:lnRef>
          <a:fillRef idx="0">
            <a:schemeClr val="accent1"/>
          </a:fillRef>
          <a:effectRef idx="0">
            <a:schemeClr val="accent1"/>
          </a:effectRef>
          <a:fontRef idx="minor">
            <a:schemeClr val="tx1"/>
          </a:fontRef>
        </p:style>
      </p:cxnSp>
      <p:sp>
        <p:nvSpPr>
          <p:cNvPr id="4" name="TextBox 25">
            <a:extLst>
              <a:ext uri="{FF2B5EF4-FFF2-40B4-BE49-F238E27FC236}">
                <a16:creationId xmlns:a16="http://schemas.microsoft.com/office/drawing/2014/main" id="{46CF1810-8FD6-7EBF-5D85-146F7F10CFEF}"/>
              </a:ext>
            </a:extLst>
          </p:cNvPr>
          <p:cNvSpPr txBox="1"/>
          <p:nvPr/>
        </p:nvSpPr>
        <p:spPr>
          <a:xfrm>
            <a:off x="457199" y="3731566"/>
            <a:ext cx="6324601" cy="461665"/>
          </a:xfrm>
          <a:prstGeom prst="rect">
            <a:avLst/>
          </a:prstGeom>
        </p:spPr>
        <p:txBody>
          <a:bodyPr wrap="square" lIns="0" tIns="0" rIns="0" bIns="0" rtlCol="0" anchor="t">
            <a:spAutoFit/>
          </a:bodyPr>
          <a:lstStyle/>
          <a:p>
            <a:pPr algn="l"/>
            <a:r>
              <a:rPr lang="en-US" sz="3000" b="1" dirty="0">
                <a:solidFill>
                  <a:srgbClr val="FFFFFF"/>
                </a:solidFill>
                <a:latin typeface="Arial" panose="020B0604020202020204" pitchFamily="34" charset="0"/>
                <a:ea typeface="Garet Bold"/>
                <a:cs typeface="Arial" panose="020B0604020202020204" pitchFamily="34" charset="0"/>
                <a:sym typeface="Garet Bold"/>
              </a:rPr>
              <a:t>Python Basics for Data Science</a:t>
            </a:r>
          </a:p>
        </p:txBody>
      </p:sp>
      <p:sp>
        <p:nvSpPr>
          <p:cNvPr id="5" name="TextBox 26">
            <a:extLst>
              <a:ext uri="{FF2B5EF4-FFF2-40B4-BE49-F238E27FC236}">
                <a16:creationId xmlns:a16="http://schemas.microsoft.com/office/drawing/2014/main" id="{3FFB2AFE-248A-C5EB-5292-1BD86AB019C6}"/>
              </a:ext>
            </a:extLst>
          </p:cNvPr>
          <p:cNvSpPr txBox="1"/>
          <p:nvPr/>
        </p:nvSpPr>
        <p:spPr>
          <a:xfrm>
            <a:off x="457200" y="2971800"/>
            <a:ext cx="2285999" cy="384721"/>
          </a:xfrm>
          <a:prstGeom prst="rect">
            <a:avLst/>
          </a:prstGeom>
        </p:spPr>
        <p:txBody>
          <a:bodyPr wrap="square" lIns="0" tIns="0" rIns="0" bIns="0" rtlCol="0" anchor="t">
            <a:spAutoFit/>
          </a:bodyPr>
          <a:lstStyle/>
          <a:p>
            <a:pPr algn="l"/>
            <a:r>
              <a:rPr lang="en-US" sz="2500" dirty="0">
                <a:solidFill>
                  <a:schemeClr val="bg1"/>
                </a:solidFill>
                <a:latin typeface="Arial" panose="020B0604020202020204" pitchFamily="34" charset="0"/>
                <a:ea typeface="Garet"/>
                <a:cs typeface="Arial" panose="020B0604020202020204" pitchFamily="34" charset="0"/>
                <a:sym typeface="Garet"/>
              </a:rPr>
              <a:t>Chapter – 2</a:t>
            </a:r>
          </a:p>
        </p:txBody>
      </p:sp>
      <p:cxnSp>
        <p:nvCxnSpPr>
          <p:cNvPr id="14" name="Straight Connector 13">
            <a:extLst>
              <a:ext uri="{FF2B5EF4-FFF2-40B4-BE49-F238E27FC236}">
                <a16:creationId xmlns:a16="http://schemas.microsoft.com/office/drawing/2014/main" id="{2D05E8C8-AB7D-AF3C-5288-6BBD12C39507}"/>
              </a:ext>
            </a:extLst>
          </p:cNvPr>
          <p:cNvCxnSpPr/>
          <p:nvPr/>
        </p:nvCxnSpPr>
        <p:spPr>
          <a:xfrm>
            <a:off x="2133600" y="647699"/>
            <a:ext cx="0" cy="533400"/>
          </a:xfrm>
          <a:prstGeom prst="line">
            <a:avLst/>
          </a:prstGeom>
        </p:spPr>
        <p:style>
          <a:lnRef idx="1">
            <a:schemeClr val="dk1"/>
          </a:lnRef>
          <a:fillRef idx="0">
            <a:schemeClr val="dk1"/>
          </a:fillRef>
          <a:effectRef idx="0">
            <a:schemeClr val="dk1"/>
          </a:effectRef>
          <a:fontRef idx="minor">
            <a:schemeClr val="tx1"/>
          </a:fontRef>
        </p:style>
      </p:cxnSp>
      <p:sp>
        <p:nvSpPr>
          <p:cNvPr id="19" name="Rectangle: Rounded Corners 18">
            <a:extLst>
              <a:ext uri="{FF2B5EF4-FFF2-40B4-BE49-F238E27FC236}">
                <a16:creationId xmlns:a16="http://schemas.microsoft.com/office/drawing/2014/main" id="{23B4B6FF-C113-43D8-E967-2E91E0424ADD}"/>
              </a:ext>
            </a:extLst>
          </p:cNvPr>
          <p:cNvSpPr/>
          <p:nvPr/>
        </p:nvSpPr>
        <p:spPr>
          <a:xfrm>
            <a:off x="367086" y="1057328"/>
            <a:ext cx="5904630" cy="990594"/>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4AD3DAB5-DFBC-DD5A-D1D2-986CC4159679}"/>
              </a:ext>
            </a:extLst>
          </p:cNvPr>
          <p:cNvGrpSpPr/>
          <p:nvPr/>
        </p:nvGrpSpPr>
        <p:grpSpPr>
          <a:xfrm>
            <a:off x="741997" y="1295400"/>
            <a:ext cx="5125403" cy="509616"/>
            <a:chOff x="457200" y="511900"/>
            <a:chExt cx="5580842" cy="554900"/>
          </a:xfrm>
        </p:grpSpPr>
        <p:pic>
          <p:nvPicPr>
            <p:cNvPr id="22" name="Picture 3" descr="A black and grey logo&#10;&#10;Description automatically generated">
              <a:extLst>
                <a:ext uri="{FF2B5EF4-FFF2-40B4-BE49-F238E27FC236}">
                  <a16:creationId xmlns:a16="http://schemas.microsoft.com/office/drawing/2014/main" id="{39E51A27-FF4A-AFC4-ECE2-6B86BB7138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 y="598850"/>
              <a:ext cx="1786381" cy="3810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A close up of a logo&#10;&#10;Description automatically generated">
              <a:extLst>
                <a:ext uri="{FF2B5EF4-FFF2-40B4-BE49-F238E27FC236}">
                  <a16:creationId xmlns:a16="http://schemas.microsoft.com/office/drawing/2014/main" id="{3AC46BDF-2616-4F63-A289-A9EEED2522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52009" y="596475"/>
              <a:ext cx="1186033" cy="385750"/>
            </a:xfrm>
            <a:prstGeom prst="rect">
              <a:avLst/>
            </a:prstGeom>
          </p:spPr>
        </p:pic>
        <p:pic>
          <p:nvPicPr>
            <p:cNvPr id="24" name="Picture 23" descr="A blue and white logo&#10;&#10;AI-generated content may be incorrect.">
              <a:extLst>
                <a:ext uri="{FF2B5EF4-FFF2-40B4-BE49-F238E27FC236}">
                  <a16:creationId xmlns:a16="http://schemas.microsoft.com/office/drawing/2014/main" id="{496C758E-16B4-ADE0-57A5-1332B4E2C69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82605" y="511900"/>
              <a:ext cx="840360" cy="554900"/>
            </a:xfrm>
            <a:prstGeom prst="rect">
              <a:avLst/>
            </a:prstGeom>
          </p:spPr>
        </p:pic>
      </p:grpSp>
      <p:pic>
        <p:nvPicPr>
          <p:cNvPr id="3" name="Picture 2" descr="A silhouette of a person's head with a circuit board&#10;&#10;AI-generated content may be incorrect.">
            <a:extLst>
              <a:ext uri="{FF2B5EF4-FFF2-40B4-BE49-F238E27FC236}">
                <a16:creationId xmlns:a16="http://schemas.microsoft.com/office/drawing/2014/main" id="{72F62194-09AD-316D-1573-1B6330DE4B65}"/>
              </a:ext>
            </a:extLst>
          </p:cNvPr>
          <p:cNvPicPr>
            <a:picLocks noChangeAspect="1"/>
          </p:cNvPicPr>
          <p:nvPr/>
        </p:nvPicPr>
        <p:blipFill>
          <a:blip r:embed="rId9">
            <a:extLst>
              <a:ext uri="{28A0092B-C50C-407E-A947-70E740481C1C}">
                <a14:useLocalDpi xmlns:a14="http://schemas.microsoft.com/office/drawing/2010/main" val="0"/>
              </a:ext>
            </a:extLst>
          </a:blip>
          <a:srcRect l="33750" t="444" r="19608" b="-444"/>
          <a:stretch>
            <a:fillRect/>
          </a:stretch>
        </p:blipFill>
        <p:spPr>
          <a:xfrm flipH="1">
            <a:off x="6208098" y="0"/>
            <a:ext cx="5686610" cy="6858000"/>
          </a:xfrm>
          <a:prstGeom prst="rect">
            <a:avLst/>
          </a:prstGeom>
        </p:spPr>
      </p:pic>
    </p:spTree>
    <p:custDataLst>
      <p:tags r:id="rId1"/>
    </p:custDataLst>
    <p:extLst>
      <p:ext uri="{BB962C8B-B14F-4D97-AF65-F5344CB8AC3E}">
        <p14:creationId xmlns:p14="http://schemas.microsoft.com/office/powerpoint/2010/main" val="254669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05505-AEC7-358C-0EF9-EF61EFF21F6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029BE60-656A-E804-764F-017035AF8D36}"/>
              </a:ext>
            </a:extLst>
          </p:cNvPr>
          <p:cNvGrpSpPr/>
          <p:nvPr/>
        </p:nvGrpSpPr>
        <p:grpSpPr>
          <a:xfrm>
            <a:off x="2705100" y="1752600"/>
            <a:ext cx="6781800" cy="4038600"/>
            <a:chOff x="2705100" y="1752600"/>
            <a:chExt cx="6781800" cy="4038600"/>
          </a:xfrm>
        </p:grpSpPr>
        <p:grpSp>
          <p:nvGrpSpPr>
            <p:cNvPr id="8" name="Group 7">
              <a:extLst>
                <a:ext uri="{FF2B5EF4-FFF2-40B4-BE49-F238E27FC236}">
                  <a16:creationId xmlns:a16="http://schemas.microsoft.com/office/drawing/2014/main" id="{D425BCA4-13C5-9CF3-5269-0961BECB94ED}"/>
                </a:ext>
              </a:extLst>
            </p:cNvPr>
            <p:cNvGrpSpPr/>
            <p:nvPr/>
          </p:nvGrpSpPr>
          <p:grpSpPr>
            <a:xfrm>
              <a:off x="4267200" y="1981200"/>
              <a:ext cx="3657600" cy="2150481"/>
              <a:chOff x="4239225" y="1458686"/>
              <a:chExt cx="3657600" cy="2150481"/>
            </a:xfrm>
          </p:grpSpPr>
          <p:sp>
            <p:nvSpPr>
              <p:cNvPr id="3" name="Rectangle: Rounded Corners 2">
                <a:extLst>
                  <a:ext uri="{FF2B5EF4-FFF2-40B4-BE49-F238E27FC236}">
                    <a16:creationId xmlns:a16="http://schemas.microsoft.com/office/drawing/2014/main" id="{E5EF77BB-0328-252E-5AEB-C6E8E057087C}"/>
                  </a:ext>
                </a:extLst>
              </p:cNvPr>
              <p:cNvSpPr/>
              <p:nvPr/>
            </p:nvSpPr>
            <p:spPr>
              <a:xfrm>
                <a:off x="4239225" y="1458686"/>
                <a:ext cx="3657600" cy="2133600"/>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raphic 3" descr="Warning with solid fill">
                <a:extLst>
                  <a:ext uri="{FF2B5EF4-FFF2-40B4-BE49-F238E27FC236}">
                    <a16:creationId xmlns:a16="http://schemas.microsoft.com/office/drawing/2014/main" id="{39A9E10F-73D0-1E12-F326-8973E5EB38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9200" y="1475567"/>
                <a:ext cx="2133600" cy="2133600"/>
              </a:xfrm>
              <a:prstGeom prst="rect">
                <a:avLst/>
              </a:prstGeom>
            </p:spPr>
          </p:pic>
        </p:grpSp>
        <p:sp>
          <p:nvSpPr>
            <p:cNvPr id="7" name="TextBox 6">
              <a:extLst>
                <a:ext uri="{FF2B5EF4-FFF2-40B4-BE49-F238E27FC236}">
                  <a16:creationId xmlns:a16="http://schemas.microsoft.com/office/drawing/2014/main" id="{3C59BB45-663F-93B8-F1E1-85162698EB15}"/>
                </a:ext>
              </a:extLst>
            </p:cNvPr>
            <p:cNvSpPr txBox="1"/>
            <p:nvPr/>
          </p:nvSpPr>
          <p:spPr>
            <a:xfrm>
              <a:off x="5181600" y="4267200"/>
              <a:ext cx="1828800" cy="400110"/>
            </a:xfrm>
            <a:prstGeom prst="rect">
              <a:avLst/>
            </a:prstGeom>
            <a:noFill/>
          </p:spPr>
          <p:txBody>
            <a:bodyPr wrap="square">
              <a:spAutoFit/>
            </a:bodyPr>
            <a:lstStyle/>
            <a:p>
              <a:pPr algn="ctr"/>
              <a:r>
                <a:rPr lang="en-US" sz="2000" b="1" dirty="0">
                  <a:latin typeface="Arial" panose="020B0604020202020204" pitchFamily="34" charset="0"/>
                  <a:cs typeface="Arial" panose="020B0604020202020204" pitchFamily="34" charset="0"/>
                </a:rPr>
                <a:t>Disclaimer</a:t>
              </a:r>
            </a:p>
          </p:txBody>
        </p:sp>
        <p:sp>
          <p:nvSpPr>
            <p:cNvPr id="9" name="TextBox 8">
              <a:extLst>
                <a:ext uri="{FF2B5EF4-FFF2-40B4-BE49-F238E27FC236}">
                  <a16:creationId xmlns:a16="http://schemas.microsoft.com/office/drawing/2014/main" id="{0BE0182C-C2E4-AB4D-F165-672C44EA8A3B}"/>
                </a:ext>
              </a:extLst>
            </p:cNvPr>
            <p:cNvSpPr txBox="1"/>
            <p:nvPr/>
          </p:nvSpPr>
          <p:spPr>
            <a:xfrm>
              <a:off x="2914650" y="4724400"/>
              <a:ext cx="6362700" cy="70788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The content is curated from online/offline resources and used for educational purpose only</a:t>
              </a:r>
            </a:p>
          </p:txBody>
        </p:sp>
        <p:sp>
          <p:nvSpPr>
            <p:cNvPr id="10" name="Rectangle: Rounded Corners 9">
              <a:extLst>
                <a:ext uri="{FF2B5EF4-FFF2-40B4-BE49-F238E27FC236}">
                  <a16:creationId xmlns:a16="http://schemas.microsoft.com/office/drawing/2014/main" id="{F7E743E0-E8FD-0C86-3BF6-7CE38AC1FE0D}"/>
                </a:ext>
              </a:extLst>
            </p:cNvPr>
            <p:cNvSpPr/>
            <p:nvPr/>
          </p:nvSpPr>
          <p:spPr>
            <a:xfrm>
              <a:off x="2705100" y="1752600"/>
              <a:ext cx="6781800" cy="3962400"/>
            </a:xfrm>
            <a:prstGeom prst="roundRect">
              <a:avLst>
                <a:gd name="adj" fmla="val 19756"/>
              </a:avLst>
            </a:prstGeom>
            <a:noFill/>
            <a:ln w="3175">
              <a:solidFill>
                <a:srgbClr val="BFDA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4A03A50D-E945-2E9B-9A16-F9AFB8C442BD}"/>
                </a:ext>
              </a:extLst>
            </p:cNvPr>
            <p:cNvSpPr/>
            <p:nvPr/>
          </p:nvSpPr>
          <p:spPr>
            <a:xfrm>
              <a:off x="3505200" y="5638800"/>
              <a:ext cx="5181600" cy="152400"/>
            </a:xfrm>
            <a:prstGeom prst="roundRect">
              <a:avLst/>
            </a:prstGeom>
            <a:solidFill>
              <a:srgbClr val="FFB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85886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C0768AD4-8698-734D-CBEC-6A147531FB7B}"/>
              </a:ext>
            </a:extLst>
          </p:cNvPr>
          <p:cNvSpPr txBox="1">
            <a:spLocks/>
          </p:cNvSpPr>
          <p:nvPr/>
        </p:nvSpPr>
        <p:spPr>
          <a:xfrm>
            <a:off x="381000" y="838200"/>
            <a:ext cx="3268485"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Chapters for Discussion</a:t>
            </a:r>
          </a:p>
        </p:txBody>
      </p:sp>
      <p:grpSp>
        <p:nvGrpSpPr>
          <p:cNvPr id="13" name="Group 12">
            <a:extLst>
              <a:ext uri="{FF2B5EF4-FFF2-40B4-BE49-F238E27FC236}">
                <a16:creationId xmlns:a16="http://schemas.microsoft.com/office/drawing/2014/main" id="{C53106C5-1A06-B918-4515-29938801146C}"/>
              </a:ext>
            </a:extLst>
          </p:cNvPr>
          <p:cNvGrpSpPr/>
          <p:nvPr/>
        </p:nvGrpSpPr>
        <p:grpSpPr>
          <a:xfrm>
            <a:off x="457200" y="2286000"/>
            <a:ext cx="5270117" cy="884067"/>
            <a:chOff x="457200" y="1905000"/>
            <a:chExt cx="5270117" cy="884067"/>
          </a:xfrm>
        </p:grpSpPr>
        <p:sp>
          <p:nvSpPr>
            <p:cNvPr id="5" name="Freeform 3">
              <a:extLst>
                <a:ext uri="{FF2B5EF4-FFF2-40B4-BE49-F238E27FC236}">
                  <a16:creationId xmlns:a16="http://schemas.microsoft.com/office/drawing/2014/main" id="{B502B681-A3EE-E0E6-AC79-25F0EFD0DC78}"/>
                </a:ext>
              </a:extLst>
            </p:cNvPr>
            <p:cNvSpPr/>
            <p:nvPr/>
          </p:nvSpPr>
          <p:spPr>
            <a:xfrm>
              <a:off x="457200" y="1923158"/>
              <a:ext cx="5270117" cy="847751"/>
            </a:xfrm>
            <a:custGeom>
              <a:avLst/>
              <a:gdLst/>
              <a:ahLst/>
              <a:cxnLst/>
              <a:rect l="l" t="t" r="r" b="b"/>
              <a:pathLst>
                <a:path w="1576291" h="208369">
                  <a:moveTo>
                    <a:pt x="80480" y="0"/>
                  </a:moveTo>
                  <a:lnTo>
                    <a:pt x="1495811" y="0"/>
                  </a:lnTo>
                  <a:cubicBezTo>
                    <a:pt x="1517156" y="0"/>
                    <a:pt x="1537626" y="8479"/>
                    <a:pt x="1552719" y="23572"/>
                  </a:cubicBezTo>
                  <a:cubicBezTo>
                    <a:pt x="1567812" y="38665"/>
                    <a:pt x="1576291" y="59135"/>
                    <a:pt x="1576291" y="80480"/>
                  </a:cubicBezTo>
                  <a:lnTo>
                    <a:pt x="1576291" y="127890"/>
                  </a:lnTo>
                  <a:cubicBezTo>
                    <a:pt x="1576291" y="149234"/>
                    <a:pt x="1567812" y="169705"/>
                    <a:pt x="1552719" y="184797"/>
                  </a:cubicBezTo>
                  <a:cubicBezTo>
                    <a:pt x="1537626" y="199890"/>
                    <a:pt x="1517156" y="208369"/>
                    <a:pt x="1495811" y="208369"/>
                  </a:cubicBezTo>
                  <a:lnTo>
                    <a:pt x="80480" y="208369"/>
                  </a:lnTo>
                  <a:cubicBezTo>
                    <a:pt x="59135" y="208369"/>
                    <a:pt x="38665" y="199890"/>
                    <a:pt x="23572" y="184797"/>
                  </a:cubicBezTo>
                  <a:cubicBezTo>
                    <a:pt x="8479" y="169705"/>
                    <a:pt x="0" y="149234"/>
                    <a:pt x="0" y="127890"/>
                  </a:cubicBezTo>
                  <a:lnTo>
                    <a:pt x="0" y="80480"/>
                  </a:lnTo>
                  <a:cubicBezTo>
                    <a:pt x="0" y="59135"/>
                    <a:pt x="8479" y="38665"/>
                    <a:pt x="23572" y="23572"/>
                  </a:cubicBezTo>
                  <a:cubicBezTo>
                    <a:pt x="38665" y="8479"/>
                    <a:pt x="59135" y="0"/>
                    <a:pt x="80480" y="0"/>
                  </a:cubicBezTo>
                  <a:close/>
                </a:path>
              </a:pathLst>
            </a:custGeom>
            <a:solidFill>
              <a:srgbClr val="005899"/>
            </a:solidFill>
          </p:spPr>
          <p:txBody>
            <a:bodyPr/>
            <a:lstStyle/>
            <a:p>
              <a:endParaRPr lang="en-IN" sz="800" dirty="0">
                <a:latin typeface="Arial" panose="020B0604020202020204" pitchFamily="34" charset="0"/>
                <a:cs typeface="Arial" panose="020B0604020202020204" pitchFamily="34" charset="0"/>
              </a:endParaRPr>
            </a:p>
          </p:txBody>
        </p:sp>
        <p:grpSp>
          <p:nvGrpSpPr>
            <p:cNvPr id="7" name="Group 5">
              <a:extLst>
                <a:ext uri="{FF2B5EF4-FFF2-40B4-BE49-F238E27FC236}">
                  <a16:creationId xmlns:a16="http://schemas.microsoft.com/office/drawing/2014/main" id="{B8DAEF06-EDFC-0642-CE1E-B9594FF49830}"/>
                </a:ext>
              </a:extLst>
            </p:cNvPr>
            <p:cNvGrpSpPr/>
            <p:nvPr/>
          </p:nvGrpSpPr>
          <p:grpSpPr>
            <a:xfrm>
              <a:off x="1309784" y="1905000"/>
              <a:ext cx="884067" cy="884067"/>
              <a:chOff x="0" y="0"/>
              <a:chExt cx="812800" cy="812800"/>
            </a:xfrm>
          </p:grpSpPr>
          <p:sp>
            <p:nvSpPr>
              <p:cNvPr id="8" name="Freeform 6">
                <a:extLst>
                  <a:ext uri="{FF2B5EF4-FFF2-40B4-BE49-F238E27FC236}">
                    <a16:creationId xmlns:a16="http://schemas.microsoft.com/office/drawing/2014/main" id="{D70EB06B-7623-4BC8-9FCF-B4A3D6C4A2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99"/>
              </a:solidFill>
              <a:ln w="85725" cap="sq">
                <a:solidFill>
                  <a:srgbClr val="FFFFFF"/>
                </a:solidFill>
                <a:prstDash val="solid"/>
                <a:miter/>
              </a:ln>
            </p:spPr>
            <p:txBody>
              <a:bodyPr/>
              <a:lstStyle/>
              <a:p>
                <a:endParaRPr lang="en-IN" sz="800">
                  <a:latin typeface="Arial" panose="020B0604020202020204" pitchFamily="34" charset="0"/>
                  <a:cs typeface="Arial" panose="020B0604020202020204" pitchFamily="34" charset="0"/>
                </a:endParaRPr>
              </a:p>
            </p:txBody>
          </p:sp>
          <p:sp>
            <p:nvSpPr>
              <p:cNvPr id="9" name="TextBox 7">
                <a:extLst>
                  <a:ext uri="{FF2B5EF4-FFF2-40B4-BE49-F238E27FC236}">
                    <a16:creationId xmlns:a16="http://schemas.microsoft.com/office/drawing/2014/main" id="{47949106-8BD3-5EB7-5D13-DFAF512E8B3A}"/>
                  </a:ext>
                </a:extLst>
              </p:cNvPr>
              <p:cNvSpPr txBox="1"/>
              <p:nvPr/>
            </p:nvSpPr>
            <p:spPr>
              <a:xfrm>
                <a:off x="76200" y="38100"/>
                <a:ext cx="660400" cy="698500"/>
              </a:xfrm>
              <a:prstGeom prst="rect">
                <a:avLst/>
              </a:prstGeom>
            </p:spPr>
            <p:txBody>
              <a:bodyPr lIns="20627" tIns="20627" rIns="20627" bIns="20627" rtlCol="0" anchor="ctr"/>
              <a:lstStyle/>
              <a:p>
                <a:pPr algn="ctr">
                  <a:lnSpc>
                    <a:spcPts val="1773"/>
                  </a:lnSpc>
                  <a:spcBef>
                    <a:spcPct val="0"/>
                  </a:spcBef>
                </a:pPr>
                <a:endParaRPr sz="800">
                  <a:latin typeface="Arial" panose="020B0604020202020204" pitchFamily="34" charset="0"/>
                  <a:cs typeface="Arial" panose="020B0604020202020204" pitchFamily="34" charset="0"/>
                </a:endParaRPr>
              </a:p>
            </p:txBody>
          </p:sp>
        </p:grpSp>
        <p:sp>
          <p:nvSpPr>
            <p:cNvPr id="10" name="Freeform 8">
              <a:extLst>
                <a:ext uri="{FF2B5EF4-FFF2-40B4-BE49-F238E27FC236}">
                  <a16:creationId xmlns:a16="http://schemas.microsoft.com/office/drawing/2014/main" id="{3CDC24C4-751B-8AF1-B617-4D5929CEA1D1}"/>
                </a:ext>
              </a:extLst>
            </p:cNvPr>
            <p:cNvSpPr/>
            <p:nvPr/>
          </p:nvSpPr>
          <p:spPr>
            <a:xfrm>
              <a:off x="1558381" y="2150653"/>
              <a:ext cx="386871" cy="392762"/>
            </a:xfrm>
            <a:custGeom>
              <a:avLst/>
              <a:gdLst/>
              <a:ahLst/>
              <a:cxnLst/>
              <a:rect l="l" t="t" r="r" b="b"/>
              <a:pathLst>
                <a:path w="580306" h="589143">
                  <a:moveTo>
                    <a:pt x="0" y="0"/>
                  </a:moveTo>
                  <a:lnTo>
                    <a:pt x="580306" y="0"/>
                  </a:lnTo>
                  <a:lnTo>
                    <a:pt x="580306" y="589143"/>
                  </a:lnTo>
                  <a:lnTo>
                    <a:pt x="0" y="5891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a:latin typeface="Arial" panose="020B0604020202020204" pitchFamily="34" charset="0"/>
                <a:cs typeface="Arial" panose="020B0604020202020204" pitchFamily="34" charset="0"/>
              </a:endParaRPr>
            </a:p>
          </p:txBody>
        </p:sp>
        <p:sp>
          <p:nvSpPr>
            <p:cNvPr id="43" name="TextBox 30">
              <a:extLst>
                <a:ext uri="{FF2B5EF4-FFF2-40B4-BE49-F238E27FC236}">
                  <a16:creationId xmlns:a16="http://schemas.microsoft.com/office/drawing/2014/main" id="{7663B9BC-14B8-5C0D-CE9B-544C40E396E8}"/>
                </a:ext>
              </a:extLst>
            </p:cNvPr>
            <p:cNvSpPr txBox="1"/>
            <p:nvPr/>
          </p:nvSpPr>
          <p:spPr>
            <a:xfrm>
              <a:off x="2386016" y="2188966"/>
              <a:ext cx="3265111" cy="283411"/>
            </a:xfrm>
            <a:prstGeom prst="rect">
              <a:avLst/>
            </a:prstGeom>
          </p:spPr>
          <p:txBody>
            <a:bodyPr wrap="square" lIns="0" tIns="0" rIns="0" bIns="0" rtlCol="0" anchor="t">
              <a:spAutoFit/>
            </a:bodyPr>
            <a:lstStyle/>
            <a:p>
              <a:pPr>
                <a:lnSpc>
                  <a:spcPts val="2389"/>
                </a:lnSpc>
                <a:spcBef>
                  <a:spcPct val="0"/>
                </a:spcBef>
              </a:pPr>
              <a:r>
                <a:rPr lang="en-US" dirty="0">
                  <a:solidFill>
                    <a:srgbClr val="FFFFFF"/>
                  </a:solidFill>
                  <a:latin typeface="Arial" panose="020B0604020202020204" pitchFamily="34" charset="0"/>
                  <a:ea typeface="League Spartan"/>
                  <a:cs typeface="Arial" panose="020B0604020202020204" pitchFamily="34" charset="0"/>
                  <a:sym typeface="League Spartan"/>
                </a:rPr>
                <a:t>Python Basics for Data Science</a:t>
              </a:r>
            </a:p>
          </p:txBody>
        </p:sp>
      </p:grpSp>
      <p:grpSp>
        <p:nvGrpSpPr>
          <p:cNvPr id="11" name="Group 10">
            <a:extLst>
              <a:ext uri="{FF2B5EF4-FFF2-40B4-BE49-F238E27FC236}">
                <a16:creationId xmlns:a16="http://schemas.microsoft.com/office/drawing/2014/main" id="{D26D4D79-D82F-01E9-61B1-5BD304F881E5}"/>
              </a:ext>
            </a:extLst>
          </p:cNvPr>
          <p:cNvGrpSpPr/>
          <p:nvPr/>
        </p:nvGrpSpPr>
        <p:grpSpPr>
          <a:xfrm>
            <a:off x="6477000" y="2286000"/>
            <a:ext cx="5270117" cy="884067"/>
            <a:chOff x="457200" y="3125797"/>
            <a:chExt cx="5270117" cy="884067"/>
          </a:xfrm>
        </p:grpSpPr>
        <p:sp>
          <p:nvSpPr>
            <p:cNvPr id="12" name="Freeform 10">
              <a:extLst>
                <a:ext uri="{FF2B5EF4-FFF2-40B4-BE49-F238E27FC236}">
                  <a16:creationId xmlns:a16="http://schemas.microsoft.com/office/drawing/2014/main" id="{69547ACA-E29A-0C2A-98F2-27003371141A}"/>
                </a:ext>
              </a:extLst>
            </p:cNvPr>
            <p:cNvSpPr/>
            <p:nvPr/>
          </p:nvSpPr>
          <p:spPr>
            <a:xfrm>
              <a:off x="457200" y="3143955"/>
              <a:ext cx="5270117" cy="847751"/>
            </a:xfrm>
            <a:custGeom>
              <a:avLst/>
              <a:gdLst/>
              <a:ahLst/>
              <a:cxnLst/>
              <a:rect l="l" t="t" r="r" b="b"/>
              <a:pathLst>
                <a:path w="1576291" h="208369">
                  <a:moveTo>
                    <a:pt x="80480" y="0"/>
                  </a:moveTo>
                  <a:lnTo>
                    <a:pt x="1495811" y="0"/>
                  </a:lnTo>
                  <a:cubicBezTo>
                    <a:pt x="1517156" y="0"/>
                    <a:pt x="1537626" y="8479"/>
                    <a:pt x="1552719" y="23572"/>
                  </a:cubicBezTo>
                  <a:cubicBezTo>
                    <a:pt x="1567812" y="38665"/>
                    <a:pt x="1576291" y="59135"/>
                    <a:pt x="1576291" y="80480"/>
                  </a:cubicBezTo>
                  <a:lnTo>
                    <a:pt x="1576291" y="127890"/>
                  </a:lnTo>
                  <a:cubicBezTo>
                    <a:pt x="1576291" y="149234"/>
                    <a:pt x="1567812" y="169705"/>
                    <a:pt x="1552719" y="184797"/>
                  </a:cubicBezTo>
                  <a:cubicBezTo>
                    <a:pt x="1537626" y="199890"/>
                    <a:pt x="1517156" y="208369"/>
                    <a:pt x="1495811" y="208369"/>
                  </a:cubicBezTo>
                  <a:lnTo>
                    <a:pt x="80480" y="208369"/>
                  </a:lnTo>
                  <a:cubicBezTo>
                    <a:pt x="59135" y="208369"/>
                    <a:pt x="38665" y="199890"/>
                    <a:pt x="23572" y="184797"/>
                  </a:cubicBezTo>
                  <a:cubicBezTo>
                    <a:pt x="8479" y="169705"/>
                    <a:pt x="0" y="149234"/>
                    <a:pt x="0" y="127890"/>
                  </a:cubicBezTo>
                  <a:lnTo>
                    <a:pt x="0" y="80480"/>
                  </a:lnTo>
                  <a:cubicBezTo>
                    <a:pt x="0" y="59135"/>
                    <a:pt x="8479" y="38665"/>
                    <a:pt x="23572" y="23572"/>
                  </a:cubicBezTo>
                  <a:cubicBezTo>
                    <a:pt x="38665" y="8479"/>
                    <a:pt x="59135" y="0"/>
                    <a:pt x="80480" y="0"/>
                  </a:cubicBezTo>
                  <a:close/>
                </a:path>
              </a:pathLst>
            </a:custGeom>
            <a:solidFill>
              <a:srgbClr val="005899"/>
            </a:solidFill>
          </p:spPr>
          <p:txBody>
            <a:bodyPr/>
            <a:lstStyle/>
            <a:p>
              <a:endParaRPr lang="en-IN" sz="800">
                <a:latin typeface="Arial" panose="020B0604020202020204" pitchFamily="34" charset="0"/>
                <a:cs typeface="Arial" panose="020B0604020202020204" pitchFamily="34" charset="0"/>
              </a:endParaRPr>
            </a:p>
          </p:txBody>
        </p:sp>
        <p:grpSp>
          <p:nvGrpSpPr>
            <p:cNvPr id="14" name="Group 12">
              <a:extLst>
                <a:ext uri="{FF2B5EF4-FFF2-40B4-BE49-F238E27FC236}">
                  <a16:creationId xmlns:a16="http://schemas.microsoft.com/office/drawing/2014/main" id="{64133AD2-82C3-65D1-2EB4-BA11FA7682E5}"/>
                </a:ext>
              </a:extLst>
            </p:cNvPr>
            <p:cNvGrpSpPr/>
            <p:nvPr/>
          </p:nvGrpSpPr>
          <p:grpSpPr>
            <a:xfrm>
              <a:off x="1309784" y="3125797"/>
              <a:ext cx="884067" cy="884067"/>
              <a:chOff x="0" y="0"/>
              <a:chExt cx="812800" cy="812800"/>
            </a:xfrm>
          </p:grpSpPr>
          <p:sp>
            <p:nvSpPr>
              <p:cNvPr id="16" name="Freeform 13">
                <a:extLst>
                  <a:ext uri="{FF2B5EF4-FFF2-40B4-BE49-F238E27FC236}">
                    <a16:creationId xmlns:a16="http://schemas.microsoft.com/office/drawing/2014/main" id="{A595AF04-374E-31DF-8006-98D03CA35EF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99"/>
              </a:solidFill>
              <a:ln w="85725" cap="sq">
                <a:solidFill>
                  <a:srgbClr val="FFFFFF"/>
                </a:solidFill>
                <a:prstDash val="solid"/>
                <a:miter/>
              </a:ln>
            </p:spPr>
            <p:txBody>
              <a:bodyPr/>
              <a:lstStyle/>
              <a:p>
                <a:endParaRPr lang="en-IN" sz="800">
                  <a:latin typeface="Arial" panose="020B0604020202020204" pitchFamily="34" charset="0"/>
                  <a:cs typeface="Arial" panose="020B0604020202020204" pitchFamily="34" charset="0"/>
                </a:endParaRPr>
              </a:p>
            </p:txBody>
          </p:sp>
          <p:sp>
            <p:nvSpPr>
              <p:cNvPr id="17" name="TextBox 14">
                <a:extLst>
                  <a:ext uri="{FF2B5EF4-FFF2-40B4-BE49-F238E27FC236}">
                    <a16:creationId xmlns:a16="http://schemas.microsoft.com/office/drawing/2014/main" id="{3714BC40-B9EB-655C-4BEE-1176D06BCD38}"/>
                  </a:ext>
                </a:extLst>
              </p:cNvPr>
              <p:cNvSpPr txBox="1"/>
              <p:nvPr/>
            </p:nvSpPr>
            <p:spPr>
              <a:xfrm>
                <a:off x="76200" y="38100"/>
                <a:ext cx="660400" cy="698500"/>
              </a:xfrm>
              <a:prstGeom prst="rect">
                <a:avLst/>
              </a:prstGeom>
            </p:spPr>
            <p:txBody>
              <a:bodyPr lIns="20627" tIns="20627" rIns="20627" bIns="20627" rtlCol="0" anchor="ctr"/>
              <a:lstStyle/>
              <a:p>
                <a:pPr algn="ctr">
                  <a:lnSpc>
                    <a:spcPts val="1773"/>
                  </a:lnSpc>
                  <a:spcBef>
                    <a:spcPct val="0"/>
                  </a:spcBef>
                </a:pPr>
                <a:endParaRPr sz="800">
                  <a:latin typeface="Arial" panose="020B0604020202020204" pitchFamily="34" charset="0"/>
                  <a:cs typeface="Arial" panose="020B0604020202020204" pitchFamily="34" charset="0"/>
                </a:endParaRPr>
              </a:p>
            </p:txBody>
          </p:sp>
        </p:grpSp>
        <p:sp>
          <p:nvSpPr>
            <p:cNvPr id="18" name="Freeform 15">
              <a:extLst>
                <a:ext uri="{FF2B5EF4-FFF2-40B4-BE49-F238E27FC236}">
                  <a16:creationId xmlns:a16="http://schemas.microsoft.com/office/drawing/2014/main" id="{01A2C6AB-ADBE-AC6B-B87A-4408901A54EE}"/>
                </a:ext>
              </a:extLst>
            </p:cNvPr>
            <p:cNvSpPr/>
            <p:nvPr/>
          </p:nvSpPr>
          <p:spPr>
            <a:xfrm>
              <a:off x="1558381" y="3371449"/>
              <a:ext cx="386871" cy="392762"/>
            </a:xfrm>
            <a:custGeom>
              <a:avLst/>
              <a:gdLst/>
              <a:ahLst/>
              <a:cxnLst/>
              <a:rect l="l" t="t" r="r" b="b"/>
              <a:pathLst>
                <a:path w="580306" h="589143">
                  <a:moveTo>
                    <a:pt x="0" y="0"/>
                  </a:moveTo>
                  <a:lnTo>
                    <a:pt x="580306" y="0"/>
                  </a:lnTo>
                  <a:lnTo>
                    <a:pt x="580306" y="589144"/>
                  </a:lnTo>
                  <a:lnTo>
                    <a:pt x="0" y="5891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a:latin typeface="Arial" panose="020B0604020202020204" pitchFamily="34" charset="0"/>
                <a:cs typeface="Arial" panose="020B0604020202020204" pitchFamily="34" charset="0"/>
              </a:endParaRPr>
            </a:p>
          </p:txBody>
        </p:sp>
        <p:sp>
          <p:nvSpPr>
            <p:cNvPr id="44" name="TextBox 31">
              <a:extLst>
                <a:ext uri="{FF2B5EF4-FFF2-40B4-BE49-F238E27FC236}">
                  <a16:creationId xmlns:a16="http://schemas.microsoft.com/office/drawing/2014/main" id="{4CEC4E49-6177-9FBB-0760-7857782F24CD}"/>
                </a:ext>
              </a:extLst>
            </p:cNvPr>
            <p:cNvSpPr txBox="1"/>
            <p:nvPr/>
          </p:nvSpPr>
          <p:spPr>
            <a:xfrm>
              <a:off x="2386016" y="3406253"/>
              <a:ext cx="3188911" cy="256480"/>
            </a:xfrm>
            <a:prstGeom prst="rect">
              <a:avLst/>
            </a:prstGeom>
          </p:spPr>
          <p:txBody>
            <a:bodyPr wrap="square" lIns="0" tIns="0" rIns="0" bIns="0" rtlCol="0" anchor="t">
              <a:spAutoFit/>
            </a:bodyPr>
            <a:lstStyle/>
            <a:p>
              <a:pPr>
                <a:lnSpc>
                  <a:spcPts val="2048"/>
                </a:lnSpc>
              </a:pPr>
              <a:r>
                <a:rPr lang="en-US" sz="1800" dirty="0">
                  <a:solidFill>
                    <a:srgbClr val="FFFFFF"/>
                  </a:solidFill>
                  <a:latin typeface="Arial" panose="020B0604020202020204" pitchFamily="34" charset="0"/>
                  <a:ea typeface="League Spartan"/>
                  <a:cs typeface="Arial" panose="020B0604020202020204" pitchFamily="34" charset="0"/>
                  <a:sym typeface="League Spartan"/>
                </a:rPr>
                <a:t> Data Literacy &amp; Analysis</a:t>
              </a:r>
            </a:p>
          </p:txBody>
        </p:sp>
      </p:grpSp>
      <p:grpSp>
        <p:nvGrpSpPr>
          <p:cNvPr id="2" name="Group 1">
            <a:extLst>
              <a:ext uri="{FF2B5EF4-FFF2-40B4-BE49-F238E27FC236}">
                <a16:creationId xmlns:a16="http://schemas.microsoft.com/office/drawing/2014/main" id="{AD10ACC2-E313-D9CA-3269-69CC833049B1}"/>
              </a:ext>
            </a:extLst>
          </p:cNvPr>
          <p:cNvGrpSpPr/>
          <p:nvPr/>
        </p:nvGrpSpPr>
        <p:grpSpPr>
          <a:xfrm>
            <a:off x="3460941" y="4267200"/>
            <a:ext cx="5270117" cy="884067"/>
            <a:chOff x="6324600" y="2190045"/>
            <a:chExt cx="5270117" cy="884067"/>
          </a:xfrm>
        </p:grpSpPr>
        <p:sp>
          <p:nvSpPr>
            <p:cNvPr id="48" name="Freeform 3">
              <a:extLst>
                <a:ext uri="{FF2B5EF4-FFF2-40B4-BE49-F238E27FC236}">
                  <a16:creationId xmlns:a16="http://schemas.microsoft.com/office/drawing/2014/main" id="{7F967D94-5BAD-5584-39C9-1F8FBDD07903}"/>
                </a:ext>
              </a:extLst>
            </p:cNvPr>
            <p:cNvSpPr/>
            <p:nvPr/>
          </p:nvSpPr>
          <p:spPr>
            <a:xfrm>
              <a:off x="6324600" y="2208203"/>
              <a:ext cx="5270117" cy="847751"/>
            </a:xfrm>
            <a:custGeom>
              <a:avLst/>
              <a:gdLst/>
              <a:ahLst/>
              <a:cxnLst/>
              <a:rect l="l" t="t" r="r" b="b"/>
              <a:pathLst>
                <a:path w="1576291" h="208369">
                  <a:moveTo>
                    <a:pt x="80480" y="0"/>
                  </a:moveTo>
                  <a:lnTo>
                    <a:pt x="1495811" y="0"/>
                  </a:lnTo>
                  <a:cubicBezTo>
                    <a:pt x="1517156" y="0"/>
                    <a:pt x="1537626" y="8479"/>
                    <a:pt x="1552719" y="23572"/>
                  </a:cubicBezTo>
                  <a:cubicBezTo>
                    <a:pt x="1567812" y="38665"/>
                    <a:pt x="1576291" y="59135"/>
                    <a:pt x="1576291" y="80480"/>
                  </a:cubicBezTo>
                  <a:lnTo>
                    <a:pt x="1576291" y="127890"/>
                  </a:lnTo>
                  <a:cubicBezTo>
                    <a:pt x="1576291" y="149234"/>
                    <a:pt x="1567812" y="169705"/>
                    <a:pt x="1552719" y="184797"/>
                  </a:cubicBezTo>
                  <a:cubicBezTo>
                    <a:pt x="1537626" y="199890"/>
                    <a:pt x="1517156" y="208369"/>
                    <a:pt x="1495811" y="208369"/>
                  </a:cubicBezTo>
                  <a:lnTo>
                    <a:pt x="80480" y="208369"/>
                  </a:lnTo>
                  <a:cubicBezTo>
                    <a:pt x="59135" y="208369"/>
                    <a:pt x="38665" y="199890"/>
                    <a:pt x="23572" y="184797"/>
                  </a:cubicBezTo>
                  <a:cubicBezTo>
                    <a:pt x="8479" y="169705"/>
                    <a:pt x="0" y="149234"/>
                    <a:pt x="0" y="127890"/>
                  </a:cubicBezTo>
                  <a:lnTo>
                    <a:pt x="0" y="80480"/>
                  </a:lnTo>
                  <a:cubicBezTo>
                    <a:pt x="0" y="59135"/>
                    <a:pt x="8479" y="38665"/>
                    <a:pt x="23572" y="23572"/>
                  </a:cubicBezTo>
                  <a:cubicBezTo>
                    <a:pt x="38665" y="8479"/>
                    <a:pt x="59135" y="0"/>
                    <a:pt x="80480" y="0"/>
                  </a:cubicBezTo>
                  <a:close/>
                </a:path>
              </a:pathLst>
            </a:custGeom>
            <a:solidFill>
              <a:srgbClr val="005899"/>
            </a:solidFill>
          </p:spPr>
          <p:txBody>
            <a:bodyPr/>
            <a:lstStyle/>
            <a:p>
              <a:endParaRPr lang="en-IN" sz="800">
                <a:latin typeface="Arial" panose="020B0604020202020204" pitchFamily="34" charset="0"/>
                <a:cs typeface="Arial" panose="020B0604020202020204" pitchFamily="34" charset="0"/>
              </a:endParaRPr>
            </a:p>
          </p:txBody>
        </p:sp>
        <p:grpSp>
          <p:nvGrpSpPr>
            <p:cNvPr id="50" name="Group 5">
              <a:extLst>
                <a:ext uri="{FF2B5EF4-FFF2-40B4-BE49-F238E27FC236}">
                  <a16:creationId xmlns:a16="http://schemas.microsoft.com/office/drawing/2014/main" id="{B16FB7BA-89FB-15AF-33D3-52D39CB1BA45}"/>
                </a:ext>
              </a:extLst>
            </p:cNvPr>
            <p:cNvGrpSpPr/>
            <p:nvPr/>
          </p:nvGrpSpPr>
          <p:grpSpPr>
            <a:xfrm>
              <a:off x="7177184" y="2190045"/>
              <a:ext cx="884067" cy="884067"/>
              <a:chOff x="0" y="0"/>
              <a:chExt cx="812800" cy="812800"/>
            </a:xfrm>
          </p:grpSpPr>
          <p:sp>
            <p:nvSpPr>
              <p:cNvPr id="51" name="Freeform 6">
                <a:extLst>
                  <a:ext uri="{FF2B5EF4-FFF2-40B4-BE49-F238E27FC236}">
                    <a16:creationId xmlns:a16="http://schemas.microsoft.com/office/drawing/2014/main" id="{747B2603-E2A4-0198-B6A1-584AA72F7D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99"/>
              </a:solidFill>
              <a:ln w="85725" cap="sq">
                <a:solidFill>
                  <a:srgbClr val="FFFFFF"/>
                </a:solidFill>
                <a:prstDash val="solid"/>
                <a:miter/>
              </a:ln>
            </p:spPr>
            <p:txBody>
              <a:bodyPr/>
              <a:lstStyle/>
              <a:p>
                <a:endParaRPr lang="en-IN" sz="800">
                  <a:latin typeface="Arial" panose="020B0604020202020204" pitchFamily="34" charset="0"/>
                  <a:cs typeface="Arial" panose="020B0604020202020204" pitchFamily="34" charset="0"/>
                </a:endParaRPr>
              </a:p>
            </p:txBody>
          </p:sp>
          <p:sp>
            <p:nvSpPr>
              <p:cNvPr id="52" name="TextBox 7">
                <a:extLst>
                  <a:ext uri="{FF2B5EF4-FFF2-40B4-BE49-F238E27FC236}">
                    <a16:creationId xmlns:a16="http://schemas.microsoft.com/office/drawing/2014/main" id="{D7652058-DA86-8EFF-267D-EB94D34C9D74}"/>
                  </a:ext>
                </a:extLst>
              </p:cNvPr>
              <p:cNvSpPr txBox="1"/>
              <p:nvPr/>
            </p:nvSpPr>
            <p:spPr>
              <a:xfrm>
                <a:off x="76200" y="38100"/>
                <a:ext cx="660400" cy="698500"/>
              </a:xfrm>
              <a:prstGeom prst="rect">
                <a:avLst/>
              </a:prstGeom>
            </p:spPr>
            <p:txBody>
              <a:bodyPr lIns="20627" tIns="20627" rIns="20627" bIns="20627" rtlCol="0" anchor="ctr"/>
              <a:lstStyle/>
              <a:p>
                <a:pPr algn="ctr">
                  <a:lnSpc>
                    <a:spcPts val="1773"/>
                  </a:lnSpc>
                  <a:spcBef>
                    <a:spcPct val="0"/>
                  </a:spcBef>
                </a:pPr>
                <a:endParaRPr sz="800">
                  <a:latin typeface="Arial" panose="020B0604020202020204" pitchFamily="34" charset="0"/>
                  <a:cs typeface="Arial" panose="020B0604020202020204" pitchFamily="34" charset="0"/>
                </a:endParaRPr>
              </a:p>
            </p:txBody>
          </p:sp>
        </p:grpSp>
        <p:sp>
          <p:nvSpPr>
            <p:cNvPr id="53" name="Freeform 8">
              <a:extLst>
                <a:ext uri="{FF2B5EF4-FFF2-40B4-BE49-F238E27FC236}">
                  <a16:creationId xmlns:a16="http://schemas.microsoft.com/office/drawing/2014/main" id="{01555075-FE4A-A23F-DF26-D1607ECA2F41}"/>
                </a:ext>
              </a:extLst>
            </p:cNvPr>
            <p:cNvSpPr/>
            <p:nvPr/>
          </p:nvSpPr>
          <p:spPr>
            <a:xfrm>
              <a:off x="7425781" y="2435698"/>
              <a:ext cx="386871" cy="392762"/>
            </a:xfrm>
            <a:custGeom>
              <a:avLst/>
              <a:gdLst/>
              <a:ahLst/>
              <a:cxnLst/>
              <a:rect l="l" t="t" r="r" b="b"/>
              <a:pathLst>
                <a:path w="580306" h="589143">
                  <a:moveTo>
                    <a:pt x="0" y="0"/>
                  </a:moveTo>
                  <a:lnTo>
                    <a:pt x="580306" y="0"/>
                  </a:lnTo>
                  <a:lnTo>
                    <a:pt x="580306" y="589143"/>
                  </a:lnTo>
                  <a:lnTo>
                    <a:pt x="0" y="5891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a:latin typeface="Arial" panose="020B0604020202020204" pitchFamily="34" charset="0"/>
                <a:cs typeface="Arial" panose="020B0604020202020204" pitchFamily="34" charset="0"/>
              </a:endParaRPr>
            </a:p>
          </p:txBody>
        </p:sp>
        <p:sp>
          <p:nvSpPr>
            <p:cNvPr id="61" name="TextBox 30">
              <a:extLst>
                <a:ext uri="{FF2B5EF4-FFF2-40B4-BE49-F238E27FC236}">
                  <a16:creationId xmlns:a16="http://schemas.microsoft.com/office/drawing/2014/main" id="{D790FED8-CA16-6FFA-B2D9-B8497F9B8568}"/>
                </a:ext>
              </a:extLst>
            </p:cNvPr>
            <p:cNvSpPr txBox="1"/>
            <p:nvPr/>
          </p:nvSpPr>
          <p:spPr>
            <a:xfrm>
              <a:off x="8253417" y="2474011"/>
              <a:ext cx="2871784" cy="283411"/>
            </a:xfrm>
            <a:prstGeom prst="rect">
              <a:avLst/>
            </a:prstGeom>
          </p:spPr>
          <p:txBody>
            <a:bodyPr wrap="square" lIns="0" tIns="0" rIns="0" bIns="0" rtlCol="0" anchor="t">
              <a:spAutoFit/>
            </a:bodyPr>
            <a:lstStyle/>
            <a:p>
              <a:pPr>
                <a:lnSpc>
                  <a:spcPts val="2389"/>
                </a:lnSpc>
                <a:spcBef>
                  <a:spcPct val="0"/>
                </a:spcBef>
              </a:pPr>
              <a:r>
                <a:rPr lang="en-US" dirty="0">
                  <a:solidFill>
                    <a:srgbClr val="FFFFFF"/>
                  </a:solidFill>
                  <a:latin typeface="Arial" panose="020B0604020202020204" pitchFamily="34" charset="0"/>
                  <a:ea typeface="League Spartan"/>
                  <a:cs typeface="Arial" panose="020B0604020202020204" pitchFamily="34" charset="0"/>
                  <a:sym typeface="League Spartan"/>
                </a:rPr>
                <a:t>OOPs Concept</a:t>
              </a:r>
            </a:p>
          </p:txBody>
        </p:sp>
      </p:grpSp>
    </p:spTree>
    <p:custDataLst>
      <p:tags r:id="rId1"/>
    </p:custDataLst>
    <p:extLst>
      <p:ext uri="{BB962C8B-B14F-4D97-AF65-F5344CB8AC3E}">
        <p14:creationId xmlns:p14="http://schemas.microsoft.com/office/powerpoint/2010/main" val="1013712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5FBC707-0C5C-47FF-BEBC-99B0A31B6001}"/>
              </a:ext>
            </a:extLst>
          </p:cNvPr>
          <p:cNvSpPr/>
          <p:nvPr/>
        </p:nvSpPr>
        <p:spPr>
          <a:xfrm>
            <a:off x="5158571" y="3013836"/>
            <a:ext cx="4557761" cy="1322969"/>
          </a:xfrm>
          <a:custGeom>
            <a:avLst/>
            <a:gdLst/>
            <a:ahLst/>
            <a:cxnLst/>
            <a:rect l="l" t="t" r="r" b="b"/>
            <a:pathLst>
              <a:path w="9115522" h="1777527">
                <a:moveTo>
                  <a:pt x="0" y="0"/>
                </a:moveTo>
                <a:lnTo>
                  <a:pt x="9115522" y="0"/>
                </a:lnTo>
                <a:lnTo>
                  <a:pt x="9115522" y="1777527"/>
                </a:lnTo>
                <a:lnTo>
                  <a:pt x="0" y="17775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nchor="ctr"/>
          <a:lstStyle/>
          <a:p>
            <a:pPr algn="ctr"/>
            <a:endParaRPr lang="en-IN" sz="800" dirty="0"/>
          </a:p>
        </p:txBody>
      </p:sp>
      <p:sp>
        <p:nvSpPr>
          <p:cNvPr id="4" name="Freeform 4">
            <a:extLst>
              <a:ext uri="{FF2B5EF4-FFF2-40B4-BE49-F238E27FC236}">
                <a16:creationId xmlns:a16="http://schemas.microsoft.com/office/drawing/2014/main" id="{ECBEBF98-58E9-7179-5E24-C2C95E188467}"/>
              </a:ext>
            </a:extLst>
          </p:cNvPr>
          <p:cNvSpPr/>
          <p:nvPr/>
        </p:nvSpPr>
        <p:spPr>
          <a:xfrm flipH="1">
            <a:off x="2475668" y="3020431"/>
            <a:ext cx="4557761" cy="1322969"/>
          </a:xfrm>
          <a:custGeom>
            <a:avLst/>
            <a:gdLst/>
            <a:ahLst/>
            <a:cxnLst/>
            <a:rect l="l" t="t" r="r" b="b"/>
            <a:pathLst>
              <a:path w="9115522" h="1777527">
                <a:moveTo>
                  <a:pt x="9115522" y="0"/>
                </a:moveTo>
                <a:lnTo>
                  <a:pt x="0" y="0"/>
                </a:lnTo>
                <a:lnTo>
                  <a:pt x="0" y="1777527"/>
                </a:lnTo>
                <a:lnTo>
                  <a:pt x="9115522" y="1777527"/>
                </a:lnTo>
                <a:lnTo>
                  <a:pt x="9115522"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dirty="0"/>
          </a:p>
        </p:txBody>
      </p:sp>
      <p:sp>
        <p:nvSpPr>
          <p:cNvPr id="5" name="TextBox 5">
            <a:extLst>
              <a:ext uri="{FF2B5EF4-FFF2-40B4-BE49-F238E27FC236}">
                <a16:creationId xmlns:a16="http://schemas.microsoft.com/office/drawing/2014/main" id="{2F96954A-20FB-1A6D-3798-4069831ED5C7}"/>
              </a:ext>
            </a:extLst>
          </p:cNvPr>
          <p:cNvSpPr txBox="1"/>
          <p:nvPr/>
        </p:nvSpPr>
        <p:spPr>
          <a:xfrm>
            <a:off x="3455340" y="3189605"/>
            <a:ext cx="5281320" cy="746551"/>
          </a:xfrm>
          <a:prstGeom prst="rect">
            <a:avLst/>
          </a:prstGeom>
        </p:spPr>
        <p:txBody>
          <a:bodyPr lIns="0" tIns="0" rIns="0" bIns="0" rtlCol="0" anchor="ctr">
            <a:spAutoFit/>
          </a:bodyPr>
          <a:lstStyle/>
          <a:p>
            <a:pPr algn="ctr">
              <a:lnSpc>
                <a:spcPts val="6712"/>
              </a:lnSpc>
              <a:spcBef>
                <a:spcPct val="0"/>
              </a:spcBef>
            </a:pPr>
            <a:r>
              <a:rPr lang="en-US" sz="3000" b="1" dirty="0">
                <a:solidFill>
                  <a:srgbClr val="002646"/>
                </a:solidFill>
                <a:latin typeface="Arial" panose="020B0604020202020204" pitchFamily="34" charset="0"/>
                <a:ea typeface="Poppins Bold"/>
                <a:cs typeface="Arial" panose="020B0604020202020204" pitchFamily="34" charset="0"/>
                <a:sym typeface="Poppins Bold"/>
              </a:rPr>
              <a:t>Chapter 2.1</a:t>
            </a:r>
          </a:p>
        </p:txBody>
      </p:sp>
    </p:spTree>
    <p:custDataLst>
      <p:tags r:id="rId1"/>
    </p:custDataLst>
    <p:extLst>
      <p:ext uri="{BB962C8B-B14F-4D97-AF65-F5344CB8AC3E}">
        <p14:creationId xmlns:p14="http://schemas.microsoft.com/office/powerpoint/2010/main" val="1630480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8" y="838200"/>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Learning Objective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61142" y="1335397"/>
            <a:ext cx="5811058" cy="22460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Understanding of Python syntax</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Understanding of data types and operators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Understanding about control and looping statements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Understanding the function</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Understanding the file handling</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12" name="Group 11">
            <a:extLst>
              <a:ext uri="{FF2B5EF4-FFF2-40B4-BE49-F238E27FC236}">
                <a16:creationId xmlns:a16="http://schemas.microsoft.com/office/drawing/2014/main" id="{41626792-F595-0EEC-9D0F-571D8889A6A2}"/>
              </a:ext>
            </a:extLst>
          </p:cNvPr>
          <p:cNvGrpSpPr/>
          <p:nvPr/>
        </p:nvGrpSpPr>
        <p:grpSpPr>
          <a:xfrm>
            <a:off x="8001000" y="1514475"/>
            <a:ext cx="3543300" cy="3829050"/>
            <a:chOff x="8153400" y="1514475"/>
            <a:chExt cx="3543300" cy="3829050"/>
          </a:xfrm>
        </p:grpSpPr>
        <p:cxnSp>
          <p:nvCxnSpPr>
            <p:cNvPr id="13" name="Straight Connector 12">
              <a:extLst>
                <a:ext uri="{FF2B5EF4-FFF2-40B4-BE49-F238E27FC236}">
                  <a16:creationId xmlns:a16="http://schemas.microsoft.com/office/drawing/2014/main" id="{17ABEA62-1393-60EA-F23A-CDA515034080}"/>
                </a:ext>
              </a:extLst>
            </p:cNvPr>
            <p:cNvCxnSpPr/>
            <p:nvPr/>
          </p:nvCxnSpPr>
          <p:spPr>
            <a:xfrm>
              <a:off x="8382000" y="5257800"/>
              <a:ext cx="2209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white board with check marks and a target&#10;&#10;Description automatically generated">
              <a:extLst>
                <a:ext uri="{FF2B5EF4-FFF2-40B4-BE49-F238E27FC236}">
                  <a16:creationId xmlns:a16="http://schemas.microsoft.com/office/drawing/2014/main" id="{BD213462-DBB8-8E4F-11DB-9C40F792B3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3400" y="1514475"/>
              <a:ext cx="3543300" cy="3829050"/>
            </a:xfrm>
            <a:prstGeom prst="rect">
              <a:avLst/>
            </a:prstGeom>
          </p:spPr>
        </p:pic>
      </p:grpSp>
    </p:spTree>
    <p:custDataLst>
      <p:tags r:id="rId1"/>
    </p:custDataLst>
    <p:extLst>
      <p:ext uri="{BB962C8B-B14F-4D97-AF65-F5344CB8AC3E}">
        <p14:creationId xmlns:p14="http://schemas.microsoft.com/office/powerpoint/2010/main" val="324735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838200"/>
            <a:ext cx="5755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Learning Outcome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452120" y="1371600"/>
            <a:ext cx="5811058" cy="3559949"/>
          </a:xfrm>
          <a:prstGeom prst="rect">
            <a:avLst/>
          </a:prstGeom>
        </p:spPr>
        <p:txBody>
          <a:bodyPr lIns="0" tIns="0" rIns="0" bIns="0">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defTabSz="914400" eaLnBrk="0" fontAlgn="base" hangingPunct="0">
              <a:spcBef>
                <a:spcPct val="0"/>
              </a:spcBef>
              <a:spcAft>
                <a:spcPts val="800"/>
              </a:spcAft>
            </a:pPr>
            <a:r>
              <a:rPr lang="en-US" altLang="en-US" sz="1800" dirty="0">
                <a:latin typeface="Arial" panose="020B0604020202020204" pitchFamily="34" charset="0"/>
              </a:rPr>
              <a:t>Understand and apply basic Python syntax to write clean and structured code.</a:t>
            </a:r>
          </a:p>
          <a:p>
            <a:pPr defTabSz="914400" eaLnBrk="0" fontAlgn="base" hangingPunct="0">
              <a:spcBef>
                <a:spcPct val="0"/>
              </a:spcBef>
              <a:spcAft>
                <a:spcPts val="800"/>
              </a:spcAft>
            </a:pPr>
            <a:r>
              <a:rPr lang="en-US" altLang="en-US" sz="1800" dirty="0">
                <a:latin typeface="Arial" panose="020B0604020202020204" pitchFamily="34" charset="0"/>
              </a:rPr>
              <a:t>Identify and use different data types and operators effectively in Python programs.</a:t>
            </a:r>
          </a:p>
          <a:p>
            <a:pPr defTabSz="914400" eaLnBrk="0" fontAlgn="base" hangingPunct="0">
              <a:spcBef>
                <a:spcPct val="0"/>
              </a:spcBef>
              <a:spcAft>
                <a:spcPts val="800"/>
              </a:spcAft>
            </a:pPr>
            <a:r>
              <a:rPr lang="en-US" altLang="en-US" sz="1800" dirty="0">
                <a:latin typeface="Arial" panose="020B0604020202020204" pitchFamily="34" charset="0"/>
              </a:rPr>
              <a:t>Implement control flow using conditional and looping statements.</a:t>
            </a:r>
          </a:p>
          <a:p>
            <a:pPr defTabSz="914400" eaLnBrk="0" fontAlgn="base" hangingPunct="0">
              <a:spcBef>
                <a:spcPct val="0"/>
              </a:spcBef>
              <a:spcAft>
                <a:spcPts val="800"/>
              </a:spcAft>
            </a:pPr>
            <a:r>
              <a:rPr lang="en-US" altLang="en-US" sz="1800" dirty="0">
                <a:latin typeface="Arial" panose="020B0604020202020204" pitchFamily="34" charset="0"/>
              </a:rPr>
              <a:t>Define and use functions to structure and reuse code efficiently.</a:t>
            </a:r>
          </a:p>
          <a:p>
            <a:pPr defTabSz="914400" eaLnBrk="0" fontAlgn="base" hangingPunct="0">
              <a:spcBef>
                <a:spcPct val="0"/>
              </a:spcBef>
              <a:spcAft>
                <a:spcPts val="800"/>
              </a:spcAft>
            </a:pPr>
            <a:r>
              <a:rPr lang="en-US" altLang="en-US" sz="1800" dirty="0">
                <a:latin typeface="Arial" panose="020B0604020202020204" pitchFamily="34" charset="0"/>
              </a:rPr>
              <a:t>Perform file handling operations such as reading from and writing to files.</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descr="A book with a light bulb and gears&#10;&#10;Description automatically generated">
            <a:extLst>
              <a:ext uri="{FF2B5EF4-FFF2-40B4-BE49-F238E27FC236}">
                <a16:creationId xmlns:a16="http://schemas.microsoft.com/office/drawing/2014/main" id="{70F275FE-BCC3-EFC9-0E66-1F957E5591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2800" y="1676400"/>
            <a:ext cx="3909155" cy="4845893"/>
          </a:xfrm>
          <a:prstGeom prst="rect">
            <a:avLst/>
          </a:prstGeom>
        </p:spPr>
      </p:pic>
    </p:spTree>
    <p:custDataLst>
      <p:tags r:id="rId1"/>
    </p:custDataLst>
    <p:extLst>
      <p:ext uri="{BB962C8B-B14F-4D97-AF65-F5344CB8AC3E}">
        <p14:creationId xmlns:p14="http://schemas.microsoft.com/office/powerpoint/2010/main" val="284924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Python in 100 Seconds">
            <a:hlinkClick r:id="" action="ppaction://media"/>
            <a:extLst>
              <a:ext uri="{FF2B5EF4-FFF2-40B4-BE49-F238E27FC236}">
                <a16:creationId xmlns:a16="http://schemas.microsoft.com/office/drawing/2014/main" id="{71AD460E-D415-45D4-A166-028586062FE5}"/>
              </a:ext>
            </a:extLst>
          </p:cNvPr>
          <p:cNvPicPr>
            <a:picLocks noRot="1" noChangeAspect="1"/>
          </p:cNvPicPr>
          <p:nvPr>
            <a:videoFile r:link="rId1"/>
          </p:nvPr>
        </p:nvPicPr>
        <p:blipFill>
          <a:blip r:embed="rId4"/>
          <a:stretch>
            <a:fillRect/>
          </a:stretch>
        </p:blipFill>
        <p:spPr>
          <a:xfrm>
            <a:off x="2062842" y="1367745"/>
            <a:ext cx="8066315" cy="4557468"/>
          </a:xfrm>
          <a:prstGeom prst="rect">
            <a:avLst/>
          </a:prstGeom>
        </p:spPr>
      </p:pic>
      <p:sp>
        <p:nvSpPr>
          <p:cNvPr id="3" name="TextBox 2">
            <a:extLst>
              <a:ext uri="{FF2B5EF4-FFF2-40B4-BE49-F238E27FC236}">
                <a16:creationId xmlns:a16="http://schemas.microsoft.com/office/drawing/2014/main" id="{A548D2BF-5F4B-3DC4-F98A-0829E383E176}"/>
              </a:ext>
            </a:extLst>
          </p:cNvPr>
          <p:cNvSpPr txBox="1"/>
          <p:nvPr/>
        </p:nvSpPr>
        <p:spPr>
          <a:xfrm>
            <a:off x="381000" y="838200"/>
            <a:ext cx="2743200" cy="400110"/>
          </a:xfrm>
          <a:prstGeom prst="rect">
            <a:avLst/>
          </a:prstGeom>
          <a:noFill/>
        </p:spPr>
        <p:txBody>
          <a:bodyPr wrap="square" rtlCol="0">
            <a:spAutoFit/>
          </a:bodyPr>
          <a:lstStyle>
            <a:defPPr>
              <a:defRPr lang="en-US"/>
            </a:defPPr>
            <a:lvl1pPr>
              <a:defRPr sz="2000" b="1">
                <a:solidFill>
                  <a:srgbClr val="002060"/>
                </a:solidFill>
                <a:latin typeface="Arial" panose="020B0604020202020204" pitchFamily="34" charset="0"/>
                <a:ea typeface="+mj-ea"/>
                <a:cs typeface="Arial" panose="020B0604020202020204" pitchFamily="34" charset="0"/>
              </a:defRPr>
            </a:lvl1pPr>
          </a:lstStyle>
          <a:p>
            <a:r>
              <a:rPr lang="en-US" dirty="0"/>
              <a:t>Let’s Play this</a:t>
            </a:r>
          </a:p>
        </p:txBody>
      </p:sp>
      <p:grpSp>
        <p:nvGrpSpPr>
          <p:cNvPr id="5" name="Group 4">
            <a:extLst>
              <a:ext uri="{FF2B5EF4-FFF2-40B4-BE49-F238E27FC236}">
                <a16:creationId xmlns:a16="http://schemas.microsoft.com/office/drawing/2014/main" id="{F9504E41-408A-4E1E-6780-C558E46CD183}"/>
              </a:ext>
            </a:extLst>
          </p:cNvPr>
          <p:cNvGrpSpPr/>
          <p:nvPr/>
        </p:nvGrpSpPr>
        <p:grpSpPr>
          <a:xfrm>
            <a:off x="0" y="6296065"/>
            <a:ext cx="12192000" cy="381735"/>
            <a:chOff x="0" y="6296065"/>
            <a:chExt cx="12192000" cy="381735"/>
          </a:xfrm>
        </p:grpSpPr>
        <p:sp>
          <p:nvSpPr>
            <p:cNvPr id="4" name="TextBox 3">
              <a:extLst>
                <a:ext uri="{FF2B5EF4-FFF2-40B4-BE49-F238E27FC236}">
                  <a16:creationId xmlns:a16="http://schemas.microsoft.com/office/drawing/2014/main" id="{84390FE1-9097-0674-00AB-92D2815C839E}"/>
                </a:ext>
              </a:extLst>
            </p:cNvPr>
            <p:cNvSpPr txBox="1"/>
            <p:nvPr/>
          </p:nvSpPr>
          <p:spPr>
            <a:xfrm>
              <a:off x="1066801" y="6400801"/>
              <a:ext cx="5029200"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https://www.youtube.com/watch?v=x7X9w_GIm1s</a:t>
              </a:r>
              <a:endParaRPr lang="en-IN" sz="1200" dirty="0">
                <a:solidFill>
                  <a:srgbClr val="0000FF"/>
                </a:solidFill>
                <a:latin typeface="+mj-lt"/>
              </a:endParaRPr>
            </a:p>
          </p:txBody>
        </p:sp>
        <p:sp>
          <p:nvSpPr>
            <p:cNvPr id="6" name="Google Shape;62;g5fab984687_2_0">
              <a:extLst>
                <a:ext uri="{FF2B5EF4-FFF2-40B4-BE49-F238E27FC236}">
                  <a16:creationId xmlns:a16="http://schemas.microsoft.com/office/drawing/2014/main" id="{00EF8B33-6D2B-2179-9D86-71356A5FE3FB}"/>
                </a:ext>
              </a:extLst>
            </p:cNvPr>
            <p:cNvSpPr txBox="1">
              <a:spLocks/>
            </p:cNvSpPr>
            <p:nvPr/>
          </p:nvSpPr>
          <p:spPr>
            <a:xfrm>
              <a:off x="381000" y="632460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cxnSp>
          <p:nvCxnSpPr>
            <p:cNvPr id="7" name="Straight Connector 6">
              <a:extLst>
                <a:ext uri="{FF2B5EF4-FFF2-40B4-BE49-F238E27FC236}">
                  <a16:creationId xmlns:a16="http://schemas.microsoft.com/office/drawing/2014/main" id="{D52B0FE7-3D47-0313-573C-0CCC30B5918E}"/>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0873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381000" y="838200"/>
            <a:ext cx="3914776" cy="400110"/>
          </a:xfrm>
          <a:prstGeom prst="rect">
            <a:avLst/>
          </a:prstGeom>
          <a:noFill/>
        </p:spPr>
        <p:txBody>
          <a:bodyPr wrap="square" rtlCol="0">
            <a:spAutoFit/>
          </a:bodyPr>
          <a:lstStyle/>
          <a:p>
            <a:pPr algn="l"/>
            <a:r>
              <a:rPr lang="en-US" sz="2000" b="1" dirty="0">
                <a:solidFill>
                  <a:srgbClr val="002060"/>
                </a:solidFill>
                <a:latin typeface="Arial" panose="020B0604020202020204" pitchFamily="34" charset="0"/>
                <a:cs typeface="Arial" panose="020B0604020202020204" pitchFamily="34" charset="0"/>
              </a:rPr>
              <a:t>What is Python ? </a:t>
            </a:r>
            <a:endParaRPr sz="2000" b="1" dirty="0">
              <a:solidFill>
                <a:srgbClr val="002060"/>
              </a:solidFill>
              <a:latin typeface="Arial" panose="020B0604020202020204" pitchFamily="34" charset="0"/>
              <a:cs typeface="Arial" panose="020B0604020202020204" pitchFamily="34" charset="0"/>
            </a:endParaRPr>
          </a:p>
        </p:txBody>
      </p:sp>
      <p:pic>
        <p:nvPicPr>
          <p:cNvPr id="2" name="Picture 1" descr="A blue and yellow diagram with white text&#10;&#10;Description automatically generated">
            <a:extLst>
              <a:ext uri="{FF2B5EF4-FFF2-40B4-BE49-F238E27FC236}">
                <a16:creationId xmlns:a16="http://schemas.microsoft.com/office/drawing/2014/main" id="{AFBD8ED0-0798-E201-9230-42D57B9F1B73}"/>
              </a:ext>
            </a:extLst>
          </p:cNvPr>
          <p:cNvPicPr>
            <a:picLocks noChangeAspect="1"/>
          </p:cNvPicPr>
          <p:nvPr/>
        </p:nvPicPr>
        <p:blipFill rotWithShape="1">
          <a:blip r:embed="rId3"/>
          <a:srcRect l="34676" t="28783" r="4943" b="4451"/>
          <a:stretch/>
        </p:blipFill>
        <p:spPr>
          <a:xfrm>
            <a:off x="2881911" y="1905000"/>
            <a:ext cx="6428178" cy="3991470"/>
          </a:xfrm>
          <a:prstGeom prst="rect">
            <a:avLst/>
          </a:prstGeom>
        </p:spPr>
      </p:pic>
      <p:sp>
        <p:nvSpPr>
          <p:cNvPr id="6" name="TextBox 5">
            <a:extLst>
              <a:ext uri="{FF2B5EF4-FFF2-40B4-BE49-F238E27FC236}">
                <a16:creationId xmlns:a16="http://schemas.microsoft.com/office/drawing/2014/main" id="{FAFC28C4-1811-8D10-8C64-F9DBEC22759B}"/>
              </a:ext>
            </a:extLst>
          </p:cNvPr>
          <p:cNvSpPr txBox="1"/>
          <p:nvPr/>
        </p:nvSpPr>
        <p:spPr>
          <a:xfrm>
            <a:off x="381000" y="1334713"/>
            <a:ext cx="11706225" cy="369332"/>
          </a:xfrm>
          <a:prstGeom prst="rect">
            <a:avLst/>
          </a:prstGeom>
          <a:noFill/>
        </p:spPr>
        <p:txBody>
          <a:bodyPr wrap="square">
            <a:spAutoFit/>
          </a:bodyPr>
          <a:lstStyle/>
          <a:p>
            <a:pPr indent="-246888">
              <a:spcAft>
                <a:spcPts val="800"/>
              </a:spcAft>
            </a:pPr>
            <a:r>
              <a:rPr lang="en-US" sz="1800" b="0" i="0" dirty="0">
                <a:effectLst/>
                <a:highlight>
                  <a:srgbClr val="FFFFFF"/>
                </a:highlight>
                <a:latin typeface="Arial" panose="020B0604020202020204" pitchFamily="34" charset="0"/>
                <a:cs typeface="Arial" panose="020B0604020202020204" pitchFamily="34" charset="0"/>
              </a:rPr>
              <a:t>Python is an interpreted, object-oriented, high-level programming language with dynamic semantics.</a:t>
            </a:r>
            <a:endParaRPr lang="en-IN" sz="1800"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0AEE0B57-576E-1B0B-E527-F65502D10BF6}"/>
              </a:ext>
            </a:extLst>
          </p:cNvPr>
          <p:cNvGrpSpPr/>
          <p:nvPr/>
        </p:nvGrpSpPr>
        <p:grpSpPr>
          <a:xfrm>
            <a:off x="381000" y="6324600"/>
            <a:ext cx="11504428" cy="353199"/>
            <a:chOff x="381000" y="6324600"/>
            <a:chExt cx="11504428" cy="353199"/>
          </a:xfrm>
        </p:grpSpPr>
        <p:sp>
          <p:nvSpPr>
            <p:cNvPr id="3" name="TextBox 2">
              <a:extLst>
                <a:ext uri="{FF2B5EF4-FFF2-40B4-BE49-F238E27FC236}">
                  <a16:creationId xmlns:a16="http://schemas.microsoft.com/office/drawing/2014/main" id="{6BF7C58C-0745-27E4-FA37-2F2D14FD5737}"/>
                </a:ext>
              </a:extLst>
            </p:cNvPr>
            <p:cNvSpPr txBox="1"/>
            <p:nvPr/>
          </p:nvSpPr>
          <p:spPr>
            <a:xfrm>
              <a:off x="1066800" y="6400800"/>
              <a:ext cx="10818628"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https://www.edureka.co/blog/python-features/</a:t>
              </a:r>
              <a:endParaRPr lang="en-IN" sz="1200" dirty="0">
                <a:solidFill>
                  <a:srgbClr val="0000FF"/>
                </a:solidFill>
                <a:latin typeface="+mj-lt"/>
              </a:endParaRPr>
            </a:p>
          </p:txBody>
        </p:sp>
        <p:sp>
          <p:nvSpPr>
            <p:cNvPr id="4" name="Google Shape;62;g5fab984687_2_0">
              <a:extLst>
                <a:ext uri="{FF2B5EF4-FFF2-40B4-BE49-F238E27FC236}">
                  <a16:creationId xmlns:a16="http://schemas.microsoft.com/office/drawing/2014/main" id="{186AD953-BDAD-32E8-23B1-282D0F8EDD34}"/>
                </a:ext>
              </a:extLst>
            </p:cNvPr>
            <p:cNvSpPr txBox="1">
              <a:spLocks/>
            </p:cNvSpPr>
            <p:nvPr/>
          </p:nvSpPr>
          <p:spPr>
            <a:xfrm>
              <a:off x="381000" y="632460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cxnSp>
        <p:nvCxnSpPr>
          <p:cNvPr id="5" name="Straight Connector 4">
            <a:extLst>
              <a:ext uri="{FF2B5EF4-FFF2-40B4-BE49-F238E27FC236}">
                <a16:creationId xmlns:a16="http://schemas.microsoft.com/office/drawing/2014/main" id="{B481C2FD-9636-CEB2-C489-B04866F597AE}"/>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425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F1C3D1-8375-6D11-FDC8-C0DCA84F6FDB}"/>
              </a:ext>
            </a:extLst>
          </p:cNvPr>
          <p:cNvSpPr txBox="1"/>
          <p:nvPr/>
        </p:nvSpPr>
        <p:spPr>
          <a:xfrm>
            <a:off x="381000" y="854616"/>
            <a:ext cx="6693622" cy="415498"/>
          </a:xfrm>
          <a:prstGeom prst="rect">
            <a:avLst/>
          </a:prstGeom>
          <a:noFill/>
        </p:spPr>
        <p:txBody>
          <a:bodyPr wrap="square" rtlCol="0">
            <a:spAutoFit/>
          </a:bodyPr>
          <a:lstStyle>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stStyle>
          <a:p>
            <a:r>
              <a:rPr lang="en-US" dirty="0"/>
              <a:t>What are Compilers and Interpreters? Why?</a:t>
            </a:r>
            <a:endParaRPr lang="en-IN" dirty="0"/>
          </a:p>
        </p:txBody>
      </p:sp>
      <p:pic>
        <p:nvPicPr>
          <p:cNvPr id="3" name="Picture 6" descr="image showing the work of interpreter">
            <a:extLst>
              <a:ext uri="{FF2B5EF4-FFF2-40B4-BE49-F238E27FC236}">
                <a16:creationId xmlns:a16="http://schemas.microsoft.com/office/drawing/2014/main" id="{9E801077-AE1E-5595-BCE8-8177074C68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932" b="43601"/>
          <a:stretch/>
        </p:blipFill>
        <p:spPr bwMode="auto">
          <a:xfrm>
            <a:off x="6445423" y="1577890"/>
            <a:ext cx="4676775" cy="1020216"/>
          </a:xfrm>
          <a:prstGeom prst="rect">
            <a:avLst/>
          </a:prstGeom>
          <a:extLst>
            <a:ext uri="{909E8E84-426E-40DD-AFC4-6F175D3DCCD1}">
              <a14:hiddenFill xmlns:a14="http://schemas.microsoft.com/office/drawing/2010/main">
                <a:solidFill>
                  <a:srgbClr val="FFFFFF"/>
                </a:solidFill>
              </a14:hiddenFill>
            </a:ext>
          </a:extLst>
        </p:spPr>
      </p:pic>
      <p:pic>
        <p:nvPicPr>
          <p:cNvPr id="4" name="Picture 8">
            <a:extLst>
              <a:ext uri="{FF2B5EF4-FFF2-40B4-BE49-F238E27FC236}">
                <a16:creationId xmlns:a16="http://schemas.microsoft.com/office/drawing/2014/main" id="{EA8DAA69-955B-C3EC-9FE0-3521690BD9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5536" b="29762"/>
          <a:stretch>
            <a:fillRect/>
          </a:stretch>
        </p:blipFill>
        <p:spPr bwMode="auto">
          <a:xfrm>
            <a:off x="871438" y="1704975"/>
            <a:ext cx="4676775" cy="1285875"/>
          </a:xfrm>
          <a:prstGeom prst="rect">
            <a:avLst/>
          </a:prstGeom>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0B4E479-1BA6-C886-FF3A-9CF86303D8B4}"/>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809378" y="3286461"/>
            <a:ext cx="8573243" cy="1958510"/>
          </a:xfrm>
          <a:prstGeom prst="rect">
            <a:avLst/>
          </a:prstGeom>
        </p:spPr>
      </p:pic>
      <p:grpSp>
        <p:nvGrpSpPr>
          <p:cNvPr id="9" name="Group 8">
            <a:extLst>
              <a:ext uri="{FF2B5EF4-FFF2-40B4-BE49-F238E27FC236}">
                <a16:creationId xmlns:a16="http://schemas.microsoft.com/office/drawing/2014/main" id="{D23A7BCA-4F96-1020-6A53-2B0023A93A4F}"/>
              </a:ext>
            </a:extLst>
          </p:cNvPr>
          <p:cNvGrpSpPr/>
          <p:nvPr/>
        </p:nvGrpSpPr>
        <p:grpSpPr>
          <a:xfrm>
            <a:off x="0" y="6296065"/>
            <a:ext cx="12192000" cy="381735"/>
            <a:chOff x="0" y="6296065"/>
            <a:chExt cx="12192000" cy="381735"/>
          </a:xfrm>
        </p:grpSpPr>
        <p:sp>
          <p:nvSpPr>
            <p:cNvPr id="6" name="TextBox 5">
              <a:extLst>
                <a:ext uri="{FF2B5EF4-FFF2-40B4-BE49-F238E27FC236}">
                  <a16:creationId xmlns:a16="http://schemas.microsoft.com/office/drawing/2014/main" id="{822E2C68-CF34-EABD-9CCB-A4B2A38276DD}"/>
                </a:ext>
              </a:extLst>
            </p:cNvPr>
            <p:cNvSpPr txBox="1"/>
            <p:nvPr/>
          </p:nvSpPr>
          <p:spPr>
            <a:xfrm>
              <a:off x="1066801" y="6400801"/>
              <a:ext cx="5029200" cy="276999"/>
            </a:xfrm>
            <a:prstGeom prst="rect">
              <a:avLst/>
            </a:prstGeom>
            <a:noFill/>
          </p:spPr>
          <p:txBody>
            <a:bodyPr wrap="square" rtlCol="0">
              <a:spAutoFit/>
            </a:bodyPr>
            <a:lstStyle/>
            <a:p>
              <a:r>
                <a:rPr lang="en-IN" sz="1200" dirty="0">
                  <a:solidFill>
                    <a:srgbClr val="0000FF"/>
                  </a:solidFill>
                  <a:latin typeface="+mj-lt"/>
                  <a:hlinkClick r:id="rId7">
                    <a:extLst>
                      <a:ext uri="{A12FA001-AC4F-418D-AE19-62706E023703}">
                        <ahyp:hlinkClr xmlns:ahyp="http://schemas.microsoft.com/office/drawing/2018/hyperlinkcolor" val="tx"/>
                      </a:ext>
                    </a:extLst>
                  </a:hlinkClick>
                </a:rPr>
                <a:t>https://www.guru99.com/compiler-design-tutorial.html</a:t>
              </a:r>
              <a:endParaRPr lang="en-IN" sz="1200" dirty="0">
                <a:solidFill>
                  <a:srgbClr val="0000FF"/>
                </a:solidFill>
                <a:latin typeface="+mj-lt"/>
              </a:endParaRPr>
            </a:p>
          </p:txBody>
        </p:sp>
        <p:sp>
          <p:nvSpPr>
            <p:cNvPr id="7" name="Google Shape;62;g5fab984687_2_0">
              <a:extLst>
                <a:ext uri="{FF2B5EF4-FFF2-40B4-BE49-F238E27FC236}">
                  <a16:creationId xmlns:a16="http://schemas.microsoft.com/office/drawing/2014/main" id="{BDC79820-68B0-5B64-97E0-A90CCF5A0ECE}"/>
                </a:ext>
              </a:extLst>
            </p:cNvPr>
            <p:cNvSpPr txBox="1">
              <a:spLocks/>
            </p:cNvSpPr>
            <p:nvPr/>
          </p:nvSpPr>
          <p:spPr>
            <a:xfrm>
              <a:off x="381000" y="632460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cxnSp>
          <p:nvCxnSpPr>
            <p:cNvPr id="8" name="Straight Connector 7">
              <a:extLst>
                <a:ext uri="{FF2B5EF4-FFF2-40B4-BE49-F238E27FC236}">
                  <a16:creationId xmlns:a16="http://schemas.microsoft.com/office/drawing/2014/main" id="{244F328F-DB87-E9F3-B9B0-09E16D511F5C}"/>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9633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out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E5F830-25E9-17CE-E14B-482EF7EE2F72}"/>
              </a:ext>
            </a:extLst>
          </p:cNvPr>
          <p:cNvSpPr txBox="1"/>
          <p:nvPr/>
        </p:nvSpPr>
        <p:spPr>
          <a:xfrm>
            <a:off x="363718" y="849913"/>
            <a:ext cx="6113282" cy="400110"/>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stStyle>
          <a:p>
            <a:r>
              <a:rPr lang="en-US" dirty="0"/>
              <a:t>The rise of the Python Programming Language</a:t>
            </a:r>
          </a:p>
        </p:txBody>
      </p:sp>
      <p:pic>
        <p:nvPicPr>
          <p:cNvPr id="1026" name="Picture 2">
            <a:extLst>
              <a:ext uri="{FF2B5EF4-FFF2-40B4-BE49-F238E27FC236}">
                <a16:creationId xmlns:a16="http://schemas.microsoft.com/office/drawing/2014/main" id="{7EDE170C-BABC-8207-0CE0-D2D321EFF14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66912" y="1460770"/>
            <a:ext cx="8258175" cy="4314825"/>
          </a:xfrm>
          <a:prstGeom prst="rect">
            <a:avLst/>
          </a:prstGeom>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D2BE0E8D-FBF5-09B5-A524-D76B85395FA9}"/>
              </a:ext>
            </a:extLst>
          </p:cNvPr>
          <p:cNvGrpSpPr/>
          <p:nvPr/>
        </p:nvGrpSpPr>
        <p:grpSpPr>
          <a:xfrm>
            <a:off x="0" y="6296065"/>
            <a:ext cx="12192000" cy="381735"/>
            <a:chOff x="0" y="6296065"/>
            <a:chExt cx="12192000" cy="381735"/>
          </a:xfrm>
        </p:grpSpPr>
        <p:sp>
          <p:nvSpPr>
            <p:cNvPr id="2" name="TextBox 1">
              <a:extLst>
                <a:ext uri="{FF2B5EF4-FFF2-40B4-BE49-F238E27FC236}">
                  <a16:creationId xmlns:a16="http://schemas.microsoft.com/office/drawing/2014/main" id="{8D53B122-1409-C8A6-1257-97831436D05D}"/>
                </a:ext>
              </a:extLst>
            </p:cNvPr>
            <p:cNvSpPr txBox="1"/>
            <p:nvPr/>
          </p:nvSpPr>
          <p:spPr>
            <a:xfrm>
              <a:off x="1066800" y="6400801"/>
              <a:ext cx="5410200"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https://www.megatrend.com/en/the-rise-of-the-python-programming-language/</a:t>
              </a:r>
              <a:endParaRPr lang="en-IN" sz="1200" dirty="0">
                <a:solidFill>
                  <a:srgbClr val="0000FF"/>
                </a:solidFill>
                <a:latin typeface="+mj-lt"/>
              </a:endParaRPr>
            </a:p>
          </p:txBody>
        </p:sp>
        <p:sp>
          <p:nvSpPr>
            <p:cNvPr id="4" name="Google Shape;62;g5fab984687_2_0">
              <a:extLst>
                <a:ext uri="{FF2B5EF4-FFF2-40B4-BE49-F238E27FC236}">
                  <a16:creationId xmlns:a16="http://schemas.microsoft.com/office/drawing/2014/main" id="{A97F5912-0774-BC4A-3E29-CA813E7B71F3}"/>
                </a:ext>
              </a:extLst>
            </p:cNvPr>
            <p:cNvSpPr txBox="1">
              <a:spLocks/>
            </p:cNvSpPr>
            <p:nvPr/>
          </p:nvSpPr>
          <p:spPr>
            <a:xfrm>
              <a:off x="381000" y="632460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cxnSp>
          <p:nvCxnSpPr>
            <p:cNvPr id="5" name="Straight Connector 4">
              <a:extLst>
                <a:ext uri="{FF2B5EF4-FFF2-40B4-BE49-F238E27FC236}">
                  <a16:creationId xmlns:a16="http://schemas.microsoft.com/office/drawing/2014/main" id="{63DCD78B-5EBE-75C5-A152-73BFCF30662D}"/>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2605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0999" y="853273"/>
            <a:ext cx="6115051" cy="400110"/>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stStyle>
          <a:p>
            <a:r>
              <a:rPr lang="en-US" dirty="0"/>
              <a:t>Scope of Python Language in India</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284941" y="1273133"/>
            <a:ext cx="7502207" cy="1666711"/>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lgn="just">
              <a:lnSpc>
                <a:spcPct val="200000"/>
              </a:lnSpc>
              <a:buFont typeface="Arial" pitchFamily="34" charset="0"/>
              <a:buNone/>
            </a:pPr>
            <a:endParaRPr lang="en-US" sz="18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75200A7-18E1-CA4C-8F79-CA701296CE7A}"/>
              </a:ext>
            </a:extLst>
          </p:cNvPr>
          <p:cNvSpPr txBox="1"/>
          <p:nvPr/>
        </p:nvSpPr>
        <p:spPr>
          <a:xfrm>
            <a:off x="370006" y="1349333"/>
            <a:ext cx="5725993" cy="2062103"/>
          </a:xfrm>
          <a:prstGeom prst="rect">
            <a:avLst/>
          </a:prstGeom>
          <a:noFill/>
        </p:spPr>
        <p:txBody>
          <a:bodyPr wrap="square" lIns="91440" tIns="45720" rIns="91440" bIns="45720" anchor="t">
            <a:spAutoFit/>
          </a:bodyPr>
          <a:lstStyle/>
          <a:p>
            <a:pPr marL="228600" indent="-228600">
              <a:spcAft>
                <a:spcPts val="800"/>
              </a:spcAft>
              <a:buFont typeface="Arial" panose="020B0604020202020204" pitchFamily="34" charset="0"/>
              <a:buChar char="•"/>
            </a:pPr>
            <a:r>
              <a:rPr lang="en-US" sz="1800" b="0" i="0" dirty="0">
                <a:effectLst/>
                <a:highlight>
                  <a:srgbClr val="FFFFFF"/>
                </a:highlight>
                <a:latin typeface="Arial" panose="020B0604020202020204" pitchFamily="34" charset="0"/>
                <a:cs typeface="Arial" panose="020B0604020202020204" pitchFamily="34" charset="0"/>
              </a:rPr>
              <a:t>Python's acceptance and growth in recent years in India.</a:t>
            </a:r>
          </a:p>
          <a:p>
            <a:pPr marL="228600" indent="-228600">
              <a:spcAft>
                <a:spcPts val="800"/>
              </a:spcAft>
              <a:buFont typeface="Arial" panose="020B0604020202020204" pitchFamily="34" charset="0"/>
              <a:buChar char="•"/>
            </a:pPr>
            <a:r>
              <a:rPr lang="en-US" sz="1800" b="0" i="0" dirty="0">
                <a:effectLst/>
                <a:highlight>
                  <a:srgbClr val="FFFFFF"/>
                </a:highlight>
                <a:latin typeface="Arial" panose="020B0604020202020204" pitchFamily="34" charset="0"/>
                <a:cs typeface="Arial" panose="020B0604020202020204" pitchFamily="34" charset="0"/>
              </a:rPr>
              <a:t>The causes of its ubiquity and applications in many disciplines.</a:t>
            </a:r>
          </a:p>
          <a:p>
            <a:pPr marL="228600" indent="-228600">
              <a:spcAft>
                <a:spcPts val="800"/>
              </a:spcAft>
              <a:buFont typeface="Arial" panose="020B0604020202020204" pitchFamily="34" charset="0"/>
              <a:buChar char="•"/>
            </a:pPr>
            <a:r>
              <a:rPr lang="en-US" sz="1800" b="0" i="0" dirty="0">
                <a:effectLst/>
                <a:highlight>
                  <a:srgbClr val="FFFFFF"/>
                </a:highlight>
                <a:latin typeface="Arial" panose="020B0604020202020204" pitchFamily="34" charset="0"/>
                <a:cs typeface="Arial" panose="020B0604020202020204" pitchFamily="34" charset="0"/>
              </a:rPr>
              <a:t>Python programming job possibilities in India.</a:t>
            </a:r>
          </a:p>
          <a:p>
            <a:pPr marL="228600" indent="-228600">
              <a:spcAft>
                <a:spcPts val="800"/>
              </a:spcAft>
              <a:buFont typeface="Arial" panose="020B0604020202020204" pitchFamily="34" charset="0"/>
              <a:buChar char="•"/>
            </a:pPr>
            <a:r>
              <a:rPr lang="en-US" sz="1800" b="0" i="0" dirty="0">
                <a:effectLst/>
                <a:highlight>
                  <a:srgbClr val="FFFFFF"/>
                </a:highlight>
                <a:latin typeface="Arial" panose="020B0604020202020204" pitchFamily="34" charset="0"/>
                <a:cs typeface="Arial" panose="020B0604020202020204" pitchFamily="34" charset="0"/>
              </a:rPr>
              <a:t>Future prospect of Python in India </a:t>
            </a:r>
          </a:p>
        </p:txBody>
      </p:sp>
      <p:pic>
        <p:nvPicPr>
          <p:cNvPr id="2054" name="Picture 6">
            <a:extLst>
              <a:ext uri="{FF2B5EF4-FFF2-40B4-BE49-F238E27FC236}">
                <a16:creationId xmlns:a16="http://schemas.microsoft.com/office/drawing/2014/main" id="{E1C9A2FB-5174-3C4E-D99B-BBE4480351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302" y="1600200"/>
            <a:ext cx="5728484" cy="3543790"/>
          </a:xfrm>
          <a:prstGeom prst="rect">
            <a:avLst/>
          </a:prstGeom>
          <a:ln>
            <a:noFill/>
          </a:ln>
          <a:effectLst/>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F7C22AAB-2B2A-68B9-7B1C-B7C18AAA73B3}"/>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C4F2ED43-F359-C7B9-4334-1D3A37A1ADFC}"/>
                </a:ext>
              </a:extLst>
            </p:cNvPr>
            <p:cNvSpPr txBox="1"/>
            <p:nvPr/>
          </p:nvSpPr>
          <p:spPr>
            <a:xfrm>
              <a:off x="1066800" y="6400800"/>
              <a:ext cx="5029200"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https://admin.tops-int.com/storage/media/editor_images/62858.jpg</a:t>
              </a:r>
              <a:endParaRPr lang="en-IN" sz="1200" dirty="0">
                <a:solidFill>
                  <a:srgbClr val="0000FF"/>
                </a:solidFill>
                <a:latin typeface="+mj-lt"/>
              </a:endParaRPr>
            </a:p>
          </p:txBody>
        </p:sp>
        <p:sp>
          <p:nvSpPr>
            <p:cNvPr id="5" name="Google Shape;62;g5fab984687_2_0">
              <a:extLst>
                <a:ext uri="{FF2B5EF4-FFF2-40B4-BE49-F238E27FC236}">
                  <a16:creationId xmlns:a16="http://schemas.microsoft.com/office/drawing/2014/main" id="{15006E47-0668-2201-6C9F-4C80721F2346}"/>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cxnSp>
          <p:nvCxnSpPr>
            <p:cNvPr id="6" name="Straight Connector 5">
              <a:extLst>
                <a:ext uri="{FF2B5EF4-FFF2-40B4-BE49-F238E27FC236}">
                  <a16:creationId xmlns:a16="http://schemas.microsoft.com/office/drawing/2014/main" id="{CD10D5D1-8EC8-A3E6-795D-1D410B2CED78}"/>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9803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60614" y="838200"/>
            <a:ext cx="5887786" cy="393600"/>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stStyle>
          <a:p>
            <a:r>
              <a:rPr lang="en-US" dirty="0"/>
              <a:t>Use case of Python Applications</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2694319" y="2821055"/>
            <a:ext cx="7502207" cy="1666711"/>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lgn="just">
              <a:lnSpc>
                <a:spcPct val="200000"/>
              </a:lnSpc>
              <a:buFont typeface="Arial" pitchFamily="34" charset="0"/>
              <a:buNone/>
            </a:pPr>
            <a:endParaRPr lang="en-US" sz="1800">
              <a:latin typeface="Arial" panose="020B0604020202020204" pitchFamily="34" charset="0"/>
              <a:cs typeface="Arial" panose="020B0604020202020204" pitchFamily="34" charset="0"/>
            </a:endParaRPr>
          </a:p>
        </p:txBody>
      </p:sp>
      <p:pic>
        <p:nvPicPr>
          <p:cNvPr id="11266" name="Picture 2" descr="popular apps developed with python">
            <a:extLst>
              <a:ext uri="{FF2B5EF4-FFF2-40B4-BE49-F238E27FC236}">
                <a16:creationId xmlns:a16="http://schemas.microsoft.com/office/drawing/2014/main" id="{CC0F1569-2BCA-C2E2-982C-EE81D0AC96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828" b="14625"/>
          <a:stretch/>
        </p:blipFill>
        <p:spPr bwMode="auto">
          <a:xfrm>
            <a:off x="1754002" y="1634133"/>
            <a:ext cx="8683995" cy="4280468"/>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3DB712C-6A71-33D9-85D9-9D740F22EBB9}"/>
              </a:ext>
            </a:extLst>
          </p:cNvPr>
          <p:cNvSpPr txBox="1"/>
          <p:nvPr/>
        </p:nvSpPr>
        <p:spPr>
          <a:xfrm>
            <a:off x="1066800" y="6400800"/>
            <a:ext cx="10894828"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https://www.apptunix.com/blog/wp-content/uploads/sites/3/2021/08/popular-apps-doveloped-with-python.jpg</a:t>
            </a:r>
            <a:endParaRPr lang="en-IN" sz="1200" dirty="0">
              <a:solidFill>
                <a:srgbClr val="0000FF"/>
              </a:solidFill>
              <a:latin typeface="+mj-lt"/>
            </a:endParaRPr>
          </a:p>
        </p:txBody>
      </p:sp>
      <p:sp>
        <p:nvSpPr>
          <p:cNvPr id="3" name="Google Shape;62;g5fab984687_2_0">
            <a:extLst>
              <a:ext uri="{FF2B5EF4-FFF2-40B4-BE49-F238E27FC236}">
                <a16:creationId xmlns:a16="http://schemas.microsoft.com/office/drawing/2014/main" id="{F14C949B-51F6-75D8-6496-AB76446DB3A6}"/>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cxnSp>
        <p:nvCxnSpPr>
          <p:cNvPr id="5" name="Straight Connector 4">
            <a:extLst>
              <a:ext uri="{FF2B5EF4-FFF2-40B4-BE49-F238E27FC236}">
                <a16:creationId xmlns:a16="http://schemas.microsoft.com/office/drawing/2014/main" id="{FCB0A549-3547-7249-DDC1-7F29672FA64E}"/>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408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g5fab984687_2_0">
            <a:extLst>
              <a:ext uri="{FF2B5EF4-FFF2-40B4-BE49-F238E27FC236}">
                <a16:creationId xmlns:a16="http://schemas.microsoft.com/office/drawing/2014/main" id="{7AB542A7-5775-E985-B377-A1BF218669A2}"/>
              </a:ext>
            </a:extLst>
          </p:cNvPr>
          <p:cNvSpPr txBox="1">
            <a:spLocks/>
          </p:cNvSpPr>
          <p:nvPr/>
        </p:nvSpPr>
        <p:spPr>
          <a:xfrm>
            <a:off x="347150" y="810505"/>
            <a:ext cx="6053650" cy="482542"/>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dirty="0"/>
              <a:t>Python IDEs</a:t>
            </a:r>
            <a:endParaRPr lang="en-US" dirty="0"/>
          </a:p>
        </p:txBody>
      </p:sp>
      <p:pic>
        <p:nvPicPr>
          <p:cNvPr id="3" name="Picture 2" descr="A screenshot of a computer program&#10;&#10;Description automatically generated">
            <a:extLst>
              <a:ext uri="{FF2B5EF4-FFF2-40B4-BE49-F238E27FC236}">
                <a16:creationId xmlns:a16="http://schemas.microsoft.com/office/drawing/2014/main" id="{1E8A27A1-4092-DF58-B164-7D8567F10922}"/>
              </a:ext>
            </a:extLst>
          </p:cNvPr>
          <p:cNvPicPr>
            <a:picLocks noChangeAspect="1"/>
          </p:cNvPicPr>
          <p:nvPr/>
        </p:nvPicPr>
        <p:blipFill rotWithShape="1">
          <a:blip r:embed="rId3"/>
          <a:srcRect l="9900" t="25977" r="9299" b="5966"/>
          <a:stretch/>
        </p:blipFill>
        <p:spPr>
          <a:xfrm>
            <a:off x="7086600" y="1371600"/>
            <a:ext cx="4095751" cy="4312238"/>
          </a:xfrm>
          <a:prstGeom prst="rect">
            <a:avLst/>
          </a:prstGeom>
        </p:spPr>
      </p:pic>
      <p:sp>
        <p:nvSpPr>
          <p:cNvPr id="4" name="TextBox 3">
            <a:extLst>
              <a:ext uri="{FF2B5EF4-FFF2-40B4-BE49-F238E27FC236}">
                <a16:creationId xmlns:a16="http://schemas.microsoft.com/office/drawing/2014/main" id="{CA5F0F50-26C6-3C3F-190F-34DE8D9E095C}"/>
              </a:ext>
            </a:extLst>
          </p:cNvPr>
          <p:cNvSpPr txBox="1"/>
          <p:nvPr/>
        </p:nvSpPr>
        <p:spPr>
          <a:xfrm>
            <a:off x="381000" y="1328603"/>
            <a:ext cx="5760936" cy="21339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spcAft>
                <a:spcPts val="800"/>
              </a:spcAft>
              <a:buChar char="•"/>
            </a:pPr>
            <a:r>
              <a:rPr lang="en-US" sz="1800" dirty="0">
                <a:solidFill>
                  <a:schemeClr val="tx1"/>
                </a:solidFill>
                <a:latin typeface="Arial" panose="020B0604020202020204" pitchFamily="34" charset="0"/>
                <a:ea typeface="Roboto"/>
                <a:cs typeface="Arial" panose="020B0604020202020204" pitchFamily="34" charset="0"/>
              </a:rPr>
              <a:t>IDE components include; code editors, compilers, debuggers, interpreters, and a graphical user interface (GUI). </a:t>
            </a:r>
          </a:p>
          <a:p>
            <a:pPr marL="228600" indent="-228600">
              <a:spcAft>
                <a:spcPts val="800"/>
              </a:spcAft>
              <a:buChar char="•"/>
            </a:pPr>
            <a:r>
              <a:rPr lang="en-US" sz="1800" dirty="0">
                <a:solidFill>
                  <a:schemeClr val="tx1"/>
                </a:solidFill>
                <a:latin typeface="Arial" panose="020B0604020202020204" pitchFamily="34" charset="0"/>
                <a:ea typeface="Roboto"/>
                <a:cs typeface="Arial" panose="020B0604020202020204" pitchFamily="34" charset="0"/>
              </a:rPr>
              <a:t>By combining all these different components into a single program, IDE software can help simplify the development process and make it easier for developers to find and fix errors quickly. </a:t>
            </a:r>
            <a:endParaRPr lang="en-US" sz="1800" dirty="0">
              <a:solidFill>
                <a:schemeClr val="tx1"/>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9AA08696-5EFF-E9AB-FB69-9867C2001934}"/>
              </a:ext>
            </a:extLst>
          </p:cNvPr>
          <p:cNvGrpSpPr/>
          <p:nvPr/>
        </p:nvGrpSpPr>
        <p:grpSpPr>
          <a:xfrm>
            <a:off x="0" y="6296065"/>
            <a:ext cx="12192000" cy="381734"/>
            <a:chOff x="0" y="6296065"/>
            <a:chExt cx="12192000" cy="381734"/>
          </a:xfrm>
        </p:grpSpPr>
        <p:sp>
          <p:nvSpPr>
            <p:cNvPr id="5" name="TextBox 4">
              <a:extLst>
                <a:ext uri="{FF2B5EF4-FFF2-40B4-BE49-F238E27FC236}">
                  <a16:creationId xmlns:a16="http://schemas.microsoft.com/office/drawing/2014/main" id="{BE246EE5-2827-3D1F-51CD-E9C3D1F40796}"/>
                </a:ext>
              </a:extLst>
            </p:cNvPr>
            <p:cNvSpPr txBox="1"/>
            <p:nvPr/>
          </p:nvSpPr>
          <p:spPr>
            <a:xfrm>
              <a:off x="1059193" y="6400800"/>
              <a:ext cx="50368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https://goodfangsm.life/product_details/2982567.html</a:t>
              </a:r>
              <a:endParaRPr lang="en-IN" sz="1200" dirty="0">
                <a:solidFill>
                  <a:srgbClr val="0000FF"/>
                </a:solidFill>
                <a:latin typeface="+mj-lt"/>
              </a:endParaRPr>
            </a:p>
          </p:txBody>
        </p:sp>
        <p:cxnSp>
          <p:nvCxnSpPr>
            <p:cNvPr id="7" name="Straight Connector 6">
              <a:extLst>
                <a:ext uri="{FF2B5EF4-FFF2-40B4-BE49-F238E27FC236}">
                  <a16:creationId xmlns:a16="http://schemas.microsoft.com/office/drawing/2014/main" id="{C9CB6443-0F03-5141-1AEA-6A8470E5CEF5}"/>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Google Shape;62;g5fab984687_2_0">
              <a:extLst>
                <a:ext uri="{FF2B5EF4-FFF2-40B4-BE49-F238E27FC236}">
                  <a16:creationId xmlns:a16="http://schemas.microsoft.com/office/drawing/2014/main" id="{4C8FAC6A-12A0-453F-084A-962683057D5C}"/>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4181164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61143" y="854683"/>
            <a:ext cx="5811057" cy="393600"/>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vl2pPr marR="0" lvl="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9pPr>
          </a:lstStyle>
          <a:p>
            <a:r>
              <a:rPr lang="en-US" dirty="0"/>
              <a:t>Anaconda &amp; </a:t>
            </a:r>
            <a:r>
              <a:rPr lang="en-US" dirty="0" err="1"/>
              <a:t>Jupyter</a:t>
            </a:r>
            <a:endParaRPr lang="en-US" dirty="0"/>
          </a:p>
        </p:txBody>
      </p:sp>
      <p:sp>
        <p:nvSpPr>
          <p:cNvPr id="13" name="TextBox 12">
            <a:extLst>
              <a:ext uri="{FF2B5EF4-FFF2-40B4-BE49-F238E27FC236}">
                <a16:creationId xmlns:a16="http://schemas.microsoft.com/office/drawing/2014/main" id="{F80C6B02-05E9-0182-70DF-A8E2FF5320D6}"/>
              </a:ext>
            </a:extLst>
          </p:cNvPr>
          <p:cNvSpPr txBox="1"/>
          <p:nvPr/>
        </p:nvSpPr>
        <p:spPr>
          <a:xfrm>
            <a:off x="381000" y="1321475"/>
            <a:ext cx="5920748" cy="2031325"/>
          </a:xfrm>
          <a:prstGeom prst="rect">
            <a:avLst/>
          </a:prstGeom>
          <a:noFill/>
        </p:spPr>
        <p:txBody>
          <a:bodyPr wrap="square">
            <a:spAutoFit/>
          </a:bodyPr>
          <a:lstStyle/>
          <a:p>
            <a:pPr indent="-246888">
              <a:spcAft>
                <a:spcPts val="800"/>
              </a:spcAft>
            </a:pPr>
            <a:r>
              <a:rPr lang="en-US" sz="1800" dirty="0" err="1">
                <a:latin typeface="Arial" panose="020B0604020202020204" pitchFamily="34" charset="0"/>
                <a:cs typeface="Arial" panose="020B0604020202020204" pitchFamily="34" charset="0"/>
              </a:rPr>
              <a:t>Jupyter</a:t>
            </a:r>
            <a:r>
              <a:rPr lang="en-US" sz="1800" dirty="0">
                <a:latin typeface="Arial" panose="020B0604020202020204" pitchFamily="34" charset="0"/>
                <a:cs typeface="Arial" panose="020B0604020202020204" pitchFamily="34" charset="0"/>
              </a:rPr>
              <a:t> Notebook is a web-based interactive computational environment for creating </a:t>
            </a:r>
            <a:r>
              <a:rPr lang="en-US" sz="1800" dirty="0" err="1">
                <a:latin typeface="Arial" panose="020B0604020202020204" pitchFamily="34" charset="0"/>
                <a:cs typeface="Arial" panose="020B0604020202020204" pitchFamily="34" charset="0"/>
              </a:rPr>
              <a:t>Jupyter</a:t>
            </a:r>
            <a:r>
              <a:rPr lang="en-US" sz="1800" dirty="0">
                <a:latin typeface="Arial" panose="020B0604020202020204" pitchFamily="34" charset="0"/>
                <a:cs typeface="Arial" panose="020B0604020202020204" pitchFamily="34" charset="0"/>
              </a:rPr>
              <a:t> notebook documents that supports several languages like Python, R, etc., and is largely used for data analysis, data visualization, and more. Also, it is a cloud-based, open-source tool useful for programmers just starting with data science.</a:t>
            </a:r>
            <a:endParaRPr lang="en-IN" sz="1800" dirty="0">
              <a:latin typeface="Arial" panose="020B0604020202020204" pitchFamily="34" charset="0"/>
              <a:cs typeface="Arial" panose="020B0604020202020204" pitchFamily="34" charset="0"/>
            </a:endParaRPr>
          </a:p>
        </p:txBody>
      </p:sp>
      <p:pic>
        <p:nvPicPr>
          <p:cNvPr id="3076" name="Picture 4" descr="jupyter">
            <a:extLst>
              <a:ext uri="{FF2B5EF4-FFF2-40B4-BE49-F238E27FC236}">
                <a16:creationId xmlns:a16="http://schemas.microsoft.com/office/drawing/2014/main" id="{6907E1DF-8774-42E2-D1B1-D72CEB7A05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1071" y="1331334"/>
            <a:ext cx="2065946" cy="16667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ython IDEs and Code Editors: Jupyter notebook">
            <a:extLst>
              <a:ext uri="{FF2B5EF4-FFF2-40B4-BE49-F238E27FC236}">
                <a16:creationId xmlns:a16="http://schemas.microsoft.com/office/drawing/2014/main" id="{AE6DD807-2B4D-8634-B338-3D9C75D5B7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250" y="3289950"/>
            <a:ext cx="5040185" cy="2679698"/>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6BC7815-2E0E-2EDF-7068-F83FAC17EFC5}"/>
              </a:ext>
            </a:extLst>
          </p:cNvPr>
          <p:cNvSpPr/>
          <p:nvPr/>
        </p:nvSpPr>
        <p:spPr>
          <a:xfrm>
            <a:off x="494896" y="3859954"/>
            <a:ext cx="5276850" cy="1666712"/>
          </a:xfrm>
          <a:prstGeom prst="rect">
            <a:avLst/>
          </a:prstGeom>
          <a:solidFill>
            <a:srgbClr val="D7E3FD"/>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800"/>
              </a:spcAft>
              <a:buClr>
                <a:schemeClr val="tx1"/>
              </a:buClr>
              <a:buFont typeface="+mj-lt"/>
              <a:buAutoNum type="arabicPeriod"/>
            </a:pPr>
            <a:r>
              <a:rPr lang="en-IN" sz="1800" dirty="0">
                <a:solidFill>
                  <a:schemeClr val="tx1"/>
                </a:solidFill>
                <a:latin typeface="Arial" panose="020B0604020202020204" pitchFamily="34" charset="0"/>
                <a:cs typeface="Arial" panose="020B0604020202020204" pitchFamily="34" charset="0"/>
              </a:rPr>
              <a:t>Install - Anaconda</a:t>
            </a:r>
          </a:p>
          <a:p>
            <a:pPr marL="342900" indent="-342900">
              <a:spcAft>
                <a:spcPts val="800"/>
              </a:spcAft>
              <a:buClr>
                <a:schemeClr val="tx1"/>
              </a:buClr>
              <a:buFont typeface="+mj-lt"/>
              <a:buAutoNum type="arabicPeriod"/>
            </a:pPr>
            <a:r>
              <a:rPr lang="en-IN" sz="1800" dirty="0">
                <a:solidFill>
                  <a:schemeClr val="tx1"/>
                </a:solidFill>
                <a:latin typeface="Arial" panose="020B0604020202020204" pitchFamily="34" charset="0"/>
                <a:cs typeface="Arial" panose="020B0604020202020204" pitchFamily="34" charset="0"/>
              </a:rPr>
              <a:t>Download Anaconda Distribution - https://anaconda.com/ </a:t>
            </a:r>
          </a:p>
          <a:p>
            <a:pPr marL="342900" indent="-342900">
              <a:spcAft>
                <a:spcPts val="800"/>
              </a:spcAft>
              <a:buClr>
                <a:schemeClr val="tx1"/>
              </a:buClr>
              <a:buFont typeface="+mj-lt"/>
              <a:buAutoNum type="arabicPeriod"/>
            </a:pPr>
            <a:r>
              <a:rPr lang="en-IN" sz="1800" dirty="0">
                <a:solidFill>
                  <a:schemeClr val="tx1"/>
                </a:solidFill>
                <a:latin typeface="Arial" panose="020B0604020202020204" pitchFamily="34" charset="0"/>
                <a:cs typeface="Arial" panose="020B0604020202020204" pitchFamily="34" charset="0"/>
              </a:rPr>
              <a:t>Install Anaconda -  double-clicking the .exe fil</a:t>
            </a:r>
          </a:p>
        </p:txBody>
      </p:sp>
      <p:cxnSp>
        <p:nvCxnSpPr>
          <p:cNvPr id="9" name="Straight Arrow Connector 8">
            <a:extLst>
              <a:ext uri="{FF2B5EF4-FFF2-40B4-BE49-F238E27FC236}">
                <a16:creationId xmlns:a16="http://schemas.microsoft.com/office/drawing/2014/main" id="{62601372-8281-5587-8766-5FEBC80C9BB3}"/>
              </a:ext>
            </a:extLst>
          </p:cNvPr>
          <p:cNvCxnSpPr>
            <a:stCxn id="13" idx="3"/>
          </p:cNvCxnSpPr>
          <p:nvPr/>
        </p:nvCxnSpPr>
        <p:spPr>
          <a:xfrm flipV="1">
            <a:off x="6301748" y="2337137"/>
            <a:ext cx="167640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175F682-55D2-B6F3-798F-AB3943FC9172}"/>
              </a:ext>
            </a:extLst>
          </p:cNvPr>
          <p:cNvCxnSpPr>
            <a:cxnSpLocks/>
          </p:cNvCxnSpPr>
          <p:nvPr/>
        </p:nvCxnSpPr>
        <p:spPr>
          <a:xfrm>
            <a:off x="5819775" y="4693311"/>
            <a:ext cx="6862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 name="Group 7">
            <a:extLst>
              <a:ext uri="{FF2B5EF4-FFF2-40B4-BE49-F238E27FC236}">
                <a16:creationId xmlns:a16="http://schemas.microsoft.com/office/drawing/2014/main" id="{EBD4F830-4938-049C-68FB-3817A024602B}"/>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B870BBE5-0C6F-21EC-D8F6-6C76962B7D07}"/>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https://www.linkedin.com/pulse/jupyter-notebook-vs-anaconda-choosing-right-tool-beginners-singh-snysc</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95427011-81F5-3B35-BC73-02B9B7054EA3}"/>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6A1995A3-C9A9-A40B-655F-D17F3A410D33}"/>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2737193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F5DD-48BA-EA8D-334F-D82DE7B4B6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4E2CAB-8252-C020-3B2A-F67E645DB1BA}"/>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C63CEC2E-BA5F-4D10-C747-944F1134EE2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C1FC647F-EFEA-D8DB-4580-D7749DE091EE}"/>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4377EED6-891E-79BD-1F92-0CE86505322A}"/>
              </a:ext>
            </a:extLst>
          </p:cNvPr>
          <p:cNvSpPr txBox="1">
            <a:spLocks/>
          </p:cNvSpPr>
          <p:nvPr/>
        </p:nvSpPr>
        <p:spPr>
          <a:xfrm>
            <a:off x="381000" y="4191000"/>
            <a:ext cx="9144000" cy="646331"/>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IN" sz="1800" b="1" dirty="0">
                <a:latin typeface="Arial" panose="020B0604020202020204" pitchFamily="34" charset="0"/>
                <a:cs typeface="Arial" panose="020B0604020202020204" pitchFamily="34" charset="0"/>
              </a:rPr>
              <a:t>Lab 1: </a:t>
            </a:r>
            <a:r>
              <a:rPr lang="en-US" sz="1800" dirty="0">
                <a:latin typeface="Arial" panose="020B0604020202020204" pitchFamily="34" charset="0"/>
                <a:cs typeface="Arial" panose="020B0604020202020204" pitchFamily="34" charset="0"/>
              </a:rPr>
              <a:t>Learn how to create and manage a repository on GitHub to enhance collaborative software development.</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8E24D3F9-EF17-98A7-E212-A8F5283E9BC6}"/>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3627BB01-7674-E28F-BE9A-71F226C3F804}"/>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1E83652F-83A5-6F68-AD78-4FA70AD18F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DE846CBF-2E6C-7165-3203-84BA1AF190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969769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127A9-EED2-322C-B9B9-B9B585E0E8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0F920F-34C4-8707-B488-0F5406E8D276}"/>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8BFA0C94-01AD-A5C1-E1F4-52A7CEC8565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C7CEABC8-97EB-C2CE-C09B-482EC8A63B5C}"/>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064BB2B5-D8BA-4A85-7F4F-802A15CBDEF6}"/>
              </a:ext>
            </a:extLst>
          </p:cNvPr>
          <p:cNvSpPr txBox="1">
            <a:spLocks/>
          </p:cNvSpPr>
          <p:nvPr/>
        </p:nvSpPr>
        <p:spPr>
          <a:xfrm>
            <a:off x="381000" y="4191000"/>
            <a:ext cx="91440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IN" sz="1800" b="1" dirty="0">
                <a:latin typeface="Arial" panose="020B0604020202020204" pitchFamily="34" charset="0"/>
                <a:cs typeface="Arial" panose="020B0604020202020204" pitchFamily="34" charset="0"/>
              </a:rPr>
              <a:t>Lab 2: </a:t>
            </a:r>
            <a:r>
              <a:rPr lang="en-US" sz="1800" dirty="0">
                <a:latin typeface="Arial" panose="020B0604020202020204" pitchFamily="34" charset="0"/>
                <a:cs typeface="Arial" panose="020B0604020202020204" pitchFamily="34" charset="0"/>
              </a:rPr>
              <a:t>Demonstrating Installation of Anaconda and Set up the Python Environment </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16FC60A2-DFBF-E5DD-5615-64437AB4600D}"/>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8B0B882F-3815-4723-D083-E91DC29F8549}"/>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6CEDD3B7-319B-5E2A-EBD2-B234AA064B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D386D1EF-8D1D-8D13-C240-21FFA90523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528691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1262-CEDC-C645-17B0-91C8D5772D29}"/>
              </a:ext>
            </a:extLst>
          </p:cNvPr>
          <p:cNvSpPr txBox="1">
            <a:spLocks/>
          </p:cNvSpPr>
          <p:nvPr/>
        </p:nvSpPr>
        <p:spPr>
          <a:xfrm>
            <a:off x="381000" y="854368"/>
            <a:ext cx="3323185" cy="345782"/>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vl2pPr marR="0" lvl="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9pPr>
          </a:lstStyle>
          <a:p>
            <a:r>
              <a:rPr lang="en-US" dirty="0"/>
              <a:t>Variables</a:t>
            </a:r>
          </a:p>
        </p:txBody>
      </p:sp>
      <p:pic>
        <p:nvPicPr>
          <p:cNvPr id="3" name="Picture 2" descr="A diagram of a data processing process&#10;&#10;Description automatically generated">
            <a:extLst>
              <a:ext uri="{FF2B5EF4-FFF2-40B4-BE49-F238E27FC236}">
                <a16:creationId xmlns:a16="http://schemas.microsoft.com/office/drawing/2014/main" id="{7B51B096-592E-96D8-5040-B1710C51FC94}"/>
              </a:ext>
            </a:extLst>
          </p:cNvPr>
          <p:cNvPicPr>
            <a:picLocks noChangeAspect="1"/>
          </p:cNvPicPr>
          <p:nvPr/>
        </p:nvPicPr>
        <p:blipFill>
          <a:blip r:embed="rId3"/>
          <a:stretch>
            <a:fillRect/>
          </a:stretch>
        </p:blipFill>
        <p:spPr>
          <a:xfrm>
            <a:off x="1219200" y="1638300"/>
            <a:ext cx="3876675" cy="2219325"/>
          </a:xfrm>
          <a:prstGeom prst="rect">
            <a:avLst/>
          </a:prstGeom>
        </p:spPr>
      </p:pic>
      <p:pic>
        <p:nvPicPr>
          <p:cNvPr id="4" name="Picture 3" descr="A blue box with orange text&#10;&#10;Description automatically generated">
            <a:extLst>
              <a:ext uri="{FF2B5EF4-FFF2-40B4-BE49-F238E27FC236}">
                <a16:creationId xmlns:a16="http://schemas.microsoft.com/office/drawing/2014/main" id="{327545F1-22B2-D5B3-AEF8-683675136DD0}"/>
              </a:ext>
            </a:extLst>
          </p:cNvPr>
          <p:cNvPicPr>
            <a:picLocks noChangeAspect="1"/>
          </p:cNvPicPr>
          <p:nvPr/>
        </p:nvPicPr>
        <p:blipFill>
          <a:blip r:embed="rId4"/>
          <a:stretch>
            <a:fillRect/>
          </a:stretch>
        </p:blipFill>
        <p:spPr>
          <a:xfrm>
            <a:off x="914400" y="4114800"/>
            <a:ext cx="4608521" cy="1909995"/>
          </a:xfrm>
          <a:prstGeom prst="rect">
            <a:avLst/>
          </a:prstGeom>
        </p:spPr>
      </p:pic>
      <p:pic>
        <p:nvPicPr>
          <p:cNvPr id="5" name="Picture 4" descr="A diagram of a diagram&#10;&#10;Description automatically generated">
            <a:extLst>
              <a:ext uri="{FF2B5EF4-FFF2-40B4-BE49-F238E27FC236}">
                <a16:creationId xmlns:a16="http://schemas.microsoft.com/office/drawing/2014/main" id="{2B270778-BEC3-26E2-0B8A-121DE018A020}"/>
              </a:ext>
            </a:extLst>
          </p:cNvPr>
          <p:cNvPicPr>
            <a:picLocks noChangeAspect="1"/>
          </p:cNvPicPr>
          <p:nvPr/>
        </p:nvPicPr>
        <p:blipFill>
          <a:blip r:embed="rId5"/>
          <a:stretch>
            <a:fillRect/>
          </a:stretch>
        </p:blipFill>
        <p:spPr>
          <a:xfrm>
            <a:off x="6165440" y="2119766"/>
            <a:ext cx="5715000" cy="2647950"/>
          </a:xfrm>
          <a:prstGeom prst="rect">
            <a:avLst/>
          </a:prstGeom>
        </p:spPr>
      </p:pic>
      <p:grpSp>
        <p:nvGrpSpPr>
          <p:cNvPr id="10" name="Group 9">
            <a:extLst>
              <a:ext uri="{FF2B5EF4-FFF2-40B4-BE49-F238E27FC236}">
                <a16:creationId xmlns:a16="http://schemas.microsoft.com/office/drawing/2014/main" id="{73D3593B-55DF-BE55-A8C9-54B9BA4A0CF5}"/>
              </a:ext>
            </a:extLst>
          </p:cNvPr>
          <p:cNvGrpSpPr/>
          <p:nvPr/>
        </p:nvGrpSpPr>
        <p:grpSpPr>
          <a:xfrm>
            <a:off x="0" y="6296065"/>
            <a:ext cx="12192000" cy="381734"/>
            <a:chOff x="0" y="6296065"/>
            <a:chExt cx="12192000" cy="381734"/>
          </a:xfrm>
        </p:grpSpPr>
        <p:sp>
          <p:nvSpPr>
            <p:cNvPr id="6" name="TextBox 5">
              <a:extLst>
                <a:ext uri="{FF2B5EF4-FFF2-40B4-BE49-F238E27FC236}">
                  <a16:creationId xmlns:a16="http://schemas.microsoft.com/office/drawing/2014/main" id="{20C822A1-3AAA-646D-EE37-4B3F359C26F5}"/>
                </a:ext>
              </a:extLst>
            </p:cNvPr>
            <p:cNvSpPr txBox="1"/>
            <p:nvPr/>
          </p:nvSpPr>
          <p:spPr>
            <a:xfrm>
              <a:off x="1066800" y="6400800"/>
              <a:ext cx="5105400" cy="276999"/>
            </a:xfrm>
            <a:prstGeom prst="rect">
              <a:avLst/>
            </a:prstGeom>
            <a:noFill/>
          </p:spPr>
          <p:txBody>
            <a:bodyPr wrap="square" rtlCol="0">
              <a:spAutoFit/>
            </a:bodyPr>
            <a:lstStyle/>
            <a:p>
              <a:r>
                <a:rPr lang="en-IN" sz="1200" dirty="0">
                  <a:solidFill>
                    <a:srgbClr val="0000FF"/>
                  </a:solidFill>
                  <a:latin typeface="+mj-lt"/>
                  <a:hlinkClick r:id="rId6">
                    <a:extLst>
                      <a:ext uri="{A12FA001-AC4F-418D-AE19-62706E023703}">
                        <ahyp:hlinkClr xmlns:ahyp="http://schemas.microsoft.com/office/drawing/2018/hyperlinkcolor" val="tx"/>
                      </a:ext>
                    </a:extLst>
                  </a:hlinkClick>
                </a:rPr>
                <a:t>https://medium.com/@ngohongphuc2001/python-variables-18b27e6cccd8</a:t>
              </a:r>
              <a:endParaRPr lang="en-IN" sz="1200" dirty="0">
                <a:solidFill>
                  <a:srgbClr val="0000FF"/>
                </a:solidFill>
                <a:latin typeface="+mj-lt"/>
              </a:endParaRPr>
            </a:p>
          </p:txBody>
        </p:sp>
        <p:cxnSp>
          <p:nvCxnSpPr>
            <p:cNvPr id="8" name="Straight Connector 7">
              <a:extLst>
                <a:ext uri="{FF2B5EF4-FFF2-40B4-BE49-F238E27FC236}">
                  <a16:creationId xmlns:a16="http://schemas.microsoft.com/office/drawing/2014/main" id="{78F11424-C5FA-853A-97E8-D4E3CB7D7354}"/>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Google Shape;62;g5fab984687_2_0">
              <a:extLst>
                <a:ext uri="{FF2B5EF4-FFF2-40B4-BE49-F238E27FC236}">
                  <a16:creationId xmlns:a16="http://schemas.microsoft.com/office/drawing/2014/main" id="{E4CEEEE7-1207-0767-F920-D8D08B5E26B9}"/>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1624206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2025A-BEF9-38C7-4D19-20C5D7B83F05}"/>
              </a:ext>
            </a:extLst>
          </p:cNvPr>
          <p:cNvSpPr txBox="1">
            <a:spLocks/>
          </p:cNvSpPr>
          <p:nvPr/>
        </p:nvSpPr>
        <p:spPr>
          <a:xfrm>
            <a:off x="379274" y="847570"/>
            <a:ext cx="6021526" cy="400110"/>
          </a:xfrm>
          <a:prstGeom prst="rect">
            <a:avLst/>
          </a:prstGeom>
          <a:noFill/>
        </p:spPr>
        <p:txBody>
          <a:bodyPr wrap="square" rtlCol="0">
            <a:spAutoFit/>
          </a:bodyPr>
          <a:lstStyle>
            <a:defPPr>
              <a:defRPr lang="en-US"/>
            </a:defPPr>
            <a:lvl1pPr>
              <a:spcBef>
                <a:spcPct val="0"/>
              </a:spcBef>
              <a:buNone/>
              <a:defRPr sz="2000" b="1">
                <a:solidFill>
                  <a:srgbClr val="002060"/>
                </a:solidFill>
                <a:latin typeface="Arial" panose="020B0604020202020204" pitchFamily="34" charset="0"/>
                <a:ea typeface="+mj-ea"/>
                <a:cs typeface="Arial" panose="020B0604020202020204" pitchFamily="34" charset="0"/>
              </a:defRPr>
            </a:lvl1pPr>
            <a:lvl2pPr marR="0" lvl="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defRPr>
            </a:lvl9pPr>
          </a:lstStyle>
          <a:p>
            <a:r>
              <a:rPr lang="en-US" dirty="0"/>
              <a:t>Activity Time: List out the Variables</a:t>
            </a:r>
          </a:p>
        </p:txBody>
      </p:sp>
      <p:sp>
        <p:nvSpPr>
          <p:cNvPr id="5" name="TextBox 4">
            <a:extLst>
              <a:ext uri="{FF2B5EF4-FFF2-40B4-BE49-F238E27FC236}">
                <a16:creationId xmlns:a16="http://schemas.microsoft.com/office/drawing/2014/main" id="{48C75DD2-27EF-C937-451C-0E1D929BE6B0}"/>
              </a:ext>
            </a:extLst>
          </p:cNvPr>
          <p:cNvSpPr txBox="1"/>
          <p:nvPr/>
        </p:nvSpPr>
        <p:spPr>
          <a:xfrm>
            <a:off x="381000" y="1339742"/>
            <a:ext cx="5908862" cy="1528945"/>
          </a:xfrm>
          <a:prstGeom prst="rect">
            <a:avLst/>
          </a:prstGeom>
          <a:noFill/>
        </p:spPr>
        <p:txBody>
          <a:bodyPr wrap="square">
            <a:spAutoFit/>
          </a:bodyPr>
          <a:lstStyle/>
          <a:p>
            <a:pPr marL="246888" indent="-246888">
              <a:spcAft>
                <a:spcPts val="800"/>
              </a:spcAft>
            </a:pPr>
            <a:r>
              <a:rPr lang="en-US" sz="1800" dirty="0">
                <a:latin typeface="Arial" panose="020B0604020202020204" pitchFamily="34" charset="0"/>
                <a:cs typeface="Arial" panose="020B0604020202020204" pitchFamily="34" charset="0"/>
              </a:rPr>
              <a:t>1) A company's profit for the first quarter was Rs. 50,000, for the second quarter was Rs. 75,000, for the third quarter was Rs. 60,000, and for the fourth quarter was Rs. 65,000. What was the total profit for the year?</a:t>
            </a:r>
            <a:endParaRPr lang="en-IN" sz="1800" dirty="0">
              <a:latin typeface="Arial" panose="020B0604020202020204" pitchFamily="34" charset="0"/>
              <a:cs typeface="Arial" panose="020B0604020202020204" pitchFamily="34" charset="0"/>
            </a:endParaRPr>
          </a:p>
        </p:txBody>
      </p:sp>
      <p:sp>
        <p:nvSpPr>
          <p:cNvPr id="7" name="Rectangle 2">
            <a:extLst>
              <a:ext uri="{FF2B5EF4-FFF2-40B4-BE49-F238E27FC236}">
                <a16:creationId xmlns:a16="http://schemas.microsoft.com/office/drawing/2014/main" id="{578BABE4-968D-4765-E432-0C66C072E3F6}"/>
              </a:ext>
            </a:extLst>
          </p:cNvPr>
          <p:cNvSpPr>
            <a:spLocks noChangeArrowheads="1"/>
          </p:cNvSpPr>
          <p:nvPr/>
        </p:nvSpPr>
        <p:spPr bwMode="auto">
          <a:xfrm>
            <a:off x="381000" y="2977647"/>
            <a:ext cx="587274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You have a string password with the value "Secure123". Check if the password length is at least 8 characters. </a:t>
            </a:r>
          </a:p>
        </p:txBody>
      </p:sp>
      <p:sp>
        <p:nvSpPr>
          <p:cNvPr id="9" name="TextBox 8">
            <a:extLst>
              <a:ext uri="{FF2B5EF4-FFF2-40B4-BE49-F238E27FC236}">
                <a16:creationId xmlns:a16="http://schemas.microsoft.com/office/drawing/2014/main" id="{7B1B9480-A6E5-E191-43D6-988B4019AE97}"/>
              </a:ext>
            </a:extLst>
          </p:cNvPr>
          <p:cNvSpPr txBox="1"/>
          <p:nvPr/>
        </p:nvSpPr>
        <p:spPr>
          <a:xfrm>
            <a:off x="381000" y="4009937"/>
            <a:ext cx="5874731" cy="954300"/>
          </a:xfrm>
          <a:prstGeom prst="rect">
            <a:avLst/>
          </a:prstGeom>
          <a:noFill/>
        </p:spPr>
        <p:txBody>
          <a:bodyPr wrap="square">
            <a:spAutoFit/>
          </a:bodyPr>
          <a:lstStyle/>
          <a:p>
            <a:pPr marL="246888" indent="-246888">
              <a:spcAft>
                <a:spcPts val="800"/>
              </a:spcAft>
            </a:pPr>
            <a:r>
              <a:rPr lang="en-US" sz="1800" dirty="0">
                <a:latin typeface="Arial" panose="020B0604020202020204" pitchFamily="34" charset="0"/>
                <a:cs typeface="Arial" panose="020B0604020202020204" pitchFamily="34" charset="0"/>
              </a:rPr>
              <a:t>3) A student named "Alice" scored 85 in Math and 90 in Science. Create a string that says "Alice scored 85 in Math and 90 in Science."</a:t>
            </a:r>
            <a:endParaRPr lang="en-IN" sz="18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EC6B046-0C43-C3FE-F099-AF647379C6BB}"/>
              </a:ext>
            </a:extLst>
          </p:cNvPr>
          <p:cNvSpPr txBox="1"/>
          <p:nvPr/>
        </p:nvSpPr>
        <p:spPr>
          <a:xfrm>
            <a:off x="381000" y="5073198"/>
            <a:ext cx="5874730" cy="954300"/>
          </a:xfrm>
          <a:prstGeom prst="rect">
            <a:avLst/>
          </a:prstGeom>
          <a:noFill/>
        </p:spPr>
        <p:txBody>
          <a:bodyPr wrap="square">
            <a:spAutoFit/>
          </a:bodyPr>
          <a:lstStyle/>
          <a:p>
            <a:pPr marL="246888" indent="-246888">
              <a:spcAft>
                <a:spcPts val="800"/>
              </a:spcAft>
            </a:pPr>
            <a:r>
              <a:rPr lang="en-US" sz="1800" dirty="0">
                <a:latin typeface="Arial" panose="020B0604020202020204" pitchFamily="34" charset="0"/>
                <a:cs typeface="Arial" panose="020B0604020202020204" pitchFamily="34" charset="0"/>
              </a:rPr>
              <a:t>4) The price of a notebook is Rs. 45. A student buys 8 notebooks and gives a Rs. 500 note to the cashier. How much change will the student get back?</a:t>
            </a:r>
            <a:endParaRPr lang="en-IN" sz="1800" dirty="0">
              <a:latin typeface="Arial" panose="020B0604020202020204" pitchFamily="34" charset="0"/>
              <a:cs typeface="Arial" panose="020B0604020202020204" pitchFamily="34" charset="0"/>
            </a:endParaRPr>
          </a:p>
        </p:txBody>
      </p:sp>
      <p:pic>
        <p:nvPicPr>
          <p:cNvPr id="3" name="Picture 6" descr="How to get adolescents to feel more energetic and awake in the classroom?">
            <a:extLst>
              <a:ext uri="{FF2B5EF4-FFF2-40B4-BE49-F238E27FC236}">
                <a16:creationId xmlns:a16="http://schemas.microsoft.com/office/drawing/2014/main" id="{189270F1-C444-E136-6CD6-FB9B2EF8B0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629400" y="1619250"/>
            <a:ext cx="4873438" cy="2435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964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560B-9708-716E-C4F8-25E62934AF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F86D77-EF67-8734-0909-618396F8EF49}"/>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C232FA1F-D0C9-63BF-3EF4-8B4AA832FD7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6278C5EA-E89D-ADD5-F742-47B38F9655CB}"/>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BF9E0F24-7EB5-E017-A8E2-AB882367CD51}"/>
              </a:ext>
            </a:extLst>
          </p:cNvPr>
          <p:cNvSpPr txBox="1">
            <a:spLocks/>
          </p:cNvSpPr>
          <p:nvPr/>
        </p:nvSpPr>
        <p:spPr>
          <a:xfrm>
            <a:off x="381000" y="4191000"/>
            <a:ext cx="67056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3: </a:t>
            </a:r>
            <a:r>
              <a:rPr lang="en-US" sz="1800" dirty="0">
                <a:latin typeface="Arial" panose="020B0604020202020204" pitchFamily="34" charset="0"/>
                <a:cs typeface="Arial" panose="020B0604020202020204" pitchFamily="34" charset="0"/>
              </a:rPr>
              <a:t>Demonstrate how to assign variables and use them.</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91833245-295A-2E9F-50F4-9CDEFB94787B}"/>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B7497DE1-E95E-0C64-9BA9-32E60DF530F9}"/>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BAEFDC98-9D80-911A-BD55-471EEF900D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E4200F3B-B9B0-646D-D3E9-ECD6496A120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753959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g5fab984687_2_0">
            <a:extLst>
              <a:ext uri="{FF2B5EF4-FFF2-40B4-BE49-F238E27FC236}">
                <a16:creationId xmlns:a16="http://schemas.microsoft.com/office/drawing/2014/main" id="{B196CDD5-4358-7B0E-11C9-679425710842}"/>
              </a:ext>
            </a:extLst>
          </p:cNvPr>
          <p:cNvSpPr txBox="1">
            <a:spLocks/>
          </p:cNvSpPr>
          <p:nvPr/>
        </p:nvSpPr>
        <p:spPr>
          <a:xfrm>
            <a:off x="304800" y="762000"/>
            <a:ext cx="2993639" cy="47954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sz="2000" b="1" dirty="0">
                <a:solidFill>
                  <a:srgbClr val="213163"/>
                </a:solidFill>
                <a:latin typeface="Arial" panose="020B0604020202020204" pitchFamily="34" charset="0"/>
                <a:cs typeface="Arial" panose="020B0604020202020204" pitchFamily="34" charset="0"/>
              </a:rPr>
              <a:t>Datatypes in Python</a:t>
            </a:r>
            <a:endParaRPr lang="en-US" sz="2000" dirty="0">
              <a:latin typeface="Arial" panose="020B0604020202020204" pitchFamily="34" charset="0"/>
              <a:cs typeface="Arial" panose="020B0604020202020204" pitchFamily="34" charset="0"/>
            </a:endParaRPr>
          </a:p>
        </p:txBody>
      </p:sp>
      <p:pic>
        <p:nvPicPr>
          <p:cNvPr id="4" name="Picture 3" descr="A diagram of a data type&#10;&#10;Description automatically generated">
            <a:extLst>
              <a:ext uri="{FF2B5EF4-FFF2-40B4-BE49-F238E27FC236}">
                <a16:creationId xmlns:a16="http://schemas.microsoft.com/office/drawing/2014/main" id="{E6D56525-441D-EE21-36E6-64A4FC956AF2}"/>
              </a:ext>
            </a:extLst>
          </p:cNvPr>
          <p:cNvPicPr>
            <a:picLocks noChangeAspect="1"/>
          </p:cNvPicPr>
          <p:nvPr/>
        </p:nvPicPr>
        <p:blipFill>
          <a:blip r:embed="rId3">
            <a:duotone>
              <a:schemeClr val="accent5">
                <a:shade val="45000"/>
                <a:satMod val="135000"/>
              </a:schemeClr>
              <a:prstClr val="white"/>
            </a:duotone>
          </a:blip>
          <a:stretch>
            <a:fillRect/>
          </a:stretch>
        </p:blipFill>
        <p:spPr>
          <a:xfrm>
            <a:off x="2286000" y="2362200"/>
            <a:ext cx="7620000" cy="3238500"/>
          </a:xfrm>
          <a:prstGeom prst="rect">
            <a:avLst/>
          </a:prstGeom>
        </p:spPr>
      </p:pic>
      <p:sp>
        <p:nvSpPr>
          <p:cNvPr id="13" name="TextBox 12">
            <a:extLst>
              <a:ext uri="{FF2B5EF4-FFF2-40B4-BE49-F238E27FC236}">
                <a16:creationId xmlns:a16="http://schemas.microsoft.com/office/drawing/2014/main" id="{E483C71C-68E6-5836-1797-8BF14B193BA5}"/>
              </a:ext>
            </a:extLst>
          </p:cNvPr>
          <p:cNvSpPr txBox="1"/>
          <p:nvPr/>
        </p:nvSpPr>
        <p:spPr>
          <a:xfrm>
            <a:off x="381000" y="1308477"/>
            <a:ext cx="11334390" cy="748923"/>
          </a:xfrm>
          <a:prstGeom prst="rect">
            <a:avLst/>
          </a:prstGeom>
          <a:noFill/>
        </p:spPr>
        <p:txBody>
          <a:bodyPr wrap="square">
            <a:spAutoFit/>
          </a:bodyPr>
          <a:lstStyle/>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It represents the kind of value that tells what operations can be performed on a particular data.</a:t>
            </a:r>
          </a:p>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To check variable’s data types we use the type() function. </a:t>
            </a:r>
            <a:endParaRPr lang="en-IN" sz="1800"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EAABA552-AF32-BAFF-0D1F-E5E7DBA327B8}"/>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8BE46E58-E034-04EE-939B-771EFB172D48}"/>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https://phoenixnap.com/kb/python-data-types</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DB35D574-2B27-4FAF-773F-B642D5A5D47E}"/>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864EFF54-8F3D-F613-F95B-0ED380D7EBF9}"/>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4248264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2025A-BEF9-38C7-4D19-20C5D7B83F05}"/>
              </a:ext>
            </a:extLst>
          </p:cNvPr>
          <p:cNvSpPr txBox="1">
            <a:spLocks/>
          </p:cNvSpPr>
          <p:nvPr/>
        </p:nvSpPr>
        <p:spPr>
          <a:xfrm>
            <a:off x="368113" y="861673"/>
            <a:ext cx="5880286"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List out the Type of Variables</a:t>
            </a:r>
          </a:p>
        </p:txBody>
      </p:sp>
      <p:sp>
        <p:nvSpPr>
          <p:cNvPr id="5" name="TextBox 4">
            <a:extLst>
              <a:ext uri="{FF2B5EF4-FFF2-40B4-BE49-F238E27FC236}">
                <a16:creationId xmlns:a16="http://schemas.microsoft.com/office/drawing/2014/main" id="{48C75DD2-27EF-C937-451C-0E1D929BE6B0}"/>
              </a:ext>
            </a:extLst>
          </p:cNvPr>
          <p:cNvSpPr txBox="1"/>
          <p:nvPr/>
        </p:nvSpPr>
        <p:spPr>
          <a:xfrm>
            <a:off x="368113" y="1330217"/>
            <a:ext cx="5880286" cy="1200329"/>
          </a:xfrm>
          <a:prstGeom prst="rect">
            <a:avLst/>
          </a:prstGeom>
          <a:noFill/>
        </p:spPr>
        <p:txBody>
          <a:bodyPr wrap="square">
            <a:spAutoFit/>
          </a:bodyPr>
          <a:lstStyle/>
          <a:p>
            <a:pPr>
              <a:spcAft>
                <a:spcPts val="800"/>
              </a:spcAft>
            </a:pPr>
            <a:r>
              <a:rPr lang="en-US" sz="1800" dirty="0">
                <a:latin typeface="Arial" panose="020B0604020202020204" pitchFamily="34" charset="0"/>
                <a:cs typeface="Arial" panose="020B0604020202020204" pitchFamily="34" charset="0"/>
              </a:rPr>
              <a:t>1) A company's profit for the first quarter was Rs. 50,000, for the second quarter was Rs. 75,000, for the third quarter was Rs. 60,000, and for the fourth quarter was Rs. 65,000. What was the total profit for the year?</a:t>
            </a:r>
            <a:endParaRPr lang="en-IN" sz="1800" dirty="0">
              <a:latin typeface="Arial" panose="020B0604020202020204" pitchFamily="34" charset="0"/>
              <a:cs typeface="Arial" panose="020B0604020202020204" pitchFamily="34" charset="0"/>
            </a:endParaRPr>
          </a:p>
        </p:txBody>
      </p:sp>
      <p:sp>
        <p:nvSpPr>
          <p:cNvPr id="7" name="Rectangle 2">
            <a:extLst>
              <a:ext uri="{FF2B5EF4-FFF2-40B4-BE49-F238E27FC236}">
                <a16:creationId xmlns:a16="http://schemas.microsoft.com/office/drawing/2014/main" id="{578BABE4-968D-4765-E432-0C66C072E3F6}"/>
              </a:ext>
            </a:extLst>
          </p:cNvPr>
          <p:cNvSpPr>
            <a:spLocks noChangeArrowheads="1"/>
          </p:cNvSpPr>
          <p:nvPr/>
        </p:nvSpPr>
        <p:spPr bwMode="auto">
          <a:xfrm>
            <a:off x="368113" y="2612597"/>
            <a:ext cx="588028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You have a string password with the value "Secure123". Check if the password length is at least 8 characters. </a:t>
            </a:r>
          </a:p>
        </p:txBody>
      </p:sp>
      <p:sp>
        <p:nvSpPr>
          <p:cNvPr id="9" name="TextBox 8">
            <a:extLst>
              <a:ext uri="{FF2B5EF4-FFF2-40B4-BE49-F238E27FC236}">
                <a16:creationId xmlns:a16="http://schemas.microsoft.com/office/drawing/2014/main" id="{7B1B9480-A6E5-E191-43D6-988B4019AE97}"/>
              </a:ext>
            </a:extLst>
          </p:cNvPr>
          <p:cNvSpPr txBox="1"/>
          <p:nvPr/>
        </p:nvSpPr>
        <p:spPr>
          <a:xfrm>
            <a:off x="368113" y="3694039"/>
            <a:ext cx="5880284" cy="954300"/>
          </a:xfrm>
          <a:prstGeom prst="rect">
            <a:avLst/>
          </a:prstGeom>
          <a:noFill/>
        </p:spPr>
        <p:txBody>
          <a:bodyPr wrap="square">
            <a:spAutoFit/>
          </a:bodyPr>
          <a:lstStyle/>
          <a:p>
            <a:pPr>
              <a:spcAft>
                <a:spcPts val="800"/>
              </a:spcAft>
            </a:pPr>
            <a:r>
              <a:rPr lang="en-US" sz="1800" dirty="0">
                <a:latin typeface="Arial" panose="020B0604020202020204" pitchFamily="34" charset="0"/>
                <a:cs typeface="Arial" panose="020B0604020202020204" pitchFamily="34" charset="0"/>
              </a:rPr>
              <a:t>3) A student named "Alice" scored 85 in Math and 90 in Science. Create a string that says "Alice scored 85 in Math and 90 in Science."</a:t>
            </a:r>
            <a:endParaRPr lang="en-IN" sz="18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EC6B046-0C43-C3FE-F099-AF647379C6BB}"/>
              </a:ext>
            </a:extLst>
          </p:cNvPr>
          <p:cNvSpPr txBox="1"/>
          <p:nvPr/>
        </p:nvSpPr>
        <p:spPr>
          <a:xfrm>
            <a:off x="368113" y="4724935"/>
            <a:ext cx="5880285" cy="954300"/>
          </a:xfrm>
          <a:prstGeom prst="rect">
            <a:avLst/>
          </a:prstGeom>
          <a:noFill/>
        </p:spPr>
        <p:txBody>
          <a:bodyPr wrap="square">
            <a:spAutoFit/>
          </a:bodyPr>
          <a:lstStyle/>
          <a:p>
            <a:pPr>
              <a:spcAft>
                <a:spcPts val="800"/>
              </a:spcAft>
            </a:pPr>
            <a:r>
              <a:rPr lang="en-US" sz="1800" dirty="0">
                <a:latin typeface="Arial" panose="020B0604020202020204" pitchFamily="34" charset="0"/>
                <a:cs typeface="Arial" panose="020B0604020202020204" pitchFamily="34" charset="0"/>
              </a:rPr>
              <a:t>4) The price of a notebook is Rs. 45. A student buys 8 notebooks and gives a Rs. 500 note to the cashier. How much change will the student get back?</a:t>
            </a:r>
            <a:endParaRPr lang="en-IN" sz="1800" dirty="0">
              <a:latin typeface="Arial" panose="020B0604020202020204" pitchFamily="34" charset="0"/>
              <a:cs typeface="Arial" panose="020B0604020202020204" pitchFamily="34" charset="0"/>
            </a:endParaRPr>
          </a:p>
        </p:txBody>
      </p:sp>
      <p:pic>
        <p:nvPicPr>
          <p:cNvPr id="3" name="Picture 6" descr="How to get adolescents to feel more energetic and awake in the classroom?">
            <a:extLst>
              <a:ext uri="{FF2B5EF4-FFF2-40B4-BE49-F238E27FC236}">
                <a16:creationId xmlns:a16="http://schemas.microsoft.com/office/drawing/2014/main" id="{17D9E865-FA94-1850-3C9B-9B648DC1DD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515100" y="1690086"/>
            <a:ext cx="5280212"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817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6C2A9-5A39-D30F-E187-D814E1F8A8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3799CB-4DD4-5502-7827-4EC496552A69}"/>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75878CD8-24AE-E32F-05C7-FE8E508AF1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2816B2EC-1B4F-66D4-A578-4161F446DCD8}"/>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785A1B89-CDBB-9677-58B5-9A323922895B}"/>
              </a:ext>
            </a:extLst>
          </p:cNvPr>
          <p:cNvSpPr txBox="1">
            <a:spLocks/>
          </p:cNvSpPr>
          <p:nvPr/>
        </p:nvSpPr>
        <p:spPr>
          <a:xfrm>
            <a:off x="381000" y="4191000"/>
            <a:ext cx="6657976"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4: </a:t>
            </a:r>
            <a:r>
              <a:rPr lang="en-US" sz="1800" dirty="0">
                <a:latin typeface="Arial" panose="020B0604020202020204" pitchFamily="34" charset="0"/>
                <a:cs typeface="Arial" panose="020B0604020202020204" pitchFamily="34" charset="0"/>
              </a:rPr>
              <a:t>Exploring Data Types in Python</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BE44B6C-B1A0-2BBF-918D-C7A216E38FAF}"/>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8B79C4C3-64AD-47B4-8D82-282BB0F8F4C1}"/>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86467F72-A6CB-0251-2626-638362353D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BCE11483-9990-3C1C-D3AC-EFB8E739DE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478983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9FA7CD-34DA-B43B-18AA-A6E24F0B6672}"/>
              </a:ext>
            </a:extLst>
          </p:cNvPr>
          <p:cNvPicPr>
            <a:picLocks noChangeAspect="1"/>
          </p:cNvPicPr>
          <p:nvPr/>
        </p:nvPicPr>
        <p:blipFill rotWithShape="1">
          <a:blip r:embed="rId3"/>
          <a:srcRect l="9757" t="3826" r="10617" b="13924"/>
          <a:stretch>
            <a:fillRect/>
          </a:stretch>
        </p:blipFill>
        <p:spPr>
          <a:xfrm>
            <a:off x="5867400" y="1862137"/>
            <a:ext cx="6067426" cy="3133725"/>
          </a:xfrm>
          <a:prstGeom prst="rect">
            <a:avLst/>
          </a:prstGeom>
        </p:spPr>
      </p:pic>
      <p:sp>
        <p:nvSpPr>
          <p:cNvPr id="9" name="TextBox 8">
            <a:extLst>
              <a:ext uri="{FF2B5EF4-FFF2-40B4-BE49-F238E27FC236}">
                <a16:creationId xmlns:a16="http://schemas.microsoft.com/office/drawing/2014/main" id="{3B9B0650-6064-502E-4FC7-A8EFEB02DA0B}"/>
              </a:ext>
            </a:extLst>
          </p:cNvPr>
          <p:cNvSpPr txBox="1"/>
          <p:nvPr/>
        </p:nvSpPr>
        <p:spPr>
          <a:xfrm>
            <a:off x="367554" y="838200"/>
            <a:ext cx="6109446" cy="400110"/>
          </a:xfrm>
          <a:prstGeom prst="rect">
            <a:avLst/>
          </a:prstGeom>
          <a:noFill/>
        </p:spPr>
        <p:txBody>
          <a:bodyPr wrap="square">
            <a:spAutoFit/>
          </a:bodyPr>
          <a:lstStyle/>
          <a:p>
            <a:r>
              <a:rPr lang="en-IN" sz="2000" b="1" dirty="0">
                <a:solidFill>
                  <a:srgbClr val="002060"/>
                </a:solidFill>
                <a:latin typeface="Arial" panose="020B0604020202020204" pitchFamily="34" charset="0"/>
                <a:cs typeface="Arial" panose="020B0604020202020204" pitchFamily="34" charset="0"/>
              </a:rPr>
              <a:t>Python Operators</a:t>
            </a:r>
          </a:p>
        </p:txBody>
      </p:sp>
      <p:sp>
        <p:nvSpPr>
          <p:cNvPr id="17" name="TextBox 16">
            <a:extLst>
              <a:ext uri="{FF2B5EF4-FFF2-40B4-BE49-F238E27FC236}">
                <a16:creationId xmlns:a16="http://schemas.microsoft.com/office/drawing/2014/main" id="{713C32B7-0274-3511-FA2C-A0510109453D}"/>
              </a:ext>
            </a:extLst>
          </p:cNvPr>
          <p:cNvSpPr txBox="1"/>
          <p:nvPr/>
        </p:nvSpPr>
        <p:spPr>
          <a:xfrm>
            <a:off x="381000" y="1326296"/>
            <a:ext cx="9343465"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Operators in general are used to perform operations on values and variables.</a:t>
            </a:r>
            <a:endParaRPr lang="en-IN" sz="1800" dirty="0">
              <a:latin typeface="Arial" panose="020B0604020202020204" pitchFamily="34" charset="0"/>
              <a:cs typeface="Arial" panose="020B0604020202020204" pitchFamily="34" charset="0"/>
            </a:endParaRPr>
          </a:p>
        </p:txBody>
      </p:sp>
      <p:pic>
        <p:nvPicPr>
          <p:cNvPr id="2052" name="Picture 4" descr="Operands, Operators and Expression Example">
            <a:extLst>
              <a:ext uri="{FF2B5EF4-FFF2-40B4-BE49-F238E27FC236}">
                <a16:creationId xmlns:a16="http://schemas.microsoft.com/office/drawing/2014/main" id="{213EBA63-624E-1197-96DA-155F2999E9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913" y="2503713"/>
            <a:ext cx="4641599" cy="227842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30DED1FA-AE34-35EB-84D7-B2897AFCF741}"/>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9EF572D9-8D36-38AC-F83B-E751D73772DE}"/>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https://www.geeksforgeeks.org/python-operators/</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AB3A7209-933F-84FD-E25C-EF8DE0F06DC4}"/>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69C5A195-D74B-2833-13DC-73125317DC77}"/>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1150781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2025A-BEF9-38C7-4D19-20C5D7B83F05}"/>
              </a:ext>
            </a:extLst>
          </p:cNvPr>
          <p:cNvSpPr txBox="1">
            <a:spLocks/>
          </p:cNvSpPr>
          <p:nvPr/>
        </p:nvSpPr>
        <p:spPr>
          <a:xfrm>
            <a:off x="363290" y="838200"/>
            <a:ext cx="8910432"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 by using Appropriate Operator</a:t>
            </a:r>
          </a:p>
        </p:txBody>
      </p:sp>
      <p:sp>
        <p:nvSpPr>
          <p:cNvPr id="5" name="TextBox 4">
            <a:extLst>
              <a:ext uri="{FF2B5EF4-FFF2-40B4-BE49-F238E27FC236}">
                <a16:creationId xmlns:a16="http://schemas.microsoft.com/office/drawing/2014/main" id="{48C75DD2-27EF-C937-451C-0E1D929BE6B0}"/>
              </a:ext>
            </a:extLst>
          </p:cNvPr>
          <p:cNvSpPr txBox="1"/>
          <p:nvPr/>
        </p:nvSpPr>
        <p:spPr>
          <a:xfrm>
            <a:off x="363290" y="1332458"/>
            <a:ext cx="5761284" cy="1200329"/>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1) A company's profit for the first quarter was Rs. 50,000, for the second quarter was Rs. 75,000, for the third quarter was Rs. 60,000, and for the fourth quarter was Rs. 65,000. What was the total profit for the year?</a:t>
            </a:r>
            <a:endParaRPr lang="en-IN" sz="1800" dirty="0">
              <a:latin typeface="Arial" panose="020B0604020202020204" pitchFamily="34" charset="0"/>
              <a:cs typeface="Arial" panose="020B0604020202020204" pitchFamily="34" charset="0"/>
            </a:endParaRPr>
          </a:p>
        </p:txBody>
      </p:sp>
      <p:sp>
        <p:nvSpPr>
          <p:cNvPr id="7" name="Rectangle 2">
            <a:extLst>
              <a:ext uri="{FF2B5EF4-FFF2-40B4-BE49-F238E27FC236}">
                <a16:creationId xmlns:a16="http://schemas.microsoft.com/office/drawing/2014/main" id="{578BABE4-968D-4765-E432-0C66C072E3F6}"/>
              </a:ext>
            </a:extLst>
          </p:cNvPr>
          <p:cNvSpPr>
            <a:spLocks noChangeArrowheads="1"/>
          </p:cNvSpPr>
          <p:nvPr/>
        </p:nvSpPr>
        <p:spPr bwMode="auto">
          <a:xfrm>
            <a:off x="363290" y="2693163"/>
            <a:ext cx="571499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You have a string password with the value "Secure123". Check if the password length is at least 8 characters. </a:t>
            </a:r>
          </a:p>
        </p:txBody>
      </p:sp>
      <p:sp>
        <p:nvSpPr>
          <p:cNvPr id="9" name="TextBox 8">
            <a:extLst>
              <a:ext uri="{FF2B5EF4-FFF2-40B4-BE49-F238E27FC236}">
                <a16:creationId xmlns:a16="http://schemas.microsoft.com/office/drawing/2014/main" id="{7B1B9480-A6E5-E191-43D6-988B4019AE97}"/>
              </a:ext>
            </a:extLst>
          </p:cNvPr>
          <p:cNvSpPr txBox="1"/>
          <p:nvPr/>
        </p:nvSpPr>
        <p:spPr>
          <a:xfrm>
            <a:off x="363290" y="3715730"/>
            <a:ext cx="5714998" cy="923330"/>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3) A student named "Alice" scored 85 in Math and 90 in Science. Create a string that says "Alice scored 85 in Math and 90 in Science."</a:t>
            </a:r>
            <a:endParaRPr lang="en-IN" sz="18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EC6B046-0C43-C3FE-F099-AF647379C6BB}"/>
              </a:ext>
            </a:extLst>
          </p:cNvPr>
          <p:cNvSpPr txBox="1"/>
          <p:nvPr/>
        </p:nvSpPr>
        <p:spPr>
          <a:xfrm>
            <a:off x="363290" y="4812193"/>
            <a:ext cx="5872372" cy="954300"/>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4) The price of a notebook is Rs. 45. A student buys 8 notebooks and gives a Rs. 500 note to the cashier. How much change will the student get back?</a:t>
            </a:r>
            <a:endParaRPr lang="en-IN" sz="1800" dirty="0">
              <a:latin typeface="Arial" panose="020B0604020202020204" pitchFamily="34" charset="0"/>
              <a:cs typeface="Arial" panose="020B0604020202020204" pitchFamily="34" charset="0"/>
            </a:endParaRPr>
          </a:p>
        </p:txBody>
      </p:sp>
      <p:pic>
        <p:nvPicPr>
          <p:cNvPr id="3" name="Picture 6" descr="How to get adolescents to feel more energetic and awake in the classroom?">
            <a:extLst>
              <a:ext uri="{FF2B5EF4-FFF2-40B4-BE49-F238E27FC236}">
                <a16:creationId xmlns:a16="http://schemas.microsoft.com/office/drawing/2014/main" id="{ADF83C26-0035-FEE8-343C-1E1B657F91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267449" y="1600200"/>
            <a:ext cx="5727887" cy="2877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751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84238-DA90-D744-1888-0E2504FEFA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E89F36-951F-B76B-7965-02679DE5A935}"/>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751EB8C4-B526-8632-AD7F-A7891C428D3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FEAB4626-A404-A00C-C3FF-B7F536FACB68}"/>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884A8A40-D642-EE53-D3CF-7E87189569AE}"/>
              </a:ext>
            </a:extLst>
          </p:cNvPr>
          <p:cNvSpPr txBox="1">
            <a:spLocks/>
          </p:cNvSpPr>
          <p:nvPr/>
        </p:nvSpPr>
        <p:spPr>
          <a:xfrm>
            <a:off x="381000" y="4191000"/>
            <a:ext cx="6172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dirty="0">
                <a:latin typeface="Arial" panose="020B0604020202020204" pitchFamily="34" charset="0"/>
                <a:cs typeface="Arial" panose="020B0604020202020204" pitchFamily="34" charset="0"/>
              </a:rPr>
              <a:t>Lab 5: Exploring Python Operators: A Hands-On Lab</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E0B5763F-857F-4BA4-6AE7-FC5FFC7AB005}"/>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FFF840A1-C9FE-6F8A-B299-9765086A2FAB}"/>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9F1992A5-27EC-2271-56DC-091345C2E1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DDBA478D-83B1-DACE-EB1E-704D600258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947692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E172-4BEA-D954-5F06-BB0E77304D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D7FC06-7B57-31D9-5057-16290AE92A49}"/>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Self Practice-1</a:t>
            </a:r>
          </a:p>
        </p:txBody>
      </p:sp>
      <p:sp>
        <p:nvSpPr>
          <p:cNvPr id="10" name="Rectangle 1">
            <a:extLst>
              <a:ext uri="{FF2B5EF4-FFF2-40B4-BE49-F238E27FC236}">
                <a16:creationId xmlns:a16="http://schemas.microsoft.com/office/drawing/2014/main" id="{56D21B7A-F4A6-45FD-4029-85BA8654E8B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417B2CCF-6421-F721-65B6-235DC8A303A4}"/>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9BAD16BE-7032-D6E7-63B1-4D66C2C31993}"/>
              </a:ext>
            </a:extLst>
          </p:cNvPr>
          <p:cNvSpPr txBox="1">
            <a:spLocks/>
          </p:cNvSpPr>
          <p:nvPr/>
        </p:nvSpPr>
        <p:spPr>
          <a:xfrm>
            <a:off x="381000" y="4191000"/>
            <a:ext cx="8001000" cy="646331"/>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Self Practice 1: </a:t>
            </a:r>
            <a:r>
              <a:rPr lang="en-US" sz="1800" dirty="0">
                <a:latin typeface="Arial" panose="020B0604020202020204" pitchFamily="34" charset="0"/>
                <a:cs typeface="Arial" panose="020B0604020202020204" pitchFamily="34" charset="0"/>
              </a:rPr>
              <a:t>Write a Python program to demonstrate variables, data types, and operators</a:t>
            </a:r>
          </a:p>
        </p:txBody>
      </p:sp>
      <p:grpSp>
        <p:nvGrpSpPr>
          <p:cNvPr id="2" name="Group 1">
            <a:extLst>
              <a:ext uri="{FF2B5EF4-FFF2-40B4-BE49-F238E27FC236}">
                <a16:creationId xmlns:a16="http://schemas.microsoft.com/office/drawing/2014/main" id="{3CA176DA-2013-F275-19CA-009B33F09978}"/>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9528FAED-C4FA-474D-CEDF-0A1A1B672EA0}"/>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156C5729-FE5B-4CCC-D4E4-80EBB2245F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F6583EC1-8E2C-FCE2-0787-DF70A1912E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3567158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1C29-806A-545D-72A7-6418CBCEEA6E}"/>
              </a:ext>
            </a:extLst>
          </p:cNvPr>
          <p:cNvSpPr txBox="1">
            <a:spLocks/>
          </p:cNvSpPr>
          <p:nvPr/>
        </p:nvSpPr>
        <p:spPr>
          <a:xfrm>
            <a:off x="381000" y="838200"/>
            <a:ext cx="3159633" cy="34435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sz="2000" b="1" dirty="0">
                <a:solidFill>
                  <a:srgbClr val="213163"/>
                </a:solidFill>
                <a:latin typeface="Arial" panose="020B0604020202020204" pitchFamily="34" charset="0"/>
                <a:cs typeface="Arial" panose="020B0604020202020204" pitchFamily="34" charset="0"/>
              </a:rPr>
              <a:t>Input() in Python</a:t>
            </a:r>
            <a:endParaRPr 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E10432D-A52C-B182-FE00-D2AE1643BFDE}"/>
              </a:ext>
            </a:extLst>
          </p:cNvPr>
          <p:cNvSpPr txBox="1"/>
          <p:nvPr/>
        </p:nvSpPr>
        <p:spPr>
          <a:xfrm>
            <a:off x="381000" y="1343481"/>
            <a:ext cx="5884261" cy="18569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spcAft>
                <a:spcPts val="800"/>
              </a:spcAft>
              <a:buChar char="•"/>
            </a:pPr>
            <a:r>
              <a:rPr lang="en-US" sz="1800" dirty="0">
                <a:solidFill>
                  <a:srgbClr val="222222"/>
                </a:solidFill>
                <a:latin typeface="Arial" panose="020B0604020202020204" pitchFamily="34" charset="0"/>
                <a:cs typeface="Arial" panose="020B0604020202020204" pitchFamily="34" charset="0"/>
              </a:rPr>
              <a:t>In Python, Using the </a:t>
            </a:r>
            <a:r>
              <a:rPr lang="en-US" sz="1800" dirty="0">
                <a:latin typeface="Arial" panose="020B0604020202020204" pitchFamily="34" charset="0"/>
                <a:cs typeface="Arial" panose="020B0604020202020204" pitchFamily="34" charset="0"/>
              </a:rPr>
              <a:t>input()</a:t>
            </a:r>
            <a:r>
              <a:rPr lang="en-US" sz="1800" dirty="0">
                <a:solidFill>
                  <a:srgbClr val="222222"/>
                </a:solidFill>
                <a:latin typeface="Arial" panose="020B0604020202020204" pitchFamily="34" charset="0"/>
                <a:cs typeface="Arial" panose="020B0604020202020204" pitchFamily="34" charset="0"/>
              </a:rPr>
              <a:t> function, we take input from a user, and using the </a:t>
            </a:r>
            <a:r>
              <a:rPr lang="en-US" sz="1800" dirty="0">
                <a:latin typeface="Arial" panose="020B0604020202020204" pitchFamily="34" charset="0"/>
                <a:cs typeface="Arial" panose="020B0604020202020204" pitchFamily="34" charset="0"/>
              </a:rPr>
              <a:t>print()</a:t>
            </a:r>
            <a:r>
              <a:rPr lang="en-US" sz="1800" dirty="0">
                <a:solidFill>
                  <a:srgbClr val="222222"/>
                </a:solidFill>
                <a:latin typeface="Arial" panose="020B0604020202020204" pitchFamily="34" charset="0"/>
                <a:cs typeface="Arial" panose="020B0604020202020204" pitchFamily="34" charset="0"/>
              </a:rPr>
              <a:t> function, we display output on the screen. </a:t>
            </a:r>
            <a:endParaRPr lang="en-US" sz="1800" dirty="0">
              <a:latin typeface="Arial" panose="020B0604020202020204" pitchFamily="34" charset="0"/>
              <a:cs typeface="Arial" panose="020B0604020202020204" pitchFamily="34" charset="0"/>
            </a:endParaRPr>
          </a:p>
          <a:p>
            <a:pPr marL="228600" indent="-228600">
              <a:spcAft>
                <a:spcPts val="800"/>
              </a:spcAft>
              <a:buChar char="•"/>
            </a:pPr>
            <a:r>
              <a:rPr lang="en-US" sz="1800" dirty="0">
                <a:solidFill>
                  <a:srgbClr val="222222"/>
                </a:solidFill>
                <a:latin typeface="Arial" panose="020B0604020202020204" pitchFamily="34" charset="0"/>
                <a:cs typeface="Arial" panose="020B0604020202020204" pitchFamily="34" charset="0"/>
              </a:rPr>
              <a:t>Using the </a:t>
            </a:r>
            <a:r>
              <a:rPr lang="en-US" sz="1800" dirty="0">
                <a:latin typeface="Arial" panose="020B0604020202020204" pitchFamily="34" charset="0"/>
                <a:cs typeface="Arial" panose="020B0604020202020204" pitchFamily="34" charset="0"/>
              </a:rPr>
              <a:t>input()</a:t>
            </a:r>
            <a:r>
              <a:rPr lang="en-US" sz="1800" dirty="0">
                <a:solidFill>
                  <a:srgbClr val="222222"/>
                </a:solidFill>
                <a:latin typeface="Arial" panose="020B0604020202020204" pitchFamily="34" charset="0"/>
                <a:cs typeface="Arial" panose="020B0604020202020204" pitchFamily="34" charset="0"/>
              </a:rPr>
              <a:t> function, users can give any information to the application in the strings or numbers format.</a:t>
            </a:r>
            <a:endParaRPr lang="en-US" sz="1800" dirty="0">
              <a:latin typeface="Arial" panose="020B0604020202020204" pitchFamily="34" charset="0"/>
              <a:cs typeface="Arial" panose="020B0604020202020204" pitchFamily="34" charset="0"/>
            </a:endParaRPr>
          </a:p>
        </p:txBody>
      </p:sp>
      <p:pic>
        <p:nvPicPr>
          <p:cNvPr id="4" name="Picture 3" descr="A screenshot of a computer code&#10;&#10;Description automatically generated">
            <a:extLst>
              <a:ext uri="{FF2B5EF4-FFF2-40B4-BE49-F238E27FC236}">
                <a16:creationId xmlns:a16="http://schemas.microsoft.com/office/drawing/2014/main" id="{8D55235D-35B2-731B-D692-A9466EAD0BF6}"/>
              </a:ext>
            </a:extLst>
          </p:cNvPr>
          <p:cNvPicPr>
            <a:picLocks noChangeAspect="1"/>
          </p:cNvPicPr>
          <p:nvPr/>
        </p:nvPicPr>
        <p:blipFill>
          <a:blip r:embed="rId3"/>
          <a:stretch>
            <a:fillRect/>
          </a:stretch>
        </p:blipFill>
        <p:spPr>
          <a:xfrm>
            <a:off x="6248400" y="1600200"/>
            <a:ext cx="5781425" cy="3828415"/>
          </a:xfrm>
          <a:prstGeom prst="rect">
            <a:avLst/>
          </a:prstGeom>
        </p:spPr>
      </p:pic>
      <p:grpSp>
        <p:nvGrpSpPr>
          <p:cNvPr id="9" name="Group 8">
            <a:extLst>
              <a:ext uri="{FF2B5EF4-FFF2-40B4-BE49-F238E27FC236}">
                <a16:creationId xmlns:a16="http://schemas.microsoft.com/office/drawing/2014/main" id="{35E008B4-2FD7-7D85-338C-10EEE2497F9C}"/>
              </a:ext>
            </a:extLst>
          </p:cNvPr>
          <p:cNvGrpSpPr/>
          <p:nvPr/>
        </p:nvGrpSpPr>
        <p:grpSpPr>
          <a:xfrm>
            <a:off x="0" y="6296065"/>
            <a:ext cx="12192000" cy="381734"/>
            <a:chOff x="0" y="6296065"/>
            <a:chExt cx="12192000" cy="381734"/>
          </a:xfrm>
        </p:grpSpPr>
        <p:sp>
          <p:nvSpPr>
            <p:cNvPr id="5" name="TextBox 4">
              <a:extLst>
                <a:ext uri="{FF2B5EF4-FFF2-40B4-BE49-F238E27FC236}">
                  <a16:creationId xmlns:a16="http://schemas.microsoft.com/office/drawing/2014/main" id="{55F0E985-83A9-6229-362C-5B18D53E332D}"/>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https://pynative.com/python-input-function-get-user-input/</a:t>
              </a:r>
              <a:endParaRPr lang="en-IN" sz="1200" dirty="0">
                <a:solidFill>
                  <a:srgbClr val="0000FF"/>
                </a:solidFill>
                <a:latin typeface="+mj-lt"/>
              </a:endParaRPr>
            </a:p>
          </p:txBody>
        </p:sp>
        <p:cxnSp>
          <p:nvCxnSpPr>
            <p:cNvPr id="8" name="Straight Connector 7">
              <a:extLst>
                <a:ext uri="{FF2B5EF4-FFF2-40B4-BE49-F238E27FC236}">
                  <a16:creationId xmlns:a16="http://schemas.microsoft.com/office/drawing/2014/main" id="{F11B4DF3-2B85-1346-4369-361B43FF30E3}"/>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A3278887-3299-F759-DE4A-FA21F5DF1A0C}"/>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1749160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43AF6-0E5E-07FF-786F-5169701E29FC}"/>
              </a:ext>
            </a:extLst>
          </p:cNvPr>
          <p:cNvSpPr txBox="1">
            <a:spLocks/>
          </p:cNvSpPr>
          <p:nvPr/>
        </p:nvSpPr>
        <p:spPr>
          <a:xfrm>
            <a:off x="381000" y="838200"/>
            <a:ext cx="8884124"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Identify Variables and use Input() to read Value in it.</a:t>
            </a:r>
          </a:p>
        </p:txBody>
      </p:sp>
      <p:sp>
        <p:nvSpPr>
          <p:cNvPr id="4" name="TextBox 3">
            <a:extLst>
              <a:ext uri="{FF2B5EF4-FFF2-40B4-BE49-F238E27FC236}">
                <a16:creationId xmlns:a16="http://schemas.microsoft.com/office/drawing/2014/main" id="{112B3E3C-B2B3-6508-E3E9-E8A24777528D}"/>
              </a:ext>
            </a:extLst>
          </p:cNvPr>
          <p:cNvSpPr txBox="1"/>
          <p:nvPr/>
        </p:nvSpPr>
        <p:spPr>
          <a:xfrm>
            <a:off x="381000" y="1331871"/>
            <a:ext cx="11201400" cy="646331"/>
          </a:xfrm>
          <a:prstGeom prst="rect">
            <a:avLst/>
          </a:prstGeom>
          <a:noFill/>
        </p:spPr>
        <p:txBody>
          <a:bodyPr wrap="square">
            <a:spAutoFit/>
          </a:bodyPr>
          <a:lstStyle/>
          <a:p>
            <a:pPr marL="246888" indent="-246888">
              <a:spcAft>
                <a:spcPts val="800"/>
              </a:spcAft>
            </a:pPr>
            <a:r>
              <a:rPr lang="en-US" sz="1800" dirty="0">
                <a:latin typeface="Arial" panose="020B0604020202020204" pitchFamily="34" charset="0"/>
                <a:cs typeface="Arial" panose="020B0604020202020204" pitchFamily="34" charset="0"/>
              </a:rPr>
              <a:t>1) Create a program that takes the user's height and weight as input and calculates their Body Mass Index (BMI). Print the result in the format "Your BMI is [BMI]".</a:t>
            </a:r>
            <a:endParaRPr lang="en-IN"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65F870D-D6FA-4CBA-2BAD-05224BDC56C3}"/>
              </a:ext>
            </a:extLst>
          </p:cNvPr>
          <p:cNvSpPr txBox="1"/>
          <p:nvPr/>
        </p:nvSpPr>
        <p:spPr>
          <a:xfrm>
            <a:off x="381000" y="2057400"/>
            <a:ext cx="11201400" cy="646331"/>
          </a:xfrm>
          <a:prstGeom prst="rect">
            <a:avLst/>
          </a:prstGeom>
          <a:noFill/>
        </p:spPr>
        <p:txBody>
          <a:bodyPr wrap="square">
            <a:spAutoFit/>
          </a:bodyPr>
          <a:lstStyle/>
          <a:p>
            <a:pPr marL="246888" indent="-246888">
              <a:spcAft>
                <a:spcPts val="800"/>
              </a:spcAft>
            </a:pPr>
            <a:r>
              <a:rPr lang="en-US" sz="1800" dirty="0">
                <a:latin typeface="Arial" panose="020B0604020202020204" pitchFamily="34" charset="0"/>
                <a:cs typeface="Arial" panose="020B0604020202020204" pitchFamily="34" charset="0"/>
              </a:rPr>
              <a:t>2) Write a program that takes two numbers as input from the user and prints their sum in the format "The sum of [number1] and [number2] is [sum]."</a:t>
            </a:r>
            <a:endParaRPr lang="en-IN" sz="1800" dirty="0">
              <a:latin typeface="Arial" panose="020B0604020202020204" pitchFamily="34" charset="0"/>
              <a:cs typeface="Arial" panose="020B0604020202020204" pitchFamily="34" charset="0"/>
            </a:endParaRPr>
          </a:p>
        </p:txBody>
      </p:sp>
      <p:pic>
        <p:nvPicPr>
          <p:cNvPr id="7" name="Picture 6" descr="How to get adolescents to feel more energetic and awake in the classroom?">
            <a:extLst>
              <a:ext uri="{FF2B5EF4-FFF2-40B4-BE49-F238E27FC236}">
                <a16:creationId xmlns:a16="http://schemas.microsoft.com/office/drawing/2014/main" id="{9BEF9ABF-AFDA-F7B6-FFE3-0A55FD13CD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200400" y="3886200"/>
            <a:ext cx="5559932" cy="2792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0644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733AC5-32E0-739A-6AED-98A5066054F9}"/>
              </a:ext>
            </a:extLst>
          </p:cNvPr>
          <p:cNvSpPr txBox="1"/>
          <p:nvPr/>
        </p:nvSpPr>
        <p:spPr>
          <a:xfrm>
            <a:off x="381000" y="838200"/>
            <a:ext cx="3607440" cy="400110"/>
          </a:xfrm>
          <a:prstGeom prst="rect">
            <a:avLst/>
          </a:prstGeom>
          <a:noFill/>
        </p:spPr>
        <p:txBody>
          <a:bodyPr wrap="square" lIns="91440" tIns="45720" rIns="91440" bIns="45720" anchor="t">
            <a:spAutoFit/>
          </a:bodyPr>
          <a:lstStyle/>
          <a:p>
            <a:pPr>
              <a:buSzPts val="2800"/>
            </a:pPr>
            <a:r>
              <a:rPr lang="en-US" altLang="en-US" sz="2000" b="1" dirty="0">
                <a:solidFill>
                  <a:srgbClr val="213163"/>
                </a:solidFill>
                <a:latin typeface="Arial" panose="020B0604020202020204" pitchFamily="34" charset="0"/>
                <a:cs typeface="Arial" panose="020B0604020202020204" pitchFamily="34" charset="0"/>
              </a:rPr>
              <a:t>Strings in Python</a:t>
            </a:r>
            <a:endParaRPr lang="en-US" sz="2000" b="1" dirty="0">
              <a:solidFill>
                <a:srgbClr val="213163"/>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27170D4-B2B0-48DD-9381-3086351F1C95}"/>
              </a:ext>
            </a:extLst>
          </p:cNvPr>
          <p:cNvPicPr>
            <a:picLocks noChangeAspect="1"/>
          </p:cNvPicPr>
          <p:nvPr/>
        </p:nvPicPr>
        <p:blipFill>
          <a:blip r:embed="rId3"/>
          <a:stretch>
            <a:fillRect/>
          </a:stretch>
        </p:blipFill>
        <p:spPr>
          <a:xfrm>
            <a:off x="6934200" y="1371600"/>
            <a:ext cx="4382559" cy="4620191"/>
          </a:xfrm>
          <a:prstGeom prst="rect">
            <a:avLst/>
          </a:prstGeom>
        </p:spPr>
      </p:pic>
      <p:sp>
        <p:nvSpPr>
          <p:cNvPr id="4" name="TextBox 3">
            <a:extLst>
              <a:ext uri="{FF2B5EF4-FFF2-40B4-BE49-F238E27FC236}">
                <a16:creationId xmlns:a16="http://schemas.microsoft.com/office/drawing/2014/main" id="{4247AE4D-C122-5E54-EB7F-B0E515C28C6D}"/>
              </a:ext>
            </a:extLst>
          </p:cNvPr>
          <p:cNvSpPr txBox="1"/>
          <p:nvPr/>
        </p:nvSpPr>
        <p:spPr>
          <a:xfrm>
            <a:off x="381001" y="1318421"/>
            <a:ext cx="5714999" cy="10259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spcAft>
                <a:spcPts val="800"/>
              </a:spcAft>
              <a:buChar char="•"/>
            </a:pPr>
            <a:r>
              <a:rPr lang="en-US" sz="1800" dirty="0">
                <a:latin typeface="Arial" panose="020B0604020202020204" pitchFamily="34" charset="0"/>
                <a:ea typeface="Verdana"/>
                <a:cs typeface="Arial" panose="020B0604020202020204" pitchFamily="34" charset="0"/>
              </a:rPr>
              <a:t>The basic definition of python strings is we can say that it is a sequence of characters in python. </a:t>
            </a:r>
          </a:p>
          <a:p>
            <a:pPr marL="228600" indent="-228600">
              <a:spcAft>
                <a:spcPts val="800"/>
              </a:spcAft>
              <a:buChar char="•"/>
            </a:pPr>
            <a:r>
              <a:rPr lang="en-US" sz="1800" dirty="0">
                <a:latin typeface="Arial" panose="020B0604020202020204" pitchFamily="34" charset="0"/>
                <a:ea typeface="Verdana"/>
                <a:cs typeface="Arial" panose="020B0604020202020204" pitchFamily="34" charset="0"/>
              </a:rPr>
              <a:t>The Data Type of the text is str( String ).</a:t>
            </a:r>
            <a:endParaRPr lang="en-US" sz="1800"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22D8A503-EC7A-F486-3C0F-4D2ADFFD20B3}"/>
              </a:ext>
            </a:extLst>
          </p:cNvPr>
          <p:cNvGrpSpPr/>
          <p:nvPr/>
        </p:nvGrpSpPr>
        <p:grpSpPr>
          <a:xfrm>
            <a:off x="0" y="6296065"/>
            <a:ext cx="12192000" cy="381734"/>
            <a:chOff x="0" y="6296065"/>
            <a:chExt cx="12192000" cy="381734"/>
          </a:xfrm>
        </p:grpSpPr>
        <p:sp>
          <p:nvSpPr>
            <p:cNvPr id="5" name="TextBox 4">
              <a:extLst>
                <a:ext uri="{FF2B5EF4-FFF2-40B4-BE49-F238E27FC236}">
                  <a16:creationId xmlns:a16="http://schemas.microsoft.com/office/drawing/2014/main" id="{38555074-903D-D115-C02C-41C6B028CB3C}"/>
                </a:ext>
              </a:extLst>
            </p:cNvPr>
            <p:cNvSpPr txBox="1"/>
            <p:nvPr/>
          </p:nvSpPr>
          <p:spPr>
            <a:xfrm>
              <a:off x="1066801" y="6400800"/>
              <a:ext cx="5029200"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https://www.scientecheasy.com/2023/01/string-slicing-in-python.html/</a:t>
              </a:r>
              <a:endParaRPr lang="en-IN" sz="1200" dirty="0">
                <a:solidFill>
                  <a:srgbClr val="0000FF"/>
                </a:solidFill>
                <a:latin typeface="+mj-lt"/>
              </a:endParaRPr>
            </a:p>
          </p:txBody>
        </p:sp>
        <p:cxnSp>
          <p:nvCxnSpPr>
            <p:cNvPr id="8" name="Straight Connector 7">
              <a:extLst>
                <a:ext uri="{FF2B5EF4-FFF2-40B4-BE49-F238E27FC236}">
                  <a16:creationId xmlns:a16="http://schemas.microsoft.com/office/drawing/2014/main" id="{17F27FB2-55CE-B2CD-4061-EF0992225407}"/>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7EF39AF9-C60F-118D-6118-2DB403A0FA8A}"/>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2139790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BEDC79-EE01-C6F0-EF94-E5A5E9F4BCF2}"/>
              </a:ext>
            </a:extLst>
          </p:cNvPr>
          <p:cNvSpPr txBox="1"/>
          <p:nvPr/>
        </p:nvSpPr>
        <p:spPr>
          <a:xfrm>
            <a:off x="381000" y="838200"/>
            <a:ext cx="6109446" cy="400110"/>
          </a:xfrm>
          <a:prstGeom prst="rect">
            <a:avLst/>
          </a:prstGeom>
          <a:noFill/>
        </p:spPr>
        <p:txBody>
          <a:bodyPr wrap="square">
            <a:spAutoFit/>
          </a:bodyPr>
          <a:lstStyle/>
          <a:p>
            <a:r>
              <a:rPr lang="en-IN" sz="2000" b="1" dirty="0">
                <a:solidFill>
                  <a:srgbClr val="002060"/>
                </a:solidFill>
                <a:latin typeface="Arial" panose="020B0604020202020204" pitchFamily="34" charset="0"/>
                <a:cs typeface="Arial" panose="020B0604020202020204" pitchFamily="34" charset="0"/>
              </a:rPr>
              <a:t>String Slicing in Python</a:t>
            </a:r>
          </a:p>
        </p:txBody>
      </p:sp>
      <p:sp>
        <p:nvSpPr>
          <p:cNvPr id="7" name="TextBox 6">
            <a:extLst>
              <a:ext uri="{FF2B5EF4-FFF2-40B4-BE49-F238E27FC236}">
                <a16:creationId xmlns:a16="http://schemas.microsoft.com/office/drawing/2014/main" id="{A02E4E3C-A792-299A-6AE0-CB09BA955067}"/>
              </a:ext>
            </a:extLst>
          </p:cNvPr>
          <p:cNvSpPr txBox="1"/>
          <p:nvPr/>
        </p:nvSpPr>
        <p:spPr>
          <a:xfrm>
            <a:off x="381000" y="1332866"/>
            <a:ext cx="11497234" cy="666977"/>
          </a:xfrm>
          <a:prstGeom prst="rect">
            <a:avLst/>
          </a:prstGeom>
          <a:noFill/>
        </p:spPr>
        <p:txBody>
          <a:bodyPr wrap="square">
            <a:spAutoFit/>
          </a:bodyPr>
          <a:lstStyle/>
          <a:p>
            <a:pPr indent="-246888">
              <a:spcAft>
                <a:spcPts val="800"/>
              </a:spcAft>
            </a:pPr>
            <a:r>
              <a:rPr lang="en-IN" sz="1800" dirty="0">
                <a:latin typeface="Arial" panose="020B0604020202020204" pitchFamily="34" charset="0"/>
                <a:cs typeface="Arial" panose="020B0604020202020204" pitchFamily="34" charset="0"/>
              </a:rPr>
              <a:t>Python supports string slicing. It is the creation of a new sub-string from a given string on the basis of the desired starting and ending indexes.</a:t>
            </a:r>
          </a:p>
        </p:txBody>
      </p:sp>
      <p:pic>
        <p:nvPicPr>
          <p:cNvPr id="9" name="Picture 8">
            <a:extLst>
              <a:ext uri="{FF2B5EF4-FFF2-40B4-BE49-F238E27FC236}">
                <a16:creationId xmlns:a16="http://schemas.microsoft.com/office/drawing/2014/main" id="{269D9044-8834-F234-CE5B-C628F7084409}"/>
              </a:ext>
            </a:extLst>
          </p:cNvPr>
          <p:cNvPicPr>
            <a:picLocks noChangeAspect="1"/>
          </p:cNvPicPr>
          <p:nvPr/>
        </p:nvPicPr>
        <p:blipFill>
          <a:blip r:embed="rId3"/>
          <a:stretch>
            <a:fillRect/>
          </a:stretch>
        </p:blipFill>
        <p:spPr>
          <a:xfrm>
            <a:off x="517093" y="2298126"/>
            <a:ext cx="5443007" cy="2206863"/>
          </a:xfrm>
          <a:prstGeom prst="rect">
            <a:avLst/>
          </a:prstGeom>
        </p:spPr>
      </p:pic>
      <p:pic>
        <p:nvPicPr>
          <p:cNvPr id="4098" name="Picture 2" descr="An example of string slicing in Python">
            <a:extLst>
              <a:ext uri="{FF2B5EF4-FFF2-40B4-BE49-F238E27FC236}">
                <a16:creationId xmlns:a16="http://schemas.microsoft.com/office/drawing/2014/main" id="{EB257E57-3598-A75A-E14E-1A685F67B43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76" t="21524" r="3180" b="21499"/>
          <a:stretch/>
        </p:blipFill>
        <p:spPr bwMode="auto">
          <a:xfrm>
            <a:off x="6231902" y="2724150"/>
            <a:ext cx="5646332" cy="1866900"/>
          </a:xfrm>
          <a:prstGeom prst="rect">
            <a:avLst/>
          </a:prstGeom>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FD7ACB0B-A9E6-D3BF-B927-950372D2B940}"/>
              </a:ext>
            </a:extLst>
          </p:cNvPr>
          <p:cNvGrpSpPr/>
          <p:nvPr/>
        </p:nvGrpSpPr>
        <p:grpSpPr>
          <a:xfrm>
            <a:off x="0" y="6296065"/>
            <a:ext cx="12192000" cy="381735"/>
            <a:chOff x="0" y="6296065"/>
            <a:chExt cx="12192000" cy="381735"/>
          </a:xfrm>
        </p:grpSpPr>
        <p:sp>
          <p:nvSpPr>
            <p:cNvPr id="2" name="TextBox 1">
              <a:extLst>
                <a:ext uri="{FF2B5EF4-FFF2-40B4-BE49-F238E27FC236}">
                  <a16:creationId xmlns:a16="http://schemas.microsoft.com/office/drawing/2014/main" id="{7C9E5F7A-E213-8FB1-31EC-38514AAE9269}"/>
                </a:ext>
              </a:extLst>
            </p:cNvPr>
            <p:cNvSpPr txBox="1"/>
            <p:nvPr/>
          </p:nvSpPr>
          <p:spPr>
            <a:xfrm>
              <a:off x="1066801" y="6400801"/>
              <a:ext cx="5029200"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https://www.askpython.com/python/string/slice-strings-in-python</a:t>
              </a:r>
              <a:endParaRPr lang="en-IN" sz="1200" dirty="0">
                <a:solidFill>
                  <a:srgbClr val="0000FF"/>
                </a:solidFill>
                <a:latin typeface="+mj-lt"/>
              </a:endParaRPr>
            </a:p>
          </p:txBody>
        </p:sp>
        <p:cxnSp>
          <p:nvCxnSpPr>
            <p:cNvPr id="4" name="Straight Connector 3">
              <a:extLst>
                <a:ext uri="{FF2B5EF4-FFF2-40B4-BE49-F238E27FC236}">
                  <a16:creationId xmlns:a16="http://schemas.microsoft.com/office/drawing/2014/main" id="{7852BF59-D231-B2DB-50D3-6249F9A773BD}"/>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62A4516A-2EBE-3A47-5CCE-2AC6602E6AC1}"/>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2683767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D477-14F0-8D2A-CD21-28498C0E6B3E}"/>
              </a:ext>
            </a:extLst>
          </p:cNvPr>
          <p:cNvSpPr txBox="1">
            <a:spLocks/>
          </p:cNvSpPr>
          <p:nvPr/>
        </p:nvSpPr>
        <p:spPr>
          <a:xfrm>
            <a:off x="381000" y="838200"/>
            <a:ext cx="8911284"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Rectangle 2">
            <a:extLst>
              <a:ext uri="{FF2B5EF4-FFF2-40B4-BE49-F238E27FC236}">
                <a16:creationId xmlns:a16="http://schemas.microsoft.com/office/drawing/2014/main" id="{FA6364DF-1DA7-9858-580F-0F2D07475DB0}"/>
              </a:ext>
            </a:extLst>
          </p:cNvPr>
          <p:cNvSpPr>
            <a:spLocks noChangeArrowheads="1"/>
          </p:cNvSpPr>
          <p:nvPr/>
        </p:nvSpPr>
        <p:spPr bwMode="auto">
          <a:xfrm>
            <a:off x="381000" y="1335198"/>
            <a:ext cx="5715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 You have a string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full_name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Edunet</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Foundation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Extract the first name and last name using string slicing. </a:t>
            </a:r>
          </a:p>
        </p:txBody>
      </p:sp>
      <p:sp>
        <p:nvSpPr>
          <p:cNvPr id="5" name="Rectangle 3">
            <a:extLst>
              <a:ext uri="{FF2B5EF4-FFF2-40B4-BE49-F238E27FC236}">
                <a16:creationId xmlns:a16="http://schemas.microsoft.com/office/drawing/2014/main" id="{C82D4CC4-9883-3EA0-8C29-65B6521C854C}"/>
              </a:ext>
            </a:extLst>
          </p:cNvPr>
          <p:cNvSpPr>
            <a:spLocks noChangeArrowheads="1"/>
          </p:cNvSpPr>
          <p:nvPr/>
        </p:nvSpPr>
        <p:spPr bwMode="auto">
          <a:xfrm>
            <a:off x="381000" y="2379929"/>
            <a:ext cx="5715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Given the string sentence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Python programming is fun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extract and print every second character from the string. </a:t>
            </a:r>
          </a:p>
        </p:txBody>
      </p:sp>
      <p:sp>
        <p:nvSpPr>
          <p:cNvPr id="6" name="Rectangle 4">
            <a:extLst>
              <a:ext uri="{FF2B5EF4-FFF2-40B4-BE49-F238E27FC236}">
                <a16:creationId xmlns:a16="http://schemas.microsoft.com/office/drawing/2014/main" id="{81A6D277-1D43-9E25-2056-8025B196E22C}"/>
              </a:ext>
            </a:extLst>
          </p:cNvPr>
          <p:cNvSpPr>
            <a:spLocks noChangeArrowheads="1"/>
          </p:cNvSpPr>
          <p:nvPr/>
        </p:nvSpPr>
        <p:spPr bwMode="auto">
          <a:xfrm>
            <a:off x="381000" y="3538098"/>
            <a:ext cx="5715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 You have a string phrase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Science is awesome!"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Replace the word "awesome" with "amazing". </a:t>
            </a:r>
          </a:p>
        </p:txBody>
      </p:sp>
      <p:sp>
        <p:nvSpPr>
          <p:cNvPr id="7" name="Rectangle 5">
            <a:extLst>
              <a:ext uri="{FF2B5EF4-FFF2-40B4-BE49-F238E27FC236}">
                <a16:creationId xmlns:a16="http://schemas.microsoft.com/office/drawing/2014/main" id="{62017280-BC61-9783-4DFC-9CD026F61744}"/>
              </a:ext>
            </a:extLst>
          </p:cNvPr>
          <p:cNvSpPr>
            <a:spLocks noChangeArrowheads="1"/>
          </p:cNvSpPr>
          <p:nvPr/>
        </p:nvSpPr>
        <p:spPr bwMode="auto">
          <a:xfrm>
            <a:off x="370913" y="4696268"/>
            <a:ext cx="5715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4) Given the string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url</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https://www.example.com</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remove the protocol part ("https://") using string slicing. </a:t>
            </a:r>
          </a:p>
        </p:txBody>
      </p:sp>
      <p:pic>
        <p:nvPicPr>
          <p:cNvPr id="8" name="Picture 6" descr="How to get adolescents to feel more energetic and awake in the classroom?">
            <a:extLst>
              <a:ext uri="{FF2B5EF4-FFF2-40B4-BE49-F238E27FC236}">
                <a16:creationId xmlns:a16="http://schemas.microsoft.com/office/drawing/2014/main" id="{99D274D8-3C96-6D43-F47E-C35065426D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469155" y="1693077"/>
            <a:ext cx="5342965"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223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B7E5-46A9-89DD-2097-83B3385F1D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87FB74-0464-5E03-9CB4-811A52435B3B}"/>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6EC7DEE5-1181-3FE0-8653-599931A5FBB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55D001FE-2690-814F-B772-263563F5B800}"/>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32860160-67D9-0666-3C96-288166FEF41A}"/>
              </a:ext>
            </a:extLst>
          </p:cNvPr>
          <p:cNvSpPr txBox="1">
            <a:spLocks/>
          </p:cNvSpPr>
          <p:nvPr/>
        </p:nvSpPr>
        <p:spPr>
          <a:xfrm>
            <a:off x="381000" y="4191000"/>
            <a:ext cx="66294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6: </a:t>
            </a:r>
            <a:r>
              <a:rPr lang="en-US" sz="1800" dirty="0">
                <a:latin typeface="Arial" panose="020B0604020202020204" pitchFamily="34" charset="0"/>
                <a:cs typeface="Arial" panose="020B0604020202020204" pitchFamily="34" charset="0"/>
              </a:rPr>
              <a:t>Hands-On with Python Strings and String Methods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D9F5CDBA-00BD-C373-459D-3806C95830E2}"/>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6DE7D2F5-85FD-55D3-D04C-C6E1110D136F}"/>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9DDCA61E-851A-A7A7-86D4-B3F840144E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5C6D2A85-6333-57C4-C05F-EF944253B66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303301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C6147C1D-8490-3F1E-49EB-7F0AA9BF310E}"/>
              </a:ext>
            </a:extLst>
          </p:cNvPr>
          <p:cNvSpPr txBox="1">
            <a:spLocks/>
          </p:cNvSpPr>
          <p:nvPr/>
        </p:nvSpPr>
        <p:spPr>
          <a:xfrm>
            <a:off x="378844" y="838200"/>
            <a:ext cx="579335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Different Types of Data Structures in Python</a:t>
            </a:r>
          </a:p>
        </p:txBody>
      </p:sp>
      <p:grpSp>
        <p:nvGrpSpPr>
          <p:cNvPr id="2" name="Group 1">
            <a:extLst>
              <a:ext uri="{FF2B5EF4-FFF2-40B4-BE49-F238E27FC236}">
                <a16:creationId xmlns:a16="http://schemas.microsoft.com/office/drawing/2014/main" id="{0E9F6992-CF3B-A1C6-FD96-7F61CB80EDD3}"/>
              </a:ext>
            </a:extLst>
          </p:cNvPr>
          <p:cNvGrpSpPr/>
          <p:nvPr/>
        </p:nvGrpSpPr>
        <p:grpSpPr>
          <a:xfrm>
            <a:off x="639855" y="2857500"/>
            <a:ext cx="11044514" cy="1143000"/>
            <a:chOff x="639855" y="2857500"/>
            <a:chExt cx="11044514" cy="1143000"/>
          </a:xfrm>
        </p:grpSpPr>
        <p:sp>
          <p:nvSpPr>
            <p:cNvPr id="12" name="Rectangle 11">
              <a:extLst>
                <a:ext uri="{FF2B5EF4-FFF2-40B4-BE49-F238E27FC236}">
                  <a16:creationId xmlns:a16="http://schemas.microsoft.com/office/drawing/2014/main" id="{F95B3210-7C6D-2EE6-5DDD-F3565AB80696}"/>
                </a:ext>
              </a:extLst>
            </p:cNvPr>
            <p:cNvSpPr/>
            <p:nvPr/>
          </p:nvSpPr>
          <p:spPr>
            <a:xfrm>
              <a:off x="639855" y="2857500"/>
              <a:ext cx="2311400" cy="1143000"/>
            </a:xfrm>
            <a:prstGeom prst="rect">
              <a:avLst/>
            </a:prstGeom>
            <a:solidFill>
              <a:srgbClr val="F39E97"/>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rial" panose="020B0604020202020204" pitchFamily="34" charset="0"/>
                  <a:cs typeface="Arial" panose="020B0604020202020204" pitchFamily="34" charset="0"/>
                </a:rPr>
                <a:t>List</a:t>
              </a:r>
              <a:endParaRPr lang="en-IN">
                <a:solidFill>
                  <a:schemeClr val="tx1"/>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32C5F66A-6E35-5D99-DD04-D44E9BEB9689}"/>
                </a:ext>
              </a:extLst>
            </p:cNvPr>
            <p:cNvSpPr/>
            <p:nvPr/>
          </p:nvSpPr>
          <p:spPr>
            <a:xfrm>
              <a:off x="3624355" y="2857500"/>
              <a:ext cx="2311400" cy="1143000"/>
            </a:xfrm>
            <a:prstGeom prst="rect">
              <a:avLst/>
            </a:prstGeom>
            <a:solidFill>
              <a:srgbClr val="D0EAFC"/>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rial" panose="020B0604020202020204" pitchFamily="34" charset="0"/>
                  <a:cs typeface="Arial" panose="020B0604020202020204" pitchFamily="34" charset="0"/>
                </a:rPr>
                <a:t>Tuples</a:t>
              </a:r>
              <a:endParaRPr lang="en-IN">
                <a:solidFill>
                  <a:schemeClr val="tx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5BF1B5F8-D5A4-F9EC-F784-8F2CAF45B2D8}"/>
                </a:ext>
              </a:extLst>
            </p:cNvPr>
            <p:cNvSpPr/>
            <p:nvPr/>
          </p:nvSpPr>
          <p:spPr>
            <a:xfrm>
              <a:off x="6388469" y="2857500"/>
              <a:ext cx="2311400" cy="1143000"/>
            </a:xfrm>
            <a:prstGeom prst="rect">
              <a:avLst/>
            </a:prstGeom>
            <a:solidFill>
              <a:srgbClr val="B1EDBB"/>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rial" panose="020B0604020202020204" pitchFamily="34" charset="0"/>
                  <a:cs typeface="Arial" panose="020B0604020202020204" pitchFamily="34" charset="0"/>
                </a:rPr>
                <a:t>Dictionaries</a:t>
              </a:r>
              <a:endParaRPr lang="en-IN">
                <a:solidFill>
                  <a:schemeClr val="tx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C3F1F10-3EF5-0EBA-745C-D558591E28C5}"/>
                </a:ext>
              </a:extLst>
            </p:cNvPr>
            <p:cNvSpPr/>
            <p:nvPr/>
          </p:nvSpPr>
          <p:spPr>
            <a:xfrm>
              <a:off x="9372969" y="2857500"/>
              <a:ext cx="2311400" cy="1143000"/>
            </a:xfrm>
            <a:prstGeom prst="rect">
              <a:avLst/>
            </a:prstGeom>
            <a:solidFill>
              <a:srgbClr val="F9A5D5"/>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rial" panose="020B0604020202020204" pitchFamily="34" charset="0"/>
                  <a:cs typeface="Arial" panose="020B0604020202020204" pitchFamily="34" charset="0"/>
                </a:rPr>
                <a:t>Sets</a:t>
              </a:r>
              <a:endParaRPr lang="en-IN">
                <a:solidFill>
                  <a:schemeClr val="tx1"/>
                </a:solidFill>
                <a:latin typeface="Arial" panose="020B0604020202020204" pitchFamily="34" charset="0"/>
                <a:cs typeface="Arial" panose="020B0604020202020204" pitchFamily="34" charset="0"/>
              </a:endParaRPr>
            </a:p>
          </p:txBody>
        </p:sp>
      </p:grpSp>
      <p:sp>
        <p:nvSpPr>
          <p:cNvPr id="6" name="TextBox 5">
            <a:extLst>
              <a:ext uri="{FF2B5EF4-FFF2-40B4-BE49-F238E27FC236}">
                <a16:creationId xmlns:a16="http://schemas.microsoft.com/office/drawing/2014/main" id="{AF927DAB-1FC2-8A84-F091-9DB5C52DFA92}"/>
              </a:ext>
            </a:extLst>
          </p:cNvPr>
          <p:cNvSpPr txBox="1"/>
          <p:nvPr/>
        </p:nvSpPr>
        <p:spPr>
          <a:xfrm>
            <a:off x="380999" y="1334184"/>
            <a:ext cx="10600551" cy="748923"/>
          </a:xfrm>
          <a:prstGeom prst="rect">
            <a:avLst/>
          </a:prstGeom>
          <a:noFill/>
        </p:spPr>
        <p:txBody>
          <a:bodyPr wrap="square">
            <a:spAutoFit/>
          </a:bodyPr>
          <a:lstStyle/>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Data Structure defines how data is organized, stored, and manipulated within a program.</a:t>
            </a:r>
          </a:p>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In Python, below are the Data Structures listed.</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2835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1" y="857251"/>
            <a:ext cx="11582399"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Python List</a:t>
            </a:r>
          </a:p>
        </p:txBody>
      </p:sp>
      <p:pic>
        <p:nvPicPr>
          <p:cNvPr id="3" name="Picture 2" descr="A blue and white squares with white text&#10;&#10;Description automatically generated">
            <a:extLst>
              <a:ext uri="{FF2B5EF4-FFF2-40B4-BE49-F238E27FC236}">
                <a16:creationId xmlns:a16="http://schemas.microsoft.com/office/drawing/2014/main" id="{25D6A2E6-0EBC-5BAE-73DE-E2DC2435762D}"/>
              </a:ext>
            </a:extLst>
          </p:cNvPr>
          <p:cNvPicPr>
            <a:picLocks noChangeAspect="1"/>
          </p:cNvPicPr>
          <p:nvPr/>
        </p:nvPicPr>
        <p:blipFill rotWithShape="1">
          <a:blip r:embed="rId3"/>
          <a:srcRect t="19658" r="392" b="16239"/>
          <a:stretch/>
        </p:blipFill>
        <p:spPr>
          <a:xfrm>
            <a:off x="6283416" y="1600200"/>
            <a:ext cx="5614116" cy="2981325"/>
          </a:xfrm>
          <a:prstGeom prst="rect">
            <a:avLst/>
          </a:prstGeom>
        </p:spPr>
      </p:pic>
      <p:sp>
        <p:nvSpPr>
          <p:cNvPr id="5" name="TextBox 4">
            <a:extLst>
              <a:ext uri="{FF2B5EF4-FFF2-40B4-BE49-F238E27FC236}">
                <a16:creationId xmlns:a16="http://schemas.microsoft.com/office/drawing/2014/main" id="{383D5FF5-9560-03B6-7B84-045C31B18791}"/>
              </a:ext>
            </a:extLst>
          </p:cNvPr>
          <p:cNvSpPr txBox="1"/>
          <p:nvPr/>
        </p:nvSpPr>
        <p:spPr>
          <a:xfrm>
            <a:off x="381000" y="1348714"/>
            <a:ext cx="5715000" cy="22365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spcAft>
                <a:spcPts val="800"/>
              </a:spcAft>
              <a:buChar char="•"/>
            </a:pPr>
            <a:r>
              <a:rPr lang="en-US" sz="1800" dirty="0">
                <a:latin typeface="Arial" panose="020B0604020202020204" pitchFamily="34" charset="0"/>
                <a:cs typeface="Arial" panose="020B0604020202020204" pitchFamily="34" charset="0"/>
              </a:rPr>
              <a:t>In Python, a list is a data structure that can hold a collection of values. </a:t>
            </a:r>
          </a:p>
          <a:p>
            <a:pPr marL="228600" indent="-228600">
              <a:spcAft>
                <a:spcPts val="800"/>
              </a:spcAft>
              <a:buChar char="•"/>
            </a:pPr>
            <a:r>
              <a:rPr lang="en-US" sz="1800" dirty="0">
                <a:latin typeface="Arial" panose="020B0604020202020204" pitchFamily="34" charset="0"/>
                <a:cs typeface="Arial" panose="020B0604020202020204" pitchFamily="34" charset="0"/>
              </a:rPr>
              <a:t>These values can be of any type – numbers, strings, other lists, and more.</a:t>
            </a:r>
          </a:p>
          <a:p>
            <a:pPr marL="228600" indent="-228600">
              <a:spcAft>
                <a:spcPts val="800"/>
              </a:spcAft>
              <a:buChar char="•"/>
            </a:pPr>
            <a:r>
              <a:rPr lang="en-US" sz="1800" dirty="0">
                <a:latin typeface="Arial" panose="020B0604020202020204" pitchFamily="34" charset="0"/>
                <a:cs typeface="Arial" panose="020B0604020202020204" pitchFamily="34" charset="0"/>
              </a:rPr>
              <a:t>Lists are ordered, which means the items in the list have a specific sequence, and you can access them by their position (index) in that sequence.​</a:t>
            </a:r>
          </a:p>
        </p:txBody>
      </p:sp>
      <p:grpSp>
        <p:nvGrpSpPr>
          <p:cNvPr id="9" name="Group 8">
            <a:extLst>
              <a:ext uri="{FF2B5EF4-FFF2-40B4-BE49-F238E27FC236}">
                <a16:creationId xmlns:a16="http://schemas.microsoft.com/office/drawing/2014/main" id="{D86E185C-6CE1-FC7C-9B03-264819AD38F6}"/>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A8EF1C68-C444-3B97-2188-810BBE97427E}"/>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https://www.scaler.com/topics/python/what-is-list-in-python/</a:t>
              </a:r>
              <a:endParaRPr lang="en-IN" sz="1200" dirty="0">
                <a:solidFill>
                  <a:srgbClr val="0000FF"/>
                </a:solidFill>
                <a:latin typeface="+mj-lt"/>
              </a:endParaRPr>
            </a:p>
          </p:txBody>
        </p:sp>
        <p:cxnSp>
          <p:nvCxnSpPr>
            <p:cNvPr id="7" name="Straight Connector 6">
              <a:extLst>
                <a:ext uri="{FF2B5EF4-FFF2-40B4-BE49-F238E27FC236}">
                  <a16:creationId xmlns:a16="http://schemas.microsoft.com/office/drawing/2014/main" id="{07A9444E-145D-4E65-E01A-EC6E00DC2FAA}"/>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Google Shape;62;g5fab984687_2_0">
              <a:extLst>
                <a:ext uri="{FF2B5EF4-FFF2-40B4-BE49-F238E27FC236}">
                  <a16:creationId xmlns:a16="http://schemas.microsoft.com/office/drawing/2014/main" id="{3C09B210-1716-6638-59BF-DF5E49F3E496}"/>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2678110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3E73-00DC-676E-8C92-4976B201D9A8}"/>
              </a:ext>
            </a:extLst>
          </p:cNvPr>
          <p:cNvSpPr txBox="1">
            <a:spLocks/>
          </p:cNvSpPr>
          <p:nvPr/>
        </p:nvSpPr>
        <p:spPr>
          <a:xfrm>
            <a:off x="381000" y="850176"/>
            <a:ext cx="5715000"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3" name="Rectangle 1">
            <a:extLst>
              <a:ext uri="{FF2B5EF4-FFF2-40B4-BE49-F238E27FC236}">
                <a16:creationId xmlns:a16="http://schemas.microsoft.com/office/drawing/2014/main" id="{52B244DB-950E-E4D2-EF74-8B4E35EEDFFB}"/>
              </a:ext>
            </a:extLst>
          </p:cNvPr>
          <p:cNvSpPr>
            <a:spLocks noChangeArrowheads="1"/>
          </p:cNvSpPr>
          <p:nvPr/>
        </p:nvSpPr>
        <p:spPr bwMode="auto">
          <a:xfrm>
            <a:off x="357612" y="1332957"/>
            <a:ext cx="573838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 Given the list of students' names: students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["Alice", "Bob", "Charlie", "David", "Eve"]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reverse the order of the list. </a:t>
            </a:r>
          </a:p>
        </p:txBody>
      </p:sp>
      <p:sp>
        <p:nvSpPr>
          <p:cNvPr id="4" name="Rectangle 2">
            <a:extLst>
              <a:ext uri="{FF2B5EF4-FFF2-40B4-BE49-F238E27FC236}">
                <a16:creationId xmlns:a16="http://schemas.microsoft.com/office/drawing/2014/main" id="{F8763AE1-B7FF-822A-03A2-5F593FD21FBF}"/>
              </a:ext>
            </a:extLst>
          </p:cNvPr>
          <p:cNvSpPr>
            <a:spLocks noChangeArrowheads="1"/>
          </p:cNvSpPr>
          <p:nvPr/>
        </p:nvSpPr>
        <p:spPr bwMode="auto">
          <a:xfrm>
            <a:off x="381000" y="2319110"/>
            <a:ext cx="5715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You have a list items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["apple", "banana", "cherry", "date", "fig", "grape"]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Extract all items from "cherry" to "fig" using list slicing. </a:t>
            </a:r>
          </a:p>
        </p:txBody>
      </p:sp>
      <p:sp>
        <p:nvSpPr>
          <p:cNvPr id="5" name="Rectangle 3">
            <a:extLst>
              <a:ext uri="{FF2B5EF4-FFF2-40B4-BE49-F238E27FC236}">
                <a16:creationId xmlns:a16="http://schemas.microsoft.com/office/drawing/2014/main" id="{C60BBE66-1DF8-9456-BF92-B54E18EECCE1}"/>
              </a:ext>
            </a:extLst>
          </p:cNvPr>
          <p:cNvSpPr>
            <a:spLocks noChangeArrowheads="1"/>
          </p:cNvSpPr>
          <p:nvPr/>
        </p:nvSpPr>
        <p:spPr bwMode="auto">
          <a:xfrm>
            <a:off x="376143" y="3308172"/>
            <a:ext cx="571985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 You have a list fruits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["apple", "banana", "cherry", "date", "fig", "grape"]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Add a new fruit "kiwi" at the 3rd position. </a:t>
            </a:r>
          </a:p>
        </p:txBody>
      </p:sp>
      <p:sp>
        <p:nvSpPr>
          <p:cNvPr id="6" name="Rectangle 4">
            <a:extLst>
              <a:ext uri="{FF2B5EF4-FFF2-40B4-BE49-F238E27FC236}">
                <a16:creationId xmlns:a16="http://schemas.microsoft.com/office/drawing/2014/main" id="{B4F1786B-0314-AEE3-2549-F99EAFAADB58}"/>
              </a:ext>
            </a:extLst>
          </p:cNvPr>
          <p:cNvSpPr>
            <a:spLocks noChangeArrowheads="1"/>
          </p:cNvSpPr>
          <p:nvPr/>
        </p:nvSpPr>
        <p:spPr bwMode="auto">
          <a:xfrm>
            <a:off x="376143" y="4382869"/>
            <a:ext cx="57198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46888"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4) Given a list of ages: ages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[23, 45, 18, 34, 60, 50, 27],</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calculate the average age. </a:t>
            </a:r>
          </a:p>
        </p:txBody>
      </p:sp>
      <p:pic>
        <p:nvPicPr>
          <p:cNvPr id="2054" name="Picture 6" descr="How to get adolescents to feel more energetic and awake in the classroom?">
            <a:extLst>
              <a:ext uri="{FF2B5EF4-FFF2-40B4-BE49-F238E27FC236}">
                <a16:creationId xmlns:a16="http://schemas.microsoft.com/office/drawing/2014/main" id="{479196D6-EF54-E949-276F-4FDCC4C30D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654613" y="16002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298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7823" y="838200"/>
            <a:ext cx="11416354"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a:cs typeface="Arial"/>
              </a:rPr>
              <a:t>Python Tuple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284941" y="1273133"/>
            <a:ext cx="7502207" cy="1666711"/>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lgn="just">
              <a:lnSpc>
                <a:spcPct val="200000"/>
              </a:lnSpc>
              <a:buFont typeface="Arial" pitchFamily="34" charset="0"/>
              <a:buNone/>
            </a:pPr>
            <a:endParaRPr lang="en-US" sz="18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DF547CF-9692-790F-50C0-E622F6B86A87}"/>
              </a:ext>
            </a:extLst>
          </p:cNvPr>
          <p:cNvSpPr txBox="1"/>
          <p:nvPr/>
        </p:nvSpPr>
        <p:spPr>
          <a:xfrm>
            <a:off x="380999" y="1334829"/>
            <a:ext cx="5474531" cy="2923877"/>
          </a:xfrm>
          <a:prstGeom prst="rect">
            <a:avLst/>
          </a:prstGeom>
          <a:noFill/>
        </p:spPr>
        <p:txBody>
          <a:bodyPr wrap="square" lIns="91440" tIns="45720" rIns="91440" bIns="45720" anchor="t">
            <a:spAutoFit/>
          </a:bodyPr>
          <a:lstStyle/>
          <a:p>
            <a:pPr indent="-228600" eaLnBrk="1" hangingPunct="1">
              <a:spcAft>
                <a:spcPts val="800"/>
              </a:spcAft>
            </a:pPr>
            <a:r>
              <a:rPr lang="en-US" altLang="en-US" sz="1800" b="1" dirty="0">
                <a:latin typeface="Arial" panose="020B0604020202020204" pitchFamily="34" charset="0"/>
                <a:cs typeface="Arial" panose="020B0604020202020204" pitchFamily="34" charset="0"/>
              </a:rPr>
              <a:t>Tuple: </a:t>
            </a:r>
            <a:r>
              <a:rPr lang="en-US" altLang="en-US" sz="1800" dirty="0">
                <a:latin typeface="Arial" panose="020B0604020202020204" pitchFamily="34" charset="0"/>
                <a:cs typeface="Arial" panose="020B0604020202020204" pitchFamily="34" charset="0"/>
              </a:rPr>
              <a:t>an immutable sequence</a:t>
            </a:r>
          </a:p>
          <a:p>
            <a:pPr marL="742950" lvl="1" indent="-228600" eaLnBrk="1" hangingPunct="1">
              <a:spcAft>
                <a:spcPts val="8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Very similar to a list</a:t>
            </a:r>
          </a:p>
          <a:p>
            <a:pPr marL="742950" lvl="1" indent="-228600" eaLnBrk="1" hangingPunct="1">
              <a:spcAft>
                <a:spcPts val="8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Once it is created it cannot be changed</a:t>
            </a:r>
          </a:p>
          <a:p>
            <a:pPr marL="742950" lvl="1" indent="-228600" eaLnBrk="1" hangingPunct="1">
              <a:spcAft>
                <a:spcPts val="8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Tuples support operations as lists</a:t>
            </a:r>
          </a:p>
          <a:p>
            <a:pPr marL="1200150" lvl="2" indent="-228600" eaLnBrk="1" hangingPunct="1">
              <a:spcAft>
                <a:spcPts val="8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Subscript indexing for retrieving elements</a:t>
            </a:r>
          </a:p>
          <a:p>
            <a:pPr marL="1200150" lvl="2" indent="-228600" eaLnBrk="1" hangingPunct="1">
              <a:spcAft>
                <a:spcPts val="8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Methods such as index</a:t>
            </a:r>
          </a:p>
          <a:p>
            <a:pPr marL="1200150" lvl="2" indent="-228600" eaLnBrk="1" hangingPunct="1">
              <a:spcAft>
                <a:spcPts val="8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Built in functions such as </a:t>
            </a:r>
            <a:r>
              <a:rPr lang="en-US" altLang="en-US" sz="1800" dirty="0" err="1">
                <a:latin typeface="Arial" panose="020B0604020202020204" pitchFamily="34" charset="0"/>
                <a:cs typeface="Arial" panose="020B0604020202020204" pitchFamily="34" charset="0"/>
              </a:rPr>
              <a:t>len</a:t>
            </a:r>
            <a:r>
              <a:rPr lang="en-US" altLang="en-US" sz="1800" dirty="0">
                <a:latin typeface="Arial" panose="020B0604020202020204" pitchFamily="34" charset="0"/>
                <a:cs typeface="Arial" panose="020B0604020202020204" pitchFamily="34" charset="0"/>
              </a:rPr>
              <a:t>, min, max</a:t>
            </a:r>
          </a:p>
        </p:txBody>
      </p:sp>
      <p:pic>
        <p:nvPicPr>
          <p:cNvPr id="2" name="Picture 1" descr="Python tuples">
            <a:extLst>
              <a:ext uri="{FF2B5EF4-FFF2-40B4-BE49-F238E27FC236}">
                <a16:creationId xmlns:a16="http://schemas.microsoft.com/office/drawing/2014/main" id="{C640151E-48A8-612F-EBCC-B4E5F0E66F55}"/>
              </a:ext>
            </a:extLst>
          </p:cNvPr>
          <p:cNvPicPr>
            <a:picLocks noChangeAspect="1"/>
          </p:cNvPicPr>
          <p:nvPr/>
        </p:nvPicPr>
        <p:blipFill rotWithShape="1">
          <a:blip r:embed="rId3"/>
          <a:srcRect t="9935"/>
          <a:stretch/>
        </p:blipFill>
        <p:spPr>
          <a:xfrm>
            <a:off x="6486525" y="1780082"/>
            <a:ext cx="5347838" cy="2832013"/>
          </a:xfrm>
          <a:prstGeom prst="rect">
            <a:avLst/>
          </a:prstGeom>
        </p:spPr>
      </p:pic>
      <p:grpSp>
        <p:nvGrpSpPr>
          <p:cNvPr id="9" name="Group 8">
            <a:extLst>
              <a:ext uri="{FF2B5EF4-FFF2-40B4-BE49-F238E27FC236}">
                <a16:creationId xmlns:a16="http://schemas.microsoft.com/office/drawing/2014/main" id="{72610655-B91D-F40C-B715-F81924715089}"/>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563F3960-D29D-8B36-6B20-289077AD5E76}"/>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https://pynative.com/python-tuples/</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0AE7A214-EFEC-54C5-4848-BB2995FB8180}"/>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7E99D713-BAFD-6FAE-9ACE-D3F7FB37F4EA}"/>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16637068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3E73-00DC-676E-8C92-4976B201D9A8}"/>
              </a:ext>
            </a:extLst>
          </p:cNvPr>
          <p:cNvSpPr txBox="1">
            <a:spLocks/>
          </p:cNvSpPr>
          <p:nvPr/>
        </p:nvSpPr>
        <p:spPr>
          <a:xfrm>
            <a:off x="381000" y="838200"/>
            <a:ext cx="8895147"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3" name="Rectangle 1">
            <a:extLst>
              <a:ext uri="{FF2B5EF4-FFF2-40B4-BE49-F238E27FC236}">
                <a16:creationId xmlns:a16="http://schemas.microsoft.com/office/drawing/2014/main" id="{52B244DB-950E-E4D2-EF74-8B4E35EEDFFB}"/>
              </a:ext>
            </a:extLst>
          </p:cNvPr>
          <p:cNvSpPr>
            <a:spLocks noChangeArrowheads="1"/>
          </p:cNvSpPr>
          <p:nvPr/>
        </p:nvSpPr>
        <p:spPr bwMode="auto">
          <a:xfrm>
            <a:off x="390240" y="1332957"/>
            <a:ext cx="568671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 Given the tuple of students' names: students =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"Alice", "Bob", "Charlie", "David", "Eve“)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reverse the order of the list. </a:t>
            </a:r>
          </a:p>
        </p:txBody>
      </p:sp>
      <p:sp>
        <p:nvSpPr>
          <p:cNvPr id="4" name="Rectangle 2">
            <a:extLst>
              <a:ext uri="{FF2B5EF4-FFF2-40B4-BE49-F238E27FC236}">
                <a16:creationId xmlns:a16="http://schemas.microsoft.com/office/drawing/2014/main" id="{F8763AE1-B7FF-822A-03A2-5F593FD21FBF}"/>
              </a:ext>
            </a:extLst>
          </p:cNvPr>
          <p:cNvSpPr>
            <a:spLocks noChangeArrowheads="1"/>
          </p:cNvSpPr>
          <p:nvPr/>
        </p:nvSpPr>
        <p:spPr bwMode="auto">
          <a:xfrm>
            <a:off x="390808" y="2405685"/>
            <a:ext cx="570519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You have a tuple items = </a:t>
            </a:r>
            <a:r>
              <a:rPr lang="en-US" altLang="en-US" sz="1800" b="1" dirty="0">
                <a:solidFill>
                  <a:schemeClr val="tx1"/>
                </a:solidFill>
                <a:latin typeface="Arial" panose="020B0604020202020204" pitchFamily="34" charset="0"/>
                <a:cs typeface="Arial" panose="020B0604020202020204" pitchFamily="34" charset="0"/>
              </a:rPr>
              <a:t>(</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"apple", "banana", "cherry", "date", "fig", "grape“)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Extract all items from "cherry" to "fig" using list slicing. </a:t>
            </a:r>
          </a:p>
        </p:txBody>
      </p:sp>
      <p:sp>
        <p:nvSpPr>
          <p:cNvPr id="5" name="Rectangle 3">
            <a:extLst>
              <a:ext uri="{FF2B5EF4-FFF2-40B4-BE49-F238E27FC236}">
                <a16:creationId xmlns:a16="http://schemas.microsoft.com/office/drawing/2014/main" id="{C60BBE66-1DF8-9456-BF92-B54E18EECCE1}"/>
              </a:ext>
            </a:extLst>
          </p:cNvPr>
          <p:cNvSpPr>
            <a:spLocks noChangeArrowheads="1"/>
          </p:cNvSpPr>
          <p:nvPr/>
        </p:nvSpPr>
        <p:spPr bwMode="auto">
          <a:xfrm>
            <a:off x="381000" y="3573664"/>
            <a:ext cx="56959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 You have a tuple fruits = </a:t>
            </a:r>
            <a:r>
              <a:rPr lang="en-US" altLang="en-US" sz="1800" b="1" dirty="0">
                <a:solidFill>
                  <a:schemeClr val="tx1"/>
                </a:solidFill>
                <a:latin typeface="Arial" panose="020B0604020202020204" pitchFamily="34" charset="0"/>
                <a:cs typeface="Arial" panose="020B0604020202020204" pitchFamily="34" charset="0"/>
              </a:rPr>
              <a:t>(</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"apple", "banana", "cherry", "date", "fig", "grape“)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Add a new fruit "kiwi" at the 3rd position. </a:t>
            </a:r>
          </a:p>
        </p:txBody>
      </p:sp>
      <p:sp>
        <p:nvSpPr>
          <p:cNvPr id="6" name="Rectangle 4">
            <a:extLst>
              <a:ext uri="{FF2B5EF4-FFF2-40B4-BE49-F238E27FC236}">
                <a16:creationId xmlns:a16="http://schemas.microsoft.com/office/drawing/2014/main" id="{B4F1786B-0314-AEE3-2549-F99EAFAADB58}"/>
              </a:ext>
            </a:extLst>
          </p:cNvPr>
          <p:cNvSpPr>
            <a:spLocks noChangeArrowheads="1"/>
          </p:cNvSpPr>
          <p:nvPr/>
        </p:nvSpPr>
        <p:spPr bwMode="auto">
          <a:xfrm>
            <a:off x="400050" y="4662568"/>
            <a:ext cx="56959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46888"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4) Given a tuple of ages: ages = </a:t>
            </a:r>
            <a:r>
              <a:rPr lang="en-US" altLang="en-US" sz="1800" b="1" dirty="0">
                <a:solidFill>
                  <a:schemeClr val="tx1"/>
                </a:solidFill>
                <a:latin typeface="Arial" panose="020B0604020202020204" pitchFamily="34" charset="0"/>
                <a:cs typeface="Arial" panose="020B0604020202020204" pitchFamily="34" charset="0"/>
              </a:rPr>
              <a:t>(</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23, 45, 18, 34, 60, 50, 27),</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calculate the average age. </a:t>
            </a:r>
          </a:p>
        </p:txBody>
      </p:sp>
      <p:pic>
        <p:nvPicPr>
          <p:cNvPr id="2054" name="Picture 6" descr="How to get adolescents to feel more energetic and awake in the classroom?">
            <a:extLst>
              <a:ext uri="{FF2B5EF4-FFF2-40B4-BE49-F238E27FC236}">
                <a16:creationId xmlns:a16="http://schemas.microsoft.com/office/drawing/2014/main" id="{479196D6-EF54-E949-276F-4FDCC4C30D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597463" y="154437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8921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77A4-9D94-71CD-74B6-58FB8E6C44A9}"/>
              </a:ext>
            </a:extLst>
          </p:cNvPr>
          <p:cNvSpPr txBox="1">
            <a:spLocks/>
          </p:cNvSpPr>
          <p:nvPr/>
        </p:nvSpPr>
        <p:spPr>
          <a:xfrm>
            <a:off x="381000" y="838200"/>
            <a:ext cx="4974558" cy="35004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sz="2000" b="1" dirty="0">
                <a:solidFill>
                  <a:srgbClr val="213163"/>
                </a:solidFill>
              </a:rPr>
              <a:t>Sets in Python</a:t>
            </a:r>
            <a:endParaRPr lang="en-IN" sz="2000" b="1" dirty="0">
              <a:solidFill>
                <a:srgbClr val="213163"/>
              </a:solidFill>
            </a:endParaRPr>
          </a:p>
        </p:txBody>
      </p:sp>
      <p:pic>
        <p:nvPicPr>
          <p:cNvPr id="3" name="Picture 2" descr="A text on a white background&#10;&#10;Description automatically generated">
            <a:extLst>
              <a:ext uri="{FF2B5EF4-FFF2-40B4-BE49-F238E27FC236}">
                <a16:creationId xmlns:a16="http://schemas.microsoft.com/office/drawing/2014/main" id="{12E03754-5000-7524-F0FF-1C3119856BCA}"/>
              </a:ext>
            </a:extLst>
          </p:cNvPr>
          <p:cNvPicPr>
            <a:picLocks noChangeAspect="1"/>
          </p:cNvPicPr>
          <p:nvPr/>
        </p:nvPicPr>
        <p:blipFill rotWithShape="1">
          <a:blip r:embed="rId3"/>
          <a:srcRect l="6301" t="33642" r="10460" b="10997"/>
          <a:stretch/>
        </p:blipFill>
        <p:spPr>
          <a:xfrm>
            <a:off x="609600" y="2514600"/>
            <a:ext cx="5188883" cy="1689355"/>
          </a:xfrm>
          <a:prstGeom prst="rect">
            <a:avLst/>
          </a:prstGeom>
          <a:ln>
            <a:solidFill>
              <a:schemeClr val="tx1">
                <a:lumMod val="50000"/>
                <a:lumOff val="50000"/>
              </a:schemeClr>
            </a:solidFill>
          </a:ln>
        </p:spPr>
      </p:pic>
      <p:pic>
        <p:nvPicPr>
          <p:cNvPr id="5" name="Picture 4">
            <a:extLst>
              <a:ext uri="{FF2B5EF4-FFF2-40B4-BE49-F238E27FC236}">
                <a16:creationId xmlns:a16="http://schemas.microsoft.com/office/drawing/2014/main" id="{58BFABAE-0A25-85B8-8130-427136E9E22F}"/>
              </a:ext>
            </a:extLst>
          </p:cNvPr>
          <p:cNvPicPr>
            <a:picLocks noChangeAspect="1"/>
          </p:cNvPicPr>
          <p:nvPr/>
        </p:nvPicPr>
        <p:blipFill rotWithShape="1">
          <a:blip r:embed="rId4"/>
          <a:srcRect t="6819" b="9300"/>
          <a:stretch/>
        </p:blipFill>
        <p:spPr>
          <a:xfrm>
            <a:off x="6829425" y="1596267"/>
            <a:ext cx="4324348" cy="3665465"/>
          </a:xfrm>
          <a:prstGeom prst="rect">
            <a:avLst/>
          </a:prstGeom>
        </p:spPr>
      </p:pic>
      <p:grpSp>
        <p:nvGrpSpPr>
          <p:cNvPr id="9" name="Group 8">
            <a:extLst>
              <a:ext uri="{FF2B5EF4-FFF2-40B4-BE49-F238E27FC236}">
                <a16:creationId xmlns:a16="http://schemas.microsoft.com/office/drawing/2014/main" id="{A0F9773D-16DF-40EB-6CE2-D0728CE0C520}"/>
              </a:ext>
            </a:extLst>
          </p:cNvPr>
          <p:cNvGrpSpPr/>
          <p:nvPr/>
        </p:nvGrpSpPr>
        <p:grpSpPr>
          <a:xfrm>
            <a:off x="0" y="6296065"/>
            <a:ext cx="12192000" cy="381734"/>
            <a:chOff x="0" y="6296065"/>
            <a:chExt cx="12192000" cy="381734"/>
          </a:xfrm>
        </p:grpSpPr>
        <p:sp>
          <p:nvSpPr>
            <p:cNvPr id="4" name="TextBox 3">
              <a:extLst>
                <a:ext uri="{FF2B5EF4-FFF2-40B4-BE49-F238E27FC236}">
                  <a16:creationId xmlns:a16="http://schemas.microsoft.com/office/drawing/2014/main" id="{AC4ACFD6-0772-BCCA-8E52-BFF96E86E229}"/>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https://pynative.com/python-sets/</a:t>
              </a:r>
              <a:endParaRPr lang="en-IN" sz="1200" dirty="0">
                <a:solidFill>
                  <a:srgbClr val="0000FF"/>
                </a:solidFill>
                <a:latin typeface="+mj-lt"/>
              </a:endParaRPr>
            </a:p>
          </p:txBody>
        </p:sp>
        <p:cxnSp>
          <p:nvCxnSpPr>
            <p:cNvPr id="7" name="Straight Connector 6">
              <a:extLst>
                <a:ext uri="{FF2B5EF4-FFF2-40B4-BE49-F238E27FC236}">
                  <a16:creationId xmlns:a16="http://schemas.microsoft.com/office/drawing/2014/main" id="{423D3AC6-82C8-3D75-6B6E-BA430FABA1B1}"/>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Google Shape;62;g5fab984687_2_0">
              <a:extLst>
                <a:ext uri="{FF2B5EF4-FFF2-40B4-BE49-F238E27FC236}">
                  <a16:creationId xmlns:a16="http://schemas.microsoft.com/office/drawing/2014/main" id="{1924C8AD-9C57-3445-EFDD-9034CE176CFC}"/>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60704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3E73-00DC-676E-8C92-4976B201D9A8}"/>
              </a:ext>
            </a:extLst>
          </p:cNvPr>
          <p:cNvSpPr txBox="1">
            <a:spLocks/>
          </p:cNvSpPr>
          <p:nvPr/>
        </p:nvSpPr>
        <p:spPr>
          <a:xfrm>
            <a:off x="381000" y="838200"/>
            <a:ext cx="8932494"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pic>
        <p:nvPicPr>
          <p:cNvPr id="2054" name="Picture 6" descr="How to get adolescents to feel more energetic and awake in the classroom?">
            <a:extLst>
              <a:ext uri="{FF2B5EF4-FFF2-40B4-BE49-F238E27FC236}">
                <a16:creationId xmlns:a16="http://schemas.microsoft.com/office/drawing/2014/main" id="{479196D6-EF54-E949-276F-4FDCC4C30D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606988" y="1571625"/>
            <a:ext cx="5011270" cy="27683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51F4B86-9F92-C541-092D-1F96DCCD2F0F}"/>
              </a:ext>
            </a:extLst>
          </p:cNvPr>
          <p:cNvSpPr txBox="1"/>
          <p:nvPr/>
        </p:nvSpPr>
        <p:spPr>
          <a:xfrm>
            <a:off x="381000" y="1331455"/>
            <a:ext cx="5715000" cy="3375283"/>
          </a:xfrm>
          <a:prstGeom prst="rect">
            <a:avLst/>
          </a:prstGeom>
          <a:noFill/>
        </p:spPr>
        <p:txBody>
          <a:bodyPr wrap="square">
            <a:spAutoFit/>
          </a:bodyPr>
          <a:lstStyle/>
          <a:p>
            <a:pPr indent="-228600">
              <a:spcAft>
                <a:spcPts val="800"/>
              </a:spcAft>
            </a:pPr>
            <a:r>
              <a:rPr lang="en-US" sz="1800" dirty="0">
                <a:latin typeface="Arial" panose="020B0604020202020204" pitchFamily="34" charset="0"/>
                <a:cs typeface="Arial" panose="020B0604020202020204" pitchFamily="34" charset="0"/>
              </a:rPr>
              <a:t>You have two sets of student names who attended two different workshops:</a:t>
            </a:r>
          </a:p>
          <a:p>
            <a:pPr indent="-228600">
              <a:spcAft>
                <a:spcPts val="800"/>
              </a:spcAft>
            </a:pPr>
            <a:r>
              <a:rPr lang="en-IN" sz="1800" dirty="0">
                <a:latin typeface="Arial" panose="020B0604020202020204" pitchFamily="34" charset="0"/>
                <a:cs typeface="Arial" panose="020B0604020202020204" pitchFamily="34" charset="0"/>
              </a:rPr>
              <a:t>	workshop1 = {"Alice", "Bob", "Charlie", "David"}</a:t>
            </a:r>
          </a:p>
          <a:p>
            <a:pPr indent="-228600">
              <a:spcAft>
                <a:spcPts val="800"/>
              </a:spcAft>
            </a:pPr>
            <a:r>
              <a:rPr lang="en-IN" sz="1800" dirty="0">
                <a:latin typeface="Arial" panose="020B0604020202020204" pitchFamily="34" charset="0"/>
                <a:cs typeface="Arial" panose="020B0604020202020204" pitchFamily="34" charset="0"/>
              </a:rPr>
              <a:t>	workshop2 = {"Eve", "Bob", "Frank", "David"}</a:t>
            </a:r>
          </a:p>
          <a:p>
            <a:pPr indent="-228600">
              <a:spcAft>
                <a:spcPts val="800"/>
              </a:spcAft>
            </a:pPr>
            <a:endParaRPr lang="en-IN" sz="1800" dirty="0">
              <a:latin typeface="Arial" panose="020B0604020202020204" pitchFamily="34" charset="0"/>
              <a:cs typeface="Arial" panose="020B0604020202020204" pitchFamily="34" charset="0"/>
            </a:endParaRPr>
          </a:p>
          <a:p>
            <a:pPr marL="246888" indent="-228600">
              <a:spcAft>
                <a:spcPts val="800"/>
              </a:spcAft>
              <a:buAutoNum type="arabicParenR"/>
            </a:pPr>
            <a:r>
              <a:rPr lang="en-US" sz="1800" dirty="0">
                <a:latin typeface="Arial" panose="020B0604020202020204" pitchFamily="34" charset="0"/>
                <a:cs typeface="Arial" panose="020B0604020202020204" pitchFamily="34" charset="0"/>
              </a:rPr>
              <a:t>Write a program to find and print the names of students who attended both workshops.</a:t>
            </a:r>
          </a:p>
          <a:p>
            <a:pPr marL="246888" indent="-228600">
              <a:spcAft>
                <a:spcPts val="800"/>
              </a:spcAft>
              <a:buFont typeface="Arial"/>
              <a:buAutoNum type="arabicParenR"/>
            </a:pPr>
            <a:r>
              <a:rPr lang="en-US" sz="1800" dirty="0">
                <a:latin typeface="Arial" panose="020B0604020202020204" pitchFamily="34" charset="0"/>
                <a:cs typeface="Arial" panose="020B0604020202020204" pitchFamily="34" charset="0"/>
              </a:rPr>
              <a:t>Write a program to find and print the names of students unio to both </a:t>
            </a:r>
            <a:r>
              <a:rPr lang="en-US" sz="1800" dirty="0" err="1">
                <a:latin typeface="Arial" panose="020B0604020202020204" pitchFamily="34" charset="0"/>
                <a:cs typeface="Arial" panose="020B0604020202020204" pitchFamily="34" charset="0"/>
              </a:rPr>
              <a:t>wirkshops</a:t>
            </a:r>
            <a:r>
              <a:rPr lang="en-US" sz="1800" dirty="0">
                <a:latin typeface="Arial" panose="020B0604020202020204" pitchFamily="34" charset="0"/>
                <a:cs typeface="Arial" panose="020B0604020202020204" pitchFamily="34" charset="0"/>
              </a:rPr>
              <a:t>.</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3550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850958"/>
            <a:ext cx="11602785"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Python Dictionary</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284941" y="1273133"/>
            <a:ext cx="7502207" cy="1666711"/>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lgn="just">
              <a:lnSpc>
                <a:spcPct val="200000"/>
              </a:lnSpc>
              <a:buFont typeface="Arial" pitchFamily="34" charset="0"/>
              <a:buNone/>
            </a:pPr>
            <a:endParaRPr lang="en-US" sz="18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0AC4061-280B-0397-6F9C-78714CB7F457}"/>
              </a:ext>
            </a:extLst>
          </p:cNvPr>
          <p:cNvSpPr txBox="1"/>
          <p:nvPr/>
        </p:nvSpPr>
        <p:spPr>
          <a:xfrm>
            <a:off x="398289" y="1337872"/>
            <a:ext cx="11508769" cy="646331"/>
          </a:xfrm>
          <a:prstGeom prst="rect">
            <a:avLst/>
          </a:prstGeom>
          <a:noFill/>
        </p:spPr>
        <p:txBody>
          <a:bodyPr wrap="square">
            <a:spAutoFit/>
          </a:bodyPr>
          <a:lstStyle/>
          <a:p>
            <a:pPr>
              <a:spcAft>
                <a:spcPts val="800"/>
              </a:spcAft>
            </a:pPr>
            <a:r>
              <a:rPr lang="en-US" sz="1800" dirty="0">
                <a:highlight>
                  <a:srgbClr val="FFFFFF"/>
                </a:highlight>
                <a:latin typeface="Arial" panose="020B0604020202020204" pitchFamily="34" charset="0"/>
                <a:cs typeface="Arial" panose="020B0604020202020204" pitchFamily="34" charset="0"/>
              </a:rPr>
              <a:t>A Python dictionary is a collection of items, similar to lists and tuples. However, unlike lists and tuples, each item in a dictionary is a key-value pair (consisting of a key and a value).</a:t>
            </a:r>
            <a:endParaRPr lang="en-IN" sz="1800" dirty="0">
              <a:highlight>
                <a:srgbClr val="FFFFFF"/>
              </a:highlight>
              <a:latin typeface="Arial" panose="020B0604020202020204" pitchFamily="34" charset="0"/>
              <a:cs typeface="Arial" panose="020B0604020202020204" pitchFamily="34" charset="0"/>
            </a:endParaRPr>
          </a:p>
        </p:txBody>
      </p:sp>
      <p:pic>
        <p:nvPicPr>
          <p:cNvPr id="7170" name="Picture 2" descr="Key Value Pairs in a Dictionary">
            <a:extLst>
              <a:ext uri="{FF2B5EF4-FFF2-40B4-BE49-F238E27FC236}">
                <a16:creationId xmlns:a16="http://schemas.microsoft.com/office/drawing/2014/main" id="{536B358C-E1F4-CD53-CE67-B821C243E079}"/>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29785" t="7336" r="17778" b="8025"/>
          <a:stretch/>
        </p:blipFill>
        <p:spPr bwMode="auto">
          <a:xfrm>
            <a:off x="3421064" y="2438400"/>
            <a:ext cx="5349872" cy="311971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66BB0D96-6A23-D28F-8F4F-E8629064085A}"/>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26BA8607-A37F-2DE5-F218-962E3ED350C4}"/>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https://www.programiz.com/python-programming/dictionary</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4A0AA6C3-FCE3-3237-DAE4-1263B3BBC22A}"/>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CC353C4A-EA46-C914-A4EF-BCDF8E398703}"/>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8333389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a:extLst>
              <a:ext uri="{FF2B5EF4-FFF2-40B4-BE49-F238E27FC236}">
                <a16:creationId xmlns:a16="http://schemas.microsoft.com/office/drawing/2014/main" id="{DF9B82DB-32FA-092A-0C19-68672D3EDF3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27041" y="1490790"/>
            <a:ext cx="7537917" cy="4277330"/>
          </a:xfrm>
          <a:prstGeom prst="rect">
            <a:avLst/>
          </a:prstGeom>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2FC5B0CA-D485-FA04-B83E-AD05EC9C2EF4}"/>
              </a:ext>
            </a:extLst>
          </p:cNvPr>
          <p:cNvSpPr txBox="1">
            <a:spLocks/>
          </p:cNvSpPr>
          <p:nvPr/>
        </p:nvSpPr>
        <p:spPr>
          <a:xfrm>
            <a:off x="340229" y="838200"/>
            <a:ext cx="5755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Python Dictionary Methods</a:t>
            </a:r>
          </a:p>
        </p:txBody>
      </p:sp>
      <p:grpSp>
        <p:nvGrpSpPr>
          <p:cNvPr id="7" name="Group 6">
            <a:extLst>
              <a:ext uri="{FF2B5EF4-FFF2-40B4-BE49-F238E27FC236}">
                <a16:creationId xmlns:a16="http://schemas.microsoft.com/office/drawing/2014/main" id="{26AD9E67-4AB8-EFAF-F45E-AC2A4A122E7F}"/>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00266F0F-C84A-60F3-7419-73D232371FFC}"/>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https://x.com/OlofPaulson/status/1368503322169253888/photo/1</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6C09321C-4D40-053F-67B0-A9EE35D736C6}"/>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A53A056D-AF51-2649-7156-80AB52382F4B}"/>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1816787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99D3-4CC3-35B3-197A-B710CC746D1F}"/>
              </a:ext>
            </a:extLst>
          </p:cNvPr>
          <p:cNvSpPr txBox="1">
            <a:spLocks/>
          </p:cNvSpPr>
          <p:nvPr/>
        </p:nvSpPr>
        <p:spPr>
          <a:xfrm>
            <a:off x="381000" y="845027"/>
            <a:ext cx="8909713"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5" name="Rectangle 3">
            <a:extLst>
              <a:ext uri="{FF2B5EF4-FFF2-40B4-BE49-F238E27FC236}">
                <a16:creationId xmlns:a16="http://schemas.microsoft.com/office/drawing/2014/main" id="{0EB00F1C-DAE8-3D0C-32C2-52A69BFCE2B9}"/>
              </a:ext>
            </a:extLst>
          </p:cNvPr>
          <p:cNvSpPr>
            <a:spLocks noChangeArrowheads="1"/>
          </p:cNvSpPr>
          <p:nvPr/>
        </p:nvSpPr>
        <p:spPr bwMode="auto">
          <a:xfrm>
            <a:off x="381000" y="1330810"/>
            <a:ext cx="11277600" cy="140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228600" marR="0" lvl="0" indent="-228600" defTabSz="914400" rtl="0" eaLnBrk="0" fontAlgn="base" latinLnBrk="0" hangingPunct="0">
              <a:lnSpc>
                <a:spcPct val="100000"/>
              </a:lnSpc>
              <a:spcBef>
                <a:spcPct val="0"/>
              </a:spcBef>
              <a:spcAft>
                <a:spcPts val="800"/>
              </a:spcAft>
              <a:buClrTx/>
              <a:buSzTx/>
              <a:buFontTx/>
              <a:buNone/>
              <a:tabLst/>
            </a:pPr>
            <a:r>
              <a:rPr lang="en-US" altLang="en-US" sz="1800" dirty="0">
                <a:solidFill>
                  <a:schemeClr val="tx1"/>
                </a:solidFill>
                <a:latin typeface="Arial" panose="020B0604020202020204" pitchFamily="34" charset="0"/>
                <a:cs typeface="Arial" panose="020B0604020202020204" pitchFamily="34" charset="0"/>
              </a:rPr>
              <a:t>1)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Create a dictionary student with keys "name", "age", and "grades" (a list of integers). Print the dictionary.</a:t>
            </a:r>
            <a:endParaRPr lang="en-US" altLang="en-US" sz="1800" dirty="0">
              <a:solidFill>
                <a:schemeClr val="tx1"/>
              </a:solidFill>
              <a:latin typeface="Arial" panose="020B0604020202020204" pitchFamily="34" charset="0"/>
              <a:cs typeface="Arial" panose="020B0604020202020204" pitchFamily="34" charset="0"/>
            </a:endParaRPr>
          </a:p>
          <a:p>
            <a:pPr marL="228600" indent="-228600" eaLnBrk="0" fontAlgn="base" hangingPunct="0">
              <a:spcBef>
                <a:spcPct val="0"/>
              </a:spcBef>
              <a:spcAft>
                <a:spcPts val="800"/>
              </a:spcAft>
              <a:buClrTx/>
            </a:pPr>
            <a:r>
              <a:rPr lang="en-US" altLang="en-US" sz="1800" dirty="0">
                <a:solidFill>
                  <a:schemeClr val="tx1"/>
                </a:solidFill>
                <a:latin typeface="Arial" panose="020B0604020202020204" pitchFamily="34" charset="0"/>
                <a:cs typeface="Arial" panose="020B0604020202020204" pitchFamily="34" charset="0"/>
              </a:rPr>
              <a:t>2)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Add a new key-value pair to the student dictionary with the key "major" and the value "Computer Science". Print the updated dictionary. </a:t>
            </a:r>
            <a:endParaRPr lang="en-US" altLang="en-US" sz="1800" dirty="0">
              <a:solidFill>
                <a:schemeClr val="tx1"/>
              </a:solidFill>
              <a:latin typeface="Arial" panose="020B0604020202020204" pitchFamily="34" charset="0"/>
              <a:cs typeface="Arial" panose="020B0604020202020204" pitchFamily="34" charset="0"/>
            </a:endParaRPr>
          </a:p>
          <a:p>
            <a:pPr marL="228600" indent="-228600" eaLnBrk="0" fontAlgn="base" hangingPunct="0">
              <a:spcBef>
                <a:spcPct val="0"/>
              </a:spcBef>
              <a:spcAft>
                <a:spcPts val="800"/>
              </a:spcAft>
              <a:buClrTx/>
            </a:pPr>
            <a:r>
              <a:rPr lang="en-US" altLang="en-US" sz="1800" dirty="0">
                <a:solidFill>
                  <a:schemeClr val="tx1"/>
                </a:solidFill>
                <a:latin typeface="Arial" panose="020B0604020202020204" pitchFamily="34" charset="0"/>
                <a:cs typeface="Arial" panose="020B0604020202020204" pitchFamily="34" charset="0"/>
              </a:rPr>
              <a:t>3</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Calculate and print the average grade from the "grades" list in the student dictionary. </a:t>
            </a:r>
          </a:p>
        </p:txBody>
      </p:sp>
      <p:pic>
        <p:nvPicPr>
          <p:cNvPr id="8" name="Picture 6" descr="How to get adolescents to feel more energetic and awake in the classroom?">
            <a:extLst>
              <a:ext uri="{FF2B5EF4-FFF2-40B4-BE49-F238E27FC236}">
                <a16:creationId xmlns:a16="http://schemas.microsoft.com/office/drawing/2014/main" id="{44853E3A-A1FF-D325-75AA-BB104C7C44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590365" y="32766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195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8A9A5-A995-2D6B-599E-451A40357C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46F6F1-6CBB-0362-415F-69D9029D6C22}"/>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CC52397F-8EDF-3092-FBD2-F01A42AE920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00A4B749-BD25-E4DD-967E-F056ABEE31A2}"/>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BE98B183-64DD-F854-FD09-8B9B7011020C}"/>
              </a:ext>
            </a:extLst>
          </p:cNvPr>
          <p:cNvSpPr txBox="1">
            <a:spLocks/>
          </p:cNvSpPr>
          <p:nvPr/>
        </p:nvSpPr>
        <p:spPr>
          <a:xfrm>
            <a:off x="381000" y="4191000"/>
            <a:ext cx="70104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7: </a:t>
            </a:r>
            <a:r>
              <a:rPr lang="en-US" sz="1800" dirty="0">
                <a:latin typeface="Arial" panose="020B0604020202020204" pitchFamily="34" charset="0"/>
                <a:cs typeface="Arial" panose="020B0604020202020204" pitchFamily="34" charset="0"/>
              </a:rPr>
              <a:t>Python Lists, Tuples, </a:t>
            </a:r>
            <a:r>
              <a:rPr lang="en-US" sz="1800" dirty="0" err="1">
                <a:latin typeface="Arial" panose="020B0604020202020204" pitchFamily="34" charset="0"/>
                <a:cs typeface="Arial" panose="020B0604020202020204" pitchFamily="34" charset="0"/>
              </a:rPr>
              <a:t>Dictionaries,and</a:t>
            </a:r>
            <a:r>
              <a:rPr lang="en-US" sz="1800" dirty="0">
                <a:latin typeface="Arial" panose="020B0604020202020204" pitchFamily="34" charset="0"/>
                <a:cs typeface="Arial" panose="020B0604020202020204" pitchFamily="34" charset="0"/>
              </a:rPr>
              <a:t> Sets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1D24DEC9-86A1-35EC-06D0-0353E3087B12}"/>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44B87530-561B-C843-B2F0-AFE9D66AC7C9}"/>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F9B1884D-A9CD-A5DF-DA5D-BEFA62E8CE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3EFB3D5B-89C9-CD5C-7F86-68F229C4A0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309464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5AD5A-F649-9B28-D1F0-6D1FD24115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B5C6D3-437A-0762-13A1-974F673C9BB1}"/>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lang="en-US" sz="2000" b="1" dirty="0">
                <a:solidFill>
                  <a:srgbClr val="002060"/>
                </a:solidFill>
                <a:latin typeface="Arial" panose="020B0604020202020204" pitchFamily="34" charset="0"/>
                <a:cs typeface="Arial" panose="020B0604020202020204" pitchFamily="34" charset="0"/>
              </a:rPr>
              <a:t>Self Practice-2</a:t>
            </a:r>
          </a:p>
        </p:txBody>
      </p:sp>
      <p:sp>
        <p:nvSpPr>
          <p:cNvPr id="10" name="Rectangle 1">
            <a:extLst>
              <a:ext uri="{FF2B5EF4-FFF2-40B4-BE49-F238E27FC236}">
                <a16:creationId xmlns:a16="http://schemas.microsoft.com/office/drawing/2014/main" id="{2906E751-4B2C-E7DD-DB3C-A82070937A4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6AC52DB7-887C-B1E9-4210-6C726C64D032}"/>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4">
            <a:extLst>
              <a:ext uri="{FF2B5EF4-FFF2-40B4-BE49-F238E27FC236}">
                <a16:creationId xmlns:a16="http://schemas.microsoft.com/office/drawing/2014/main" id="{5489BBEC-ACD5-6318-1526-CE1BB29D4BD5}"/>
              </a:ext>
            </a:extLst>
          </p:cNvPr>
          <p:cNvSpPr txBox="1">
            <a:spLocks/>
          </p:cNvSpPr>
          <p:nvPr/>
        </p:nvSpPr>
        <p:spPr>
          <a:xfrm>
            <a:off x="380999" y="4191000"/>
            <a:ext cx="7432749"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Self Practice 2: </a:t>
            </a:r>
            <a:r>
              <a:rPr lang="en-US" sz="1800" dirty="0">
                <a:latin typeface="Arial" panose="020B0604020202020204" pitchFamily="34" charset="0"/>
                <a:cs typeface="Arial" panose="020B0604020202020204" pitchFamily="34" charset="0"/>
              </a:rPr>
              <a:t>Better understanding of Python Data Structures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5D27913A-478F-273D-DD41-4E533ACE3EDF}"/>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281C5E9C-26D0-DE98-0504-38D12E87A34D}"/>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F5679609-F754-4FBF-762E-0B8CA32378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9AEBE59A-CE17-8842-658D-C9E4EEA676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703747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TextShape 1"/>
          <p:cNvSpPr txBox="1"/>
          <p:nvPr/>
        </p:nvSpPr>
        <p:spPr>
          <a:xfrm>
            <a:off x="381000" y="845849"/>
            <a:ext cx="8493634" cy="403445"/>
          </a:xfrm>
          <a:prstGeom prst="rect">
            <a:avLst/>
          </a:prstGeom>
          <a:noFill/>
          <a:ln w="0">
            <a:noFill/>
          </a:ln>
        </p:spPr>
        <p:txBody>
          <a:bodyPr lIns="91440" tIns="45720" rIns="91440" bIns="45720" anchor="b">
            <a:normAutofit/>
          </a:bodyPr>
          <a:lstStyle/>
          <a:p>
            <a:r>
              <a:rPr lang="en-US" sz="2000" b="1" spc="-1" dirty="0">
                <a:solidFill>
                  <a:srgbClr val="002060"/>
                </a:solidFill>
                <a:latin typeface="Arial" panose="020B0604020202020204" pitchFamily="34" charset="0"/>
                <a:cs typeface="Arial" panose="020B0604020202020204" pitchFamily="34" charset="0"/>
              </a:rPr>
              <a:t>If, </a:t>
            </a:r>
            <a:r>
              <a:rPr lang="en-US" sz="2000" b="1" spc="-1" dirty="0" err="1">
                <a:solidFill>
                  <a:srgbClr val="002060"/>
                </a:solidFill>
                <a:latin typeface="Arial" panose="020B0604020202020204" pitchFamily="34" charset="0"/>
                <a:cs typeface="Arial" panose="020B0604020202020204" pitchFamily="34" charset="0"/>
              </a:rPr>
              <a:t>Elif</a:t>
            </a:r>
            <a:r>
              <a:rPr lang="en-US" sz="2000" b="1" spc="-1" dirty="0">
                <a:solidFill>
                  <a:srgbClr val="002060"/>
                </a:solidFill>
                <a:latin typeface="Arial" panose="020B0604020202020204" pitchFamily="34" charset="0"/>
                <a:cs typeface="Arial" panose="020B0604020202020204" pitchFamily="34" charset="0"/>
              </a:rPr>
              <a:t> &amp; Else Statement in Python</a:t>
            </a:r>
            <a:endParaRPr lang="en-US" sz="2000" spc="-1" dirty="0">
              <a:latin typeface="Arial" panose="020B0604020202020204" pitchFamily="34" charset="0"/>
              <a:ea typeface="+mn-lt"/>
              <a:cs typeface="Arial" panose="020B0604020202020204" pitchFamily="34" charset="0"/>
            </a:endParaRPr>
          </a:p>
        </p:txBody>
      </p:sp>
      <p:pic>
        <p:nvPicPr>
          <p:cNvPr id="4" name="Picture 4" descr="Text, letter&#10;&#10;Description automatically generated">
            <a:extLst>
              <a:ext uri="{FF2B5EF4-FFF2-40B4-BE49-F238E27FC236}">
                <a16:creationId xmlns:a16="http://schemas.microsoft.com/office/drawing/2014/main" id="{51F492E0-7240-3A12-D833-54D7007A01F2}"/>
              </a:ext>
            </a:extLst>
          </p:cNvPr>
          <p:cNvPicPr>
            <a:picLocks noChangeAspect="1"/>
          </p:cNvPicPr>
          <p:nvPr/>
        </p:nvPicPr>
        <p:blipFill>
          <a:blip r:embed="rId3"/>
          <a:stretch>
            <a:fillRect/>
          </a:stretch>
        </p:blipFill>
        <p:spPr>
          <a:xfrm>
            <a:off x="557384" y="1600200"/>
            <a:ext cx="5529091" cy="2288390"/>
          </a:xfrm>
          <a:prstGeom prst="rect">
            <a:avLst/>
          </a:prstGeom>
        </p:spPr>
      </p:pic>
      <p:pic>
        <p:nvPicPr>
          <p:cNvPr id="3" name="Picture 2" descr="A diagram of a condition&#10;&#10;Description automatically generated">
            <a:extLst>
              <a:ext uri="{FF2B5EF4-FFF2-40B4-BE49-F238E27FC236}">
                <a16:creationId xmlns:a16="http://schemas.microsoft.com/office/drawing/2014/main" id="{3ED0775B-F591-20B6-ED79-870F5C9DF9B0}"/>
              </a:ext>
            </a:extLst>
          </p:cNvPr>
          <p:cNvPicPr>
            <a:picLocks noChangeAspect="1"/>
          </p:cNvPicPr>
          <p:nvPr/>
        </p:nvPicPr>
        <p:blipFill rotWithShape="1">
          <a:blip r:embed="rId4"/>
          <a:srcRect l="10064" t="2012" r="7111" b="9948"/>
          <a:stretch/>
        </p:blipFill>
        <p:spPr>
          <a:xfrm>
            <a:off x="8107617" y="1362074"/>
            <a:ext cx="2522283" cy="4530497"/>
          </a:xfrm>
          <a:prstGeom prst="rect">
            <a:avLst/>
          </a:prstGeom>
        </p:spPr>
      </p:pic>
      <p:grpSp>
        <p:nvGrpSpPr>
          <p:cNvPr id="8" name="Group 7">
            <a:extLst>
              <a:ext uri="{FF2B5EF4-FFF2-40B4-BE49-F238E27FC236}">
                <a16:creationId xmlns:a16="http://schemas.microsoft.com/office/drawing/2014/main" id="{E824509A-515F-6ED9-524B-DF7820FE95D7}"/>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711AE48D-7C10-2286-CCDA-972C2F604EA3}"/>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https://www.toppr.com/guides/python-guide/tutorials/python-flow-control/if-elif-else/python-if-if-else-if-elif-else-and-nested-if-statement/</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29D3FB75-C9CE-CCBA-B3C7-917596D7871C}"/>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B27CA824-FD96-11C0-C815-9C8DDE97F898}"/>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3969350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1E7D1-0A5D-6D2D-74A2-E3C0ABC486FF}"/>
              </a:ext>
            </a:extLst>
          </p:cNvPr>
          <p:cNvSpPr txBox="1">
            <a:spLocks/>
          </p:cNvSpPr>
          <p:nvPr/>
        </p:nvSpPr>
        <p:spPr>
          <a:xfrm>
            <a:off x="381000" y="863893"/>
            <a:ext cx="8900753"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TextBox 3">
            <a:extLst>
              <a:ext uri="{FF2B5EF4-FFF2-40B4-BE49-F238E27FC236}">
                <a16:creationId xmlns:a16="http://schemas.microsoft.com/office/drawing/2014/main" id="{B0BAF5AC-70CB-6576-EF50-1EE20F2C3497}"/>
              </a:ext>
            </a:extLst>
          </p:cNvPr>
          <p:cNvSpPr txBox="1"/>
          <p:nvPr/>
        </p:nvSpPr>
        <p:spPr>
          <a:xfrm>
            <a:off x="381000" y="1335708"/>
            <a:ext cx="11277600"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1) Write a program that checks if a given number is positive, negative, or zero and prints the appropriate message.</a:t>
            </a:r>
            <a:endParaRPr lang="en-IN"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67020AF-882B-3E90-570D-D8E3A2931728}"/>
              </a:ext>
            </a:extLst>
          </p:cNvPr>
          <p:cNvSpPr txBox="1"/>
          <p:nvPr/>
        </p:nvSpPr>
        <p:spPr>
          <a:xfrm>
            <a:off x="381000" y="2057400"/>
            <a:ext cx="10744200"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2) Write a program that takes a user's age and checks if they are a child (0-12 years), a teenager (13-19 years), an adult (20-64 years), or a senior (65+ years), and prints the appropriate message.</a:t>
            </a:r>
            <a:endParaRPr lang="en-IN" sz="1800" dirty="0">
              <a:latin typeface="Arial" panose="020B0604020202020204" pitchFamily="34" charset="0"/>
              <a:cs typeface="Arial" panose="020B0604020202020204" pitchFamily="34" charset="0"/>
            </a:endParaRPr>
          </a:p>
        </p:txBody>
      </p:sp>
      <p:pic>
        <p:nvPicPr>
          <p:cNvPr id="7" name="Picture 6" descr="How to get adolescents to feel more energetic and awake in the classroom?">
            <a:extLst>
              <a:ext uri="{FF2B5EF4-FFF2-40B4-BE49-F238E27FC236}">
                <a16:creationId xmlns:a16="http://schemas.microsoft.com/office/drawing/2014/main" id="{C7FFA6CC-ABFE-A50B-0342-28A7A2DC4D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590365" y="3400425"/>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287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TextShape 1"/>
          <p:cNvSpPr txBox="1"/>
          <p:nvPr/>
        </p:nvSpPr>
        <p:spPr>
          <a:xfrm>
            <a:off x="326906" y="859167"/>
            <a:ext cx="10264894" cy="430531"/>
          </a:xfrm>
          <a:prstGeom prst="rect">
            <a:avLst/>
          </a:prstGeom>
          <a:noFill/>
          <a:ln w="0">
            <a:noFill/>
          </a:ln>
        </p:spPr>
        <p:txBody>
          <a:bodyPr lIns="121920" tIns="60960" rIns="121920" bIns="60960" anchor="t">
            <a:normAutofit/>
          </a:bodyPr>
          <a:lstStyle/>
          <a:p>
            <a:pPr>
              <a:lnSpc>
                <a:spcPct val="90000"/>
              </a:lnSpc>
            </a:pPr>
            <a:r>
              <a:rPr lang="en-US" sz="2000" b="1" spc="-1" dirty="0">
                <a:solidFill>
                  <a:srgbClr val="002060"/>
                </a:solidFill>
                <a:latin typeface="Arial" panose="020B0604020202020204" pitchFamily="34" charset="0"/>
                <a:cs typeface="Arial" panose="020B0604020202020204" pitchFamily="34" charset="0"/>
              </a:rPr>
              <a:t>For loop in Python</a:t>
            </a:r>
            <a:endParaRPr lang="en-US" sz="2000" dirty="0">
              <a:latin typeface="Arial" panose="020B0604020202020204" pitchFamily="34" charset="0"/>
              <a:cs typeface="Arial" panose="020B0604020202020204" pitchFamily="34" charset="0"/>
            </a:endParaRPr>
          </a:p>
        </p:txBody>
      </p:sp>
      <p:pic>
        <p:nvPicPr>
          <p:cNvPr id="3" name="Picture 2" descr="A diagram of a program&#10;&#10;Description automatically generated">
            <a:extLst>
              <a:ext uri="{FF2B5EF4-FFF2-40B4-BE49-F238E27FC236}">
                <a16:creationId xmlns:a16="http://schemas.microsoft.com/office/drawing/2014/main" id="{32D0B625-C637-7544-B72E-7F1373900B47}"/>
              </a:ext>
            </a:extLst>
          </p:cNvPr>
          <p:cNvPicPr>
            <a:picLocks noChangeAspect="1"/>
          </p:cNvPicPr>
          <p:nvPr/>
        </p:nvPicPr>
        <p:blipFill rotWithShape="1">
          <a:blip r:embed="rId3"/>
          <a:stretch/>
        </p:blipFill>
        <p:spPr>
          <a:xfrm>
            <a:off x="2516620" y="1600200"/>
            <a:ext cx="7158759" cy="4450764"/>
          </a:xfrm>
          <a:prstGeom prst="rect">
            <a:avLst/>
          </a:prstGeom>
        </p:spPr>
      </p:pic>
      <p:grpSp>
        <p:nvGrpSpPr>
          <p:cNvPr id="7" name="Group 6">
            <a:extLst>
              <a:ext uri="{FF2B5EF4-FFF2-40B4-BE49-F238E27FC236}">
                <a16:creationId xmlns:a16="http://schemas.microsoft.com/office/drawing/2014/main" id="{221E55D8-53DF-4FB4-190E-719F64B5B053}"/>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287FEB5B-5FFE-F635-C2A9-EF4552C23570}"/>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https://pynative.com/python-for-loop/</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3B3552A5-ED3F-8F77-7EE4-EFCD329CA938}"/>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D9078856-8141-BEB7-F007-2D1031833CFC}"/>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163595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F5EC-4E42-E0B5-6A80-6369BA273728}"/>
              </a:ext>
            </a:extLst>
          </p:cNvPr>
          <p:cNvSpPr txBox="1">
            <a:spLocks/>
          </p:cNvSpPr>
          <p:nvPr/>
        </p:nvSpPr>
        <p:spPr>
          <a:xfrm>
            <a:off x="381000" y="838200"/>
            <a:ext cx="8893487"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TextBox 3">
            <a:extLst>
              <a:ext uri="{FF2B5EF4-FFF2-40B4-BE49-F238E27FC236}">
                <a16:creationId xmlns:a16="http://schemas.microsoft.com/office/drawing/2014/main" id="{17F0F11A-2301-D791-26BE-94AA50DECF8C}"/>
              </a:ext>
            </a:extLst>
          </p:cNvPr>
          <p:cNvSpPr txBox="1"/>
          <p:nvPr/>
        </p:nvSpPr>
        <p:spPr>
          <a:xfrm>
            <a:off x="381000" y="1337417"/>
            <a:ext cx="11049000"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1) Write a program that takes a dictionary of student names and their scores, and prints the grade of each student based on the score (A for 90+, B for 80-89, C for 70-79, D for 60-69, F for below 60).</a:t>
            </a:r>
            <a:endParaRPr lang="en-IN"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9182CB4-3439-C297-87E4-F700E7935962}"/>
              </a:ext>
            </a:extLst>
          </p:cNvPr>
          <p:cNvSpPr txBox="1"/>
          <p:nvPr/>
        </p:nvSpPr>
        <p:spPr>
          <a:xfrm>
            <a:off x="380001" y="2133600"/>
            <a:ext cx="10973799" cy="369332"/>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2) Write a program that takes a tuple of numbers and prints whether each number is even or odd.</a:t>
            </a:r>
            <a:endParaRPr lang="en-IN" sz="1800" dirty="0">
              <a:latin typeface="Arial" panose="020B0604020202020204" pitchFamily="34" charset="0"/>
              <a:cs typeface="Arial" panose="020B0604020202020204" pitchFamily="34" charset="0"/>
            </a:endParaRPr>
          </a:p>
        </p:txBody>
      </p:sp>
      <p:pic>
        <p:nvPicPr>
          <p:cNvPr id="7" name="Picture 6" descr="How to get adolescents to feel more energetic and awake in the classroom?">
            <a:extLst>
              <a:ext uri="{FF2B5EF4-FFF2-40B4-BE49-F238E27FC236}">
                <a16:creationId xmlns:a16="http://schemas.microsoft.com/office/drawing/2014/main" id="{DD126389-2AC8-4D6E-6438-303184740B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590365" y="30480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5753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a:extLst>
              <a:ext uri="{FF2B5EF4-FFF2-40B4-BE49-F238E27FC236}">
                <a16:creationId xmlns:a16="http://schemas.microsoft.com/office/drawing/2014/main" id="{48943035-2CA9-7F6C-5A1B-8A533B177CB2}"/>
              </a:ext>
            </a:extLst>
          </p:cNvPr>
          <p:cNvSpPr txBox="1"/>
          <p:nvPr/>
        </p:nvSpPr>
        <p:spPr>
          <a:xfrm>
            <a:off x="380999" y="875284"/>
            <a:ext cx="10207343" cy="430531"/>
          </a:xfrm>
          <a:prstGeom prst="rect">
            <a:avLst/>
          </a:prstGeom>
          <a:noFill/>
          <a:ln w="0">
            <a:noFill/>
          </a:ln>
        </p:spPr>
        <p:txBody>
          <a:bodyPr lIns="121920" tIns="60960" rIns="121920" bIns="60960" anchor="t">
            <a:normAutofit/>
          </a:bodyPr>
          <a:lstStyle/>
          <a:p>
            <a:pPr>
              <a:lnSpc>
                <a:spcPct val="90000"/>
              </a:lnSpc>
            </a:pPr>
            <a:r>
              <a:rPr lang="en-US" sz="2000" b="1" spc="-1" dirty="0">
                <a:solidFill>
                  <a:srgbClr val="002060"/>
                </a:solidFill>
                <a:latin typeface="Arial" panose="020B0604020202020204" pitchFamily="34" charset="0"/>
                <a:cs typeface="Arial" panose="020B0604020202020204" pitchFamily="34" charset="0"/>
              </a:rPr>
              <a:t>While loop in Python</a:t>
            </a:r>
            <a:endParaRPr lang="en-US" sz="2000"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F3722130-817F-413F-F7C4-3AF154E23328}"/>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5BEECE34-0B7B-DDA5-9EA4-DB25ACD7DC68}"/>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3">
                    <a:extLst>
                      <a:ext uri="{A12FA001-AC4F-418D-AE19-62706E023703}">
                        <ahyp:hlinkClr xmlns:ahyp="http://schemas.microsoft.com/office/drawing/2018/hyperlinkcolor" val="tx"/>
                      </a:ext>
                    </a:extLst>
                  </a:hlinkClick>
                </a:rPr>
                <a:t>https://pynative.com/python-while-loop/</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30B4A026-C4DC-19FB-9293-9E132082F9F6}"/>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32928052-BF14-C62E-C717-81AA6793DA74}"/>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grpSp>
        <p:nvGrpSpPr>
          <p:cNvPr id="10" name="Group 9">
            <a:extLst>
              <a:ext uri="{FF2B5EF4-FFF2-40B4-BE49-F238E27FC236}">
                <a16:creationId xmlns:a16="http://schemas.microsoft.com/office/drawing/2014/main" id="{78AD381E-C851-7442-4A49-E2FC7F63CD8C}"/>
              </a:ext>
            </a:extLst>
          </p:cNvPr>
          <p:cNvGrpSpPr/>
          <p:nvPr/>
        </p:nvGrpSpPr>
        <p:grpSpPr>
          <a:xfrm>
            <a:off x="2333625" y="1600200"/>
            <a:ext cx="7524750" cy="4552009"/>
            <a:chOff x="2333625" y="1600200"/>
            <a:chExt cx="7524750" cy="4552009"/>
          </a:xfrm>
        </p:grpSpPr>
        <p:pic>
          <p:nvPicPr>
            <p:cNvPr id="2" name="Picture 1" descr="A diagram of a diagram&#10;&#10;Description automatically generated">
              <a:extLst>
                <a:ext uri="{FF2B5EF4-FFF2-40B4-BE49-F238E27FC236}">
                  <a16:creationId xmlns:a16="http://schemas.microsoft.com/office/drawing/2014/main" id="{4BE57312-62D1-5AF7-9DC3-4A81047074DC}"/>
                </a:ext>
              </a:extLst>
            </p:cNvPr>
            <p:cNvPicPr>
              <a:picLocks noChangeAspect="1"/>
            </p:cNvPicPr>
            <p:nvPr/>
          </p:nvPicPr>
          <p:blipFill rotWithShape="1">
            <a:blip r:embed="rId4">
              <a:grayscl/>
            </a:blip>
            <a:stretch/>
          </p:blipFill>
          <p:spPr>
            <a:xfrm>
              <a:off x="2333625" y="1600200"/>
              <a:ext cx="7524750" cy="4552009"/>
            </a:xfrm>
            <a:prstGeom prst="rect">
              <a:avLst/>
            </a:prstGeom>
          </p:spPr>
        </p:pic>
        <p:sp>
          <p:nvSpPr>
            <p:cNvPr id="9" name="Rectangle 8">
              <a:extLst>
                <a:ext uri="{FF2B5EF4-FFF2-40B4-BE49-F238E27FC236}">
                  <a16:creationId xmlns:a16="http://schemas.microsoft.com/office/drawing/2014/main" id="{B9B87F5A-D018-3A79-13EF-8BE94EABEC87}"/>
                </a:ext>
              </a:extLst>
            </p:cNvPr>
            <p:cNvSpPr/>
            <p:nvPr/>
          </p:nvSpPr>
          <p:spPr>
            <a:xfrm>
              <a:off x="8229600" y="5791200"/>
              <a:ext cx="1447800" cy="304800"/>
            </a:xfrm>
            <a:prstGeom prst="rect">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43470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F5EC-4E42-E0B5-6A80-6369BA273728}"/>
              </a:ext>
            </a:extLst>
          </p:cNvPr>
          <p:cNvSpPr txBox="1">
            <a:spLocks/>
          </p:cNvSpPr>
          <p:nvPr/>
        </p:nvSpPr>
        <p:spPr>
          <a:xfrm>
            <a:off x="353871" y="854368"/>
            <a:ext cx="9028300"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TextBox 3">
            <a:extLst>
              <a:ext uri="{FF2B5EF4-FFF2-40B4-BE49-F238E27FC236}">
                <a16:creationId xmlns:a16="http://schemas.microsoft.com/office/drawing/2014/main" id="{17F0F11A-2301-D791-26BE-94AA50DECF8C}"/>
              </a:ext>
            </a:extLst>
          </p:cNvPr>
          <p:cNvSpPr txBox="1"/>
          <p:nvPr/>
        </p:nvSpPr>
        <p:spPr>
          <a:xfrm>
            <a:off x="381000" y="1337417"/>
            <a:ext cx="11201400"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1) Write a program that repeatedly asks the user for a number and adds it to a list until the sum of the list is greater than 100. Print the list and the sum.</a:t>
            </a:r>
          </a:p>
        </p:txBody>
      </p:sp>
      <p:sp>
        <p:nvSpPr>
          <p:cNvPr id="6" name="TextBox 5">
            <a:extLst>
              <a:ext uri="{FF2B5EF4-FFF2-40B4-BE49-F238E27FC236}">
                <a16:creationId xmlns:a16="http://schemas.microsoft.com/office/drawing/2014/main" id="{29182CB4-3439-C297-87E4-F700E7935962}"/>
              </a:ext>
            </a:extLst>
          </p:cNvPr>
          <p:cNvSpPr txBox="1"/>
          <p:nvPr/>
        </p:nvSpPr>
        <p:spPr>
          <a:xfrm>
            <a:off x="381000" y="2048470"/>
            <a:ext cx="10896600" cy="369332"/>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2)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Given a tuple of numbers, write a program that prints each element in reverse order using a while loop. </a:t>
            </a:r>
          </a:p>
        </p:txBody>
      </p:sp>
      <p:pic>
        <p:nvPicPr>
          <p:cNvPr id="7" name="Picture 6" descr="How to get adolescents to feel more energetic and awake in the classroom?">
            <a:extLst>
              <a:ext uri="{FF2B5EF4-FFF2-40B4-BE49-F238E27FC236}">
                <a16:creationId xmlns:a16="http://schemas.microsoft.com/office/drawing/2014/main" id="{DD126389-2AC8-4D6E-6438-303184740B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590365" y="30480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433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TextShape 1"/>
          <p:cNvSpPr txBox="1"/>
          <p:nvPr/>
        </p:nvSpPr>
        <p:spPr>
          <a:xfrm>
            <a:off x="366017" y="748481"/>
            <a:ext cx="9311383" cy="512538"/>
          </a:xfrm>
          <a:prstGeom prst="rect">
            <a:avLst/>
          </a:prstGeom>
          <a:noFill/>
          <a:ln w="0">
            <a:noFill/>
          </a:ln>
        </p:spPr>
        <p:txBody>
          <a:bodyPr lIns="91440" tIns="45720" rIns="91440" bIns="45720" anchor="b">
            <a:normAutofit/>
          </a:bodyPr>
          <a:lstStyle/>
          <a:p>
            <a:pPr>
              <a:lnSpc>
                <a:spcPct val="90000"/>
              </a:lnSpc>
            </a:pPr>
            <a:r>
              <a:rPr lang="en-US" sz="2000" b="1" spc="-1" dirty="0">
                <a:solidFill>
                  <a:srgbClr val="002060"/>
                </a:solidFill>
                <a:latin typeface="Arial" panose="020B0604020202020204" pitchFamily="34" charset="0"/>
                <a:cs typeface="Arial" panose="020B0604020202020204" pitchFamily="34" charset="0"/>
              </a:rPr>
              <a:t>Break, and Continue Statements</a:t>
            </a:r>
            <a:endParaRPr lang="en-US" sz="2000" spc="-1"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2725D3D0-9272-51CE-F17E-D037C99444D0}"/>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303D61ED-2F7B-1E3E-EF7D-4B1B04BCCE82}"/>
                </a:ext>
              </a:extLst>
            </p:cNvPr>
            <p:cNvSpPr txBox="1"/>
            <p:nvPr/>
          </p:nvSpPr>
          <p:spPr>
            <a:xfrm>
              <a:off x="990600" y="6400800"/>
              <a:ext cx="11056607" cy="276999"/>
            </a:xfrm>
            <a:prstGeom prst="rect">
              <a:avLst/>
            </a:prstGeom>
            <a:noFill/>
          </p:spPr>
          <p:txBody>
            <a:bodyPr wrap="square" rtlCol="0">
              <a:spAutoFit/>
            </a:bodyPr>
            <a:lstStyle/>
            <a:p>
              <a:r>
                <a:rPr lang="en-IN" sz="1200" dirty="0">
                  <a:solidFill>
                    <a:srgbClr val="0000FF"/>
                  </a:solidFill>
                  <a:latin typeface="+mj-lt"/>
                  <a:hlinkClick r:id="rId3">
                    <a:extLst>
                      <a:ext uri="{A12FA001-AC4F-418D-AE19-62706E023703}">
                        <ahyp:hlinkClr xmlns:ahyp="http://schemas.microsoft.com/office/drawing/2018/hyperlinkcolor" val="tx"/>
                      </a:ext>
                    </a:extLst>
                  </a:hlinkClick>
                </a:rPr>
                <a:t>https://pynative.com/python-break-continue-pass/</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69D08E9D-696C-E326-1371-80AA1388DDCB}"/>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BB40DC91-B4A6-D3DE-F6DF-FCCCA0612043}"/>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grpSp>
        <p:nvGrpSpPr>
          <p:cNvPr id="12" name="Group 11">
            <a:extLst>
              <a:ext uri="{FF2B5EF4-FFF2-40B4-BE49-F238E27FC236}">
                <a16:creationId xmlns:a16="http://schemas.microsoft.com/office/drawing/2014/main" id="{7BA28846-8756-8730-ECEE-2358E8601211}"/>
              </a:ext>
            </a:extLst>
          </p:cNvPr>
          <p:cNvGrpSpPr/>
          <p:nvPr/>
        </p:nvGrpSpPr>
        <p:grpSpPr>
          <a:xfrm>
            <a:off x="502953" y="1600200"/>
            <a:ext cx="5483524" cy="3324433"/>
            <a:chOff x="502953" y="1600200"/>
            <a:chExt cx="5483524" cy="3324433"/>
          </a:xfrm>
        </p:grpSpPr>
        <p:pic>
          <p:nvPicPr>
            <p:cNvPr id="3" name="Picture 2" descr="A diagram of a break statement&#10;&#10;Description automatically generated">
              <a:extLst>
                <a:ext uri="{FF2B5EF4-FFF2-40B4-BE49-F238E27FC236}">
                  <a16:creationId xmlns:a16="http://schemas.microsoft.com/office/drawing/2014/main" id="{D20ECAC7-9043-CAA0-087A-1D93790F51BC}"/>
                </a:ext>
              </a:extLst>
            </p:cNvPr>
            <p:cNvPicPr>
              <a:picLocks noChangeAspect="1"/>
            </p:cNvPicPr>
            <p:nvPr/>
          </p:nvPicPr>
          <p:blipFill>
            <a:blip r:embed="rId4"/>
            <a:stretch>
              <a:fillRect/>
            </a:stretch>
          </p:blipFill>
          <p:spPr>
            <a:xfrm>
              <a:off x="502953" y="1600200"/>
              <a:ext cx="5483524" cy="3324433"/>
            </a:xfrm>
            <a:prstGeom prst="rect">
              <a:avLst/>
            </a:prstGeom>
          </p:spPr>
        </p:pic>
        <p:sp>
          <p:nvSpPr>
            <p:cNvPr id="8" name="Rectangle 7">
              <a:extLst>
                <a:ext uri="{FF2B5EF4-FFF2-40B4-BE49-F238E27FC236}">
                  <a16:creationId xmlns:a16="http://schemas.microsoft.com/office/drawing/2014/main" id="{4EDF1BD8-8A88-D9F0-456E-3C750C928503}"/>
                </a:ext>
              </a:extLst>
            </p:cNvPr>
            <p:cNvSpPr/>
            <p:nvPr/>
          </p:nvSpPr>
          <p:spPr>
            <a:xfrm>
              <a:off x="4800600" y="4495800"/>
              <a:ext cx="1143000" cy="381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BAAE41E8-206C-F9B2-9471-709BCEC14B7E}"/>
              </a:ext>
            </a:extLst>
          </p:cNvPr>
          <p:cNvGrpSpPr/>
          <p:nvPr/>
        </p:nvGrpSpPr>
        <p:grpSpPr>
          <a:xfrm>
            <a:off x="6308277" y="1600199"/>
            <a:ext cx="5641675" cy="3324433"/>
            <a:chOff x="6308277" y="1600199"/>
            <a:chExt cx="5641675" cy="3324433"/>
          </a:xfrm>
        </p:grpSpPr>
        <p:pic>
          <p:nvPicPr>
            <p:cNvPr id="9" name="Picture 8" descr="A diagram of a function&#10;&#10;Description automatically generated">
              <a:extLst>
                <a:ext uri="{FF2B5EF4-FFF2-40B4-BE49-F238E27FC236}">
                  <a16:creationId xmlns:a16="http://schemas.microsoft.com/office/drawing/2014/main" id="{F04E9C28-A6A9-B78B-B1B6-D5007E990553}"/>
                </a:ext>
              </a:extLst>
            </p:cNvPr>
            <p:cNvPicPr>
              <a:picLocks noChangeAspect="1"/>
            </p:cNvPicPr>
            <p:nvPr/>
          </p:nvPicPr>
          <p:blipFill>
            <a:blip r:embed="rId5"/>
            <a:stretch>
              <a:fillRect/>
            </a:stretch>
          </p:blipFill>
          <p:spPr>
            <a:xfrm>
              <a:off x="6308277" y="1600199"/>
              <a:ext cx="5641675" cy="3324433"/>
            </a:xfrm>
            <a:prstGeom prst="rect">
              <a:avLst/>
            </a:prstGeom>
          </p:spPr>
        </p:pic>
        <p:sp>
          <p:nvSpPr>
            <p:cNvPr id="10" name="Rectangle 9">
              <a:extLst>
                <a:ext uri="{FF2B5EF4-FFF2-40B4-BE49-F238E27FC236}">
                  <a16:creationId xmlns:a16="http://schemas.microsoft.com/office/drawing/2014/main" id="{C579FB69-46DC-3D27-85EE-2317037A6777}"/>
                </a:ext>
              </a:extLst>
            </p:cNvPr>
            <p:cNvSpPr/>
            <p:nvPr/>
          </p:nvSpPr>
          <p:spPr>
            <a:xfrm>
              <a:off x="10668000" y="4495800"/>
              <a:ext cx="1143000" cy="381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96704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F5EC-4E42-E0B5-6A80-6369BA273728}"/>
              </a:ext>
            </a:extLst>
          </p:cNvPr>
          <p:cNvSpPr txBox="1">
            <a:spLocks/>
          </p:cNvSpPr>
          <p:nvPr/>
        </p:nvSpPr>
        <p:spPr>
          <a:xfrm>
            <a:off x="379628" y="863893"/>
            <a:ext cx="9012067"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TextBox 3">
            <a:extLst>
              <a:ext uri="{FF2B5EF4-FFF2-40B4-BE49-F238E27FC236}">
                <a16:creationId xmlns:a16="http://schemas.microsoft.com/office/drawing/2014/main" id="{17F0F11A-2301-D791-26BE-94AA50DECF8C}"/>
              </a:ext>
            </a:extLst>
          </p:cNvPr>
          <p:cNvSpPr txBox="1"/>
          <p:nvPr/>
        </p:nvSpPr>
        <p:spPr>
          <a:xfrm>
            <a:off x="381000" y="1327892"/>
            <a:ext cx="11049000"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1) Given a list of strings, write a program that checks if the list contains any empty strings. If it does, print "List contains empty strings", otherwise print "No empty strings found".</a:t>
            </a:r>
          </a:p>
        </p:txBody>
      </p:sp>
      <p:sp>
        <p:nvSpPr>
          <p:cNvPr id="6" name="TextBox 5">
            <a:extLst>
              <a:ext uri="{FF2B5EF4-FFF2-40B4-BE49-F238E27FC236}">
                <a16:creationId xmlns:a16="http://schemas.microsoft.com/office/drawing/2014/main" id="{29182CB4-3439-C297-87E4-F700E7935962}"/>
              </a:ext>
            </a:extLst>
          </p:cNvPr>
          <p:cNvSpPr txBox="1"/>
          <p:nvPr/>
        </p:nvSpPr>
        <p:spPr>
          <a:xfrm>
            <a:off x="379964" y="2152471"/>
            <a:ext cx="10821436"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2) Write a program that repeatedly asks the user to input a number until they input a negative number. Print the total count of numbers entered (excluding the negative number).</a:t>
            </a:r>
            <a:endParaRPr lang="en-IN" sz="1800" dirty="0">
              <a:latin typeface="Arial" panose="020B0604020202020204" pitchFamily="34" charset="0"/>
              <a:cs typeface="Arial" panose="020B0604020202020204" pitchFamily="34" charset="0"/>
            </a:endParaRPr>
          </a:p>
        </p:txBody>
      </p:sp>
      <p:pic>
        <p:nvPicPr>
          <p:cNvPr id="7" name="Picture 6" descr="How to get adolescents to feel more energetic and awake in the classroom?">
            <a:extLst>
              <a:ext uri="{FF2B5EF4-FFF2-40B4-BE49-F238E27FC236}">
                <a16:creationId xmlns:a16="http://schemas.microsoft.com/office/drawing/2014/main" id="{DD126389-2AC8-4D6E-6438-303184740B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590365" y="32766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0411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Shape 1">
            <a:extLst>
              <a:ext uri="{FF2B5EF4-FFF2-40B4-BE49-F238E27FC236}">
                <a16:creationId xmlns:a16="http://schemas.microsoft.com/office/drawing/2014/main" id="{886C9181-84CE-CB43-0035-76715C9EB133}"/>
              </a:ext>
            </a:extLst>
          </p:cNvPr>
          <p:cNvSpPr txBox="1"/>
          <p:nvPr/>
        </p:nvSpPr>
        <p:spPr>
          <a:xfrm>
            <a:off x="358161" y="919504"/>
            <a:ext cx="5890239" cy="363882"/>
          </a:xfrm>
          <a:prstGeom prst="rect">
            <a:avLst/>
          </a:prstGeom>
          <a:noFill/>
          <a:ln w="0">
            <a:noFill/>
          </a:ln>
        </p:spPr>
        <p:txBody>
          <a:bodyPr lIns="91440" tIns="45720" rIns="91440" bIns="45720" anchor="t">
            <a:normAutofit lnSpcReduction="10000"/>
          </a:bodyPr>
          <a:lstStyle/>
          <a:p>
            <a:pPr>
              <a:lnSpc>
                <a:spcPct val="90000"/>
              </a:lnSpc>
            </a:pPr>
            <a:r>
              <a:rPr lang="en-US" sz="2000" b="1" strike="noStrike" spc="-1" dirty="0">
                <a:solidFill>
                  <a:srgbClr val="002060"/>
                </a:solidFill>
                <a:latin typeface="Arial"/>
              </a:rPr>
              <a:t>Functions in Python</a:t>
            </a:r>
            <a:endParaRPr lang="en-US" sz="2000" b="0" strike="noStrike" spc="-1" dirty="0">
              <a:solidFill>
                <a:srgbClr val="000000"/>
              </a:solidFill>
            </a:endParaRPr>
          </a:p>
        </p:txBody>
      </p:sp>
      <p:grpSp>
        <p:nvGrpSpPr>
          <p:cNvPr id="8" name="Group 7">
            <a:extLst>
              <a:ext uri="{FF2B5EF4-FFF2-40B4-BE49-F238E27FC236}">
                <a16:creationId xmlns:a16="http://schemas.microsoft.com/office/drawing/2014/main" id="{9575CBC8-C475-BCDF-1F09-787D9B581734}"/>
              </a:ext>
            </a:extLst>
          </p:cNvPr>
          <p:cNvGrpSpPr/>
          <p:nvPr/>
        </p:nvGrpSpPr>
        <p:grpSpPr>
          <a:xfrm>
            <a:off x="0" y="6296065"/>
            <a:ext cx="12192000" cy="381734"/>
            <a:chOff x="0" y="6296065"/>
            <a:chExt cx="12192000" cy="381734"/>
          </a:xfrm>
        </p:grpSpPr>
        <p:sp>
          <p:nvSpPr>
            <p:cNvPr id="4" name="TextBox 3">
              <a:extLst>
                <a:ext uri="{FF2B5EF4-FFF2-40B4-BE49-F238E27FC236}">
                  <a16:creationId xmlns:a16="http://schemas.microsoft.com/office/drawing/2014/main" id="{725252D5-AE3F-826F-D2A9-9B4490CDF9D8}"/>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3">
                    <a:extLst>
                      <a:ext uri="{A12FA001-AC4F-418D-AE19-62706E023703}">
                        <ahyp:hlinkClr xmlns:ahyp="http://schemas.microsoft.com/office/drawing/2018/hyperlinkcolor" val="tx"/>
                      </a:ext>
                    </a:extLst>
                  </a:hlinkClick>
                </a:rPr>
                <a:t>https://pynative.com</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F531A974-F8C3-E9DF-FA9D-5F24129F6547}"/>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2;g5fab984687_2_0">
              <a:extLst>
                <a:ext uri="{FF2B5EF4-FFF2-40B4-BE49-F238E27FC236}">
                  <a16:creationId xmlns:a16="http://schemas.microsoft.com/office/drawing/2014/main" id="{462F9F66-C564-6AAF-428E-70C26A147C7B}"/>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grpSp>
        <p:nvGrpSpPr>
          <p:cNvPr id="10" name="Group 9">
            <a:extLst>
              <a:ext uri="{FF2B5EF4-FFF2-40B4-BE49-F238E27FC236}">
                <a16:creationId xmlns:a16="http://schemas.microsoft.com/office/drawing/2014/main" id="{6C9D790A-F04C-BD11-A29C-6FF37492D08C}"/>
              </a:ext>
            </a:extLst>
          </p:cNvPr>
          <p:cNvGrpSpPr/>
          <p:nvPr/>
        </p:nvGrpSpPr>
        <p:grpSpPr>
          <a:xfrm>
            <a:off x="1676060" y="1600200"/>
            <a:ext cx="8839880" cy="4608023"/>
            <a:chOff x="1676060" y="1600200"/>
            <a:chExt cx="8839880" cy="4608023"/>
          </a:xfrm>
        </p:grpSpPr>
        <p:pic>
          <p:nvPicPr>
            <p:cNvPr id="2" name="Picture 1" descr="Python Functions">
              <a:extLst>
                <a:ext uri="{FF2B5EF4-FFF2-40B4-BE49-F238E27FC236}">
                  <a16:creationId xmlns:a16="http://schemas.microsoft.com/office/drawing/2014/main" id="{DCA309A5-9CD2-2CA2-0560-4B0A540F179A}"/>
                </a:ext>
              </a:extLst>
            </p:cNvPr>
            <p:cNvPicPr>
              <a:picLocks noChangeAspect="1"/>
            </p:cNvPicPr>
            <p:nvPr/>
          </p:nvPicPr>
          <p:blipFill>
            <a:blip r:embed="rId4"/>
            <a:stretch>
              <a:fillRect/>
            </a:stretch>
          </p:blipFill>
          <p:spPr>
            <a:xfrm>
              <a:off x="1676060" y="1600200"/>
              <a:ext cx="8839880" cy="4608023"/>
            </a:xfrm>
            <a:prstGeom prst="rect">
              <a:avLst/>
            </a:prstGeom>
          </p:spPr>
        </p:pic>
        <p:sp>
          <p:nvSpPr>
            <p:cNvPr id="9" name="Rectangle 8">
              <a:extLst>
                <a:ext uri="{FF2B5EF4-FFF2-40B4-BE49-F238E27FC236}">
                  <a16:creationId xmlns:a16="http://schemas.microsoft.com/office/drawing/2014/main" id="{E3E281EF-6F7D-81C0-8F81-3529E890DFB3}"/>
                </a:ext>
              </a:extLst>
            </p:cNvPr>
            <p:cNvSpPr/>
            <p:nvPr/>
          </p:nvSpPr>
          <p:spPr>
            <a:xfrm>
              <a:off x="8610600" y="5562600"/>
              <a:ext cx="1447800" cy="457200"/>
            </a:xfrm>
            <a:prstGeom prst="rect">
              <a:avLst/>
            </a:prstGeom>
            <a:solidFill>
              <a:srgbClr val="F8CB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918443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F5EC-4E42-E0B5-6A80-6369BA273728}"/>
              </a:ext>
            </a:extLst>
          </p:cNvPr>
          <p:cNvSpPr txBox="1">
            <a:spLocks/>
          </p:cNvSpPr>
          <p:nvPr/>
        </p:nvSpPr>
        <p:spPr>
          <a:xfrm>
            <a:off x="381000" y="845448"/>
            <a:ext cx="8907889"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TextBox 3">
            <a:extLst>
              <a:ext uri="{FF2B5EF4-FFF2-40B4-BE49-F238E27FC236}">
                <a16:creationId xmlns:a16="http://schemas.microsoft.com/office/drawing/2014/main" id="{17F0F11A-2301-D791-26BE-94AA50DECF8C}"/>
              </a:ext>
            </a:extLst>
          </p:cNvPr>
          <p:cNvSpPr txBox="1"/>
          <p:nvPr/>
        </p:nvSpPr>
        <p:spPr>
          <a:xfrm>
            <a:off x="381000" y="1337417"/>
            <a:ext cx="11277600" cy="646331"/>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1)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Write a function </a:t>
            </a:r>
            <a:r>
              <a:rPr kumimoji="0" lang="en-US" altLang="en-US"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calculate_average</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that takes a list of numbers as an argument and returns the average of the numbers. Then, use this function to calculate the average of a list of scores. </a:t>
            </a:r>
          </a:p>
        </p:txBody>
      </p:sp>
      <p:sp>
        <p:nvSpPr>
          <p:cNvPr id="6" name="TextBox 5">
            <a:extLst>
              <a:ext uri="{FF2B5EF4-FFF2-40B4-BE49-F238E27FC236}">
                <a16:creationId xmlns:a16="http://schemas.microsoft.com/office/drawing/2014/main" id="{29182CB4-3439-C297-87E4-F700E7935962}"/>
              </a:ext>
            </a:extLst>
          </p:cNvPr>
          <p:cNvSpPr txBox="1"/>
          <p:nvPr/>
        </p:nvSpPr>
        <p:spPr>
          <a:xfrm>
            <a:off x="379961" y="2209800"/>
            <a:ext cx="11278639" cy="923330"/>
          </a:xfrm>
          <a:prstGeom prst="rect">
            <a:avLst/>
          </a:prstGeom>
          <a:noFill/>
        </p:spPr>
        <p:txBody>
          <a:bodyPr wrap="square">
            <a:spAutoFit/>
          </a:bodyPr>
          <a:lstStyle/>
          <a:p>
            <a:pPr marL="228600" marR="0" lvl="0" indent="-228600" defTabSz="914400" rtl="0" eaLnBrk="0" fontAlgn="base" latinLnBrk="0" hangingPunct="0">
              <a:lnSpc>
                <a:spcPct val="100000"/>
              </a:lnSpc>
              <a:spcBef>
                <a:spcPct val="0"/>
              </a:spcBef>
              <a:spcAft>
                <a:spcPts val="8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Write a function </a:t>
            </a:r>
            <a:r>
              <a:rPr kumimoji="0" lang="en-US" altLang="en-US"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multiply_list</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that takes a list of numbers and a multiplier as arguments and returns a new list with each number multiplied by the multiplier. Then, use this function to multiply a list of prices by 1.2 (to add 20% tax). </a:t>
            </a:r>
          </a:p>
        </p:txBody>
      </p:sp>
      <p:pic>
        <p:nvPicPr>
          <p:cNvPr id="7" name="Picture 6" descr="How to get adolescents to feel more energetic and awake in the classroom?">
            <a:extLst>
              <a:ext uri="{FF2B5EF4-FFF2-40B4-BE49-F238E27FC236}">
                <a16:creationId xmlns:a16="http://schemas.microsoft.com/office/drawing/2014/main" id="{DD126389-2AC8-4D6E-6438-303184740B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3590365" y="34290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5372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C2A5-B0E2-B0F1-E63A-1AF643556F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CC28AA-2786-B8F1-302B-CB81DAF8670D}"/>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C602A879-7A82-5B21-C77C-42DCA76AC6D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2ECB4FE1-6834-B7D8-9689-B8A777BB1836}"/>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9382AA69-44D5-0E8B-D8F8-3B04E4732E75}"/>
              </a:ext>
            </a:extLst>
          </p:cNvPr>
          <p:cNvSpPr txBox="1">
            <a:spLocks/>
          </p:cNvSpPr>
          <p:nvPr/>
        </p:nvSpPr>
        <p:spPr>
          <a:xfrm>
            <a:off x="381000" y="4191000"/>
            <a:ext cx="7543800" cy="646331"/>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8: </a:t>
            </a:r>
            <a:r>
              <a:rPr lang="en-US" sz="1800" dirty="0">
                <a:latin typeface="Arial" panose="020B0604020202020204" pitchFamily="34" charset="0"/>
                <a:cs typeface="Arial" panose="020B0604020202020204" pitchFamily="34" charset="0"/>
              </a:rPr>
              <a:t>Demonstrating Python programs on control statements looping statements and functions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2172237D-2406-EB49-8D51-260F15FEC937}"/>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8F6F9892-30F7-5032-0D83-4B804B6B9C81}"/>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42846606-2372-A4AB-3EFB-43B4CEA19C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989310AE-BC4D-3A6C-F64F-F7067F735C6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1123880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80FE2-E811-BCDF-314F-1BB47A72F5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5CE1E2-EB7C-0DF4-13D4-54A8D7E47C7F}"/>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lang="en-US" sz="2000" b="1" dirty="0">
                <a:solidFill>
                  <a:srgbClr val="002060"/>
                </a:solidFill>
                <a:latin typeface="Arial" panose="020B0604020202020204" pitchFamily="34" charset="0"/>
                <a:cs typeface="Arial" panose="020B0604020202020204" pitchFamily="34" charset="0"/>
              </a:rPr>
              <a:t>Self Practice</a:t>
            </a:r>
          </a:p>
        </p:txBody>
      </p:sp>
      <p:sp>
        <p:nvSpPr>
          <p:cNvPr id="10" name="Rectangle 1">
            <a:extLst>
              <a:ext uri="{FF2B5EF4-FFF2-40B4-BE49-F238E27FC236}">
                <a16:creationId xmlns:a16="http://schemas.microsoft.com/office/drawing/2014/main" id="{4D9FB7F6-A6CE-2D55-6CB2-BE595A0992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DAC00F7D-5875-B5B7-5A08-CE3629979BD0}"/>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B4A5A9E0-B3EE-2546-94A6-A58387C64FEC}"/>
              </a:ext>
            </a:extLst>
          </p:cNvPr>
          <p:cNvSpPr txBox="1">
            <a:spLocks/>
          </p:cNvSpPr>
          <p:nvPr/>
        </p:nvSpPr>
        <p:spPr>
          <a:xfrm>
            <a:off x="381000" y="4191000"/>
            <a:ext cx="7391400" cy="646331"/>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Self Practice-3 </a:t>
            </a:r>
            <a:r>
              <a:rPr lang="en-US" sz="1800" dirty="0">
                <a:latin typeface="Arial" panose="020B0604020202020204" pitchFamily="34" charset="0"/>
                <a:cs typeface="Arial" panose="020B0604020202020204" pitchFamily="34" charset="0"/>
              </a:rPr>
              <a:t>Python programs on control statements looping statements and functions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DB4B5949-AB28-81F4-9B53-F38F0BB98307}"/>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BBEDDB36-E902-D827-5A37-11B892F32D15}"/>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D304361D-BEBA-3602-DB93-14A5F065FC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EC1E0EC0-67AD-BC77-431A-BFB4E3D858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39032150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CDE8FC19-3C55-4EB9-84F9-094B2414C7EC}"/>
              </a:ext>
            </a:extLst>
          </p:cNvPr>
          <p:cNvSpPr txBox="1">
            <a:spLocks noChangeArrowheads="1"/>
          </p:cNvSpPr>
          <p:nvPr/>
        </p:nvSpPr>
        <p:spPr>
          <a:xfrm>
            <a:off x="381000" y="1330728"/>
            <a:ext cx="11715750" cy="1050522"/>
          </a:xfrm>
          <a:prstGeom prst="rect">
            <a:avLst/>
          </a:prstGeom>
          <a:noFill/>
          <a:ln/>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6888">
              <a:lnSpc>
                <a:spcPct val="100000"/>
              </a:lnSpc>
              <a:spcBef>
                <a:spcPts val="0"/>
              </a:spcBef>
              <a:spcAft>
                <a:spcPts val="800"/>
              </a:spcAft>
              <a:buNone/>
            </a:pPr>
            <a:r>
              <a:rPr lang="en-US" sz="1800" b="1" dirty="0">
                <a:latin typeface="Arial"/>
                <a:cs typeface="Arial"/>
              </a:rPr>
              <a:t>Definition:</a:t>
            </a:r>
          </a:p>
          <a:p>
            <a:pPr marL="0" indent="-246888">
              <a:lnSpc>
                <a:spcPct val="100000"/>
              </a:lnSpc>
              <a:spcBef>
                <a:spcPts val="0"/>
              </a:spcBef>
              <a:spcAft>
                <a:spcPts val="800"/>
              </a:spcAft>
              <a:buNone/>
            </a:pPr>
            <a:r>
              <a:rPr lang="en-US" sz="1800" b="0" i="0" dirty="0">
                <a:effectLst/>
                <a:highlight>
                  <a:srgbClr val="FFFFFF"/>
                </a:highlight>
                <a:latin typeface="Arial"/>
                <a:cs typeface="Arial"/>
              </a:rPr>
              <a:t>File handling in Python is the process of reading, writing, and manipulating files using Python code.</a:t>
            </a:r>
            <a:endParaRPr lang="en-US" sz="1800" dirty="0">
              <a:latin typeface="Arial"/>
              <a:cs typeface="Arial"/>
            </a:endParaRPr>
          </a:p>
        </p:txBody>
      </p:sp>
      <p:sp>
        <p:nvSpPr>
          <p:cNvPr id="4" name="TextBox 3">
            <a:extLst>
              <a:ext uri="{FF2B5EF4-FFF2-40B4-BE49-F238E27FC236}">
                <a16:creationId xmlns:a16="http://schemas.microsoft.com/office/drawing/2014/main" id="{628937D0-C619-7BB1-B00F-945FFA066D83}"/>
              </a:ext>
            </a:extLst>
          </p:cNvPr>
          <p:cNvSpPr txBox="1"/>
          <p:nvPr/>
        </p:nvSpPr>
        <p:spPr>
          <a:xfrm>
            <a:off x="381000" y="755292"/>
            <a:ext cx="5922690" cy="504305"/>
          </a:xfrm>
          <a:prstGeom prst="rect">
            <a:avLst/>
          </a:prstGeom>
          <a:noFill/>
        </p:spPr>
        <p:txBody>
          <a:bodyPr wrap="square" lIns="91440" tIns="45720" rIns="91440" bIns="45720" anchor="t">
            <a:spAutoFit/>
          </a:bodyPr>
          <a:lstStyle/>
          <a:p>
            <a:pPr marL="0" indent="0">
              <a:lnSpc>
                <a:spcPct val="150000"/>
              </a:lnSpc>
              <a:buNone/>
            </a:pPr>
            <a:r>
              <a:rPr lang="en-US" sz="2000" b="1" dirty="0">
                <a:solidFill>
                  <a:srgbClr val="213164"/>
                </a:solidFill>
                <a:latin typeface="Arial" panose="020B0604020202020204" pitchFamily="34" charset="0"/>
                <a:cs typeface="Arial" panose="020B0604020202020204" pitchFamily="34" charset="0"/>
              </a:rPr>
              <a:t>File</a:t>
            </a:r>
            <a:r>
              <a:rPr lang="en-US" sz="2000" b="1" i="0" dirty="0">
                <a:solidFill>
                  <a:srgbClr val="213164"/>
                </a:solidFill>
                <a:effectLst/>
                <a:highlight>
                  <a:srgbClr val="FFFFFF"/>
                </a:highlight>
                <a:latin typeface="Arial" panose="020B0604020202020204" pitchFamily="34" charset="0"/>
                <a:cs typeface="Arial" panose="020B0604020202020204" pitchFamily="34" charset="0"/>
              </a:rPr>
              <a:t> </a:t>
            </a:r>
            <a:r>
              <a:rPr lang="en-US" sz="2000" b="1" dirty="0">
                <a:solidFill>
                  <a:srgbClr val="213164"/>
                </a:solidFill>
                <a:latin typeface="Arial" panose="020B0604020202020204" pitchFamily="34" charset="0"/>
                <a:cs typeface="Arial" panose="020B0604020202020204" pitchFamily="34" charset="0"/>
              </a:rPr>
              <a:t>Handling</a:t>
            </a:r>
          </a:p>
        </p:txBody>
      </p:sp>
      <p:pic>
        <p:nvPicPr>
          <p:cNvPr id="1026" name="Picture 2">
            <a:extLst>
              <a:ext uri="{FF2B5EF4-FFF2-40B4-BE49-F238E27FC236}">
                <a16:creationId xmlns:a16="http://schemas.microsoft.com/office/drawing/2014/main" id="{4AECA093-C692-FD53-EA63-25C1F11EEFD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9710" y="2381250"/>
            <a:ext cx="4632579" cy="3555235"/>
          </a:xfrm>
          <a:prstGeom prst="rect">
            <a:avLst/>
          </a:prstGeom>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433CF804-54B9-2E9C-5044-D788AF82CEE7}"/>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21DD06E6-F6FF-68D2-0DFA-13439F45A6DE}"/>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https://abuqaiselegant.medium.com/python-file-handling-760887773bd7</a:t>
              </a:r>
              <a:endParaRPr lang="en-IN" sz="1200" dirty="0">
                <a:solidFill>
                  <a:srgbClr val="0000FF"/>
                </a:solidFill>
                <a:latin typeface="+mj-lt"/>
              </a:endParaRPr>
            </a:p>
          </p:txBody>
        </p:sp>
        <p:cxnSp>
          <p:nvCxnSpPr>
            <p:cNvPr id="7" name="Straight Connector 6">
              <a:extLst>
                <a:ext uri="{FF2B5EF4-FFF2-40B4-BE49-F238E27FC236}">
                  <a16:creationId xmlns:a16="http://schemas.microsoft.com/office/drawing/2014/main" id="{BBC889DD-DCA1-A638-28A8-8275F742AFEB}"/>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1392D52E-A2CD-AE1A-9B3C-C194A421E311}"/>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40019639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8937D0-C619-7BB1-B00F-945FFA066D83}"/>
              </a:ext>
            </a:extLst>
          </p:cNvPr>
          <p:cNvSpPr txBox="1"/>
          <p:nvPr/>
        </p:nvSpPr>
        <p:spPr>
          <a:xfrm>
            <a:off x="381000" y="763160"/>
            <a:ext cx="5911922" cy="496996"/>
          </a:xfrm>
          <a:prstGeom prst="rect">
            <a:avLst/>
          </a:prstGeom>
          <a:noFill/>
        </p:spPr>
        <p:txBody>
          <a:bodyPr wrap="square" lIns="91440" tIns="45720" rIns="91440" bIns="45720" anchor="t">
            <a:spAutoFit/>
          </a:bodyPr>
          <a:lstStyle/>
          <a:p>
            <a:pPr>
              <a:lnSpc>
                <a:spcPct val="150000"/>
              </a:lnSpc>
            </a:pPr>
            <a:r>
              <a:rPr lang="en-US" sz="2000" b="1" dirty="0">
                <a:solidFill>
                  <a:srgbClr val="002060"/>
                </a:solidFill>
                <a:latin typeface="Arial" panose="020B0604020202020204" pitchFamily="34" charset="0"/>
                <a:cs typeface="Arial" panose="020B0604020202020204" pitchFamily="34" charset="0"/>
              </a:rPr>
              <a:t>Flow of File handling</a:t>
            </a:r>
          </a:p>
        </p:txBody>
      </p:sp>
      <p:pic>
        <p:nvPicPr>
          <p:cNvPr id="2050" name="Picture 2">
            <a:extLst>
              <a:ext uri="{FF2B5EF4-FFF2-40B4-BE49-F238E27FC236}">
                <a16:creationId xmlns:a16="http://schemas.microsoft.com/office/drawing/2014/main" id="{690D36BE-96DA-E725-F435-E4F3B5CD0AF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bwMode="auto">
          <a:xfrm>
            <a:off x="3048000" y="1774031"/>
            <a:ext cx="6552871" cy="3309937"/>
          </a:xfrm>
          <a:prstGeom prst="rect">
            <a:avLst/>
          </a:prstGeom>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D404D02-75AF-7C7E-17DC-B0F38C844563}"/>
              </a:ext>
            </a:extLst>
          </p:cNvPr>
          <p:cNvGrpSpPr/>
          <p:nvPr/>
        </p:nvGrpSpPr>
        <p:grpSpPr>
          <a:xfrm>
            <a:off x="0" y="6296065"/>
            <a:ext cx="12192000" cy="381734"/>
            <a:chOff x="0" y="6296065"/>
            <a:chExt cx="12192000" cy="381734"/>
          </a:xfrm>
        </p:grpSpPr>
        <p:sp>
          <p:nvSpPr>
            <p:cNvPr id="2" name="TextBox 1">
              <a:extLst>
                <a:ext uri="{FF2B5EF4-FFF2-40B4-BE49-F238E27FC236}">
                  <a16:creationId xmlns:a16="http://schemas.microsoft.com/office/drawing/2014/main" id="{2B181C86-7C55-AA5F-5F62-806392F037F3}"/>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https://geospatialtraining.com/file-handling-with-python-for-gis-programmers/</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43209D5F-19A7-EDEA-FFBD-EDDA81327BAB}"/>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2;g5fab984687_2_0">
              <a:extLst>
                <a:ext uri="{FF2B5EF4-FFF2-40B4-BE49-F238E27FC236}">
                  <a16:creationId xmlns:a16="http://schemas.microsoft.com/office/drawing/2014/main" id="{5AD2E537-9681-1A5C-640A-934B5B26B123}"/>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20902985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8937D0-C619-7BB1-B00F-945FFA066D83}"/>
              </a:ext>
            </a:extLst>
          </p:cNvPr>
          <p:cNvSpPr txBox="1"/>
          <p:nvPr/>
        </p:nvSpPr>
        <p:spPr>
          <a:xfrm>
            <a:off x="342324" y="758110"/>
            <a:ext cx="8539157" cy="496996"/>
          </a:xfrm>
          <a:prstGeom prst="rect">
            <a:avLst/>
          </a:prstGeom>
          <a:noFill/>
        </p:spPr>
        <p:txBody>
          <a:bodyPr wrap="square" lIns="91440" tIns="45720" rIns="91440" bIns="45720" anchor="t">
            <a:spAutoFit/>
          </a:bodyPr>
          <a:lstStyle/>
          <a:p>
            <a:pPr>
              <a:lnSpc>
                <a:spcPct val="150000"/>
              </a:lnSpc>
            </a:pPr>
            <a:r>
              <a:rPr lang="en-US" sz="2000" b="1" dirty="0">
                <a:solidFill>
                  <a:srgbClr val="213164"/>
                </a:solidFill>
                <a:latin typeface="Arial" panose="020B0604020202020204" pitchFamily="34" charset="0"/>
                <a:cs typeface="Arial" panose="020B0604020202020204" pitchFamily="34" charset="0"/>
              </a:rPr>
              <a:t>Opening a File </a:t>
            </a:r>
          </a:p>
        </p:txBody>
      </p:sp>
      <p:sp>
        <p:nvSpPr>
          <p:cNvPr id="7" name="TextBox 6">
            <a:extLst>
              <a:ext uri="{FF2B5EF4-FFF2-40B4-BE49-F238E27FC236}">
                <a16:creationId xmlns:a16="http://schemas.microsoft.com/office/drawing/2014/main" id="{0B6FC7D8-AD0F-4443-4B36-5ACFA8848AC8}"/>
              </a:ext>
            </a:extLst>
          </p:cNvPr>
          <p:cNvSpPr txBox="1"/>
          <p:nvPr/>
        </p:nvSpPr>
        <p:spPr>
          <a:xfrm>
            <a:off x="381000" y="1351829"/>
            <a:ext cx="11734800" cy="1508105"/>
          </a:xfrm>
          <a:prstGeom prst="rect">
            <a:avLst/>
          </a:prstGeom>
          <a:noFill/>
        </p:spPr>
        <p:txBody>
          <a:bodyPr wrap="square" lIns="91440" tIns="45720" rIns="91440" bIns="45720" anchor="t">
            <a:spAutoFit/>
          </a:bodyPr>
          <a:lstStyle/>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Opening a file is the fundamental step in every file types handling a task. </a:t>
            </a:r>
          </a:p>
          <a:p>
            <a:pPr marL="228600" indent="-228600">
              <a:spcAft>
                <a:spcPts val="800"/>
              </a:spcAft>
              <a:buFont typeface="Arial" panose="020B0604020202020204" pitchFamily="34" charset="0"/>
              <a:buChar char="•"/>
            </a:pPr>
            <a:r>
              <a:rPr lang="en-US" sz="1800" b="0" i="0" dirty="0">
                <a:effectLst/>
                <a:highlight>
                  <a:srgbClr val="FFFFFF"/>
                </a:highlight>
                <a:latin typeface="Arial" panose="020B0604020202020204" pitchFamily="34" charset="0"/>
                <a:cs typeface="Arial" panose="020B0604020202020204" pitchFamily="34" charset="0"/>
              </a:rPr>
              <a:t>Files in Python can be opened with a built-in </a:t>
            </a:r>
            <a:r>
              <a:rPr lang="en-US" sz="1800" b="1" i="0" dirty="0">
                <a:effectLst/>
                <a:highlight>
                  <a:srgbClr val="FFFFFF"/>
                </a:highlight>
                <a:latin typeface="Arial" panose="020B0604020202020204" pitchFamily="34" charset="0"/>
                <a:cs typeface="Arial" panose="020B0604020202020204" pitchFamily="34" charset="0"/>
              </a:rPr>
              <a:t>open()</a:t>
            </a:r>
            <a:r>
              <a:rPr lang="en-US" sz="1800" b="0" i="0" dirty="0">
                <a:effectLst/>
                <a:highlight>
                  <a:srgbClr val="FFFFFF"/>
                </a:highlight>
                <a:latin typeface="Arial" panose="020B0604020202020204" pitchFamily="34" charset="0"/>
                <a:cs typeface="Arial" panose="020B0604020202020204" pitchFamily="34" charset="0"/>
              </a:rPr>
              <a:t> function. Ideally, it takes two string arguments:</a:t>
            </a:r>
          </a:p>
          <a:p>
            <a:pPr marL="228600" indent="-228600">
              <a:spcAft>
                <a:spcPts val="800"/>
              </a:spcAft>
              <a:buFont typeface="Arial" panose="020B0604020202020204" pitchFamily="34" charset="0"/>
              <a:buChar char="•"/>
            </a:pPr>
            <a:r>
              <a:rPr lang="en-US" sz="1800" i="1" dirty="0">
                <a:highlight>
                  <a:srgbClr val="FFFFFF"/>
                </a:highlight>
                <a:latin typeface="Arial" panose="020B0604020202020204" pitchFamily="34" charset="0"/>
                <a:cs typeface="Arial" panose="020B0604020202020204" pitchFamily="34" charset="0"/>
              </a:rPr>
              <a:t>Filename</a:t>
            </a:r>
          </a:p>
          <a:p>
            <a:pPr marL="228600" indent="-228600">
              <a:spcAft>
                <a:spcPts val="800"/>
              </a:spcAft>
              <a:buFont typeface="Arial" panose="020B0604020202020204" pitchFamily="34" charset="0"/>
              <a:buChar char="•"/>
            </a:pPr>
            <a:r>
              <a:rPr lang="en-US" sz="1800" i="1" dirty="0">
                <a:highlight>
                  <a:srgbClr val="FFFFFF"/>
                </a:highlight>
                <a:latin typeface="Arial" panose="020B0604020202020204" pitchFamily="34" charset="0"/>
                <a:cs typeface="Arial" panose="020B0604020202020204" pitchFamily="34" charset="0"/>
              </a:rPr>
              <a:t>Mode</a:t>
            </a:r>
          </a:p>
        </p:txBody>
      </p:sp>
      <p:pic>
        <p:nvPicPr>
          <p:cNvPr id="2" name="Picture 1" descr="Syntax of the Python open function">
            <a:extLst>
              <a:ext uri="{FF2B5EF4-FFF2-40B4-BE49-F238E27FC236}">
                <a16:creationId xmlns:a16="http://schemas.microsoft.com/office/drawing/2014/main" id="{AB54872D-C63F-8B16-5896-746EE3BF7AA4}"/>
              </a:ext>
            </a:extLst>
          </p:cNvPr>
          <p:cNvPicPr>
            <a:picLocks noChangeAspect="1"/>
          </p:cNvPicPr>
          <p:nvPr/>
        </p:nvPicPr>
        <p:blipFill>
          <a:blip r:embed="rId3"/>
          <a:stretch>
            <a:fillRect/>
          </a:stretch>
        </p:blipFill>
        <p:spPr>
          <a:xfrm>
            <a:off x="2261652" y="2956657"/>
            <a:ext cx="7668695" cy="2905530"/>
          </a:xfrm>
          <a:prstGeom prst="rect">
            <a:avLst/>
          </a:prstGeom>
        </p:spPr>
      </p:pic>
      <p:grpSp>
        <p:nvGrpSpPr>
          <p:cNvPr id="9" name="Group 8">
            <a:extLst>
              <a:ext uri="{FF2B5EF4-FFF2-40B4-BE49-F238E27FC236}">
                <a16:creationId xmlns:a16="http://schemas.microsoft.com/office/drawing/2014/main" id="{5595F005-2F73-18AF-1D67-6DC5D270BEC6}"/>
              </a:ext>
            </a:extLst>
          </p:cNvPr>
          <p:cNvGrpSpPr/>
          <p:nvPr/>
        </p:nvGrpSpPr>
        <p:grpSpPr>
          <a:xfrm>
            <a:off x="0" y="6296065"/>
            <a:ext cx="12192000" cy="381734"/>
            <a:chOff x="0" y="6296065"/>
            <a:chExt cx="12192000" cy="381734"/>
          </a:xfrm>
        </p:grpSpPr>
        <p:sp>
          <p:nvSpPr>
            <p:cNvPr id="3" name="TextBox 2">
              <a:extLst>
                <a:ext uri="{FF2B5EF4-FFF2-40B4-BE49-F238E27FC236}">
                  <a16:creationId xmlns:a16="http://schemas.microsoft.com/office/drawing/2014/main" id="{68092C91-1E11-5CB8-89BE-16B55CCD4765}"/>
                </a:ext>
              </a:extLst>
            </p:cNvPr>
            <p:cNvSpPr txBox="1"/>
            <p:nvPr/>
          </p:nvSpPr>
          <p:spPr>
            <a:xfrm>
              <a:off x="9906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https://ecomputernotes.com/python/file-handling-in-python</a:t>
              </a:r>
              <a:endParaRPr lang="en-IN" sz="1200" dirty="0">
                <a:solidFill>
                  <a:srgbClr val="0000FF"/>
                </a:solidFill>
                <a:latin typeface="+mj-lt"/>
              </a:endParaRPr>
            </a:p>
          </p:txBody>
        </p:sp>
        <p:cxnSp>
          <p:nvCxnSpPr>
            <p:cNvPr id="8" name="Straight Connector 7">
              <a:extLst>
                <a:ext uri="{FF2B5EF4-FFF2-40B4-BE49-F238E27FC236}">
                  <a16:creationId xmlns:a16="http://schemas.microsoft.com/office/drawing/2014/main" id="{BC0258CB-5BD1-2FF1-E6A5-B7C778094948}"/>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2;g5fab984687_2_0">
              <a:extLst>
                <a:ext uri="{FF2B5EF4-FFF2-40B4-BE49-F238E27FC236}">
                  <a16:creationId xmlns:a16="http://schemas.microsoft.com/office/drawing/2014/main" id="{FFFF8086-CAC0-085D-4D47-4B78887A9889}"/>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40708740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8937D0-C619-7BB1-B00F-945FFA066D83}"/>
              </a:ext>
            </a:extLst>
          </p:cNvPr>
          <p:cNvSpPr txBox="1"/>
          <p:nvPr/>
        </p:nvSpPr>
        <p:spPr>
          <a:xfrm>
            <a:off x="380999" y="750779"/>
            <a:ext cx="8510007" cy="496996"/>
          </a:xfrm>
          <a:prstGeom prst="rect">
            <a:avLst/>
          </a:prstGeom>
          <a:noFill/>
        </p:spPr>
        <p:txBody>
          <a:bodyPr wrap="square" lIns="91440" tIns="45720" rIns="91440" bIns="45720" anchor="t">
            <a:spAutoFit/>
          </a:bodyPr>
          <a:lstStyle/>
          <a:p>
            <a:pPr>
              <a:lnSpc>
                <a:spcPct val="150000"/>
              </a:lnSpc>
            </a:pPr>
            <a:r>
              <a:rPr lang="en-US" sz="2000" b="1" dirty="0">
                <a:solidFill>
                  <a:srgbClr val="213164"/>
                </a:solidFill>
                <a:latin typeface="Arial" panose="020B0604020202020204" pitchFamily="34" charset="0"/>
                <a:cs typeface="Arial" panose="020B0604020202020204" pitchFamily="34" charset="0"/>
              </a:rPr>
              <a:t>Access Method </a:t>
            </a:r>
          </a:p>
        </p:txBody>
      </p:sp>
      <p:graphicFrame>
        <p:nvGraphicFramePr>
          <p:cNvPr id="3" name="Table 2">
            <a:extLst>
              <a:ext uri="{FF2B5EF4-FFF2-40B4-BE49-F238E27FC236}">
                <a16:creationId xmlns:a16="http://schemas.microsoft.com/office/drawing/2014/main" id="{4EAEEA33-C655-62A8-F37A-F3F517E6F346}"/>
              </a:ext>
            </a:extLst>
          </p:cNvPr>
          <p:cNvGraphicFramePr>
            <a:graphicFrameLocks noGrp="1"/>
          </p:cNvGraphicFramePr>
          <p:nvPr>
            <p:extLst>
              <p:ext uri="{D42A27DB-BD31-4B8C-83A1-F6EECF244321}">
                <p14:modId xmlns:p14="http://schemas.microsoft.com/office/powerpoint/2010/main" val="874980977"/>
              </p:ext>
            </p:extLst>
          </p:nvPr>
        </p:nvGraphicFramePr>
        <p:xfrm>
          <a:off x="1013060" y="1711315"/>
          <a:ext cx="10165879" cy="4088056"/>
        </p:xfrm>
        <a:graphic>
          <a:graphicData uri="http://schemas.openxmlformats.org/drawingml/2006/table">
            <a:tbl>
              <a:tblPr>
                <a:effectLst/>
                <a:tableStyleId>{125E5076-3810-47DD-B79F-674D7AD40C01}</a:tableStyleId>
              </a:tblPr>
              <a:tblGrid>
                <a:gridCol w="2165511">
                  <a:extLst>
                    <a:ext uri="{9D8B030D-6E8A-4147-A177-3AD203B41FA5}">
                      <a16:colId xmlns:a16="http://schemas.microsoft.com/office/drawing/2014/main" val="1937562006"/>
                    </a:ext>
                  </a:extLst>
                </a:gridCol>
                <a:gridCol w="2827198">
                  <a:extLst>
                    <a:ext uri="{9D8B030D-6E8A-4147-A177-3AD203B41FA5}">
                      <a16:colId xmlns:a16="http://schemas.microsoft.com/office/drawing/2014/main" val="3623447002"/>
                    </a:ext>
                  </a:extLst>
                </a:gridCol>
                <a:gridCol w="5173170">
                  <a:extLst>
                    <a:ext uri="{9D8B030D-6E8A-4147-A177-3AD203B41FA5}">
                      <a16:colId xmlns:a16="http://schemas.microsoft.com/office/drawing/2014/main" val="3708016762"/>
                    </a:ext>
                  </a:extLst>
                </a:gridCol>
              </a:tblGrid>
              <a:tr h="601487">
                <a:tc gridSpan="2">
                  <a:txBody>
                    <a:bodyPr/>
                    <a:lstStyle/>
                    <a:p>
                      <a:pPr algn="ctr" fontAlgn="ctr"/>
                      <a:r>
                        <a:rPr lang="en-US" sz="1800" b="1" u="none" strike="noStrike" dirty="0">
                          <a:solidFill>
                            <a:schemeClr val="bg1"/>
                          </a:solidFill>
                          <a:effectLst/>
                          <a:latin typeface="Arial" panose="020B0604020202020204" pitchFamily="34" charset="0"/>
                          <a:cs typeface="Arial" panose="020B0604020202020204" pitchFamily="34" charset="0"/>
                        </a:rPr>
                        <a:t>Access Mode</a:t>
                      </a:r>
                      <a:endParaRPr lang="en-US" sz="1800" b="1"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0070C0"/>
                    </a:solidFill>
                  </a:tcPr>
                </a:tc>
                <a:tc hMerge="1">
                  <a:txBody>
                    <a:bodyPr/>
                    <a:lstStyle/>
                    <a:p>
                      <a:endParaRPr lang="en-US"/>
                    </a:p>
                  </a:txBody>
                  <a:tcPr/>
                </a:tc>
                <a:tc rowSpan="2">
                  <a:txBody>
                    <a:bodyPr/>
                    <a:lstStyle/>
                    <a:p>
                      <a:pPr algn="ctr" fontAlgn="ctr"/>
                      <a:r>
                        <a:rPr lang="en-US" sz="1800" b="1" u="none" strike="noStrike" dirty="0">
                          <a:solidFill>
                            <a:schemeClr val="bg1"/>
                          </a:solidFill>
                          <a:effectLst/>
                          <a:latin typeface="Arial" panose="020B0604020202020204" pitchFamily="34" charset="0"/>
                          <a:cs typeface="Arial" panose="020B0604020202020204" pitchFamily="34" charset="0"/>
                        </a:rPr>
                        <a:t>Description</a:t>
                      </a:r>
                      <a:endParaRPr lang="en-US" sz="1800" b="1"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extLst>
                  <a:ext uri="{0D108BD9-81ED-4DB2-BD59-A6C34878D82A}">
                    <a16:rowId xmlns:a16="http://schemas.microsoft.com/office/drawing/2014/main" val="1567333849"/>
                  </a:ext>
                </a:extLst>
              </a:tr>
              <a:tr h="806248">
                <a:tc>
                  <a:txBody>
                    <a:bodyPr/>
                    <a:lstStyle/>
                    <a:p>
                      <a:pPr algn="ctr" fontAlgn="ctr"/>
                      <a:r>
                        <a:rPr lang="en-US" sz="1800" b="1" u="none" strike="noStrike" dirty="0">
                          <a:solidFill>
                            <a:schemeClr val="bg1"/>
                          </a:solidFill>
                          <a:effectLst/>
                          <a:latin typeface="Arial" panose="020B0604020202020204" pitchFamily="34" charset="0"/>
                          <a:cs typeface="Arial" panose="020B0604020202020204" pitchFamily="34" charset="0"/>
                        </a:rPr>
                        <a:t>Text File</a:t>
                      </a:r>
                      <a:endParaRPr lang="en-US" sz="1800" b="1"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r>
                        <a:rPr lang="en-US" sz="1800" b="1" u="none" strike="noStrike" dirty="0">
                          <a:solidFill>
                            <a:schemeClr val="bg1"/>
                          </a:solidFill>
                          <a:effectLst/>
                          <a:latin typeface="Arial" panose="020B0604020202020204" pitchFamily="34" charset="0"/>
                          <a:cs typeface="Arial" panose="020B0604020202020204" pitchFamily="34" charset="0"/>
                        </a:rPr>
                        <a:t>Binary file</a:t>
                      </a:r>
                      <a:endParaRPr lang="en-US" sz="1800" b="1"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649385792"/>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r</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err="1">
                          <a:solidFill>
                            <a:srgbClr val="002060"/>
                          </a:solidFill>
                          <a:effectLst/>
                          <a:latin typeface="Arial" panose="020B0604020202020204" pitchFamily="34" charset="0"/>
                          <a:cs typeface="Arial" panose="020B0604020202020204" pitchFamily="34" charset="0"/>
                        </a:rPr>
                        <a:t>rb</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Read</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21223273"/>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a </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ab</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Append</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3194967"/>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w</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err="1">
                          <a:solidFill>
                            <a:srgbClr val="002060"/>
                          </a:solidFill>
                          <a:effectLst/>
                          <a:latin typeface="Arial" panose="020B0604020202020204" pitchFamily="34" charset="0"/>
                          <a:cs typeface="Arial" panose="020B0604020202020204" pitchFamily="34" charset="0"/>
                        </a:rPr>
                        <a:t>wb</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Write</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0298210"/>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x</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err="1">
                          <a:solidFill>
                            <a:srgbClr val="002060"/>
                          </a:solidFill>
                          <a:effectLst/>
                          <a:latin typeface="Arial" panose="020B0604020202020204" pitchFamily="34" charset="0"/>
                          <a:cs typeface="Arial" panose="020B0604020202020204" pitchFamily="34" charset="0"/>
                        </a:rPr>
                        <a:t>xb</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Create</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82687270"/>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r+</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err="1">
                          <a:solidFill>
                            <a:srgbClr val="002060"/>
                          </a:solidFill>
                          <a:effectLst/>
                          <a:latin typeface="Arial" panose="020B0604020202020204" pitchFamily="34" charset="0"/>
                          <a:cs typeface="Arial" panose="020B0604020202020204" pitchFamily="34" charset="0"/>
                        </a:rPr>
                        <a:t>rb</a:t>
                      </a:r>
                      <a:r>
                        <a:rPr lang="en-US" sz="1800" u="none" strike="noStrike" dirty="0">
                          <a:solidFill>
                            <a:srgbClr val="002060"/>
                          </a:solidFill>
                          <a:effectLst/>
                          <a:latin typeface="Arial" panose="020B0604020202020204" pitchFamily="34" charset="0"/>
                          <a:cs typeface="Arial" panose="020B0604020202020204" pitchFamily="34" charset="0"/>
                        </a:rPr>
                        <a:t>+</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read and write</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637329"/>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a+ </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ab+</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append and read</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22079519"/>
                  </a:ext>
                </a:extLst>
              </a:tr>
              <a:tr h="382903">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w+</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err="1">
                          <a:solidFill>
                            <a:srgbClr val="002060"/>
                          </a:solidFill>
                          <a:effectLst/>
                          <a:latin typeface="Arial" panose="020B0604020202020204" pitchFamily="34" charset="0"/>
                          <a:cs typeface="Arial" panose="020B0604020202020204" pitchFamily="34" charset="0"/>
                        </a:rPr>
                        <a:t>wb</a:t>
                      </a:r>
                      <a:r>
                        <a:rPr lang="en-US" sz="1800" u="none" strike="noStrike" dirty="0">
                          <a:solidFill>
                            <a:srgbClr val="002060"/>
                          </a:solidFill>
                          <a:effectLst/>
                          <a:latin typeface="Arial" panose="020B0604020202020204" pitchFamily="34" charset="0"/>
                          <a:cs typeface="Arial" panose="020B0604020202020204" pitchFamily="34" charset="0"/>
                        </a:rPr>
                        <a:t>+</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tc>
                  <a:txBody>
                    <a:bodyPr/>
                    <a:lstStyle/>
                    <a:p>
                      <a:pPr algn="ctr" fontAlgn="ctr"/>
                      <a:r>
                        <a:rPr lang="en-US" sz="1800" u="none" strike="noStrike" dirty="0">
                          <a:solidFill>
                            <a:srgbClr val="002060"/>
                          </a:solidFill>
                          <a:effectLst/>
                          <a:latin typeface="Arial" panose="020B0604020202020204" pitchFamily="34" charset="0"/>
                          <a:cs typeface="Arial" panose="020B0604020202020204" pitchFamily="34" charset="0"/>
                        </a:rPr>
                        <a:t>write and read</a:t>
                      </a:r>
                      <a:endParaRPr lang="en-US" sz="1800" b="0" i="0" u="none" strike="noStrike" dirty="0">
                        <a:solidFill>
                          <a:srgbClr val="002060"/>
                        </a:solidFill>
                        <a:effectLst/>
                        <a:latin typeface="Arial" panose="020B0604020202020204" pitchFamily="34" charset="0"/>
                        <a:cs typeface="Arial" panose="020B0604020202020204" pitchFamily="34" charset="0"/>
                      </a:endParaRPr>
                    </a:p>
                  </a:txBody>
                  <a:tcPr marL="6350" marR="6350" marT="6350" marB="0" anchor="ctr">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19992780"/>
                  </a:ext>
                </a:extLst>
              </a:tr>
            </a:tbl>
          </a:graphicData>
        </a:graphic>
      </p:graphicFrame>
    </p:spTree>
    <p:extLst>
      <p:ext uri="{BB962C8B-B14F-4D97-AF65-F5344CB8AC3E}">
        <p14:creationId xmlns:p14="http://schemas.microsoft.com/office/powerpoint/2010/main" val="150936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8937D0-C619-7BB1-B00F-945FFA066D83}"/>
              </a:ext>
            </a:extLst>
          </p:cNvPr>
          <p:cNvSpPr txBox="1"/>
          <p:nvPr/>
        </p:nvSpPr>
        <p:spPr>
          <a:xfrm>
            <a:off x="380999" y="752003"/>
            <a:ext cx="8490957" cy="496996"/>
          </a:xfrm>
          <a:prstGeom prst="rect">
            <a:avLst/>
          </a:prstGeom>
          <a:noFill/>
        </p:spPr>
        <p:txBody>
          <a:bodyPr wrap="square" lIns="91440" tIns="45720" rIns="91440" bIns="45720" anchor="t">
            <a:spAutoFit/>
          </a:bodyPr>
          <a:lstStyle/>
          <a:p>
            <a:pPr>
              <a:lnSpc>
                <a:spcPct val="150000"/>
              </a:lnSpc>
            </a:pPr>
            <a:r>
              <a:rPr lang="en-US" sz="2000" b="1" dirty="0">
                <a:solidFill>
                  <a:srgbClr val="213164"/>
                </a:solidFill>
                <a:latin typeface="Arial" panose="020B0604020202020204" pitchFamily="34" charset="0"/>
                <a:cs typeface="Arial" panose="020B0604020202020204" pitchFamily="34" charset="0"/>
              </a:rPr>
              <a:t>Closing a File </a:t>
            </a:r>
          </a:p>
        </p:txBody>
      </p:sp>
      <p:sp>
        <p:nvSpPr>
          <p:cNvPr id="9" name="TextBox 8">
            <a:extLst>
              <a:ext uri="{FF2B5EF4-FFF2-40B4-BE49-F238E27FC236}">
                <a16:creationId xmlns:a16="http://schemas.microsoft.com/office/drawing/2014/main" id="{B8D0A9A3-2D28-01CE-23A1-00E638A0CEA6}"/>
              </a:ext>
            </a:extLst>
          </p:cNvPr>
          <p:cNvSpPr txBox="1"/>
          <p:nvPr/>
        </p:nvSpPr>
        <p:spPr>
          <a:xfrm>
            <a:off x="990600" y="3105834"/>
            <a:ext cx="4581436" cy="646331"/>
          </a:xfrm>
          <a:prstGeom prst="rect">
            <a:avLst/>
          </a:prstGeom>
          <a:noFill/>
        </p:spPr>
        <p:txBody>
          <a:bodyPr wrap="square">
            <a:spAutoFit/>
          </a:bodyPr>
          <a:lstStyle/>
          <a:p>
            <a:r>
              <a:rPr lang="en-US" sz="1800" b="1" i="1" dirty="0">
                <a:effectLst/>
                <a:highlight>
                  <a:srgbClr val="FFFFFF"/>
                </a:highlight>
                <a:latin typeface="Arial" panose="020B0604020202020204" pitchFamily="34" charset="0"/>
                <a:cs typeface="Arial" panose="020B0604020202020204" pitchFamily="34" charset="0"/>
              </a:rPr>
              <a:t>Syntax:</a:t>
            </a:r>
          </a:p>
          <a:p>
            <a:r>
              <a:rPr lang="en-US" sz="1800" i="1" dirty="0">
                <a:highlight>
                  <a:srgbClr val="FFFFFF"/>
                </a:highlight>
                <a:latin typeface="Arial" panose="020B0604020202020204" pitchFamily="34" charset="0"/>
                <a:cs typeface="Arial" panose="020B0604020202020204" pitchFamily="34" charset="0"/>
              </a:rPr>
              <a:t>		</a:t>
            </a:r>
            <a:r>
              <a:rPr lang="en-US" sz="1800" b="0" i="1" dirty="0" err="1">
                <a:solidFill>
                  <a:srgbClr val="000000"/>
                </a:solidFill>
                <a:effectLst/>
                <a:latin typeface="Arial" panose="020B0604020202020204" pitchFamily="34" charset="0"/>
                <a:cs typeface="Arial" panose="020B0604020202020204" pitchFamily="34" charset="0"/>
              </a:rPr>
              <a:t>fileobject.close</a:t>
            </a:r>
            <a:r>
              <a:rPr lang="en-US" sz="1800" b="0" i="1" dirty="0">
                <a:solidFill>
                  <a:srgbClr val="000000"/>
                </a:solidFill>
                <a:effectLst/>
                <a:latin typeface="Arial" panose="020B0604020202020204" pitchFamily="34" charset="0"/>
                <a:cs typeface="Arial" panose="020B0604020202020204" pitchFamily="34" charset="0"/>
              </a:rPr>
              <a:t>()</a:t>
            </a:r>
            <a:endParaRPr lang="en-US" sz="1800" i="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A46A155-78A1-F2BA-30A5-7E3825B19F8E}"/>
              </a:ext>
            </a:extLst>
          </p:cNvPr>
          <p:cNvSpPr txBox="1"/>
          <p:nvPr/>
        </p:nvSpPr>
        <p:spPr>
          <a:xfrm>
            <a:off x="381000" y="1344321"/>
            <a:ext cx="9936414" cy="369332"/>
          </a:xfrm>
          <a:prstGeom prst="rect">
            <a:avLst/>
          </a:prstGeom>
          <a:noFill/>
        </p:spPr>
        <p:txBody>
          <a:bodyPr wrap="square">
            <a:spAutoFit/>
          </a:bodyPr>
          <a:lstStyle/>
          <a:p>
            <a:r>
              <a:rPr lang="en-US" sz="1800" b="0" i="0" dirty="0">
                <a:solidFill>
                  <a:srgbClr val="000000"/>
                </a:solidFill>
                <a:effectLst/>
                <a:highlight>
                  <a:srgbClr val="FFFFFF"/>
                </a:highlight>
                <a:latin typeface="Arial" panose="020B0604020202020204" pitchFamily="34" charset="0"/>
                <a:cs typeface="Arial" panose="020B0604020202020204" pitchFamily="34" charset="0"/>
              </a:rPr>
              <a:t>It is a good practice to always close the file when you are done with it.</a:t>
            </a:r>
            <a:endParaRPr lang="en-US" sz="1800" dirty="0">
              <a:latin typeface="Arial" panose="020B0604020202020204" pitchFamily="34" charset="0"/>
              <a:cs typeface="Arial" panose="020B0604020202020204" pitchFamily="34" charset="0"/>
            </a:endParaRPr>
          </a:p>
        </p:txBody>
      </p:sp>
      <p:pic>
        <p:nvPicPr>
          <p:cNvPr id="2" name="Picture 1" descr="A close-up of a sign&#10;&#10;Description automatically generated">
            <a:extLst>
              <a:ext uri="{FF2B5EF4-FFF2-40B4-BE49-F238E27FC236}">
                <a16:creationId xmlns:a16="http://schemas.microsoft.com/office/drawing/2014/main" id="{B5ACDDBF-12CF-7629-6DB9-B18E5486EE82}"/>
              </a:ext>
            </a:extLst>
          </p:cNvPr>
          <p:cNvPicPr>
            <a:picLocks noChangeAspect="1"/>
          </p:cNvPicPr>
          <p:nvPr/>
        </p:nvPicPr>
        <p:blipFill>
          <a:blip r:embed="rId3"/>
          <a:stretch>
            <a:fillRect/>
          </a:stretch>
        </p:blipFill>
        <p:spPr>
          <a:xfrm>
            <a:off x="5410200" y="2514600"/>
            <a:ext cx="5439534" cy="2400635"/>
          </a:xfrm>
          <a:prstGeom prst="rect">
            <a:avLst/>
          </a:prstGeom>
        </p:spPr>
      </p:pic>
      <p:grpSp>
        <p:nvGrpSpPr>
          <p:cNvPr id="10" name="Group 9">
            <a:extLst>
              <a:ext uri="{FF2B5EF4-FFF2-40B4-BE49-F238E27FC236}">
                <a16:creationId xmlns:a16="http://schemas.microsoft.com/office/drawing/2014/main" id="{12929A83-F885-5FA8-36F4-F5A0F575474B}"/>
              </a:ext>
            </a:extLst>
          </p:cNvPr>
          <p:cNvGrpSpPr/>
          <p:nvPr/>
        </p:nvGrpSpPr>
        <p:grpSpPr>
          <a:xfrm>
            <a:off x="0" y="6296065"/>
            <a:ext cx="12192000" cy="381734"/>
            <a:chOff x="0" y="6296065"/>
            <a:chExt cx="12192000" cy="381734"/>
          </a:xfrm>
        </p:grpSpPr>
        <p:sp>
          <p:nvSpPr>
            <p:cNvPr id="5" name="TextBox 4">
              <a:extLst>
                <a:ext uri="{FF2B5EF4-FFF2-40B4-BE49-F238E27FC236}">
                  <a16:creationId xmlns:a16="http://schemas.microsoft.com/office/drawing/2014/main" id="{F7FAAE99-9DED-31DF-7987-51790A7EAAB0}"/>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https://www.scaler.com/topics/close-file-python/</a:t>
              </a:r>
              <a:endParaRPr lang="en-IN" sz="1200" dirty="0">
                <a:solidFill>
                  <a:srgbClr val="0000FF"/>
                </a:solidFill>
                <a:latin typeface="+mj-lt"/>
              </a:endParaRPr>
            </a:p>
          </p:txBody>
        </p:sp>
        <p:cxnSp>
          <p:nvCxnSpPr>
            <p:cNvPr id="8" name="Straight Connector 7">
              <a:extLst>
                <a:ext uri="{FF2B5EF4-FFF2-40B4-BE49-F238E27FC236}">
                  <a16:creationId xmlns:a16="http://schemas.microsoft.com/office/drawing/2014/main" id="{4C43F26F-C501-E14B-2FF1-5528B6677634}"/>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EE699AB5-EDA3-2E7B-FE8D-5A4980848085}"/>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spTree>
    <p:extLst>
      <p:ext uri="{BB962C8B-B14F-4D97-AF65-F5344CB8AC3E}">
        <p14:creationId xmlns:p14="http://schemas.microsoft.com/office/powerpoint/2010/main" val="34208039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8937D0-C619-7BB1-B00F-945FFA066D83}"/>
              </a:ext>
            </a:extLst>
          </p:cNvPr>
          <p:cNvSpPr txBox="1"/>
          <p:nvPr/>
        </p:nvSpPr>
        <p:spPr>
          <a:xfrm>
            <a:off x="381000" y="766957"/>
            <a:ext cx="8663650" cy="496996"/>
          </a:xfrm>
          <a:prstGeom prst="rect">
            <a:avLst/>
          </a:prstGeom>
          <a:noFill/>
        </p:spPr>
        <p:txBody>
          <a:bodyPr wrap="square" lIns="91440" tIns="45720" rIns="91440" bIns="45720" anchor="t">
            <a:spAutoFit/>
          </a:bodyPr>
          <a:lstStyle/>
          <a:p>
            <a:pPr>
              <a:lnSpc>
                <a:spcPct val="150000"/>
              </a:lnSpc>
            </a:pPr>
            <a:r>
              <a:rPr lang="en-US" sz="2000" b="1" dirty="0">
                <a:solidFill>
                  <a:srgbClr val="002060"/>
                </a:solidFill>
                <a:latin typeface="Arial" panose="020B0604020202020204" pitchFamily="34" charset="0"/>
                <a:cs typeface="Arial" panose="020B0604020202020204" pitchFamily="34" charset="0"/>
              </a:rPr>
              <a:t>With Statement </a:t>
            </a:r>
          </a:p>
        </p:txBody>
      </p:sp>
      <p:sp>
        <p:nvSpPr>
          <p:cNvPr id="5" name="TextBox 4">
            <a:extLst>
              <a:ext uri="{FF2B5EF4-FFF2-40B4-BE49-F238E27FC236}">
                <a16:creationId xmlns:a16="http://schemas.microsoft.com/office/drawing/2014/main" id="{F61101B7-1904-FE56-4F55-2E48BE5C8909}"/>
              </a:ext>
            </a:extLst>
          </p:cNvPr>
          <p:cNvSpPr txBox="1"/>
          <p:nvPr/>
        </p:nvSpPr>
        <p:spPr>
          <a:xfrm>
            <a:off x="381000" y="1340153"/>
            <a:ext cx="10732165" cy="748923"/>
          </a:xfrm>
          <a:prstGeom prst="rect">
            <a:avLst/>
          </a:prstGeom>
          <a:noFill/>
        </p:spPr>
        <p:txBody>
          <a:bodyPr wrap="square" lIns="91440" tIns="45720" rIns="91440" bIns="45720" anchor="t">
            <a:spAutoFit/>
          </a:bodyPr>
          <a:lstStyle/>
          <a:p>
            <a:pPr marL="228600" indent="-228600">
              <a:spcAft>
                <a:spcPts val="800"/>
              </a:spcAft>
              <a:buChar char="•"/>
            </a:pPr>
            <a:r>
              <a:rPr lang="en-US" sz="1800" dirty="0">
                <a:latin typeface="Arial" panose="020B0604020202020204" pitchFamily="34" charset="0"/>
                <a:cs typeface="Arial" panose="020B0604020202020204" pitchFamily="34" charset="0"/>
              </a:rPr>
              <a:t>With statement is used in exception handling to make the code cleaner and much more readable. </a:t>
            </a:r>
          </a:p>
          <a:p>
            <a:pPr marL="228600" indent="-228600">
              <a:spcAft>
                <a:spcPts val="800"/>
              </a:spcAft>
              <a:buChar char="•"/>
            </a:pPr>
            <a:r>
              <a:rPr lang="en-US" sz="1800" dirty="0">
                <a:latin typeface="Arial" panose="020B0604020202020204" pitchFamily="34" charset="0"/>
                <a:cs typeface="Arial" panose="020B0604020202020204" pitchFamily="34" charset="0"/>
              </a:rPr>
              <a:t>It simplifies the management of common resources like file streams. </a:t>
            </a:r>
          </a:p>
        </p:txBody>
      </p:sp>
      <p:pic>
        <p:nvPicPr>
          <p:cNvPr id="20482" name="Picture 2" descr="image-33">
            <a:extLst>
              <a:ext uri="{FF2B5EF4-FFF2-40B4-BE49-F238E27FC236}">
                <a16:creationId xmlns:a16="http://schemas.microsoft.com/office/drawing/2014/main" id="{89B06AC1-F3F4-03DA-A5FB-3C0E02C16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4736" y="2623806"/>
            <a:ext cx="9922527" cy="273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0241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F5EC-4E42-E0B5-6A80-6369BA273728}"/>
              </a:ext>
            </a:extLst>
          </p:cNvPr>
          <p:cNvSpPr txBox="1">
            <a:spLocks/>
          </p:cNvSpPr>
          <p:nvPr/>
        </p:nvSpPr>
        <p:spPr>
          <a:xfrm>
            <a:off x="381000" y="863893"/>
            <a:ext cx="9010696" cy="3457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solidFill>
                  <a:srgbClr val="002060"/>
                </a:solidFill>
              </a:rPr>
              <a:t>Activity Time: Answer the questions</a:t>
            </a:r>
          </a:p>
        </p:txBody>
      </p:sp>
      <p:sp>
        <p:nvSpPr>
          <p:cNvPr id="4" name="TextBox 3">
            <a:extLst>
              <a:ext uri="{FF2B5EF4-FFF2-40B4-BE49-F238E27FC236}">
                <a16:creationId xmlns:a16="http://schemas.microsoft.com/office/drawing/2014/main" id="{17F0F11A-2301-D791-26BE-94AA50DECF8C}"/>
              </a:ext>
            </a:extLst>
          </p:cNvPr>
          <p:cNvSpPr txBox="1"/>
          <p:nvPr/>
        </p:nvSpPr>
        <p:spPr>
          <a:xfrm>
            <a:off x="381000" y="1342939"/>
            <a:ext cx="5715000" cy="1477328"/>
          </a:xfrm>
          <a:prstGeom prst="rect">
            <a:avLst/>
          </a:prstGeom>
          <a:noFill/>
        </p:spPr>
        <p:txBody>
          <a:bodyPr wrap="square">
            <a:spAutoFit/>
          </a:bodyPr>
          <a:lstStyle/>
          <a:p>
            <a:pPr marL="228600" indent="-228600">
              <a:spcAft>
                <a:spcPts val="800"/>
              </a:spcAft>
            </a:pPr>
            <a:r>
              <a:rPr lang="en-US" sz="1800" dirty="0">
                <a:latin typeface="Arial" panose="020B0604020202020204" pitchFamily="34" charset="0"/>
                <a:cs typeface="Arial" panose="020B0604020202020204" pitchFamily="34" charset="0"/>
              </a:rPr>
              <a:t>1)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Write a program that writes a list of tuples, each containing a student's name and grade, to a text file. Each line in the file should contain the student's name and grade separated by a comma. Assume the file is named grades.txt. </a:t>
            </a:r>
          </a:p>
        </p:txBody>
      </p:sp>
      <p:sp>
        <p:nvSpPr>
          <p:cNvPr id="6" name="TextBox 5">
            <a:extLst>
              <a:ext uri="{FF2B5EF4-FFF2-40B4-BE49-F238E27FC236}">
                <a16:creationId xmlns:a16="http://schemas.microsoft.com/office/drawing/2014/main" id="{29182CB4-3439-C297-87E4-F700E7935962}"/>
              </a:ext>
            </a:extLst>
          </p:cNvPr>
          <p:cNvSpPr txBox="1"/>
          <p:nvPr/>
        </p:nvSpPr>
        <p:spPr>
          <a:xfrm>
            <a:off x="381029" y="2971800"/>
            <a:ext cx="5715999" cy="1477328"/>
          </a:xfrm>
          <a:prstGeom prst="rect">
            <a:avLst/>
          </a:prstGeom>
          <a:noFill/>
        </p:spPr>
        <p:txBody>
          <a:bodyPr wrap="square">
            <a:spAutoFit/>
          </a:bodyPr>
          <a:lstStyle/>
          <a:p>
            <a:pPr marL="228600" indent="-228600" eaLnBrk="0" fontAlgn="base" hangingPunct="0">
              <a:spcBef>
                <a:spcPct val="0"/>
              </a:spcBef>
              <a:spcAft>
                <a:spcPts val="800"/>
              </a:spcAft>
              <a:buClrTx/>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Write a program that reads a CSV file containing product names and their prices, then calculates and prints the total cost of all products. Assume the file is named products.csv and has the format: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ProductName,Price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p:txBody>
      </p:sp>
      <p:pic>
        <p:nvPicPr>
          <p:cNvPr id="7" name="Picture 6" descr="How to get adolescents to feel more energetic and awake in the classroom?">
            <a:extLst>
              <a:ext uri="{FF2B5EF4-FFF2-40B4-BE49-F238E27FC236}">
                <a16:creationId xmlns:a16="http://schemas.microsoft.com/office/drawing/2014/main" id="{DD126389-2AC8-4D6E-6438-303184740B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72" b="17563"/>
          <a:stretch/>
        </p:blipFill>
        <p:spPr bwMode="auto">
          <a:xfrm>
            <a:off x="6705600" y="1676400"/>
            <a:ext cx="5011270" cy="276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650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F82CB-0F01-2984-F435-CAEE242D9A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4B61D3-9263-3953-DEA8-392C8F718BB8}"/>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223B9DBC-65E0-2D6F-C5E6-CE6D983B8A2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F83D080E-3891-A247-02FE-2B4C9A16BD72}"/>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60535131-4FAD-971B-2B02-608A2130F149}"/>
              </a:ext>
            </a:extLst>
          </p:cNvPr>
          <p:cNvSpPr txBox="1">
            <a:spLocks/>
          </p:cNvSpPr>
          <p:nvPr/>
        </p:nvSpPr>
        <p:spPr>
          <a:xfrm>
            <a:off x="381000" y="4191000"/>
            <a:ext cx="6553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9: </a:t>
            </a:r>
            <a:r>
              <a:rPr lang="en-US" sz="1800" dirty="0">
                <a:latin typeface="Arial" panose="020B0604020202020204" pitchFamily="34" charset="0"/>
                <a:cs typeface="Arial" panose="020B0604020202020204" pitchFamily="34" charset="0"/>
              </a:rPr>
              <a:t>Demonstrating Python file handling</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AC7CE0E5-1DA7-86E6-082A-83FE01C36CA2}"/>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427083B0-7355-2E4D-109C-AABC2A8AFA05}"/>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F4520352-9A1C-14FC-A6EA-966609F87E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6FB0F3CC-E6DD-0488-EEBE-6B01674C85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190817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838200"/>
            <a:ext cx="11775571" cy="393600"/>
          </a:xfrm>
          <a:prstGeom prst="rect">
            <a:avLst/>
          </a:prstGeom>
          <a:noFill/>
        </p:spPr>
        <p:txBody>
          <a:bodyPr wrap="square" rtlCol="0">
            <a:spAutoFit/>
          </a:bodyPr>
          <a:lstStyle>
            <a:defPPr>
              <a:defRPr lang="en-US"/>
            </a:defPPr>
            <a:lvl1pPr>
              <a:defRPr sz="2000" b="1">
                <a:solidFill>
                  <a:srgbClr val="002060"/>
                </a:solidFill>
                <a:latin typeface="Arial" panose="020B0604020202020204" pitchFamily="34" charset="0"/>
                <a:ea typeface="+mj-ea"/>
                <a:cs typeface="Arial" panose="020B0604020202020204" pitchFamily="34" charset="0"/>
              </a:defRPr>
            </a:lvl1pPr>
          </a:lstStyle>
          <a:p>
            <a:r>
              <a:rPr lang="en-US" dirty="0"/>
              <a:t>Summary</a:t>
            </a:r>
          </a:p>
        </p:txBody>
      </p:sp>
      <p:sp>
        <p:nvSpPr>
          <p:cNvPr id="2" name="Text Placeholder 4">
            <a:extLst>
              <a:ext uri="{FF2B5EF4-FFF2-40B4-BE49-F238E27FC236}">
                <a16:creationId xmlns:a16="http://schemas.microsoft.com/office/drawing/2014/main" id="{976EDFFF-7E60-F4A2-ECDA-81CD89054335}"/>
              </a:ext>
            </a:extLst>
          </p:cNvPr>
          <p:cNvSpPr txBox="1">
            <a:spLocks/>
          </p:cNvSpPr>
          <p:nvPr/>
        </p:nvSpPr>
        <p:spPr>
          <a:xfrm>
            <a:off x="466725" y="1371600"/>
            <a:ext cx="5811058" cy="5020862"/>
          </a:xfrm>
          <a:prstGeom prst="rect">
            <a:avLst/>
          </a:prstGeom>
        </p:spPr>
        <p:txBody>
          <a:bodyPr lIns="0" tIns="0" rIns="0" bIns="0">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lgn="just">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228600" indent="-228600">
              <a:spcAft>
                <a:spcPts val="800"/>
              </a:spcAft>
            </a:pPr>
            <a:r>
              <a:rPr lang="en-US" sz="1800" b="1" dirty="0">
                <a:latin typeface="Arial" panose="020B0604020202020204" pitchFamily="34" charset="0"/>
                <a:cs typeface="Arial" panose="020B0604020202020204" pitchFamily="34" charset="0"/>
              </a:rPr>
              <a:t>Let's summarize our learnings:</a:t>
            </a:r>
          </a:p>
          <a:p>
            <a:pPr marL="228600" lvl="0" indent="-228600" defTabSz="914400" eaLnBrk="0" fontAlgn="base" hangingPunct="0">
              <a:spcBef>
                <a:spcPct val="0"/>
              </a:spcBef>
              <a:spcAft>
                <a:spcPts val="800"/>
              </a:spcAft>
            </a:pPr>
            <a:r>
              <a:rPr lang="en-US" altLang="en-US" sz="1800" b="1" dirty="0">
                <a:latin typeface="Arial" panose="020B0604020202020204" pitchFamily="34" charset="0"/>
                <a:cs typeface="Arial" panose="020B0604020202020204" pitchFamily="34" charset="0"/>
              </a:rPr>
              <a:t>Code and Compilation</a:t>
            </a:r>
            <a:r>
              <a:rPr lang="en-US" altLang="en-US" sz="1800" dirty="0">
                <a:latin typeface="Arial" panose="020B0604020202020204" pitchFamily="34" charset="0"/>
                <a:cs typeface="Arial" panose="020B0604020202020204" pitchFamily="34" charset="0"/>
              </a:rPr>
              <a:t>: Python is an interpreted language with code executed line by line.</a:t>
            </a:r>
          </a:p>
          <a:p>
            <a:pPr marL="228600" lvl="0" indent="-228600" defTabSz="914400" eaLnBrk="0" fontAlgn="base" hangingPunct="0">
              <a:spcBef>
                <a:spcPct val="0"/>
              </a:spcBef>
              <a:spcAft>
                <a:spcPts val="800"/>
              </a:spcAft>
            </a:pPr>
            <a:r>
              <a:rPr lang="en-US" altLang="en-US" sz="1800" b="1" dirty="0">
                <a:latin typeface="Arial" panose="020B0604020202020204" pitchFamily="34" charset="0"/>
                <a:cs typeface="Arial" panose="020B0604020202020204" pitchFamily="34" charset="0"/>
              </a:rPr>
              <a:t>Datatypes and Operators</a:t>
            </a:r>
            <a:r>
              <a:rPr lang="en-US" altLang="en-US" sz="1800" dirty="0">
                <a:latin typeface="Arial" panose="020B0604020202020204" pitchFamily="34" charset="0"/>
                <a:cs typeface="Arial" panose="020B0604020202020204" pitchFamily="34" charset="0"/>
              </a:rPr>
              <a:t>: Includes types like int, float, str, and operators for arithmetic, comparison, and logic.</a:t>
            </a:r>
          </a:p>
          <a:p>
            <a:pPr marL="228600" lvl="0" indent="-228600" defTabSz="914400" eaLnBrk="0" fontAlgn="base" hangingPunct="0">
              <a:spcBef>
                <a:spcPct val="0"/>
              </a:spcBef>
              <a:spcAft>
                <a:spcPts val="800"/>
              </a:spcAft>
            </a:pPr>
            <a:r>
              <a:rPr lang="en-US" altLang="en-US" sz="1800" b="1" dirty="0">
                <a:latin typeface="Arial" panose="020B0604020202020204" pitchFamily="34" charset="0"/>
                <a:cs typeface="Arial" panose="020B0604020202020204" pitchFamily="34" charset="0"/>
              </a:rPr>
              <a:t>Control Statements</a:t>
            </a:r>
            <a:r>
              <a:rPr lang="en-US" altLang="en-US" sz="1800" dirty="0">
                <a:latin typeface="Arial" panose="020B0604020202020204" pitchFamily="34" charset="0"/>
                <a:cs typeface="Arial" panose="020B0604020202020204" pitchFamily="34" charset="0"/>
              </a:rPr>
              <a:t>: Uses if, </a:t>
            </a:r>
            <a:r>
              <a:rPr lang="en-US" altLang="en-US" sz="1800" dirty="0" err="1">
                <a:latin typeface="Arial" panose="020B0604020202020204" pitchFamily="34" charset="0"/>
                <a:cs typeface="Arial" panose="020B0604020202020204" pitchFamily="34" charset="0"/>
              </a:rPr>
              <a:t>elif</a:t>
            </a:r>
            <a:r>
              <a:rPr lang="en-US" altLang="en-US" sz="1800" dirty="0">
                <a:latin typeface="Arial" panose="020B0604020202020204" pitchFamily="34" charset="0"/>
                <a:cs typeface="Arial" panose="020B0604020202020204" pitchFamily="34" charset="0"/>
              </a:rPr>
              <a:t>, and else for decision-making.</a:t>
            </a:r>
          </a:p>
          <a:p>
            <a:pPr marL="228600" lvl="0" indent="-228600" defTabSz="914400" eaLnBrk="0" fontAlgn="base" hangingPunct="0">
              <a:spcBef>
                <a:spcPct val="0"/>
              </a:spcBef>
              <a:spcAft>
                <a:spcPts val="800"/>
              </a:spcAft>
            </a:pPr>
            <a:r>
              <a:rPr lang="en-US" altLang="en-US" sz="1800" b="1" dirty="0">
                <a:latin typeface="Arial" panose="020B0604020202020204" pitchFamily="34" charset="0"/>
                <a:cs typeface="Arial" panose="020B0604020202020204" pitchFamily="34" charset="0"/>
              </a:rPr>
              <a:t>Looping Statements</a:t>
            </a:r>
            <a:r>
              <a:rPr lang="en-US" altLang="en-US" sz="1800" dirty="0">
                <a:latin typeface="Arial" panose="020B0604020202020204" pitchFamily="34" charset="0"/>
                <a:cs typeface="Arial" panose="020B0604020202020204" pitchFamily="34" charset="0"/>
              </a:rPr>
              <a:t>: Utilizes for and while loops for iteration.</a:t>
            </a:r>
          </a:p>
          <a:p>
            <a:pPr marL="228600" lvl="0" indent="-228600" defTabSz="914400" eaLnBrk="0" fontAlgn="base" hangingPunct="0">
              <a:spcBef>
                <a:spcPct val="0"/>
              </a:spcBef>
              <a:spcAft>
                <a:spcPts val="800"/>
              </a:spcAft>
            </a:pPr>
            <a:r>
              <a:rPr lang="en-US" altLang="en-US" sz="1800" b="1" dirty="0">
                <a:latin typeface="Arial" panose="020B0604020202020204" pitchFamily="34" charset="0"/>
                <a:cs typeface="Arial" panose="020B0604020202020204" pitchFamily="34" charset="0"/>
              </a:rPr>
              <a:t>Functions</a:t>
            </a:r>
            <a:r>
              <a:rPr lang="en-US" altLang="en-US" sz="1800" dirty="0">
                <a:latin typeface="Arial" panose="020B0604020202020204" pitchFamily="34" charset="0"/>
                <a:cs typeface="Arial" panose="020B0604020202020204" pitchFamily="34" charset="0"/>
              </a:rPr>
              <a:t>: Defined with def, used to encapsulate reusable code blocks.</a:t>
            </a:r>
          </a:p>
          <a:p>
            <a:pPr marL="228600" lvl="0" indent="-228600" defTabSz="914400" eaLnBrk="0" fontAlgn="base" hangingPunct="0">
              <a:spcBef>
                <a:spcPct val="0"/>
              </a:spcBef>
              <a:spcAft>
                <a:spcPts val="800"/>
              </a:spcAft>
            </a:pPr>
            <a:r>
              <a:rPr lang="en-US" altLang="en-US" sz="1800" b="1" dirty="0">
                <a:latin typeface="Arial" panose="020B0604020202020204" pitchFamily="34" charset="0"/>
                <a:cs typeface="Arial" panose="020B0604020202020204" pitchFamily="34" charset="0"/>
              </a:rPr>
              <a:t>File Handling</a:t>
            </a:r>
            <a:r>
              <a:rPr lang="en-US" altLang="en-US" sz="1800" dirty="0">
                <a:latin typeface="Arial" panose="020B0604020202020204" pitchFamily="34" charset="0"/>
                <a:cs typeface="Arial" panose="020B0604020202020204" pitchFamily="34" charset="0"/>
              </a:rPr>
              <a:t>: Involves opening, reading, writing, and closing files with built-in functions. </a:t>
            </a:r>
          </a:p>
        </p:txBody>
      </p:sp>
      <p:pic>
        <p:nvPicPr>
          <p:cNvPr id="5" name="Picture 4" descr="A clipboard with a light bulb next to a stack of books&#10;&#10;Description automatically generated">
            <a:extLst>
              <a:ext uri="{FF2B5EF4-FFF2-40B4-BE49-F238E27FC236}">
                <a16:creationId xmlns:a16="http://schemas.microsoft.com/office/drawing/2014/main" id="{77816D8C-B924-3963-F351-258D1A7809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1800" y="1600200"/>
            <a:ext cx="4979736" cy="4191000"/>
          </a:xfrm>
          <a:prstGeom prst="rect">
            <a:avLst/>
          </a:prstGeom>
        </p:spPr>
      </p:pic>
    </p:spTree>
    <p:custDataLst>
      <p:tags r:id="rId1"/>
    </p:custDataLst>
    <p:extLst>
      <p:ext uri="{BB962C8B-B14F-4D97-AF65-F5344CB8AC3E}">
        <p14:creationId xmlns:p14="http://schemas.microsoft.com/office/powerpoint/2010/main" val="40944424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1" y="838200"/>
            <a:ext cx="111252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462280" y="1331655"/>
            <a:ext cx="10732626" cy="2554545"/>
          </a:xfrm>
          <a:prstGeom prst="rect">
            <a:avLst/>
          </a:prstGeom>
        </p:spPr>
        <p:txBody>
          <a:bodyPr lIns="0" tIns="0" rIns="0" bIns="0">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https://www.analyticsvidhya.com/blog/2021/05/introduction-to-python-programming-beginners-guide/</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https://www.programiz.com/python-programming</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5"/>
              </a:rPr>
              <a:t>https://www.w3schools.com/python/python_intro.asp</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6"/>
              </a:rPr>
              <a:t>https://www.javatpoint.com/python-tutorial</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7"/>
              </a:rPr>
              <a:t>https://www.geeksforgeeks.org/file-handling-python/</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8"/>
              </a:rPr>
              <a:t>https://www.w3schools.com/python/python_file_handling.asp</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0"/>
              </a:spcBef>
              <a:spcAft>
                <a:spcPts val="800"/>
              </a:spcAft>
              <a:buClr>
                <a:srgbClr val="002060"/>
              </a:buClr>
            </a:pPr>
            <a:r>
              <a:rPr lang="en-US" sz="1800" dirty="0">
                <a:solidFill>
                  <a:srgbClr val="0000FF"/>
                </a:solidFill>
                <a:latin typeface="Arial" panose="020B0604020202020204" pitchFamily="34" charset="0"/>
                <a:cs typeface="Arial" panose="020B0604020202020204" pitchFamily="34" charset="0"/>
                <a:hlinkClick r:id="rId9"/>
              </a:rPr>
              <a:t>https://www.javatpoint.com/python-files-io</a:t>
            </a:r>
            <a:endParaRPr lang="en-US" sz="18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6717132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8048F51-16C4-428B-5DF8-0D8D28F5087B}"/>
              </a:ext>
            </a:extLst>
          </p:cNvPr>
          <p:cNvGrpSpPr/>
          <p:nvPr/>
        </p:nvGrpSpPr>
        <p:grpSpPr>
          <a:xfrm>
            <a:off x="3332319" y="990600"/>
            <a:ext cx="5527361" cy="5562600"/>
            <a:chOff x="3332319" y="990600"/>
            <a:chExt cx="5527361" cy="5562600"/>
          </a:xfrm>
        </p:grpSpPr>
        <p:grpSp>
          <p:nvGrpSpPr>
            <p:cNvPr id="8" name="Group 7">
              <a:extLst>
                <a:ext uri="{FF2B5EF4-FFF2-40B4-BE49-F238E27FC236}">
                  <a16:creationId xmlns:a16="http://schemas.microsoft.com/office/drawing/2014/main" id="{6F53B5EE-6171-7DE5-0242-EC6881A55B79}"/>
                </a:ext>
              </a:extLst>
            </p:cNvPr>
            <p:cNvGrpSpPr/>
            <p:nvPr/>
          </p:nvGrpSpPr>
          <p:grpSpPr>
            <a:xfrm>
              <a:off x="3332319" y="990600"/>
              <a:ext cx="5527361" cy="5562600"/>
              <a:chOff x="3332319" y="990600"/>
              <a:chExt cx="5527361" cy="5562600"/>
            </a:xfrm>
          </p:grpSpPr>
          <p:sp>
            <p:nvSpPr>
              <p:cNvPr id="5" name="Oval 4">
                <a:extLst>
                  <a:ext uri="{FF2B5EF4-FFF2-40B4-BE49-F238E27FC236}">
                    <a16:creationId xmlns:a16="http://schemas.microsoft.com/office/drawing/2014/main" id="{F66ACF79-924A-70DC-A413-DA3D08D84896}"/>
                  </a:ext>
                </a:extLst>
              </p:cNvPr>
              <p:cNvSpPr/>
              <p:nvPr/>
            </p:nvSpPr>
            <p:spPr>
              <a:xfrm>
                <a:off x="3429000" y="1066800"/>
                <a:ext cx="5334000" cy="5334000"/>
              </a:xfrm>
              <a:prstGeom prst="ellipse">
                <a:avLst/>
              </a:prstGeom>
              <a:solidFill>
                <a:srgbClr val="01295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background with many small dots&#10;&#10;Description automatically generated">
                <a:extLst>
                  <a:ext uri="{FF2B5EF4-FFF2-40B4-BE49-F238E27FC236}">
                    <a16:creationId xmlns:a16="http://schemas.microsoft.com/office/drawing/2014/main" id="{72661990-E7F3-D891-2F4C-C49B1FCD6D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2319" y="990600"/>
                <a:ext cx="5527361" cy="5562600"/>
              </a:xfrm>
              <a:prstGeom prst="rect">
                <a:avLst/>
              </a:prstGeom>
            </p:spPr>
          </p:pic>
        </p:grpSp>
        <p:sp>
          <p:nvSpPr>
            <p:cNvPr id="9" name="TextBox 8">
              <a:extLst>
                <a:ext uri="{FF2B5EF4-FFF2-40B4-BE49-F238E27FC236}">
                  <a16:creationId xmlns:a16="http://schemas.microsoft.com/office/drawing/2014/main" id="{281797E8-A128-C5CB-D3F9-E7E08B1EAE9F}"/>
                </a:ext>
              </a:extLst>
            </p:cNvPr>
            <p:cNvSpPr txBox="1"/>
            <p:nvPr/>
          </p:nvSpPr>
          <p:spPr>
            <a:xfrm>
              <a:off x="3962400" y="2852678"/>
              <a:ext cx="3352800" cy="1631216"/>
            </a:xfrm>
            <a:prstGeom prst="rect">
              <a:avLst/>
            </a:prstGeom>
            <a:noFill/>
            <a:effectLst>
              <a:glow rad="152400">
                <a:schemeClr val="accent3">
                  <a:satMod val="175000"/>
                </a:schemeClr>
              </a:glow>
              <a:softEdge rad="1041400"/>
            </a:effectLst>
            <a:scene3d>
              <a:camera prst="orthographicFront"/>
              <a:lightRig rig="threePt" dir="t"/>
            </a:scene3d>
            <a:sp3d extrusionH="76200">
              <a:bevelT prst="relaxedInset"/>
              <a:bevelB w="101600" prst="riblet"/>
              <a:extrusionClr>
                <a:srgbClr val="FFC000"/>
              </a:extrusionClr>
            </a:sp3d>
          </p:spPr>
          <p:txBody>
            <a:bodyPr wrap="square" rtlCol="0">
              <a:spAutoFit/>
              <a:sp3d extrusionH="57150">
                <a:bevelT w="12700"/>
                <a:bevelB w="12700" h="82550"/>
                <a:extrusionClr>
                  <a:srgbClr val="FFFF00"/>
                </a:extrusionClr>
              </a:sp3d>
            </a:bodyPr>
            <a:lstStyle/>
            <a:p>
              <a:pPr algn="ctr"/>
              <a:r>
                <a:rPr lang="en-US" sz="10000" dirty="0">
                  <a:solidFill>
                    <a:schemeClr val="bg1"/>
                  </a:solidFill>
                  <a:effectLst>
                    <a:glow rad="1905000">
                      <a:srgbClr val="93B8F5">
                        <a:alpha val="34902"/>
                      </a:srgbClr>
                    </a:glow>
                  </a:effectLst>
                  <a:latin typeface="Jumbox" pitchFamily="2" charset="0"/>
                </a:rPr>
                <a:t>QUIZ</a:t>
              </a:r>
            </a:p>
          </p:txBody>
        </p:sp>
        <p:sp>
          <p:nvSpPr>
            <p:cNvPr id="11" name="TextBox 10">
              <a:extLst>
                <a:ext uri="{FF2B5EF4-FFF2-40B4-BE49-F238E27FC236}">
                  <a16:creationId xmlns:a16="http://schemas.microsoft.com/office/drawing/2014/main" id="{13060314-0941-488A-5EC9-82745FC7EE26}"/>
                </a:ext>
              </a:extLst>
            </p:cNvPr>
            <p:cNvSpPr txBox="1"/>
            <p:nvPr/>
          </p:nvSpPr>
          <p:spPr>
            <a:xfrm>
              <a:off x="6629400" y="1785878"/>
              <a:ext cx="1463862" cy="2862322"/>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18000" dirty="0">
                  <a:solidFill>
                    <a:schemeClr val="bg1"/>
                  </a:solidFill>
                  <a:latin typeface="Arial Nova" panose="020B0504020202020204" pitchFamily="34" charset="0"/>
                </a:rPr>
                <a:t>?</a:t>
              </a:r>
            </a:p>
          </p:txBody>
        </p:sp>
      </p:grpSp>
    </p:spTree>
    <p:custDataLst>
      <p:tags r:id="rId1"/>
    </p:custDataLst>
    <p:extLst>
      <p:ext uri="{BB962C8B-B14F-4D97-AF65-F5344CB8AC3E}">
        <p14:creationId xmlns:p14="http://schemas.microsoft.com/office/powerpoint/2010/main" val="622800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359777" y="790323"/>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213163"/>
                </a:solidFill>
              </a:rPr>
              <a:t>Quiz</a:t>
            </a:r>
            <a:endParaRPr lang="en-US" sz="2000" dirty="0"/>
          </a:p>
        </p:txBody>
      </p:sp>
      <p:sp>
        <p:nvSpPr>
          <p:cNvPr id="17" name="TextBox 16">
            <a:extLst>
              <a:ext uri="{FF2B5EF4-FFF2-40B4-BE49-F238E27FC236}">
                <a16:creationId xmlns:a16="http://schemas.microsoft.com/office/drawing/2014/main" id="{F67DEA04-9A38-2BC5-6A24-6F2AA4D4C1F4}"/>
              </a:ext>
            </a:extLst>
          </p:cNvPr>
          <p:cNvSpPr txBox="1"/>
          <p:nvPr/>
        </p:nvSpPr>
        <p:spPr>
          <a:xfrm>
            <a:off x="314024" y="1295400"/>
            <a:ext cx="6543976" cy="2298065"/>
          </a:xfrm>
          <a:prstGeom prst="rect">
            <a:avLst/>
          </a:prstGeom>
          <a:noFill/>
        </p:spPr>
        <p:txBody>
          <a:bodyPr wrap="square" lIns="121920" tIns="60960" rIns="121920" bIns="60960" rtlCol="0" anchor="t">
            <a:spAutoFit/>
          </a:bodyPr>
          <a:lstStyle/>
          <a:p>
            <a:pPr marL="365760" indent="-365760">
              <a:spcAft>
                <a:spcPts val="800"/>
              </a:spcAft>
              <a:buAutoNum type="arabicPeriod"/>
            </a:pPr>
            <a:r>
              <a:rPr lang="en-US" b="1" dirty="0">
                <a:latin typeface="Arial" panose="020B0604020202020204" pitchFamily="34" charset="0"/>
                <a:cs typeface="Arial" panose="020B0604020202020204" pitchFamily="34" charset="0"/>
              </a:rPr>
              <a:t>All keywords in Python are in _________</a:t>
            </a:r>
          </a:p>
          <a:p>
            <a:pPr marL="365760" indent="-365760">
              <a:spcAft>
                <a:spcPts val="800"/>
              </a:spcAft>
              <a:buAutoNum type="arabicPeriod"/>
            </a:pPr>
            <a:endParaRPr lang="en-US" b="1" dirty="0">
              <a:latin typeface="Arial" panose="020B0604020202020204" pitchFamily="34" charset="0"/>
              <a:cs typeface="Arial" panose="020B0604020202020204" pitchFamily="34" charset="0"/>
            </a:endParaRPr>
          </a:p>
          <a:p>
            <a:pPr marL="283464" indent="-283464">
              <a:spcAft>
                <a:spcPts val="800"/>
              </a:spcAft>
              <a:buAutoNum type="alphaLcParenR"/>
            </a:pPr>
            <a:r>
              <a:rPr lang="en-US" dirty="0">
                <a:latin typeface="Arial" panose="020B0604020202020204" pitchFamily="34" charset="0"/>
                <a:cs typeface="Arial" panose="020B0604020202020204" pitchFamily="34" charset="0"/>
              </a:rPr>
              <a:t>Capitalized</a:t>
            </a:r>
          </a:p>
          <a:p>
            <a:pPr marL="283464" indent="-283464">
              <a:spcAft>
                <a:spcPts val="800"/>
              </a:spcAft>
              <a:buAutoNum type="alphaLcParenR"/>
            </a:pPr>
            <a:r>
              <a:rPr lang="en-US" dirty="0">
                <a:latin typeface="Arial" panose="020B0604020202020204" pitchFamily="34" charset="0"/>
                <a:cs typeface="Arial" panose="020B0604020202020204" pitchFamily="34" charset="0"/>
              </a:rPr>
              <a:t>lower case</a:t>
            </a:r>
          </a:p>
          <a:p>
            <a:pPr marL="283464" indent="-283464">
              <a:spcAft>
                <a:spcPts val="800"/>
              </a:spcAft>
              <a:buAutoNum type="alphaLcParenR"/>
            </a:pPr>
            <a:r>
              <a:rPr lang="en-US" dirty="0">
                <a:latin typeface="Arial" panose="020B0604020202020204" pitchFamily="34" charset="0"/>
                <a:cs typeface="Arial" panose="020B0604020202020204" pitchFamily="34" charset="0"/>
              </a:rPr>
              <a:t>UPPER CASE</a:t>
            </a:r>
          </a:p>
          <a:p>
            <a:pPr marL="283464" indent="-283464">
              <a:spcAft>
                <a:spcPts val="800"/>
              </a:spcAft>
              <a:buAutoNum type="alphaLcParenR"/>
            </a:pPr>
            <a:r>
              <a:rPr lang="en-US" dirty="0">
                <a:latin typeface="Arial" panose="020B0604020202020204" pitchFamily="34" charset="0"/>
                <a:cs typeface="Arial" panose="020B0604020202020204" pitchFamily="34" charset="0"/>
              </a:rPr>
              <a:t>None of the mentioned​</a:t>
            </a:r>
          </a:p>
        </p:txBody>
      </p:sp>
      <p:grpSp>
        <p:nvGrpSpPr>
          <p:cNvPr id="15" name="Group 14">
            <a:extLst>
              <a:ext uri="{FF2B5EF4-FFF2-40B4-BE49-F238E27FC236}">
                <a16:creationId xmlns:a16="http://schemas.microsoft.com/office/drawing/2014/main" id="{E91F977F-A3BE-5EFD-F742-84D37E82F8F1}"/>
              </a:ext>
            </a:extLst>
          </p:cNvPr>
          <p:cNvGrpSpPr/>
          <p:nvPr/>
        </p:nvGrpSpPr>
        <p:grpSpPr>
          <a:xfrm>
            <a:off x="6705600" y="1094125"/>
            <a:ext cx="5338763" cy="5483394"/>
            <a:chOff x="6705600" y="1094125"/>
            <a:chExt cx="5338763" cy="5483394"/>
          </a:xfrm>
        </p:grpSpPr>
        <p:pic>
          <p:nvPicPr>
            <p:cNvPr id="5" name="Picture 4" descr="A black background with a black square&#10;&#10;Description automatically generated with medium confidence">
              <a:extLst>
                <a:ext uri="{FF2B5EF4-FFF2-40B4-BE49-F238E27FC236}">
                  <a16:creationId xmlns:a16="http://schemas.microsoft.com/office/drawing/2014/main" id="{D82240BB-5D10-9399-96B9-0669CF8A5C89}"/>
                </a:ext>
              </a:extLst>
            </p:cNvPr>
            <p:cNvPicPr>
              <a:picLocks noChangeAspect="1"/>
            </p:cNvPicPr>
            <p:nvPr/>
          </p:nvPicPr>
          <p:blipFill>
            <a:blip r:embed="rId4">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13" name="TextBox 12">
              <a:extLst>
                <a:ext uri="{FF2B5EF4-FFF2-40B4-BE49-F238E27FC236}">
                  <a16:creationId xmlns:a16="http://schemas.microsoft.com/office/drawing/2014/main" id="{91D90A65-1CDE-0261-3595-0A939DD86E07}"/>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grpSp>
      <p:grpSp>
        <p:nvGrpSpPr>
          <p:cNvPr id="16" name="Group 15">
            <a:extLst>
              <a:ext uri="{FF2B5EF4-FFF2-40B4-BE49-F238E27FC236}">
                <a16:creationId xmlns:a16="http://schemas.microsoft.com/office/drawing/2014/main" id="{62E9DE4E-8F24-556F-749A-E7588395E357}"/>
              </a:ext>
            </a:extLst>
          </p:cNvPr>
          <p:cNvGrpSpPr/>
          <p:nvPr/>
        </p:nvGrpSpPr>
        <p:grpSpPr>
          <a:xfrm>
            <a:off x="0" y="5257800"/>
            <a:ext cx="12192000" cy="1524000"/>
            <a:chOff x="0" y="4953000"/>
            <a:chExt cx="12192000" cy="1524000"/>
          </a:xfrm>
        </p:grpSpPr>
        <p:sp>
          <p:nvSpPr>
            <p:cNvPr id="18" name="Rectangle 17">
              <a:extLst>
                <a:ext uri="{FF2B5EF4-FFF2-40B4-BE49-F238E27FC236}">
                  <a16:creationId xmlns:a16="http://schemas.microsoft.com/office/drawing/2014/main" id="{1716CA43-835E-9FBF-B07D-D07ACA2B8E68}"/>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9" name="TextBox 18">
              <a:extLst>
                <a:ext uri="{FF2B5EF4-FFF2-40B4-BE49-F238E27FC236}">
                  <a16:creationId xmlns:a16="http://schemas.microsoft.com/office/drawing/2014/main" id="{E1F0CCD2-56D3-6ED7-A4D2-DC293A4DECED}"/>
                </a:ext>
              </a:extLst>
            </p:cNvPr>
            <p:cNvSpPr txBox="1"/>
            <p:nvPr/>
          </p:nvSpPr>
          <p:spPr>
            <a:xfrm>
              <a:off x="609600" y="5334000"/>
              <a:ext cx="10896600"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D</a:t>
              </a:r>
            </a:p>
            <a:p>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None of the mentioned​</a:t>
              </a:r>
            </a:p>
          </p:txBody>
        </p:sp>
        <p:sp>
          <p:nvSpPr>
            <p:cNvPr id="20" name="Rectangle: Rounded Corners 19">
              <a:extLst>
                <a:ext uri="{FF2B5EF4-FFF2-40B4-BE49-F238E27FC236}">
                  <a16:creationId xmlns:a16="http://schemas.microsoft.com/office/drawing/2014/main" id="{0FB49204-2389-DF95-12DC-D2D6224E7289}"/>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spTree>
    <p:custDataLst>
      <p:tags r:id="rId1"/>
    </p:custDataLst>
    <p:extLst>
      <p:ext uri="{BB962C8B-B14F-4D97-AF65-F5344CB8AC3E}">
        <p14:creationId xmlns:p14="http://schemas.microsoft.com/office/powerpoint/2010/main" val="387286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985E-62D0-F64D-D4B7-6B0AE8F5103B}"/>
            </a:ext>
          </a:extLst>
        </p:cNvPr>
        <p:cNvGrpSpPr/>
        <p:nvPr/>
      </p:nvGrpSpPr>
      <p:grpSpPr>
        <a:xfrm>
          <a:off x="0" y="0"/>
          <a:ext cx="0" cy="0"/>
          <a:chOff x="0" y="0"/>
          <a:chExt cx="0" cy="0"/>
        </a:xfrm>
      </p:grpSpPr>
      <p:sp>
        <p:nvSpPr>
          <p:cNvPr id="11" name="Google Shape;61;g5fab984687_2_0">
            <a:extLst>
              <a:ext uri="{FF2B5EF4-FFF2-40B4-BE49-F238E27FC236}">
                <a16:creationId xmlns:a16="http://schemas.microsoft.com/office/drawing/2014/main" id="{462EC10A-B7AC-39AD-BCD8-761418B1AB04}"/>
              </a:ext>
            </a:extLst>
          </p:cNvPr>
          <p:cNvSpPr txBox="1">
            <a:spLocks/>
          </p:cNvSpPr>
          <p:nvPr/>
        </p:nvSpPr>
        <p:spPr>
          <a:xfrm>
            <a:off x="359777" y="790323"/>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213163"/>
                </a:solidFill>
              </a:rPr>
              <a:t>Quiz</a:t>
            </a:r>
            <a:endParaRPr lang="en-US" sz="2000" dirty="0"/>
          </a:p>
        </p:txBody>
      </p:sp>
      <p:sp>
        <p:nvSpPr>
          <p:cNvPr id="17" name="TextBox 16">
            <a:extLst>
              <a:ext uri="{FF2B5EF4-FFF2-40B4-BE49-F238E27FC236}">
                <a16:creationId xmlns:a16="http://schemas.microsoft.com/office/drawing/2014/main" id="{7439DCFC-FEE2-CE2E-647A-36BF4A00EA3A}"/>
              </a:ext>
            </a:extLst>
          </p:cNvPr>
          <p:cNvSpPr txBox="1"/>
          <p:nvPr/>
        </p:nvSpPr>
        <p:spPr>
          <a:xfrm>
            <a:off x="314024" y="1295400"/>
            <a:ext cx="6543976" cy="2575064"/>
          </a:xfrm>
          <a:prstGeom prst="rect">
            <a:avLst/>
          </a:prstGeom>
          <a:noFill/>
        </p:spPr>
        <p:txBody>
          <a:bodyPr wrap="square" lIns="121920" tIns="60960" rIns="121920" bIns="60960" rtlCol="0" anchor="t">
            <a:spAutoFit/>
          </a:bodyPr>
          <a:lstStyle/>
          <a:p>
            <a:pPr marL="283464" indent="-283464">
              <a:spcAft>
                <a:spcPts val="800"/>
              </a:spcAft>
            </a:pPr>
            <a:r>
              <a:rPr lang="en-US" b="1" dirty="0">
                <a:latin typeface="Arial" panose="020B0604020202020204" pitchFamily="34" charset="0"/>
                <a:cs typeface="Arial" panose="020B0604020202020204" pitchFamily="34" charset="0"/>
              </a:rPr>
              <a:t>2. What arithmetic operators cannot be used with strings in Python?</a:t>
            </a:r>
          </a:p>
          <a:p>
            <a:pPr marL="283464" indent="-283464">
              <a:spcAft>
                <a:spcPts val="800"/>
              </a:spcAft>
            </a:pPr>
            <a:endParaRPr lang="en-US" b="1" dirty="0">
              <a:latin typeface="Arial" panose="020B0604020202020204" pitchFamily="34" charset="0"/>
              <a:cs typeface="Arial" panose="020B0604020202020204" pitchFamily="34" charset="0"/>
            </a:endParaRPr>
          </a:p>
          <a:p>
            <a:pPr marL="283464" indent="-283464">
              <a:spcAft>
                <a:spcPts val="800"/>
              </a:spcAft>
              <a:buAutoNum type="alphaLcParenR"/>
            </a:pPr>
            <a:r>
              <a:rPr lang="en-US" dirty="0">
                <a:latin typeface="Arial" panose="020B0604020202020204" pitchFamily="34" charset="0"/>
                <a:cs typeface="Arial" panose="020B0604020202020204" pitchFamily="34" charset="0"/>
              </a:rPr>
              <a:t>*</a:t>
            </a:r>
          </a:p>
          <a:p>
            <a:pPr marL="283464" indent="-283464">
              <a:spcAft>
                <a:spcPts val="800"/>
              </a:spcAft>
              <a:buAutoNum type="alphaLcParenR"/>
            </a:pPr>
            <a:r>
              <a:rPr lang="en-US" dirty="0">
                <a:latin typeface="Arial" panose="020B0604020202020204" pitchFamily="34" charset="0"/>
                <a:cs typeface="Arial" panose="020B0604020202020204" pitchFamily="34" charset="0"/>
              </a:rPr>
              <a:t>–</a:t>
            </a:r>
          </a:p>
          <a:p>
            <a:pPr marL="283464" indent="-283464">
              <a:spcAft>
                <a:spcPts val="800"/>
              </a:spcAft>
              <a:buAutoNum type="alphaLcParenR"/>
            </a:pPr>
            <a:r>
              <a:rPr lang="en-US" dirty="0">
                <a:latin typeface="Arial" panose="020B0604020202020204" pitchFamily="34" charset="0"/>
                <a:cs typeface="Arial" panose="020B0604020202020204" pitchFamily="34" charset="0"/>
              </a:rPr>
              <a:t>+</a:t>
            </a:r>
          </a:p>
          <a:p>
            <a:pPr marL="283464" indent="-283464">
              <a:spcAft>
                <a:spcPts val="800"/>
              </a:spcAft>
              <a:buAutoNum type="alphaLcParenR"/>
            </a:pPr>
            <a:r>
              <a:rPr lang="en-US" dirty="0">
                <a:latin typeface="Arial" panose="020B0604020202020204" pitchFamily="34" charset="0"/>
                <a:cs typeface="Arial" panose="020B0604020202020204" pitchFamily="34" charset="0"/>
              </a:rPr>
              <a:t>All of the mentioned</a:t>
            </a:r>
          </a:p>
        </p:txBody>
      </p:sp>
      <p:grpSp>
        <p:nvGrpSpPr>
          <p:cNvPr id="15" name="Group 14">
            <a:extLst>
              <a:ext uri="{FF2B5EF4-FFF2-40B4-BE49-F238E27FC236}">
                <a16:creationId xmlns:a16="http://schemas.microsoft.com/office/drawing/2014/main" id="{D9B72AF0-E0DB-046A-C156-E252A679D444}"/>
              </a:ext>
            </a:extLst>
          </p:cNvPr>
          <p:cNvGrpSpPr/>
          <p:nvPr/>
        </p:nvGrpSpPr>
        <p:grpSpPr>
          <a:xfrm>
            <a:off x="6705600" y="1094125"/>
            <a:ext cx="5338763" cy="5483394"/>
            <a:chOff x="6705600" y="1094125"/>
            <a:chExt cx="5338763" cy="5483394"/>
          </a:xfrm>
        </p:grpSpPr>
        <p:pic>
          <p:nvPicPr>
            <p:cNvPr id="5" name="Picture 4" descr="A black background with a black square&#10;&#10;Description automatically generated with medium confidence">
              <a:extLst>
                <a:ext uri="{FF2B5EF4-FFF2-40B4-BE49-F238E27FC236}">
                  <a16:creationId xmlns:a16="http://schemas.microsoft.com/office/drawing/2014/main" id="{C8AEAF33-0D22-3A9F-BC21-25DD7CD8A29B}"/>
                </a:ext>
              </a:extLst>
            </p:cNvPr>
            <p:cNvPicPr>
              <a:picLocks noChangeAspect="1"/>
            </p:cNvPicPr>
            <p:nvPr/>
          </p:nvPicPr>
          <p:blipFill>
            <a:blip r:embed="rId4">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13" name="TextBox 12">
              <a:extLst>
                <a:ext uri="{FF2B5EF4-FFF2-40B4-BE49-F238E27FC236}">
                  <a16:creationId xmlns:a16="http://schemas.microsoft.com/office/drawing/2014/main" id="{B0AF2465-B666-D10C-D128-55E31C794D82}"/>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grpSp>
      <p:grpSp>
        <p:nvGrpSpPr>
          <p:cNvPr id="16" name="Group 15">
            <a:extLst>
              <a:ext uri="{FF2B5EF4-FFF2-40B4-BE49-F238E27FC236}">
                <a16:creationId xmlns:a16="http://schemas.microsoft.com/office/drawing/2014/main" id="{F7E22D56-F082-668F-843B-CFDB3BCFFF35}"/>
              </a:ext>
            </a:extLst>
          </p:cNvPr>
          <p:cNvGrpSpPr/>
          <p:nvPr/>
        </p:nvGrpSpPr>
        <p:grpSpPr>
          <a:xfrm>
            <a:off x="0" y="5257800"/>
            <a:ext cx="12192000" cy="1524000"/>
            <a:chOff x="0" y="4953000"/>
            <a:chExt cx="12192000" cy="1524000"/>
          </a:xfrm>
        </p:grpSpPr>
        <p:sp>
          <p:nvSpPr>
            <p:cNvPr id="18" name="Rectangle 17">
              <a:extLst>
                <a:ext uri="{FF2B5EF4-FFF2-40B4-BE49-F238E27FC236}">
                  <a16:creationId xmlns:a16="http://schemas.microsoft.com/office/drawing/2014/main" id="{96A89A10-51F8-A0BB-8A6D-39415E6643DC}"/>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9" name="TextBox 18">
              <a:extLst>
                <a:ext uri="{FF2B5EF4-FFF2-40B4-BE49-F238E27FC236}">
                  <a16:creationId xmlns:a16="http://schemas.microsoft.com/office/drawing/2014/main" id="{ABC2F0F4-EA35-BEC0-D499-B5B55CC68495}"/>
                </a:ext>
              </a:extLst>
            </p:cNvPr>
            <p:cNvSpPr txBox="1"/>
            <p:nvPr/>
          </p:nvSpPr>
          <p:spPr>
            <a:xfrm>
              <a:off x="609600" y="5334000"/>
              <a:ext cx="10896600"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B</a:t>
              </a:r>
            </a:p>
            <a:p>
              <a:r>
                <a:rPr lang="en-US" sz="2000" dirty="0">
                  <a:latin typeface="Arial" panose="020B0604020202020204" pitchFamily="34" charset="0"/>
                  <a:cs typeface="Arial" panose="020B0604020202020204" pitchFamily="34" charset="0"/>
                </a:rPr>
                <a:t>​ –</a:t>
              </a:r>
            </a:p>
          </p:txBody>
        </p:sp>
        <p:sp>
          <p:nvSpPr>
            <p:cNvPr id="20" name="Rectangle: Rounded Corners 19">
              <a:extLst>
                <a:ext uri="{FF2B5EF4-FFF2-40B4-BE49-F238E27FC236}">
                  <a16:creationId xmlns:a16="http://schemas.microsoft.com/office/drawing/2014/main" id="{858713E8-A7F7-4D83-1ABE-16E2C52F0801}"/>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spTree>
    <p:custDataLst>
      <p:tags r:id="rId1"/>
    </p:custDataLst>
    <p:extLst>
      <p:ext uri="{BB962C8B-B14F-4D97-AF65-F5344CB8AC3E}">
        <p14:creationId xmlns:p14="http://schemas.microsoft.com/office/powerpoint/2010/main" val="1172442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60C4F-3017-E570-5F72-870A92A01ABE}"/>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4EFE681-1701-D63A-03D2-60AF34B590CC}"/>
              </a:ext>
            </a:extLst>
          </p:cNvPr>
          <p:cNvGrpSpPr/>
          <p:nvPr/>
        </p:nvGrpSpPr>
        <p:grpSpPr>
          <a:xfrm>
            <a:off x="6705600" y="1094125"/>
            <a:ext cx="5338763" cy="5483394"/>
            <a:chOff x="6705600" y="1094125"/>
            <a:chExt cx="5338763" cy="5483394"/>
          </a:xfrm>
        </p:grpSpPr>
        <p:pic>
          <p:nvPicPr>
            <p:cNvPr id="5" name="Picture 4" descr="A black background with a black square&#10;&#10;Description automatically generated with medium confidence">
              <a:extLst>
                <a:ext uri="{FF2B5EF4-FFF2-40B4-BE49-F238E27FC236}">
                  <a16:creationId xmlns:a16="http://schemas.microsoft.com/office/drawing/2014/main" id="{0BAD1010-5438-45D6-218E-E259C73521FA}"/>
                </a:ext>
              </a:extLst>
            </p:cNvPr>
            <p:cNvPicPr>
              <a:picLocks noChangeAspect="1"/>
            </p:cNvPicPr>
            <p:nvPr/>
          </p:nvPicPr>
          <p:blipFill>
            <a:blip r:embed="rId4">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13" name="TextBox 12">
              <a:extLst>
                <a:ext uri="{FF2B5EF4-FFF2-40B4-BE49-F238E27FC236}">
                  <a16:creationId xmlns:a16="http://schemas.microsoft.com/office/drawing/2014/main" id="{50577F91-7D2E-D157-D8D3-A2FA38D4810D}"/>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grpSp>
      <p:grpSp>
        <p:nvGrpSpPr>
          <p:cNvPr id="16" name="Group 15">
            <a:extLst>
              <a:ext uri="{FF2B5EF4-FFF2-40B4-BE49-F238E27FC236}">
                <a16:creationId xmlns:a16="http://schemas.microsoft.com/office/drawing/2014/main" id="{7AFE62A5-21A9-434B-04AA-D2579136C505}"/>
              </a:ext>
            </a:extLst>
          </p:cNvPr>
          <p:cNvGrpSpPr/>
          <p:nvPr/>
        </p:nvGrpSpPr>
        <p:grpSpPr>
          <a:xfrm>
            <a:off x="0" y="5257800"/>
            <a:ext cx="12192000" cy="1524000"/>
            <a:chOff x="0" y="4953000"/>
            <a:chExt cx="12192000" cy="1524000"/>
          </a:xfrm>
        </p:grpSpPr>
        <p:sp>
          <p:nvSpPr>
            <p:cNvPr id="18" name="Rectangle 17">
              <a:extLst>
                <a:ext uri="{FF2B5EF4-FFF2-40B4-BE49-F238E27FC236}">
                  <a16:creationId xmlns:a16="http://schemas.microsoft.com/office/drawing/2014/main" id="{500BE4DF-876B-619F-9E6C-F2BC35D887FE}"/>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9" name="TextBox 18">
              <a:extLst>
                <a:ext uri="{FF2B5EF4-FFF2-40B4-BE49-F238E27FC236}">
                  <a16:creationId xmlns:a16="http://schemas.microsoft.com/office/drawing/2014/main" id="{CA9A8FC7-66B6-9AE1-A878-5B5758EDD2C5}"/>
                </a:ext>
              </a:extLst>
            </p:cNvPr>
            <p:cNvSpPr txBox="1"/>
            <p:nvPr/>
          </p:nvSpPr>
          <p:spPr>
            <a:xfrm>
              <a:off x="609600" y="5334000"/>
              <a:ext cx="10896600"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A</a:t>
              </a:r>
            </a:p>
            <a:p>
              <a:r>
                <a:rPr lang="en-US" sz="2000" dirty="0">
                  <a:latin typeface="Arial" panose="020B0604020202020204" pitchFamily="34" charset="0"/>
                  <a:cs typeface="Arial" panose="020B0604020202020204" pitchFamily="34" charset="0"/>
                </a:rPr>
                <a:t>error</a:t>
              </a:r>
            </a:p>
          </p:txBody>
        </p:sp>
        <p:sp>
          <p:nvSpPr>
            <p:cNvPr id="20" name="Rectangle: Rounded Corners 19">
              <a:extLst>
                <a:ext uri="{FF2B5EF4-FFF2-40B4-BE49-F238E27FC236}">
                  <a16:creationId xmlns:a16="http://schemas.microsoft.com/office/drawing/2014/main" id="{3CCA7A48-171E-6C64-DED5-3DA973F608D2}"/>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pic>
        <p:nvPicPr>
          <p:cNvPr id="7" name="Picture 6">
            <a:extLst>
              <a:ext uri="{FF2B5EF4-FFF2-40B4-BE49-F238E27FC236}">
                <a16:creationId xmlns:a16="http://schemas.microsoft.com/office/drawing/2014/main" id="{F4065DC9-F81C-0A5F-EA4E-648F5CDE800A}"/>
              </a:ext>
            </a:extLst>
          </p:cNvPr>
          <p:cNvPicPr>
            <a:picLocks noChangeAspect="1"/>
          </p:cNvPicPr>
          <p:nvPr/>
        </p:nvPicPr>
        <p:blipFill>
          <a:blip r:embed="rId5"/>
          <a:stretch>
            <a:fillRect/>
          </a:stretch>
        </p:blipFill>
        <p:spPr>
          <a:xfrm>
            <a:off x="3516650" y="2362200"/>
            <a:ext cx="2579350" cy="2749534"/>
          </a:xfrm>
          <a:prstGeom prst="rect">
            <a:avLst/>
          </a:prstGeom>
        </p:spPr>
      </p:pic>
      <p:sp>
        <p:nvSpPr>
          <p:cNvPr id="10" name="TextBox 9">
            <a:extLst>
              <a:ext uri="{FF2B5EF4-FFF2-40B4-BE49-F238E27FC236}">
                <a16:creationId xmlns:a16="http://schemas.microsoft.com/office/drawing/2014/main" id="{A7DB4A08-D331-BDED-3409-5EFCA436D796}"/>
              </a:ext>
            </a:extLst>
          </p:cNvPr>
          <p:cNvSpPr txBox="1"/>
          <p:nvPr/>
        </p:nvSpPr>
        <p:spPr>
          <a:xfrm>
            <a:off x="381000" y="1295400"/>
            <a:ext cx="5653320" cy="22672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lang="en-US" sz="1800" b="1" dirty="0">
                <a:solidFill>
                  <a:srgbClr val="333333"/>
                </a:solidFill>
                <a:latin typeface="Arial" panose="020B0604020202020204" pitchFamily="34" charset="0"/>
                <a:cs typeface="Arial" panose="020B0604020202020204" pitchFamily="34" charset="0"/>
              </a:rPr>
              <a:t>3. What will be the output of this code?</a:t>
            </a:r>
          </a:p>
          <a:p>
            <a:pPr>
              <a:spcAft>
                <a:spcPts val="800"/>
              </a:spcAft>
            </a:pPr>
            <a:endParaRPr lang="en-US" sz="1800" b="1" dirty="0">
              <a:solidFill>
                <a:srgbClr val="333333"/>
              </a:solidFill>
              <a:latin typeface="Arial" panose="020B0604020202020204" pitchFamily="34" charset="0"/>
              <a:cs typeface="Arial" panose="020B0604020202020204" pitchFamily="34" charset="0"/>
            </a:endParaRPr>
          </a:p>
          <a:p>
            <a:pPr marL="283464" indent="-283464">
              <a:spcAft>
                <a:spcPts val="800"/>
              </a:spcAft>
              <a:buFont typeface="+mj-lt"/>
              <a:buAutoNum type="alphaLcParenR"/>
            </a:pPr>
            <a:r>
              <a:rPr lang="en-US" sz="1800" dirty="0">
                <a:latin typeface="Arial" panose="020B0604020202020204" pitchFamily="34" charset="0"/>
                <a:cs typeface="Arial" panose="020B0604020202020204" pitchFamily="34" charset="0"/>
              </a:rPr>
              <a:t>error</a:t>
            </a:r>
          </a:p>
          <a:p>
            <a:pPr marL="283464" indent="-283464">
              <a:spcAft>
                <a:spcPts val="800"/>
              </a:spcAft>
              <a:buFont typeface="+mj-lt"/>
              <a:buAutoNum type="alphaLcParenR"/>
            </a:pPr>
            <a:r>
              <a:rPr lang="en-US" sz="1800" dirty="0">
                <a:latin typeface="Arial" panose="020B0604020202020204" pitchFamily="34" charset="0"/>
                <a:cs typeface="Arial" panose="020B0604020202020204" pitchFamily="34" charset="0"/>
              </a:rPr>
              <a:t>2 1</a:t>
            </a:r>
          </a:p>
          <a:p>
            <a:pPr marL="283464" indent="-283464">
              <a:spcAft>
                <a:spcPts val="800"/>
              </a:spcAft>
              <a:buFont typeface="+mj-lt"/>
              <a:buAutoNum type="alphaLcParenR"/>
            </a:pPr>
            <a:r>
              <a:rPr lang="en-US" sz="1800" dirty="0">
                <a:latin typeface="Arial" panose="020B0604020202020204" pitchFamily="34" charset="0"/>
                <a:cs typeface="Arial" panose="020B0604020202020204" pitchFamily="34" charset="0"/>
              </a:rPr>
              <a:t>0 3 1</a:t>
            </a:r>
          </a:p>
          <a:p>
            <a:pPr marL="283464" indent="-283464">
              <a:spcAft>
                <a:spcPts val="800"/>
              </a:spcAft>
              <a:buFont typeface="+mj-lt"/>
              <a:buAutoNum type="alphaLcParenR"/>
            </a:pPr>
            <a:r>
              <a:rPr lang="en-US" sz="1800" dirty="0">
                <a:latin typeface="Arial" panose="020B0604020202020204" pitchFamily="34" charset="0"/>
                <a:cs typeface="Arial" panose="020B0604020202020204" pitchFamily="34" charset="0"/>
              </a:rPr>
              <a:t>None of these</a:t>
            </a:r>
          </a:p>
        </p:txBody>
      </p:sp>
      <p:sp>
        <p:nvSpPr>
          <p:cNvPr id="2" name="TextBox 1">
            <a:extLst>
              <a:ext uri="{FF2B5EF4-FFF2-40B4-BE49-F238E27FC236}">
                <a16:creationId xmlns:a16="http://schemas.microsoft.com/office/drawing/2014/main" id="{AD62BD71-BBBC-6F08-0DD2-4B0B2400C628}"/>
              </a:ext>
            </a:extLst>
          </p:cNvPr>
          <p:cNvSpPr txBox="1"/>
          <p:nvPr/>
        </p:nvSpPr>
        <p:spPr>
          <a:xfrm>
            <a:off x="3429000" y="1905000"/>
            <a:ext cx="4267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b="1" dirty="0">
                <a:solidFill>
                  <a:srgbClr val="333333"/>
                </a:solidFill>
                <a:latin typeface="Arial" panose="020B0604020202020204" pitchFamily="34" charset="0"/>
                <a:cs typeface="Arial" panose="020B0604020202020204" pitchFamily="34" charset="0"/>
              </a:rPr>
              <a:t>3. Study the following program:</a:t>
            </a:r>
          </a:p>
        </p:txBody>
      </p:sp>
      <p:sp>
        <p:nvSpPr>
          <p:cNvPr id="3" name="Google Shape;61;g5fab984687_2_0">
            <a:extLst>
              <a:ext uri="{FF2B5EF4-FFF2-40B4-BE49-F238E27FC236}">
                <a16:creationId xmlns:a16="http://schemas.microsoft.com/office/drawing/2014/main" id="{50E834BC-CA2F-D8CA-E31C-2C49DD26C19E}"/>
              </a:ext>
            </a:extLst>
          </p:cNvPr>
          <p:cNvSpPr txBox="1">
            <a:spLocks/>
          </p:cNvSpPr>
          <p:nvPr/>
        </p:nvSpPr>
        <p:spPr>
          <a:xfrm>
            <a:off x="359777" y="790323"/>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213163"/>
                </a:solidFill>
              </a:rPr>
              <a:t>Quiz</a:t>
            </a:r>
            <a:endParaRPr lang="en-US" sz="2000" dirty="0"/>
          </a:p>
        </p:txBody>
      </p:sp>
    </p:spTree>
    <p:custDataLst>
      <p:tags r:id="rId1"/>
    </p:custDataLst>
    <p:extLst>
      <p:ext uri="{BB962C8B-B14F-4D97-AF65-F5344CB8AC3E}">
        <p14:creationId xmlns:p14="http://schemas.microsoft.com/office/powerpoint/2010/main" val="339706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9176-B340-AC1B-8751-A67167B83A27}"/>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A70650EF-E7A8-C9B6-A1D7-2BBE688C6F72}"/>
              </a:ext>
            </a:extLst>
          </p:cNvPr>
          <p:cNvSpPr txBox="1"/>
          <p:nvPr/>
        </p:nvSpPr>
        <p:spPr>
          <a:xfrm>
            <a:off x="314024" y="1312545"/>
            <a:ext cx="6543976" cy="2575064"/>
          </a:xfrm>
          <a:prstGeom prst="rect">
            <a:avLst/>
          </a:prstGeom>
          <a:noFill/>
        </p:spPr>
        <p:txBody>
          <a:bodyPr wrap="square" lIns="121920" tIns="60960" rIns="121920" bIns="60960" rtlCol="0" anchor="t">
            <a:spAutoFit/>
          </a:bodyPr>
          <a:lstStyle/>
          <a:p>
            <a:pPr marL="365760" indent="-365760">
              <a:spcAft>
                <a:spcPts val="800"/>
              </a:spcAft>
            </a:pPr>
            <a:r>
              <a:rPr lang="en-US" b="1" dirty="0">
                <a:latin typeface="Arial" panose="020B0604020202020204" pitchFamily="34" charset="0"/>
                <a:cs typeface="Arial" panose="020B0604020202020204" pitchFamily="34" charset="0"/>
              </a:rPr>
              <a:t>5) Which character is used in Python to make a single line comment?</a:t>
            </a:r>
            <a:endParaRPr lang="en-US" dirty="0">
              <a:latin typeface="Arial" panose="020B0604020202020204" pitchFamily="34" charset="0"/>
              <a:cs typeface="Arial" panose="020B0604020202020204" pitchFamily="34" charset="0"/>
            </a:endParaRPr>
          </a:p>
          <a:p>
            <a:pPr marL="365760" indent="-365760">
              <a:spcAft>
                <a:spcPts val="800"/>
              </a:spcAft>
            </a:pPr>
            <a:endParaRPr lang="en-US" b="1" dirty="0">
              <a:latin typeface="Arial" panose="020B0604020202020204" pitchFamily="34" charset="0"/>
              <a:cs typeface="Arial" panose="020B0604020202020204" pitchFamily="34" charset="0"/>
            </a:endParaRP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a:t>
            </a:r>
            <a:endParaRPr lang="en-US" b="1" dirty="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9A073286-85CF-6625-E23A-AAC4CF3455BC}"/>
              </a:ext>
            </a:extLst>
          </p:cNvPr>
          <p:cNvGrpSpPr/>
          <p:nvPr/>
        </p:nvGrpSpPr>
        <p:grpSpPr>
          <a:xfrm>
            <a:off x="6705600" y="1094125"/>
            <a:ext cx="5338763" cy="5483394"/>
            <a:chOff x="6705600" y="1094125"/>
            <a:chExt cx="5338763" cy="5483394"/>
          </a:xfrm>
        </p:grpSpPr>
        <p:pic>
          <p:nvPicPr>
            <p:cNvPr id="5" name="Picture 4" descr="A black background with a black square&#10;&#10;Description automatically generated with medium confidence">
              <a:extLst>
                <a:ext uri="{FF2B5EF4-FFF2-40B4-BE49-F238E27FC236}">
                  <a16:creationId xmlns:a16="http://schemas.microsoft.com/office/drawing/2014/main" id="{33063D3C-2A05-BCC5-376C-F21D5DB52EC2}"/>
                </a:ext>
              </a:extLst>
            </p:cNvPr>
            <p:cNvPicPr>
              <a:picLocks noChangeAspect="1"/>
            </p:cNvPicPr>
            <p:nvPr/>
          </p:nvPicPr>
          <p:blipFill>
            <a:blip r:embed="rId4">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13" name="TextBox 12">
              <a:extLst>
                <a:ext uri="{FF2B5EF4-FFF2-40B4-BE49-F238E27FC236}">
                  <a16:creationId xmlns:a16="http://schemas.microsoft.com/office/drawing/2014/main" id="{B11684AB-C5B5-D051-1939-8916E5C3C6E6}"/>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grpSp>
      <p:grpSp>
        <p:nvGrpSpPr>
          <p:cNvPr id="16" name="Group 15">
            <a:extLst>
              <a:ext uri="{FF2B5EF4-FFF2-40B4-BE49-F238E27FC236}">
                <a16:creationId xmlns:a16="http://schemas.microsoft.com/office/drawing/2014/main" id="{7012333F-CCAC-E2BE-7B49-CFFCF925EA0E}"/>
              </a:ext>
            </a:extLst>
          </p:cNvPr>
          <p:cNvGrpSpPr/>
          <p:nvPr/>
        </p:nvGrpSpPr>
        <p:grpSpPr>
          <a:xfrm>
            <a:off x="0" y="5257800"/>
            <a:ext cx="12192000" cy="1524000"/>
            <a:chOff x="0" y="4953000"/>
            <a:chExt cx="12192000" cy="1524000"/>
          </a:xfrm>
        </p:grpSpPr>
        <p:sp>
          <p:nvSpPr>
            <p:cNvPr id="18" name="Rectangle 17">
              <a:extLst>
                <a:ext uri="{FF2B5EF4-FFF2-40B4-BE49-F238E27FC236}">
                  <a16:creationId xmlns:a16="http://schemas.microsoft.com/office/drawing/2014/main" id="{7C672DE1-CF91-1EF6-98DC-D017EC9537BA}"/>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9" name="TextBox 18">
              <a:extLst>
                <a:ext uri="{FF2B5EF4-FFF2-40B4-BE49-F238E27FC236}">
                  <a16:creationId xmlns:a16="http://schemas.microsoft.com/office/drawing/2014/main" id="{C2254729-2426-3A6B-0F5F-E0154FCF4239}"/>
                </a:ext>
              </a:extLst>
            </p:cNvPr>
            <p:cNvSpPr txBox="1"/>
            <p:nvPr/>
          </p:nvSpPr>
          <p:spPr>
            <a:xfrm>
              <a:off x="609600" y="5334000"/>
              <a:ext cx="10896600"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C</a:t>
              </a:r>
            </a:p>
            <a:p>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p:txBody>
        </p:sp>
        <p:sp>
          <p:nvSpPr>
            <p:cNvPr id="20" name="Rectangle: Rounded Corners 19">
              <a:extLst>
                <a:ext uri="{FF2B5EF4-FFF2-40B4-BE49-F238E27FC236}">
                  <a16:creationId xmlns:a16="http://schemas.microsoft.com/office/drawing/2014/main" id="{E30DD5A8-B138-F3C7-11DE-BC156E03A024}"/>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sp>
        <p:nvSpPr>
          <p:cNvPr id="2" name="Google Shape;61;g5fab984687_2_0">
            <a:extLst>
              <a:ext uri="{FF2B5EF4-FFF2-40B4-BE49-F238E27FC236}">
                <a16:creationId xmlns:a16="http://schemas.microsoft.com/office/drawing/2014/main" id="{D9BC8762-47F6-FF1B-4C63-692C66A155AE}"/>
              </a:ext>
            </a:extLst>
          </p:cNvPr>
          <p:cNvSpPr txBox="1">
            <a:spLocks/>
          </p:cNvSpPr>
          <p:nvPr/>
        </p:nvSpPr>
        <p:spPr>
          <a:xfrm>
            <a:off x="359777" y="790323"/>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213163"/>
                </a:solidFill>
              </a:rPr>
              <a:t>Quiz</a:t>
            </a:r>
            <a:endParaRPr lang="en-US" sz="2000" dirty="0"/>
          </a:p>
        </p:txBody>
      </p:sp>
    </p:spTree>
    <p:custDataLst>
      <p:tags r:id="rId1"/>
    </p:custDataLst>
    <p:extLst>
      <p:ext uri="{BB962C8B-B14F-4D97-AF65-F5344CB8AC3E}">
        <p14:creationId xmlns:p14="http://schemas.microsoft.com/office/powerpoint/2010/main" val="314124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3">
            <a:extLst>
              <a:ext uri="{FF2B5EF4-FFF2-40B4-BE49-F238E27FC236}">
                <a16:creationId xmlns:a16="http://schemas.microsoft.com/office/drawing/2014/main" id="{0E178734-7E1D-0740-E039-E64D8B06102C}"/>
              </a:ext>
            </a:extLst>
          </p:cNvPr>
          <p:cNvSpPr txBox="1">
            <a:spLocks/>
          </p:cNvSpPr>
          <p:nvPr/>
        </p:nvSpPr>
        <p:spPr>
          <a:xfrm>
            <a:off x="4230058" y="2971800"/>
            <a:ext cx="3770942" cy="990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5000" b="1" dirty="0">
                <a:solidFill>
                  <a:srgbClr val="002060"/>
                </a:solidFill>
                <a:latin typeface="Arial" panose="020B060402020202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42190240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AtrwQcKn"/>
  <p:tag name="ARTICULATE_DESIGN_ID_OFFICE THEME" val="H4K34OPr"/>
  <p:tag name="ARTICULATE_SLIDE_COUNT" val="1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1761</TotalTime>
  <Words>11705</Words>
  <Application>Microsoft Office PowerPoint</Application>
  <PresentationFormat>Widescreen</PresentationFormat>
  <Paragraphs>1179</Paragraphs>
  <Slides>72</Slides>
  <Notes>66</Notes>
  <HiddenSlides>0</HiddenSlides>
  <MMClips>1</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72</vt:i4>
      </vt:variant>
    </vt:vector>
  </HeadingPairs>
  <TitlesOfParts>
    <vt:vector size="90" baseType="lpstr">
      <vt:lpstr>erdana</vt:lpstr>
      <vt:lpstr>Arial,Sans-Serif</vt:lpstr>
      <vt:lpstr>euclid_circular_a</vt:lpstr>
      <vt:lpstr>Calibri</vt:lpstr>
      <vt:lpstr>Arial Nova</vt:lpstr>
      <vt:lpstr>Lato</vt:lpstr>
      <vt:lpstr>Arial</vt:lpstr>
      <vt:lpstr>Inter-Regular</vt:lpstr>
      <vt:lpstr>Google Sans</vt:lpstr>
      <vt:lpstr>inter-bold</vt:lpstr>
      <vt:lpstr>Jumbox</vt:lpstr>
      <vt:lpstr>Inter-Regular</vt:lpstr>
      <vt:lpstr>Courier New</vt:lpstr>
      <vt:lpstr>Aptos</vt:lpstr>
      <vt:lpstr>Arial Unicode MS</vt:lpstr>
      <vt:lpstr>Noto Sans JP</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Python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Edunet Foundation</dc:creator>
  <cp:lastModifiedBy>Prita Pradhan</cp:lastModifiedBy>
  <cp:revision>79</cp:revision>
  <dcterms:created xsi:type="dcterms:W3CDTF">2006-08-16T00:00:00Z</dcterms:created>
  <dcterms:modified xsi:type="dcterms:W3CDTF">2025-08-05T11:45:28Z</dcterms:modified>
  <dc:identifier>DAGQ6RW-XsE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FD2CBB57-EE5C-4151-B8A1-1A86815BD362</vt:lpwstr>
  </property>
  <property fmtid="{D5CDD505-2E9C-101B-9397-08002B2CF9AE}" pid="3" name="ArticulatePath">
    <vt:lpwstr>https://edunetfoundationorg-my.sharepoint.com/personal/kaisar_edunetfoundation_org/Documents/Beutified ppt/Unused Asset/2025/AICW/AI Saksham</vt:lpwstr>
  </property>
</Properties>
</file>